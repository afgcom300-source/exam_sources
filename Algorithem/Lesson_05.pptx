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</p:sldIdLst>
  <p:sldSz cx="12192000" cy="6858000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59" d="100"/>
          <a:sy n="59" d="100"/>
        </p:scale>
        <p:origin x="94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4114291" y="1559178"/>
            <a:ext cx="2388870" cy="69659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7D1B6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95885">
              <a:lnSpc>
                <a:spcPts val="206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7D1B6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95885">
              <a:lnSpc>
                <a:spcPts val="206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7D1B6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95885">
              <a:lnSpc>
                <a:spcPts val="206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000" b="0" i="0">
                <a:solidFill>
                  <a:srgbClr val="7D1B68"/>
                </a:solidFill>
                <a:latin typeface="Arial MT"/>
                <a:cs typeface="Arial MT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95885">
              <a:lnSpc>
                <a:spcPts val="206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95885">
              <a:lnSpc>
                <a:spcPts val="206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764540" y="322529"/>
            <a:ext cx="10662919" cy="1197736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000" b="0" i="0">
                <a:solidFill>
                  <a:srgbClr val="7D1B68"/>
                </a:solidFill>
                <a:latin typeface="Arial MT"/>
                <a:cs typeface="Arial MT"/>
              </a:defRPr>
            </a:lvl1pPr>
          </a:lstStyle>
          <a:p>
            <a:endParaRPr dirty="0"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331213" y="1489710"/>
            <a:ext cx="9568815" cy="27698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chemeClr val="tx1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3/5/2026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11664442" y="6498335"/>
            <a:ext cx="317500" cy="31877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>
                <a:solidFill>
                  <a:schemeClr val="bg1"/>
                </a:solidFill>
                <a:latin typeface="Times New Roman"/>
                <a:cs typeface="Times New Roman"/>
              </a:defRPr>
            </a:lvl1pPr>
          </a:lstStyle>
          <a:p>
            <a:pPr marL="95885">
              <a:lnSpc>
                <a:spcPts val="2065"/>
              </a:lnSpc>
            </a:pPr>
            <a:fld id="{81D60167-4931-47E6-BA6A-407CBD079E47}" type="slidenum">
              <a:rPr spc="-50" dirty="0"/>
              <a:t>‹#›</a:t>
            </a:fld>
            <a:endParaRPr spc="-50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jp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g"/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jpg"/><Relationship Id="rId2" Type="http://schemas.openxmlformats.org/officeDocument/2006/relationships/image" Target="../media/image14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jpg"/><Relationship Id="rId2" Type="http://schemas.openxmlformats.org/officeDocument/2006/relationships/image" Target="../media/image16.jp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image" Target="../media/image18.jp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g"/><Relationship Id="rId2" Type="http://schemas.openxmlformats.org/officeDocument/2006/relationships/image" Target="../media/image20.jp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2.jpg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jpg"/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g"/><Relationship Id="rId2" Type="http://schemas.openxmlformats.org/officeDocument/2006/relationships/image" Target="../media/image25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g"/><Relationship Id="rId2" Type="http://schemas.openxmlformats.org/officeDocument/2006/relationships/image" Target="../media/image27.jp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jpg"/><Relationship Id="rId2" Type="http://schemas.openxmlformats.org/officeDocument/2006/relationships/image" Target="../media/image29.jpg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jpg"/><Relationship Id="rId2" Type="http://schemas.openxmlformats.org/officeDocument/2006/relationships/image" Target="../media/image31.jp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g"/><Relationship Id="rId2" Type="http://schemas.openxmlformats.org/officeDocument/2006/relationships/image" Target="../media/image33.jp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3" Type="http://schemas.openxmlformats.org/officeDocument/2006/relationships/image" Target="../media/image36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0" Type="http://schemas.openxmlformats.org/officeDocument/2006/relationships/image" Target="../media/image43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4160646" y="4507229"/>
            <a:ext cx="38709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1624330" algn="l"/>
              </a:tabLst>
            </a:pP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Instructor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	:</a:t>
            </a:r>
            <a:r>
              <a:rPr sz="2800" b="1" spc="-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Ziaur</a:t>
            </a:r>
            <a:r>
              <a:rPr sz="2800" b="1" spc="-1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Rahman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148709" y="5065852"/>
            <a:ext cx="381444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Computer</a:t>
            </a:r>
            <a:r>
              <a:rPr sz="2800" b="1" spc="-13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FFFFFF"/>
                </a:solidFill>
                <a:latin typeface="Calibri"/>
                <a:cs typeface="Calibri"/>
              </a:rPr>
              <a:t>Science</a:t>
            </a:r>
            <a:r>
              <a:rPr sz="2800" b="1" spc="-114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Faculty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547996" y="5596534"/>
            <a:ext cx="3011170" cy="5137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b="1" dirty="0">
                <a:solidFill>
                  <a:srgbClr val="FFFFFF"/>
                </a:solidFill>
                <a:latin typeface="Calibri"/>
                <a:cs typeface="Calibri"/>
              </a:rPr>
              <a:t>JAHAN</a:t>
            </a:r>
            <a:r>
              <a:rPr sz="3200" b="1" spc="-18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2800" b="1" spc="-10" dirty="0">
                <a:solidFill>
                  <a:srgbClr val="FFFFFF"/>
                </a:solidFill>
                <a:latin typeface="Calibri"/>
                <a:cs typeface="Calibri"/>
              </a:rPr>
              <a:t>UNIVERSITY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347329" y="5483453"/>
            <a:ext cx="114236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dirty="0">
                <a:latin typeface="Arial"/>
                <a:cs typeface="Arial"/>
              </a:rPr>
              <a:t>year:</a:t>
            </a:r>
            <a:r>
              <a:rPr sz="1800" b="1" spc="-30" dirty="0">
                <a:latin typeface="Arial"/>
                <a:cs typeface="Arial"/>
              </a:rPr>
              <a:t> </a:t>
            </a:r>
            <a:r>
              <a:rPr sz="1800" b="1" spc="-20" dirty="0">
                <a:latin typeface="Arial"/>
                <a:cs typeface="Arial"/>
              </a:rPr>
              <a:t>1402</a:t>
            </a:r>
            <a:endParaRPr sz="1800">
              <a:latin typeface="Arial"/>
              <a:cs typeface="Arial"/>
            </a:endParaRPr>
          </a:p>
        </p:txBody>
      </p:sp>
      <p:pic>
        <p:nvPicPr>
          <p:cNvPr id="9" name="object 9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658111" y="2447544"/>
            <a:ext cx="2070354" cy="899922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title"/>
          </p:nvPr>
        </p:nvSpPr>
        <p:spPr>
          <a:xfrm>
            <a:off x="1913382" y="2471750"/>
            <a:ext cx="78549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800" b="1" baseline="2604" dirty="0">
                <a:solidFill>
                  <a:srgbClr val="00AF50"/>
                </a:solidFill>
                <a:latin typeface="Arial"/>
                <a:cs typeface="Arial"/>
              </a:rPr>
              <a:t>Cours</a:t>
            </a:r>
            <a:r>
              <a:rPr sz="4800" b="1" spc="-15" baseline="2604" dirty="0">
                <a:solidFill>
                  <a:srgbClr val="00AF50"/>
                </a:solidFill>
                <a:latin typeface="Arial"/>
                <a:cs typeface="Arial"/>
              </a:rPr>
              <a:t>e</a:t>
            </a:r>
            <a:r>
              <a:rPr sz="4800" b="1" spc="-1289" baseline="2604" dirty="0">
                <a:solidFill>
                  <a:srgbClr val="00AF50"/>
                </a:solidFill>
                <a:latin typeface="Arial"/>
                <a:cs typeface="Arial"/>
              </a:rPr>
              <a:t>:</a:t>
            </a:r>
            <a:r>
              <a:rPr sz="4000" b="1" spc="5" dirty="0">
                <a:solidFill>
                  <a:srgbClr val="006FC0"/>
                </a:solidFill>
                <a:latin typeface="Calibri"/>
                <a:cs typeface="Calibri"/>
              </a:rPr>
              <a:t>D</a:t>
            </a:r>
            <a:r>
              <a:rPr sz="4000" b="1" spc="-45" dirty="0">
                <a:solidFill>
                  <a:srgbClr val="006FC0"/>
                </a:solidFill>
                <a:latin typeface="Calibri"/>
                <a:cs typeface="Calibri"/>
              </a:rPr>
              <a:t>at</a:t>
            </a:r>
            <a:r>
              <a:rPr sz="4000" b="1" spc="5" dirty="0">
                <a:solidFill>
                  <a:srgbClr val="006FC0"/>
                </a:solidFill>
                <a:latin typeface="Calibri"/>
                <a:cs typeface="Calibri"/>
              </a:rPr>
              <a:t>a</a:t>
            </a:r>
            <a:r>
              <a:rPr sz="4000" b="1" spc="-12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6FC0"/>
                </a:solidFill>
                <a:latin typeface="Calibri"/>
                <a:cs typeface="Calibri"/>
              </a:rPr>
              <a:t>Structure</a:t>
            </a:r>
            <a:r>
              <a:rPr sz="4000" b="1" spc="-9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4000" b="1" dirty="0">
                <a:solidFill>
                  <a:srgbClr val="006FC0"/>
                </a:solidFill>
                <a:latin typeface="Calibri"/>
                <a:cs typeface="Calibri"/>
              </a:rPr>
              <a:t>and</a:t>
            </a:r>
            <a:r>
              <a:rPr sz="4000" b="1" spc="-110" dirty="0">
                <a:solidFill>
                  <a:srgbClr val="006FC0"/>
                </a:solidFill>
                <a:latin typeface="Calibri"/>
                <a:cs typeface="Calibri"/>
              </a:rPr>
              <a:t> </a:t>
            </a:r>
            <a:r>
              <a:rPr sz="4000" b="1" spc="-10" dirty="0">
                <a:solidFill>
                  <a:srgbClr val="006FC0"/>
                </a:solidFill>
                <a:latin typeface="Calibri"/>
                <a:cs typeface="Calibri"/>
              </a:rPr>
              <a:t>Algorithms</a:t>
            </a:r>
            <a:endParaRPr sz="4000">
              <a:latin typeface="Calibri"/>
              <a:cs typeface="Calibri"/>
            </a:endParaRPr>
          </a:p>
        </p:txBody>
      </p:sp>
      <p:sp>
        <p:nvSpPr>
          <p:cNvPr id="22" name="object 22"/>
          <p:cNvSpPr txBox="1"/>
          <p:nvPr/>
        </p:nvSpPr>
        <p:spPr>
          <a:xfrm>
            <a:off x="2475229" y="3823892"/>
            <a:ext cx="4016375" cy="51371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b="1" dirty="0">
                <a:solidFill>
                  <a:srgbClr val="7D1B68"/>
                </a:solidFill>
                <a:latin typeface="Arial"/>
                <a:cs typeface="Arial"/>
              </a:rPr>
              <a:t>Lesson</a:t>
            </a:r>
            <a:r>
              <a:rPr sz="3200" b="1" spc="-55" dirty="0">
                <a:solidFill>
                  <a:srgbClr val="7D1B68"/>
                </a:solidFill>
                <a:latin typeface="Arial"/>
                <a:cs typeface="Arial"/>
              </a:rPr>
              <a:t> </a:t>
            </a:r>
            <a:r>
              <a:rPr lang="en-US" sz="3200" b="1" spc="-50" dirty="0">
                <a:solidFill>
                  <a:srgbClr val="7D1B68"/>
                </a:solidFill>
                <a:latin typeface="Arial"/>
                <a:cs typeface="Arial"/>
              </a:rPr>
              <a:t>5</a:t>
            </a:r>
            <a:endParaRPr sz="3200" dirty="0">
              <a:latin typeface="Arial"/>
              <a:cs typeface="Arial"/>
            </a:endParaRPr>
          </a:p>
        </p:txBody>
      </p:sp>
      <p:grpSp>
        <p:nvGrpSpPr>
          <p:cNvPr id="23" name="object 23"/>
          <p:cNvGrpSpPr/>
          <p:nvPr/>
        </p:nvGrpSpPr>
        <p:grpSpPr>
          <a:xfrm>
            <a:off x="5756147" y="3136392"/>
            <a:ext cx="3827779" cy="2314575"/>
            <a:chOff x="5756147" y="3136392"/>
            <a:chExt cx="3827779" cy="2314575"/>
          </a:xfrm>
        </p:grpSpPr>
        <p:pic>
          <p:nvPicPr>
            <p:cNvPr id="24" name="object 2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5756147" y="4274820"/>
              <a:ext cx="3827526" cy="1175765"/>
            </a:xfrm>
            <a:prstGeom prst="rect">
              <a:avLst/>
            </a:prstGeom>
          </p:spPr>
        </p:pic>
        <p:pic>
          <p:nvPicPr>
            <p:cNvPr id="25" name="object 25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5768339" y="3136392"/>
              <a:ext cx="3803141" cy="1978913"/>
            </a:xfrm>
            <a:prstGeom prst="rect">
              <a:avLst/>
            </a:prstGeom>
          </p:spPr>
        </p:pic>
      </p:grpSp>
      <p:sp>
        <p:nvSpPr>
          <p:cNvPr id="26" name="object 26"/>
          <p:cNvSpPr txBox="1"/>
          <p:nvPr/>
        </p:nvSpPr>
        <p:spPr>
          <a:xfrm>
            <a:off x="6315583" y="3350463"/>
            <a:ext cx="2676525" cy="11233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10" dirty="0">
                <a:solidFill>
                  <a:srgbClr val="7D1B68"/>
                </a:solidFill>
                <a:latin typeface="Calibri"/>
                <a:cs typeface="Calibri"/>
              </a:rPr>
              <a:t>Sorting</a:t>
            </a:r>
            <a:endParaRPr sz="7200">
              <a:latin typeface="Calibri"/>
              <a:cs typeface="Calibri"/>
            </a:endParaRPr>
          </a:p>
        </p:txBody>
      </p:sp>
      <p:sp>
        <p:nvSpPr>
          <p:cNvPr id="27" name="object 6"/>
          <p:cNvSpPr txBox="1"/>
          <p:nvPr/>
        </p:nvSpPr>
        <p:spPr>
          <a:xfrm>
            <a:off x="4890516" y="738886"/>
            <a:ext cx="3262884" cy="1387624"/>
          </a:xfrm>
          <a:prstGeom prst="rect">
            <a:avLst/>
          </a:prstGeom>
        </p:spPr>
        <p:txBody>
          <a:bodyPr vert="horz" wrap="square" lIns="0" tIns="6985" rIns="0" bIns="0" rtlCol="0">
            <a:spAutoFit/>
          </a:bodyPr>
          <a:lstStyle/>
          <a:p>
            <a:pPr marL="12700" marR="5080" indent="-2540" algn="ctr">
              <a:lnSpc>
                <a:spcPct val="101299"/>
              </a:lnSpc>
              <a:spcBef>
                <a:spcPts val="55"/>
              </a:spcBef>
            </a:pPr>
            <a:r>
              <a:rPr lang="en-US" sz="3200" b="1" spc="-415" dirty="0">
                <a:latin typeface="Calibri"/>
                <a:cs typeface="Calibri"/>
              </a:rPr>
              <a:t>Kabul </a:t>
            </a:r>
            <a:r>
              <a:rPr sz="3200" b="1" spc="-355" dirty="0">
                <a:latin typeface="Calibri"/>
                <a:cs typeface="Calibri"/>
              </a:rPr>
              <a:t>Univers</a:t>
            </a:r>
            <a:r>
              <a:rPr sz="3200" b="1" spc="-185" dirty="0">
                <a:latin typeface="Calibri"/>
                <a:cs typeface="Calibri"/>
              </a:rPr>
              <a:t>i</a:t>
            </a:r>
            <a:r>
              <a:rPr sz="3200" b="1" spc="-260" dirty="0">
                <a:latin typeface="Calibri"/>
                <a:cs typeface="Calibri"/>
              </a:rPr>
              <a:t>ty  </a:t>
            </a:r>
            <a:endParaRPr lang="en-US" sz="3200" b="1" spc="-260" dirty="0">
              <a:latin typeface="Calibri"/>
              <a:cs typeface="Calibri"/>
            </a:endParaRPr>
          </a:p>
          <a:p>
            <a:pPr marL="12700" marR="5080" indent="-2540" algn="ctr">
              <a:lnSpc>
                <a:spcPct val="101299"/>
              </a:lnSpc>
              <a:spcBef>
                <a:spcPts val="55"/>
              </a:spcBef>
            </a:pPr>
            <a:r>
              <a:rPr lang="en-US" sz="2800" b="1" spc="-300" dirty="0">
                <a:latin typeface="Calibri"/>
                <a:cs typeface="Calibri"/>
              </a:rPr>
              <a:t>Faculty of Computer Science </a:t>
            </a:r>
            <a:r>
              <a:rPr lang="en-US" sz="2400" b="1" spc="-300" dirty="0">
                <a:latin typeface="Calibri"/>
                <a:cs typeface="Calibri"/>
              </a:rPr>
              <a:t>SE</a:t>
            </a:r>
            <a:r>
              <a:rPr lang="en-US" sz="2800" b="1" spc="-300" dirty="0">
                <a:latin typeface="Calibri"/>
                <a:cs typeface="Calibri"/>
              </a:rPr>
              <a:t> </a:t>
            </a:r>
            <a:r>
              <a:rPr sz="2400" b="1" spc="-315" dirty="0">
                <a:latin typeface="Calibri"/>
                <a:cs typeface="Calibri"/>
              </a:rPr>
              <a:t>Depart</a:t>
            </a:r>
            <a:r>
              <a:rPr sz="2400" b="1" spc="-535" dirty="0">
                <a:latin typeface="Calibri"/>
                <a:cs typeface="Calibri"/>
              </a:rPr>
              <a:t>m</a:t>
            </a:r>
            <a:r>
              <a:rPr sz="2400" b="1" spc="-375" dirty="0">
                <a:latin typeface="Calibri"/>
                <a:cs typeface="Calibri"/>
              </a:rPr>
              <a:t>e</a:t>
            </a:r>
            <a:r>
              <a:rPr sz="2400" b="1" spc="-395" dirty="0">
                <a:latin typeface="Calibri"/>
                <a:cs typeface="Calibri"/>
              </a:rPr>
              <a:t>n</a:t>
            </a:r>
            <a:r>
              <a:rPr sz="2400" b="1" spc="-265" dirty="0">
                <a:latin typeface="Calibri"/>
                <a:cs typeface="Calibri"/>
              </a:rPr>
              <a:t>t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28" name="object 6"/>
          <p:cNvSpPr txBox="1"/>
          <p:nvPr/>
        </p:nvSpPr>
        <p:spPr>
          <a:xfrm>
            <a:off x="1005839" y="4523359"/>
            <a:ext cx="3142870" cy="846386"/>
          </a:xfrm>
          <a:prstGeom prst="rect">
            <a:avLst/>
          </a:prstGeom>
        </p:spPr>
        <p:txBody>
          <a:bodyPr vert="horz" wrap="square" lIns="0" tIns="1498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180"/>
              </a:spcBef>
            </a:pPr>
            <a:r>
              <a:rPr sz="1800" b="1" spc="-5" dirty="0">
                <a:latin typeface="Arial"/>
                <a:cs typeface="Arial"/>
              </a:rPr>
              <a:t>Semester:</a:t>
            </a:r>
            <a:r>
              <a:rPr sz="1800" b="1" spc="-20" dirty="0">
                <a:latin typeface="Arial"/>
                <a:cs typeface="Arial"/>
              </a:rPr>
              <a:t> </a:t>
            </a:r>
            <a:r>
              <a:rPr lang="en-US" sz="1800" b="1" spc="-20" dirty="0">
                <a:latin typeface="Arial"/>
                <a:cs typeface="Arial"/>
              </a:rPr>
              <a:t>4</a:t>
            </a:r>
            <a:r>
              <a:rPr sz="1800" b="1" spc="-7" baseline="25462" dirty="0">
                <a:latin typeface="Arial"/>
                <a:cs typeface="Arial"/>
              </a:rPr>
              <a:t>th</a:t>
            </a:r>
            <a:endParaRPr sz="1800" baseline="25462" dirty="0">
              <a:latin typeface="Arial"/>
              <a:cs typeface="Arial"/>
            </a:endParaRPr>
          </a:p>
          <a:p>
            <a:pPr marL="38100">
              <a:lnSpc>
                <a:spcPct val="100000"/>
              </a:lnSpc>
              <a:spcBef>
                <a:spcPts val="1080"/>
              </a:spcBef>
            </a:pPr>
            <a:r>
              <a:rPr sz="1800" b="1" spc="-5" dirty="0">
                <a:latin typeface="Arial"/>
                <a:cs typeface="Arial"/>
              </a:rPr>
              <a:t>Lecture:</a:t>
            </a:r>
            <a:r>
              <a:rPr sz="1800" b="1" spc="-25" dirty="0">
                <a:latin typeface="Arial"/>
                <a:cs typeface="Arial"/>
              </a:rPr>
              <a:t> </a:t>
            </a:r>
            <a:r>
              <a:rPr lang="en-US" b="1" dirty="0">
                <a:latin typeface="Arial"/>
                <a:cs typeface="Arial"/>
              </a:rPr>
              <a:t>M. Salim Hamdard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29" name="object 7"/>
          <p:cNvSpPr txBox="1"/>
          <p:nvPr/>
        </p:nvSpPr>
        <p:spPr>
          <a:xfrm>
            <a:off x="1031238" y="5483453"/>
            <a:ext cx="3516758" cy="28982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b="1" spc="-5" dirty="0">
                <a:latin typeface="Arial"/>
                <a:cs typeface="Arial"/>
              </a:rPr>
              <a:t>Prepare</a:t>
            </a:r>
            <a:r>
              <a:rPr lang="en-US" sz="1800" b="1" spc="-5" dirty="0">
                <a:latin typeface="Arial"/>
                <a:cs typeface="Arial"/>
              </a:rPr>
              <a:t>d</a:t>
            </a:r>
            <a:r>
              <a:rPr sz="1800" b="1" spc="-15" dirty="0">
                <a:latin typeface="Arial"/>
                <a:cs typeface="Arial"/>
              </a:rPr>
              <a:t> </a:t>
            </a:r>
            <a:r>
              <a:rPr sz="1800" b="1" spc="-5" dirty="0">
                <a:latin typeface="Arial"/>
                <a:cs typeface="Arial"/>
              </a:rPr>
              <a:t>by: </a:t>
            </a:r>
            <a:r>
              <a:rPr lang="en-US" b="1" dirty="0">
                <a:solidFill>
                  <a:srgbClr val="001F5F"/>
                </a:solidFill>
                <a:latin typeface="Arial"/>
                <a:cs typeface="Arial"/>
              </a:rPr>
              <a:t>M. Salim Hamdard</a:t>
            </a:r>
            <a:endParaRPr sz="1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6041" y="2041982"/>
            <a:ext cx="6012815" cy="27038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5"/>
              </a:spcBef>
              <a:buFont typeface="Arial MT"/>
              <a:buChar char="•"/>
              <a:tabLst>
                <a:tab pos="354965" algn="l"/>
              </a:tabLst>
            </a:pPr>
            <a:r>
              <a:rPr sz="3200" spc="-10" dirty="0">
                <a:latin typeface="Calibri"/>
                <a:cs typeface="Calibri"/>
              </a:rPr>
              <a:t>Understanding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Sorting</a:t>
            </a:r>
            <a:r>
              <a:rPr sz="3200" spc="-10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Techniques</a:t>
            </a:r>
            <a:endParaRPr sz="32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spcBef>
                <a:spcPts val="2455"/>
              </a:spcBef>
              <a:buFont typeface="Arial MT"/>
              <a:buChar char="•"/>
              <a:tabLst>
                <a:tab pos="812165" algn="l"/>
              </a:tabLst>
            </a:pPr>
            <a:r>
              <a:rPr sz="2800" spc="-10" dirty="0">
                <a:latin typeface="Calibri"/>
                <a:cs typeface="Calibri"/>
              </a:rPr>
              <a:t>Understanding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Selection</a:t>
            </a:r>
            <a:r>
              <a:rPr sz="2800" spc="-10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Sort</a:t>
            </a:r>
            <a:endParaRPr sz="28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spcBef>
                <a:spcPts val="2350"/>
              </a:spcBef>
              <a:buFont typeface="Arial MT"/>
              <a:buChar char="•"/>
              <a:tabLst>
                <a:tab pos="812165" algn="l"/>
              </a:tabLst>
            </a:pPr>
            <a:r>
              <a:rPr sz="2800" spc="-10" dirty="0">
                <a:latin typeface="Calibri"/>
                <a:cs typeface="Calibri"/>
              </a:rPr>
              <a:t>Working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Bubble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Sort</a:t>
            </a:r>
            <a:endParaRPr sz="28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spcBef>
                <a:spcPts val="2355"/>
              </a:spcBef>
              <a:buFont typeface="Arial MT"/>
              <a:buChar char="•"/>
              <a:tabLst>
                <a:tab pos="812165" algn="l"/>
              </a:tabLst>
            </a:pPr>
            <a:r>
              <a:rPr sz="2800" spc="-10" dirty="0">
                <a:latin typeface="Calibri"/>
                <a:cs typeface="Calibri"/>
              </a:rPr>
              <a:t>Working</a:t>
            </a:r>
            <a:r>
              <a:rPr sz="2800" spc="-9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With</a:t>
            </a:r>
            <a:r>
              <a:rPr sz="2800" spc="-8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Insertion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20" dirty="0">
                <a:latin typeface="Calibri"/>
                <a:cs typeface="Calibri"/>
              </a:rPr>
              <a:t>Sort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248412" rIns="0" bIns="0" rtlCol="0">
            <a:spAutoFit/>
          </a:bodyPr>
          <a:lstStyle/>
          <a:p>
            <a:pPr marL="567055">
              <a:lnSpc>
                <a:spcPct val="100000"/>
              </a:lnSpc>
              <a:spcBef>
                <a:spcPts val="100"/>
              </a:spcBef>
            </a:pPr>
            <a:r>
              <a:rPr sz="6000" spc="-10" dirty="0"/>
              <a:t>Contents</a:t>
            </a:r>
            <a:endParaRPr sz="6000"/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06830" y="831849"/>
            <a:ext cx="82219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b="1" dirty="0">
                <a:solidFill>
                  <a:srgbClr val="001F5F"/>
                </a:solidFill>
                <a:latin typeface="Calibri"/>
                <a:cs typeface="Calibri"/>
              </a:rPr>
              <a:t>Objective</a:t>
            </a:r>
            <a:r>
              <a:rPr lang="en-US" b="1" dirty="0">
                <a:solidFill>
                  <a:srgbClr val="001F5F"/>
                </a:solidFill>
                <a:latin typeface="Calibri"/>
                <a:cs typeface="Calibri"/>
              </a:rPr>
              <a:t>s</a:t>
            </a:r>
            <a:endParaRPr b="1" spc="-10" dirty="0">
              <a:solidFill>
                <a:srgbClr val="001F5F"/>
              </a:solidFill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145539" y="1430299"/>
            <a:ext cx="9742805" cy="429226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158750" indent="-343535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4000" spc="-180" dirty="0">
                <a:latin typeface="Calibri"/>
                <a:cs typeface="Calibri"/>
              </a:rPr>
              <a:t>To</a:t>
            </a:r>
            <a:r>
              <a:rPr sz="4000" spc="-45" dirty="0">
                <a:latin typeface="Calibri"/>
                <a:cs typeface="Calibri"/>
              </a:rPr>
              <a:t> </a:t>
            </a:r>
            <a:r>
              <a:rPr sz="4000" spc="-10" dirty="0">
                <a:latin typeface="Calibri"/>
                <a:cs typeface="Calibri"/>
              </a:rPr>
              <a:t>Understand</a:t>
            </a:r>
            <a:r>
              <a:rPr sz="4000" spc="-114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and</a:t>
            </a:r>
            <a:r>
              <a:rPr sz="4000" spc="-85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use</a:t>
            </a:r>
            <a:r>
              <a:rPr sz="4000" spc="-90" dirty="0">
                <a:latin typeface="Calibri"/>
                <a:cs typeface="Calibri"/>
              </a:rPr>
              <a:t> </a:t>
            </a:r>
            <a:r>
              <a:rPr sz="4000" dirty="0">
                <a:latin typeface="Calibri"/>
                <a:cs typeface="Calibri"/>
              </a:rPr>
              <a:t>Sorting</a:t>
            </a:r>
            <a:r>
              <a:rPr sz="4000" spc="-75" dirty="0">
                <a:latin typeface="Calibri"/>
                <a:cs typeface="Calibri"/>
              </a:rPr>
              <a:t> </a:t>
            </a:r>
            <a:r>
              <a:rPr sz="4000" spc="-30" dirty="0">
                <a:latin typeface="Calibri"/>
                <a:cs typeface="Calibri"/>
              </a:rPr>
              <a:t>Techniques</a:t>
            </a:r>
            <a:r>
              <a:rPr sz="4000" spc="-85" dirty="0">
                <a:latin typeface="Calibri"/>
                <a:cs typeface="Calibri"/>
              </a:rPr>
              <a:t> </a:t>
            </a:r>
            <a:r>
              <a:rPr sz="4000" spc="-25" dirty="0">
                <a:latin typeface="Calibri"/>
                <a:cs typeface="Calibri"/>
              </a:rPr>
              <a:t>in </a:t>
            </a:r>
            <a:r>
              <a:rPr sz="4000" spc="-10" dirty="0">
                <a:latin typeface="Calibri"/>
                <a:cs typeface="Calibri"/>
              </a:rPr>
              <a:t>programming.</a:t>
            </a:r>
            <a:endParaRPr lang="en-US" sz="4000" dirty="0">
              <a:latin typeface="Calibri"/>
              <a:cs typeface="Calibri"/>
            </a:endParaRPr>
          </a:p>
          <a:p>
            <a:pPr marL="355600" marR="158750" indent="-343535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3600" spc="-160" dirty="0">
                <a:latin typeface="Calibri"/>
                <a:cs typeface="Calibri"/>
              </a:rPr>
              <a:t>To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be</a:t>
            </a:r>
            <a:r>
              <a:rPr sz="3600" spc="-2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able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to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use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Selection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Sort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</a:t>
            </a:r>
            <a:r>
              <a:rPr sz="3600" spc="-20" dirty="0">
                <a:latin typeface="Calibri"/>
                <a:cs typeface="Calibri"/>
              </a:rPr>
              <a:t> </a:t>
            </a:r>
            <a:r>
              <a:rPr sz="3600" spc="-10" dirty="0">
                <a:latin typeface="Calibri"/>
                <a:cs typeface="Calibri"/>
              </a:rPr>
              <a:t>programming.</a:t>
            </a:r>
            <a:endParaRPr lang="en-US" sz="3600" dirty="0">
              <a:latin typeface="Calibri"/>
              <a:cs typeface="Calibri"/>
            </a:endParaRPr>
          </a:p>
          <a:p>
            <a:pPr marL="355600" marR="158750" indent="-343535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3600" spc="-160" dirty="0">
                <a:latin typeface="Calibri"/>
                <a:cs typeface="Calibri"/>
              </a:rPr>
              <a:t>To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be</a:t>
            </a:r>
            <a:r>
              <a:rPr sz="3600" spc="-3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able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to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use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Working</a:t>
            </a:r>
            <a:r>
              <a:rPr sz="3600" spc="-4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With</a:t>
            </a:r>
            <a:r>
              <a:rPr sz="3600" spc="-5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Bubble</a:t>
            </a:r>
            <a:r>
              <a:rPr sz="3600" spc="-60" dirty="0">
                <a:latin typeface="Calibri"/>
                <a:cs typeface="Calibri"/>
              </a:rPr>
              <a:t> </a:t>
            </a:r>
            <a:r>
              <a:rPr sz="3600" spc="-20" dirty="0">
                <a:latin typeface="Calibri"/>
                <a:cs typeface="Calibri"/>
              </a:rPr>
              <a:t>Sort</a:t>
            </a:r>
            <a:r>
              <a:rPr lang="en-US" sz="3600" spc="-20" dirty="0">
                <a:latin typeface="Calibri"/>
                <a:cs typeface="Calibri"/>
              </a:rPr>
              <a:t>.</a:t>
            </a:r>
            <a:endParaRPr lang="en-US" sz="3600" dirty="0">
              <a:latin typeface="Calibri"/>
              <a:cs typeface="Calibri"/>
            </a:endParaRPr>
          </a:p>
          <a:p>
            <a:pPr marL="355600" marR="158750" indent="-343535">
              <a:lnSpc>
                <a:spcPct val="150000"/>
              </a:lnSpc>
              <a:spcBef>
                <a:spcPts val="100"/>
              </a:spcBef>
              <a:buFont typeface="Arial MT"/>
              <a:buChar char="•"/>
              <a:tabLst>
                <a:tab pos="355600" algn="l"/>
              </a:tabLst>
            </a:pPr>
            <a:r>
              <a:rPr sz="3600" spc="-160" dirty="0">
                <a:latin typeface="Calibri"/>
                <a:cs typeface="Calibri"/>
              </a:rPr>
              <a:t>To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be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able</a:t>
            </a:r>
            <a:r>
              <a:rPr sz="3600" spc="-6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Working</a:t>
            </a:r>
            <a:r>
              <a:rPr sz="3600" spc="-50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With</a:t>
            </a:r>
            <a:r>
              <a:rPr sz="3600" spc="-45" dirty="0">
                <a:latin typeface="Calibri"/>
                <a:cs typeface="Calibri"/>
              </a:rPr>
              <a:t> </a:t>
            </a:r>
            <a:r>
              <a:rPr sz="3600" dirty="0">
                <a:latin typeface="Calibri"/>
                <a:cs typeface="Calibri"/>
              </a:rPr>
              <a:t>Insertion</a:t>
            </a:r>
            <a:r>
              <a:rPr sz="3600" spc="-70" dirty="0">
                <a:latin typeface="Calibri"/>
                <a:cs typeface="Calibri"/>
              </a:rPr>
              <a:t> </a:t>
            </a:r>
            <a:r>
              <a:rPr sz="3600" spc="-20" dirty="0">
                <a:latin typeface="Calibri"/>
                <a:cs typeface="Calibri"/>
              </a:rPr>
              <a:t>Sort</a:t>
            </a:r>
            <a:r>
              <a:rPr lang="en-US" sz="3600" spc="-20" dirty="0">
                <a:latin typeface="Calibri"/>
                <a:cs typeface="Calibri"/>
              </a:rPr>
              <a:t>.</a:t>
            </a:r>
            <a:endParaRPr sz="3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81610" rIns="0" bIns="0" rtlCol="0">
            <a:spAutoFit/>
          </a:bodyPr>
          <a:lstStyle/>
          <a:p>
            <a:pPr marL="259079">
              <a:lnSpc>
                <a:spcPct val="100000"/>
              </a:lnSpc>
              <a:spcBef>
                <a:spcPts val="95"/>
              </a:spcBef>
            </a:pPr>
            <a:r>
              <a:rPr dirty="0"/>
              <a:t>Sorting</a:t>
            </a:r>
            <a:r>
              <a:rPr spc="-225" dirty="0"/>
              <a:t> </a:t>
            </a:r>
            <a:r>
              <a:rPr spc="-35" dirty="0"/>
              <a:t>Techniques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232103" y="1529058"/>
            <a:ext cx="10129520" cy="4508500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785"/>
              </a:spcBef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Sorting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refers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arranging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particular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format.</a:t>
            </a:r>
            <a:endParaRPr sz="2800" dirty="0">
              <a:latin typeface="Calibri"/>
              <a:cs typeface="Calibri"/>
            </a:endParaRPr>
          </a:p>
          <a:p>
            <a:pPr marL="354330" marR="5715" indent="-342265">
              <a:lnSpc>
                <a:spcPct val="150100"/>
              </a:lnSpc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Sorting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algorithm</a:t>
            </a:r>
            <a:r>
              <a:rPr sz="2800" spc="21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specifies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way</a:t>
            </a:r>
            <a:r>
              <a:rPr sz="2800" spc="2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19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arrange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204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21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particular 	order.</a:t>
            </a:r>
            <a:endParaRPr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680"/>
              </a:spcBef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Most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common</a:t>
            </a:r>
            <a:r>
              <a:rPr sz="2800" spc="-7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orders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are</a:t>
            </a:r>
            <a:r>
              <a:rPr sz="2800" spc="-10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numerical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or</a:t>
            </a:r>
            <a:r>
              <a:rPr sz="2800" spc="-9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lexicographical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order.</a:t>
            </a:r>
            <a:endParaRPr sz="2800" dirty="0">
              <a:latin typeface="Calibri"/>
              <a:cs typeface="Calibri"/>
            </a:endParaRPr>
          </a:p>
          <a:p>
            <a:pPr marL="354330" marR="5080" indent="-342265">
              <a:lnSpc>
                <a:spcPct val="15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importance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of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sorting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lies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the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fact</a:t>
            </a:r>
            <a:r>
              <a:rPr sz="2800" spc="-2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that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searching</a:t>
            </a:r>
            <a:r>
              <a:rPr sz="2800" spc="-3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can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spc="-25" dirty="0">
                <a:latin typeface="Calibri"/>
                <a:cs typeface="Calibri"/>
              </a:rPr>
              <a:t>be 	</a:t>
            </a:r>
            <a:r>
              <a:rPr sz="2800" spc="-10" dirty="0">
                <a:latin typeface="Calibri"/>
                <a:cs typeface="Calibri"/>
              </a:rPr>
              <a:t>optimized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very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high</a:t>
            </a:r>
            <a:r>
              <a:rPr sz="2800" spc="-3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level,</a:t>
            </a:r>
            <a:r>
              <a:rPr sz="2800" spc="-6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if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stored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sorted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manner.</a:t>
            </a:r>
            <a:endParaRPr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685"/>
              </a:spcBef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Sorting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also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used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represent</a:t>
            </a:r>
            <a:r>
              <a:rPr sz="2800" spc="-4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data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in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more</a:t>
            </a:r>
            <a:r>
              <a:rPr sz="2800" spc="-7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readable</a:t>
            </a:r>
            <a:r>
              <a:rPr sz="2800" spc="-8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formats.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885">
              <a:lnSpc>
                <a:spcPts val="2065"/>
              </a:lnSpc>
            </a:pPr>
            <a:r>
              <a:rPr spc="-50" dirty="0"/>
              <a:t>1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9339" y="552958"/>
            <a:ext cx="43357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Sorting</a:t>
            </a:r>
            <a:r>
              <a:rPr spc="-210" dirty="0"/>
              <a:t> </a:t>
            </a:r>
            <a:r>
              <a:rPr spc="-35" dirty="0"/>
              <a:t>Techniques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374394" y="1503425"/>
            <a:ext cx="9750425" cy="331787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4965" indent="-342265" algn="just">
              <a:lnSpc>
                <a:spcPct val="100000"/>
              </a:lnSpc>
              <a:spcBef>
                <a:spcPts val="154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Following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some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real-</a:t>
            </a:r>
            <a:r>
              <a:rPr sz="2400" dirty="0">
                <a:latin typeface="Calibri"/>
                <a:cs typeface="Calibri"/>
              </a:rPr>
              <a:t>life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scenarios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−</a:t>
            </a:r>
            <a:endParaRPr sz="2400">
              <a:latin typeface="Calibri"/>
              <a:cs typeface="Calibri"/>
            </a:endParaRPr>
          </a:p>
          <a:p>
            <a:pPr marL="355600" marR="6985" indent="-342900" algn="just">
              <a:lnSpc>
                <a:spcPct val="15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b="1" dirty="0">
                <a:latin typeface="Calibri"/>
                <a:cs typeface="Calibri"/>
              </a:rPr>
              <a:t>Telephone</a:t>
            </a:r>
            <a:r>
              <a:rPr sz="2400" b="1" spc="125" dirty="0">
                <a:latin typeface="Calibri"/>
                <a:cs typeface="Calibri"/>
              </a:rPr>
              <a:t>  </a:t>
            </a:r>
            <a:r>
              <a:rPr sz="2400" b="1" dirty="0">
                <a:latin typeface="Calibri"/>
                <a:cs typeface="Calibri"/>
              </a:rPr>
              <a:t>Directory</a:t>
            </a:r>
            <a:r>
              <a:rPr sz="2400" b="1" spc="12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−</a:t>
            </a:r>
            <a:r>
              <a:rPr sz="2400" spc="12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2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telephone</a:t>
            </a:r>
            <a:r>
              <a:rPr sz="2400" spc="12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directory</a:t>
            </a:r>
            <a:r>
              <a:rPr sz="2400" spc="12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stores</a:t>
            </a:r>
            <a:r>
              <a:rPr sz="2400" spc="12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25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telephone </a:t>
            </a:r>
            <a:r>
              <a:rPr sz="2400" dirty="0">
                <a:latin typeface="Calibri"/>
                <a:cs typeface="Calibri"/>
              </a:rPr>
              <a:t>numbers</a:t>
            </a:r>
            <a:r>
              <a:rPr sz="2400" spc="5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5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people</a:t>
            </a:r>
            <a:r>
              <a:rPr sz="2400" spc="3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sorted</a:t>
            </a:r>
            <a:r>
              <a:rPr sz="2400" spc="3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3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their</a:t>
            </a:r>
            <a:r>
              <a:rPr sz="2400" spc="3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names,</a:t>
            </a:r>
            <a:r>
              <a:rPr sz="2400" spc="3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5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5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names</a:t>
            </a:r>
            <a:r>
              <a:rPr sz="2400" spc="5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59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be </a:t>
            </a:r>
            <a:r>
              <a:rPr sz="2400" dirty="0">
                <a:latin typeface="Calibri"/>
                <a:cs typeface="Calibri"/>
              </a:rPr>
              <a:t>searched</a:t>
            </a:r>
            <a:r>
              <a:rPr sz="2400" spc="-1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easily.</a:t>
            </a:r>
            <a:endParaRPr sz="2400">
              <a:latin typeface="Calibri"/>
              <a:cs typeface="Calibri"/>
            </a:endParaRPr>
          </a:p>
          <a:p>
            <a:pPr marL="354965" indent="-342265" algn="just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b="1" dirty="0">
                <a:latin typeface="Calibri"/>
                <a:cs typeface="Calibri"/>
              </a:rPr>
              <a:t>Dictionary</a:t>
            </a:r>
            <a:r>
              <a:rPr sz="2400" b="1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−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dictionary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stores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words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2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2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alphabetical</a:t>
            </a:r>
            <a:r>
              <a:rPr sz="2400" spc="2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order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254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that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Calibri"/>
                <a:cs typeface="Calibri"/>
              </a:rPr>
              <a:t>searching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word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becomes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easy.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885">
              <a:lnSpc>
                <a:spcPts val="2065"/>
              </a:lnSpc>
            </a:pPr>
            <a:r>
              <a:rPr spc="-50" dirty="0"/>
              <a:t>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16939" y="393903"/>
            <a:ext cx="433324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Sorting</a:t>
            </a:r>
            <a:r>
              <a:rPr spc="-225" dirty="0"/>
              <a:t> </a:t>
            </a:r>
            <a:r>
              <a:rPr spc="-35" dirty="0"/>
              <a:t>Techniques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47038" y="1330938"/>
            <a:ext cx="2340610" cy="3255378"/>
          </a:xfrm>
          <a:prstGeom prst="rect">
            <a:avLst/>
          </a:prstGeom>
        </p:spPr>
        <p:txBody>
          <a:bodyPr vert="horz" wrap="square" lIns="0" tIns="22669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785"/>
              </a:spcBef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solidFill>
                  <a:srgbClr val="7D1B68"/>
                </a:solidFill>
                <a:latin typeface="Calibri"/>
                <a:cs typeface="Calibri"/>
              </a:rPr>
              <a:t>Selection</a:t>
            </a:r>
            <a:r>
              <a:rPr sz="2800" spc="-4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7D1B68"/>
                </a:solidFill>
                <a:latin typeface="Calibri"/>
                <a:cs typeface="Calibri"/>
              </a:rPr>
              <a:t>sort</a:t>
            </a:r>
            <a:endParaRPr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685"/>
              </a:spcBef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solidFill>
                  <a:srgbClr val="7D1B68"/>
                </a:solidFill>
                <a:latin typeface="Calibri"/>
                <a:cs typeface="Calibri"/>
              </a:rPr>
              <a:t>Insertion</a:t>
            </a:r>
            <a:r>
              <a:rPr sz="2800" spc="-10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7D1B68"/>
                </a:solidFill>
                <a:latin typeface="Calibri"/>
                <a:cs typeface="Calibri"/>
              </a:rPr>
              <a:t>sort</a:t>
            </a:r>
            <a:endParaRPr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680"/>
              </a:spcBef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solidFill>
                  <a:srgbClr val="7D1B68"/>
                </a:solidFill>
                <a:latin typeface="Calibri"/>
                <a:cs typeface="Calibri"/>
              </a:rPr>
              <a:t>Bubble</a:t>
            </a:r>
            <a:r>
              <a:rPr sz="2800" spc="-70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7D1B68"/>
                </a:solidFill>
                <a:latin typeface="Calibri"/>
                <a:cs typeface="Calibri"/>
              </a:rPr>
              <a:t>sort</a:t>
            </a:r>
            <a:endParaRPr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680"/>
              </a:spcBef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solidFill>
                  <a:srgbClr val="7D1B68"/>
                </a:solidFill>
                <a:latin typeface="Calibri"/>
                <a:cs typeface="Calibri"/>
              </a:rPr>
              <a:t>Merge</a:t>
            </a:r>
            <a:r>
              <a:rPr sz="2800" spc="-114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7D1B68"/>
                </a:solidFill>
                <a:latin typeface="Calibri"/>
                <a:cs typeface="Calibri"/>
              </a:rPr>
              <a:t>sort</a:t>
            </a:r>
            <a:endParaRPr sz="2800" dirty="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685"/>
              </a:spcBef>
              <a:buFont typeface="Wingdings"/>
              <a:buChar char=""/>
              <a:tabLst>
                <a:tab pos="354965" algn="l"/>
              </a:tabLst>
            </a:pPr>
            <a:r>
              <a:rPr sz="2800" dirty="0">
                <a:solidFill>
                  <a:srgbClr val="7D1B68"/>
                </a:solidFill>
                <a:latin typeface="Calibri"/>
                <a:cs typeface="Calibri"/>
              </a:rPr>
              <a:t>Quick</a:t>
            </a:r>
            <a:r>
              <a:rPr sz="2800" spc="-45" dirty="0">
                <a:solidFill>
                  <a:srgbClr val="7D1B68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7D1B68"/>
                </a:solidFill>
                <a:latin typeface="Calibri"/>
                <a:cs typeface="Calibri"/>
              </a:rPr>
              <a:t>sort</a:t>
            </a:r>
            <a:endParaRPr sz="28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885">
              <a:lnSpc>
                <a:spcPts val="2065"/>
              </a:lnSpc>
            </a:pPr>
            <a:r>
              <a:rPr spc="-50" dirty="0"/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90093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dirty="0"/>
              <a:t>Selection</a:t>
            </a:r>
            <a:r>
              <a:rPr spc="-190" dirty="0"/>
              <a:t> </a:t>
            </a:r>
            <a:r>
              <a:rPr spc="-20" dirty="0"/>
              <a:t>Sort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32433" y="1533905"/>
            <a:ext cx="9877425" cy="466725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Selection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simple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algorithm.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name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014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Here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basic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steps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selection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algorithm:</a:t>
            </a:r>
            <a:endParaRPr sz="2400">
              <a:latin typeface="Calibri"/>
              <a:cs typeface="Calibri"/>
            </a:endParaRPr>
          </a:p>
          <a:p>
            <a:pPr marL="1384300" lvl="1" indent="-457200">
              <a:lnSpc>
                <a:spcPct val="100000"/>
              </a:lnSpc>
              <a:spcBef>
                <a:spcPts val="2020"/>
              </a:spcBef>
              <a:buAutoNum type="arabicPeriod"/>
              <a:tabLst>
                <a:tab pos="1384300" algn="l"/>
              </a:tabLst>
            </a:pPr>
            <a:r>
              <a:rPr sz="2400" dirty="0">
                <a:latin typeface="Calibri"/>
                <a:cs typeface="Calibri"/>
              </a:rPr>
              <a:t>Find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minimum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list</a:t>
            </a:r>
            <a:endParaRPr sz="2400">
              <a:latin typeface="Calibri"/>
              <a:cs typeface="Calibri"/>
            </a:endParaRPr>
          </a:p>
          <a:p>
            <a:pPr marL="1384300" lvl="1" indent="-457200">
              <a:lnSpc>
                <a:spcPct val="100000"/>
              </a:lnSpc>
              <a:spcBef>
                <a:spcPts val="2015"/>
              </a:spcBef>
              <a:buAutoNum type="arabicPeriod"/>
              <a:tabLst>
                <a:tab pos="1384300" algn="l"/>
              </a:tabLst>
            </a:pPr>
            <a:r>
              <a:rPr sz="2400" dirty="0">
                <a:latin typeface="Calibri"/>
                <a:cs typeface="Calibri"/>
              </a:rPr>
              <a:t>Swap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list</a:t>
            </a:r>
            <a:endParaRPr sz="2400">
              <a:latin typeface="Calibri"/>
              <a:cs typeface="Calibri"/>
            </a:endParaRPr>
          </a:p>
          <a:p>
            <a:pPr marL="1384300" marR="5080" lvl="1" indent="-457834">
              <a:lnSpc>
                <a:spcPct val="150000"/>
              </a:lnSpc>
              <a:spcBef>
                <a:spcPts val="575"/>
              </a:spcBef>
              <a:buAutoNum type="arabicPeriod"/>
              <a:tabLst>
                <a:tab pos="1384300" algn="l"/>
              </a:tabLst>
            </a:pPr>
            <a:r>
              <a:rPr sz="2400" dirty="0">
                <a:latin typeface="Calibri"/>
                <a:cs typeface="Calibri"/>
              </a:rPr>
              <a:t>Repeat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steps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above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remainder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starting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second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position.</a:t>
            </a:r>
            <a:endParaRPr sz="2400">
              <a:latin typeface="Calibri"/>
              <a:cs typeface="Calibri"/>
            </a:endParaRPr>
          </a:p>
          <a:p>
            <a:pPr marL="354330" marR="705485" indent="-342265">
              <a:lnSpc>
                <a:spcPct val="150000"/>
              </a:lnSpc>
              <a:spcBef>
                <a:spcPts val="112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called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selection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because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repeatedly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selects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next-</a:t>
            </a:r>
            <a:r>
              <a:rPr sz="2400" spc="-10" dirty="0">
                <a:latin typeface="Calibri"/>
                <a:cs typeface="Calibri"/>
              </a:rPr>
              <a:t>smallest 	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swaps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into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right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place.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885">
              <a:lnSpc>
                <a:spcPts val="2065"/>
              </a:lnSpc>
            </a:pPr>
            <a:r>
              <a:rPr spc="-50" dirty="0"/>
              <a:t>4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66293" rIns="0" bIns="0" rtlCol="0">
            <a:spAutoFit/>
          </a:bodyPr>
          <a:lstStyle/>
          <a:p>
            <a:pPr marL="294005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130" dirty="0"/>
              <a:t> </a:t>
            </a:r>
            <a:r>
              <a:rPr dirty="0"/>
              <a:t>Selection</a:t>
            </a:r>
            <a:r>
              <a:rPr spc="-114" dirty="0"/>
              <a:t> </a:t>
            </a:r>
            <a:r>
              <a:rPr dirty="0"/>
              <a:t>Sort</a:t>
            </a:r>
            <a:r>
              <a:rPr spc="-120" dirty="0"/>
              <a:t> </a:t>
            </a:r>
            <a:r>
              <a:rPr spc="-10" dirty="0"/>
              <a:t>Works?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46175" y="1576832"/>
            <a:ext cx="68992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Consider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following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depicted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0" y="2266188"/>
            <a:ext cx="6784848" cy="972312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023010" y="3385184"/>
            <a:ext cx="10206355" cy="1671955"/>
          </a:xfrm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54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whole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scanned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sequentially.</a:t>
            </a:r>
            <a:endParaRPr sz="2400">
              <a:latin typeface="Calibri"/>
              <a:cs typeface="Calibri"/>
            </a:endParaRPr>
          </a:p>
          <a:p>
            <a:pPr marL="354965" marR="5080" indent="-342900">
              <a:lnSpc>
                <a:spcPct val="150000"/>
              </a:lnSpc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14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stored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presently,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whole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find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lowest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value.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26307" y="5309615"/>
            <a:ext cx="6798564" cy="973836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885">
              <a:lnSpc>
                <a:spcPts val="2065"/>
              </a:lnSpc>
            </a:pPr>
            <a:r>
              <a:rPr spc="-50" dirty="0"/>
              <a:t>5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104391" y="1307316"/>
            <a:ext cx="9467215" cy="10629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9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So</a:t>
            </a:r>
            <a:r>
              <a:rPr lang="en-US" sz="2400" dirty="0">
                <a:latin typeface="Calibri"/>
                <a:cs typeface="Calibri"/>
              </a:rPr>
              <a:t>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replace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14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10.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iteration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10,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happens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minimum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appears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position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sorted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list.</a:t>
            </a:r>
            <a:endParaRPr sz="2400" dirty="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4764" y="2860548"/>
            <a:ext cx="6629400" cy="947927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110792" y="4058539"/>
            <a:ext cx="1001014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For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second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position,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33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residing,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start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scanning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linear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manner.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95244" y="5358384"/>
            <a:ext cx="6598920" cy="946404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93139" y="324358"/>
            <a:ext cx="803402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469380" algn="l"/>
              </a:tabLst>
            </a:pPr>
            <a:r>
              <a:rPr dirty="0"/>
              <a:t>How</a:t>
            </a:r>
            <a:r>
              <a:rPr spc="-120" dirty="0"/>
              <a:t> </a:t>
            </a:r>
            <a:r>
              <a:rPr dirty="0"/>
              <a:t>Selection</a:t>
            </a:r>
            <a:r>
              <a:rPr spc="-100" dirty="0"/>
              <a:t> </a:t>
            </a:r>
            <a:r>
              <a:rPr dirty="0"/>
              <a:t>Sort</a:t>
            </a:r>
            <a:r>
              <a:rPr spc="-110" dirty="0"/>
              <a:t> </a:t>
            </a:r>
            <a:r>
              <a:rPr spc="-10" dirty="0"/>
              <a:t>Works?</a:t>
            </a:r>
            <a:r>
              <a:rPr dirty="0"/>
              <a:t>	</a:t>
            </a:r>
            <a:r>
              <a:rPr spc="-10" dirty="0"/>
              <a:t>(Cont.)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885">
              <a:lnSpc>
                <a:spcPts val="2065"/>
              </a:lnSpc>
            </a:pPr>
            <a:r>
              <a:rPr spc="-50" dirty="0"/>
              <a:t>6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93139" y="1421714"/>
            <a:ext cx="1051179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14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second</a:t>
            </a:r>
            <a:r>
              <a:rPr sz="2400" spc="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lowest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appear</a:t>
            </a:r>
            <a:r>
              <a:rPr sz="2400" spc="1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9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second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place.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swap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values.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167127" y="2482595"/>
            <a:ext cx="7690104" cy="1098803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33678" y="4212158"/>
            <a:ext cx="103270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After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 iterations, two least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positioned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beginning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sorted</a:t>
            </a:r>
            <a:endParaRPr sz="2400">
              <a:latin typeface="Calibri"/>
              <a:cs typeface="Calibri"/>
            </a:endParaRPr>
          </a:p>
          <a:p>
            <a:pPr marL="354965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Calibri"/>
                <a:cs typeface="Calibri"/>
              </a:rPr>
              <a:t>manner.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2255520" y="5189220"/>
            <a:ext cx="7601711" cy="83058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1046175" y="476758"/>
            <a:ext cx="80314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6466840" algn="l"/>
              </a:tabLst>
            </a:pPr>
            <a:r>
              <a:rPr dirty="0"/>
              <a:t>How</a:t>
            </a:r>
            <a:r>
              <a:rPr spc="-130" dirty="0"/>
              <a:t> </a:t>
            </a:r>
            <a:r>
              <a:rPr dirty="0"/>
              <a:t>Selection</a:t>
            </a:r>
            <a:r>
              <a:rPr spc="-114" dirty="0"/>
              <a:t> </a:t>
            </a:r>
            <a:r>
              <a:rPr dirty="0"/>
              <a:t>Sort</a:t>
            </a:r>
            <a:r>
              <a:rPr spc="-120" dirty="0"/>
              <a:t> </a:t>
            </a:r>
            <a:r>
              <a:rPr spc="-10" dirty="0"/>
              <a:t>Works?</a:t>
            </a:r>
            <a:r>
              <a:rPr dirty="0"/>
              <a:t>	</a:t>
            </a:r>
            <a:r>
              <a:rPr spc="-10" dirty="0"/>
              <a:t>(Cont.)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95885">
              <a:lnSpc>
                <a:spcPts val="2065"/>
              </a:lnSpc>
            </a:pPr>
            <a:r>
              <a:rPr spc="-50" dirty="0"/>
              <a:t>7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6057900" cy="388620"/>
            <a:chOff x="0" y="6469379"/>
            <a:chExt cx="60579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6057900" cy="318770"/>
            </a:xfrm>
            <a:custGeom>
              <a:avLst/>
              <a:gdLst/>
              <a:ahLst/>
              <a:cxnLst/>
              <a:rect l="l" t="t" r="r" b="b"/>
              <a:pathLst>
                <a:path w="6057900" h="318770">
                  <a:moveTo>
                    <a:pt x="0" y="318516"/>
                  </a:moveTo>
                  <a:lnTo>
                    <a:pt x="6057900" y="318516"/>
                  </a:lnTo>
                  <a:lnTo>
                    <a:pt x="6057900" y="0"/>
                  </a:lnTo>
                  <a:lnTo>
                    <a:pt x="0" y="0"/>
                  </a:lnTo>
                  <a:lnTo>
                    <a:pt x="0" y="318516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87896"/>
              <a:ext cx="6057900" cy="70485"/>
            </a:xfrm>
            <a:custGeom>
              <a:avLst/>
              <a:gdLst/>
              <a:ahLst/>
              <a:cxnLst/>
              <a:rect l="l" t="t" r="r" b="b"/>
              <a:pathLst>
                <a:path w="6057900" h="70484">
                  <a:moveTo>
                    <a:pt x="6057900" y="0"/>
                  </a:moveTo>
                  <a:lnTo>
                    <a:pt x="0" y="0"/>
                  </a:lnTo>
                  <a:lnTo>
                    <a:pt x="0" y="70101"/>
                  </a:lnTo>
                  <a:lnTo>
                    <a:pt x="6057900" y="70101"/>
                  </a:lnTo>
                  <a:lnTo>
                    <a:pt x="60579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07491" y="3178154"/>
            <a:ext cx="5190490" cy="221996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5600" marR="5080" indent="-342900">
              <a:lnSpc>
                <a:spcPct val="150000"/>
              </a:lnSpc>
              <a:spcBef>
                <a:spcPts val="9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applied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rest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items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array.</a:t>
            </a:r>
            <a:endParaRPr sz="2400">
              <a:latin typeface="Calibri"/>
              <a:cs typeface="Calibri"/>
            </a:endParaRPr>
          </a:p>
          <a:p>
            <a:pPr marL="355600" marR="6350" indent="-342900">
              <a:lnSpc>
                <a:spcPct val="15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Following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pictorial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depiction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entire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sorting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−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6477000" y="949452"/>
            <a:ext cx="4757928" cy="5494020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840739" y="1238453"/>
            <a:ext cx="4342765" cy="124523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  <a:tabLst>
                <a:tab pos="2007870" algn="l"/>
              </a:tabLst>
            </a:pPr>
            <a:r>
              <a:rPr dirty="0"/>
              <a:t>How</a:t>
            </a:r>
            <a:r>
              <a:rPr spc="-80" dirty="0"/>
              <a:t> </a:t>
            </a:r>
            <a:r>
              <a:rPr dirty="0"/>
              <a:t>Selection</a:t>
            </a:r>
            <a:r>
              <a:rPr spc="-70" dirty="0"/>
              <a:t> </a:t>
            </a:r>
            <a:r>
              <a:rPr spc="-20" dirty="0"/>
              <a:t>Sort </a:t>
            </a:r>
            <a:r>
              <a:rPr spc="-10" dirty="0"/>
              <a:t>Works?</a:t>
            </a:r>
            <a:r>
              <a:rPr dirty="0"/>
              <a:t>	</a:t>
            </a:r>
            <a:r>
              <a:rPr spc="-10" dirty="0"/>
              <a:t>(Cont.)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116839" y="6498335"/>
            <a:ext cx="139700" cy="2787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65"/>
              </a:lnSpc>
            </a:pPr>
            <a:r>
              <a:rPr sz="1800" spc="-50" dirty="0">
                <a:solidFill>
                  <a:srgbClr val="FFFFFF"/>
                </a:solidFill>
                <a:latin typeface="Times New Roman"/>
                <a:cs typeface="Times New Roman"/>
              </a:rPr>
              <a:t>8</a:t>
            </a:r>
            <a:endParaRPr sz="1800">
              <a:latin typeface="Times New Roman"/>
              <a:cs typeface="Times New Roman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8194" y="1147013"/>
            <a:ext cx="527685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Selection</a:t>
            </a:r>
            <a:r>
              <a:rPr spc="-160" dirty="0"/>
              <a:t> </a:t>
            </a:r>
            <a:r>
              <a:rPr dirty="0"/>
              <a:t>Sort</a:t>
            </a:r>
            <a:r>
              <a:rPr spc="-125" dirty="0"/>
              <a:t> </a:t>
            </a:r>
            <a:r>
              <a:rPr spc="-10" dirty="0"/>
              <a:t>Program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0" y="89915"/>
            <a:ext cx="1905" cy="277495"/>
          </a:xfrm>
          <a:custGeom>
            <a:avLst/>
            <a:gdLst/>
            <a:ahLst/>
            <a:cxnLst/>
            <a:rect l="l" t="t" r="r" b="b"/>
            <a:pathLst>
              <a:path w="1905" h="277495">
                <a:moveTo>
                  <a:pt x="1524" y="0"/>
                </a:moveTo>
                <a:lnTo>
                  <a:pt x="0" y="0"/>
                </a:lnTo>
                <a:lnTo>
                  <a:pt x="0" y="277367"/>
                </a:lnTo>
                <a:lnTo>
                  <a:pt x="1524" y="277367"/>
                </a:lnTo>
                <a:lnTo>
                  <a:pt x="1524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/>
          <p:nvPr/>
        </p:nvSpPr>
        <p:spPr>
          <a:xfrm>
            <a:off x="1450594" y="2098172"/>
            <a:ext cx="7071995" cy="3226435"/>
          </a:xfrm>
          <a:prstGeom prst="rect">
            <a:avLst/>
          </a:prstGeom>
        </p:spPr>
        <p:txBody>
          <a:bodyPr vert="horz" wrap="square" lIns="0" tIns="2254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775"/>
              </a:spcBef>
            </a:pPr>
            <a:r>
              <a:rPr sz="2800" b="1" dirty="0">
                <a:solidFill>
                  <a:srgbClr val="303030"/>
                </a:solidFill>
                <a:latin typeface="Calibri"/>
                <a:cs typeface="Calibri"/>
              </a:rPr>
              <a:t>Step</a:t>
            </a:r>
            <a:r>
              <a:rPr sz="2800" b="1" spc="-3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303030"/>
                </a:solidFill>
                <a:latin typeface="Calibri"/>
                <a:cs typeface="Calibri"/>
              </a:rPr>
              <a:t>1</a:t>
            </a:r>
            <a:r>
              <a:rPr sz="2800" b="1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030"/>
                </a:solidFill>
                <a:latin typeface="Calibri"/>
                <a:cs typeface="Calibri"/>
              </a:rPr>
              <a:t>−</a:t>
            </a:r>
            <a:r>
              <a:rPr sz="2800" spc="-5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030"/>
                </a:solidFill>
                <a:latin typeface="Calibri"/>
                <a:cs typeface="Calibri"/>
              </a:rPr>
              <a:t>Set</a:t>
            </a:r>
            <a:r>
              <a:rPr sz="2800" spc="-6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030"/>
                </a:solidFill>
                <a:latin typeface="Calibri"/>
                <a:cs typeface="Calibri"/>
              </a:rPr>
              <a:t>MIN</a:t>
            </a:r>
            <a:r>
              <a:rPr sz="2800" spc="-3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030"/>
                </a:solidFill>
                <a:latin typeface="Calibri"/>
                <a:cs typeface="Calibri"/>
              </a:rPr>
              <a:t>to</a:t>
            </a:r>
            <a:r>
              <a:rPr sz="2800" spc="-5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030"/>
                </a:solidFill>
                <a:latin typeface="Calibri"/>
                <a:cs typeface="Calibri"/>
              </a:rPr>
              <a:t>location</a:t>
            </a:r>
            <a:r>
              <a:rPr sz="2800" spc="-6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spc="-50" dirty="0">
                <a:solidFill>
                  <a:srgbClr val="303030"/>
                </a:solidFill>
                <a:latin typeface="Calibri"/>
                <a:cs typeface="Calibri"/>
              </a:rPr>
              <a:t>0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b="1" dirty="0">
                <a:solidFill>
                  <a:srgbClr val="303030"/>
                </a:solidFill>
                <a:latin typeface="Calibri"/>
                <a:cs typeface="Calibri"/>
              </a:rPr>
              <a:t>Step</a:t>
            </a:r>
            <a:r>
              <a:rPr sz="2800" b="1" spc="-3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303030"/>
                </a:solidFill>
                <a:latin typeface="Calibri"/>
                <a:cs typeface="Calibri"/>
              </a:rPr>
              <a:t>2</a:t>
            </a:r>
            <a:r>
              <a:rPr sz="2800" b="1" spc="-3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030"/>
                </a:solidFill>
                <a:latin typeface="Calibri"/>
                <a:cs typeface="Calibri"/>
              </a:rPr>
              <a:t>−</a:t>
            </a:r>
            <a:r>
              <a:rPr sz="2800" spc="-4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030"/>
                </a:solidFill>
                <a:latin typeface="Calibri"/>
                <a:cs typeface="Calibri"/>
              </a:rPr>
              <a:t>Search</a:t>
            </a:r>
            <a:r>
              <a:rPr sz="2800" spc="-4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030"/>
                </a:solidFill>
                <a:latin typeface="Calibri"/>
                <a:cs typeface="Calibri"/>
              </a:rPr>
              <a:t>the</a:t>
            </a:r>
            <a:r>
              <a:rPr sz="2800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030"/>
                </a:solidFill>
                <a:latin typeface="Calibri"/>
                <a:cs typeface="Calibri"/>
              </a:rPr>
              <a:t>minimum</a:t>
            </a:r>
            <a:r>
              <a:rPr sz="2800" spc="-1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030"/>
                </a:solidFill>
                <a:latin typeface="Calibri"/>
                <a:cs typeface="Calibri"/>
              </a:rPr>
              <a:t>element</a:t>
            </a:r>
            <a:r>
              <a:rPr sz="2800" spc="-5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030"/>
                </a:solidFill>
                <a:latin typeface="Calibri"/>
                <a:cs typeface="Calibri"/>
              </a:rPr>
              <a:t>in</a:t>
            </a:r>
            <a:r>
              <a:rPr sz="2800" spc="-3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030"/>
                </a:solidFill>
                <a:latin typeface="Calibri"/>
                <a:cs typeface="Calibri"/>
              </a:rPr>
              <a:t>the</a:t>
            </a:r>
            <a:r>
              <a:rPr sz="2800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spc="-20" dirty="0">
                <a:solidFill>
                  <a:srgbClr val="303030"/>
                </a:solidFill>
                <a:latin typeface="Calibri"/>
                <a:cs typeface="Calibri"/>
              </a:rPr>
              <a:t>list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85"/>
              </a:spcBef>
            </a:pPr>
            <a:r>
              <a:rPr sz="2800" b="1" dirty="0">
                <a:solidFill>
                  <a:srgbClr val="303030"/>
                </a:solidFill>
                <a:latin typeface="Calibri"/>
                <a:cs typeface="Calibri"/>
              </a:rPr>
              <a:t>Step</a:t>
            </a:r>
            <a:r>
              <a:rPr sz="2800" b="1" spc="-5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303030"/>
                </a:solidFill>
                <a:latin typeface="Calibri"/>
                <a:cs typeface="Calibri"/>
              </a:rPr>
              <a:t>3</a:t>
            </a:r>
            <a:r>
              <a:rPr sz="2800" b="1" spc="-5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030"/>
                </a:solidFill>
                <a:latin typeface="Calibri"/>
                <a:cs typeface="Calibri"/>
              </a:rPr>
              <a:t>−</a:t>
            </a:r>
            <a:r>
              <a:rPr sz="2800" spc="-6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030"/>
                </a:solidFill>
                <a:latin typeface="Calibri"/>
                <a:cs typeface="Calibri"/>
              </a:rPr>
              <a:t>Swap</a:t>
            </a:r>
            <a:r>
              <a:rPr sz="2800" spc="-5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030"/>
                </a:solidFill>
                <a:latin typeface="Calibri"/>
                <a:cs typeface="Calibri"/>
              </a:rPr>
              <a:t>with</a:t>
            </a:r>
            <a:r>
              <a:rPr sz="2800" spc="-6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030"/>
                </a:solidFill>
                <a:latin typeface="Calibri"/>
                <a:cs typeface="Calibri"/>
              </a:rPr>
              <a:t>value</a:t>
            </a:r>
            <a:r>
              <a:rPr sz="2800" spc="-6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030"/>
                </a:solidFill>
                <a:latin typeface="Calibri"/>
                <a:cs typeface="Calibri"/>
              </a:rPr>
              <a:t>at</a:t>
            </a:r>
            <a:r>
              <a:rPr sz="2800" spc="-7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030"/>
                </a:solidFill>
                <a:latin typeface="Calibri"/>
                <a:cs typeface="Calibri"/>
              </a:rPr>
              <a:t>location</a:t>
            </a:r>
            <a:r>
              <a:rPr sz="2800" spc="-7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spc="-25" dirty="0">
                <a:solidFill>
                  <a:srgbClr val="303030"/>
                </a:solidFill>
                <a:latin typeface="Calibri"/>
                <a:cs typeface="Calibri"/>
              </a:rPr>
              <a:t>MIN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b="1" dirty="0">
                <a:solidFill>
                  <a:srgbClr val="303030"/>
                </a:solidFill>
                <a:latin typeface="Calibri"/>
                <a:cs typeface="Calibri"/>
              </a:rPr>
              <a:t>Step</a:t>
            </a:r>
            <a:r>
              <a:rPr sz="2800" b="1" spc="-5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303030"/>
                </a:solidFill>
                <a:latin typeface="Calibri"/>
                <a:cs typeface="Calibri"/>
              </a:rPr>
              <a:t>4</a:t>
            </a:r>
            <a:r>
              <a:rPr sz="2800" b="1" spc="-5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030"/>
                </a:solidFill>
                <a:latin typeface="Calibri"/>
                <a:cs typeface="Calibri"/>
              </a:rPr>
              <a:t>−</a:t>
            </a:r>
            <a:r>
              <a:rPr sz="2800" spc="-6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030"/>
                </a:solidFill>
                <a:latin typeface="Calibri"/>
                <a:cs typeface="Calibri"/>
              </a:rPr>
              <a:t>Increment</a:t>
            </a:r>
            <a:r>
              <a:rPr sz="2800" spc="-5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030"/>
                </a:solidFill>
                <a:latin typeface="Calibri"/>
                <a:cs typeface="Calibri"/>
              </a:rPr>
              <a:t>MIN</a:t>
            </a:r>
            <a:r>
              <a:rPr sz="2800" spc="-5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030"/>
                </a:solidFill>
                <a:latin typeface="Calibri"/>
                <a:cs typeface="Calibri"/>
              </a:rPr>
              <a:t>to</a:t>
            </a:r>
            <a:r>
              <a:rPr sz="2800" spc="-6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030"/>
                </a:solidFill>
                <a:latin typeface="Calibri"/>
                <a:cs typeface="Calibri"/>
              </a:rPr>
              <a:t>point</a:t>
            </a:r>
            <a:r>
              <a:rPr sz="2800" spc="-5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030"/>
                </a:solidFill>
                <a:latin typeface="Calibri"/>
                <a:cs typeface="Calibri"/>
              </a:rPr>
              <a:t>to</a:t>
            </a:r>
            <a:r>
              <a:rPr sz="2800" spc="-6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030"/>
                </a:solidFill>
                <a:latin typeface="Calibri"/>
                <a:cs typeface="Calibri"/>
              </a:rPr>
              <a:t>next</a:t>
            </a:r>
            <a:r>
              <a:rPr sz="2800" spc="-5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03030"/>
                </a:solidFill>
                <a:latin typeface="Calibri"/>
                <a:cs typeface="Calibri"/>
              </a:rPr>
              <a:t>element</a:t>
            </a:r>
            <a:endParaRPr sz="28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1680"/>
              </a:spcBef>
            </a:pPr>
            <a:r>
              <a:rPr sz="2800" b="1" dirty="0">
                <a:solidFill>
                  <a:srgbClr val="303030"/>
                </a:solidFill>
                <a:latin typeface="Calibri"/>
                <a:cs typeface="Calibri"/>
              </a:rPr>
              <a:t>Step</a:t>
            </a:r>
            <a:r>
              <a:rPr sz="2800" b="1" spc="-4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b="1" dirty="0">
                <a:solidFill>
                  <a:srgbClr val="303030"/>
                </a:solidFill>
                <a:latin typeface="Calibri"/>
                <a:cs typeface="Calibri"/>
              </a:rPr>
              <a:t>5</a:t>
            </a:r>
            <a:r>
              <a:rPr sz="2800" b="1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030"/>
                </a:solidFill>
                <a:latin typeface="Calibri"/>
                <a:cs typeface="Calibri"/>
              </a:rPr>
              <a:t>−</a:t>
            </a:r>
            <a:r>
              <a:rPr sz="2800" spc="-5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030"/>
                </a:solidFill>
                <a:latin typeface="Calibri"/>
                <a:cs typeface="Calibri"/>
              </a:rPr>
              <a:t>Repeat</a:t>
            </a:r>
            <a:r>
              <a:rPr sz="2800" spc="-6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030"/>
                </a:solidFill>
                <a:latin typeface="Calibri"/>
                <a:cs typeface="Calibri"/>
              </a:rPr>
              <a:t>until</a:t>
            </a:r>
            <a:r>
              <a:rPr sz="2800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030"/>
                </a:solidFill>
                <a:latin typeface="Calibri"/>
                <a:cs typeface="Calibri"/>
              </a:rPr>
              <a:t>list</a:t>
            </a:r>
            <a:r>
              <a:rPr sz="2800" spc="-3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dirty="0">
                <a:solidFill>
                  <a:srgbClr val="303030"/>
                </a:solidFill>
                <a:latin typeface="Calibri"/>
                <a:cs typeface="Calibri"/>
              </a:rPr>
              <a:t>is</a:t>
            </a:r>
            <a:r>
              <a:rPr sz="2800" spc="-6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800" spc="-10" dirty="0">
                <a:solidFill>
                  <a:srgbClr val="303030"/>
                </a:solidFill>
                <a:latin typeface="Calibri"/>
                <a:cs typeface="Calibri"/>
              </a:rPr>
              <a:t>sorted</a:t>
            </a:r>
            <a:endParaRPr sz="2800">
              <a:latin typeface="Calibri"/>
              <a:cs typeface="Calibri"/>
            </a:endParaRP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pc="-25" dirty="0"/>
              <a:t>9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93139" y="641985"/>
            <a:ext cx="304800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Insertion</a:t>
            </a:r>
            <a:r>
              <a:rPr spc="-145" dirty="0"/>
              <a:t> </a:t>
            </a:r>
            <a:r>
              <a:rPr spc="-20" dirty="0"/>
              <a:t>Sort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013663" y="1355171"/>
            <a:ext cx="10808970" cy="496506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67030" marR="18415" indent="-342265" algn="just">
              <a:lnSpc>
                <a:spcPct val="150000"/>
              </a:lnSpc>
              <a:spcBef>
                <a:spcPts val="105"/>
              </a:spcBef>
              <a:buFont typeface="Wingdings"/>
              <a:buChar char=""/>
              <a:tabLst>
                <a:tab pos="368300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27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27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280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in-</a:t>
            </a:r>
            <a:r>
              <a:rPr sz="2400" dirty="0">
                <a:latin typeface="Calibri"/>
                <a:cs typeface="Calibri"/>
              </a:rPr>
              <a:t>place</a:t>
            </a:r>
            <a:r>
              <a:rPr sz="2400" spc="275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comparison-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27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sorting</a:t>
            </a:r>
            <a:r>
              <a:rPr sz="2400" spc="27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algorithm.</a:t>
            </a:r>
            <a:r>
              <a:rPr sz="2400" spc="270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Here,</a:t>
            </a:r>
            <a:r>
              <a:rPr sz="2400" spc="275" dirty="0">
                <a:latin typeface="Calibri"/>
                <a:cs typeface="Calibri"/>
              </a:rPr>
              <a:t> 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275" dirty="0">
                <a:latin typeface="Calibri"/>
                <a:cs typeface="Calibri"/>
              </a:rPr>
              <a:t>  </a:t>
            </a:r>
            <a:r>
              <a:rPr sz="2400" spc="-10" dirty="0">
                <a:latin typeface="Calibri"/>
                <a:cs typeface="Calibri"/>
              </a:rPr>
              <a:t>sub-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275" dirty="0">
                <a:latin typeface="Calibri"/>
                <a:cs typeface="Calibri"/>
              </a:rPr>
              <a:t>  </a:t>
            </a:r>
            <a:r>
              <a:rPr sz="2400" spc="-25" dirty="0">
                <a:latin typeface="Calibri"/>
                <a:cs typeface="Calibri"/>
              </a:rPr>
              <a:t>is 	</a:t>
            </a:r>
            <a:r>
              <a:rPr sz="2400" dirty="0">
                <a:latin typeface="Calibri"/>
                <a:cs typeface="Calibri"/>
              </a:rPr>
              <a:t>maintained</a:t>
            </a:r>
            <a:r>
              <a:rPr sz="2400" spc="50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5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4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always</a:t>
            </a:r>
            <a:r>
              <a:rPr sz="2400" spc="5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sorted.</a:t>
            </a:r>
            <a:r>
              <a:rPr sz="2400" spc="5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5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example,</a:t>
            </a:r>
            <a:r>
              <a:rPr sz="2400" spc="50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509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lower</a:t>
            </a:r>
            <a:r>
              <a:rPr sz="2400" spc="5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part</a:t>
            </a:r>
            <a:r>
              <a:rPr sz="2400" spc="50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5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5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array</a:t>
            </a:r>
            <a:r>
              <a:rPr sz="2400" spc="50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 	</a:t>
            </a:r>
            <a:r>
              <a:rPr sz="2400" dirty="0">
                <a:latin typeface="Calibri"/>
                <a:cs typeface="Calibri"/>
              </a:rPr>
              <a:t>maintained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sorted.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'insert'ed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sorted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sub-</a:t>
            </a:r>
            <a:r>
              <a:rPr sz="2400" spc="-10" dirty="0">
                <a:latin typeface="Calibri"/>
                <a:cs typeface="Calibri"/>
              </a:rPr>
              <a:t>list, 	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appropriate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place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inserted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there.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Hence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	</a:t>
            </a:r>
            <a:r>
              <a:rPr sz="2400" dirty="0">
                <a:latin typeface="Calibri"/>
                <a:cs typeface="Calibri"/>
              </a:rPr>
              <a:t>name,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insertion</a:t>
            </a:r>
            <a:r>
              <a:rPr sz="2400" b="1" spc="-60" dirty="0">
                <a:latin typeface="Calibri"/>
                <a:cs typeface="Calibri"/>
              </a:rPr>
              <a:t> </a:t>
            </a:r>
            <a:r>
              <a:rPr sz="2400" b="1" spc="-20" dirty="0">
                <a:latin typeface="Calibri"/>
                <a:cs typeface="Calibri"/>
              </a:rPr>
              <a:t>sort</a:t>
            </a:r>
            <a:r>
              <a:rPr sz="2400" spc="-20" dirty="0">
                <a:latin typeface="Calibri"/>
                <a:cs typeface="Calibri"/>
              </a:rPr>
              <a:t>.</a:t>
            </a:r>
            <a:endParaRPr sz="2400" dirty="0">
              <a:latin typeface="Calibri"/>
              <a:cs typeface="Calibri"/>
            </a:endParaRPr>
          </a:p>
          <a:p>
            <a:pPr marL="367030" marR="17780" indent="-342265" algn="just">
              <a:lnSpc>
                <a:spcPct val="150000"/>
              </a:lnSpc>
              <a:buFont typeface="Wingdings"/>
              <a:buChar char=""/>
              <a:tabLst>
                <a:tab pos="368300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array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searched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sequentially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unsorted</a:t>
            </a:r>
            <a:r>
              <a:rPr sz="2400" spc="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items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moved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inserted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into 	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sorted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sub-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(in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same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array).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suitable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data 	</a:t>
            </a:r>
            <a:r>
              <a:rPr sz="2400" dirty="0">
                <a:latin typeface="Calibri"/>
                <a:cs typeface="Calibri"/>
              </a:rPr>
              <a:t>sets</a:t>
            </a:r>
            <a:r>
              <a:rPr sz="2400" spc="-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10" dirty="0">
                <a:latin typeface="Calibri"/>
                <a:cs typeface="Calibri"/>
              </a:rPr>
              <a:t> average</a:t>
            </a:r>
            <a:r>
              <a:rPr sz="2400" dirty="0">
                <a:latin typeface="Calibri"/>
                <a:cs typeface="Calibri"/>
              </a:rPr>
              <a:t> and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worst</a:t>
            </a:r>
            <a:r>
              <a:rPr lang="en-US" sz="2400" spc="-5" dirty="0">
                <a:latin typeface="Calibri"/>
                <a:cs typeface="Calibri"/>
              </a:rPr>
              <a:t>-</a:t>
            </a:r>
            <a:r>
              <a:rPr sz="2400" dirty="0">
                <a:latin typeface="Calibri"/>
                <a:cs typeface="Calibri"/>
              </a:rPr>
              <a:t>case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complexity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 Ο(n</a:t>
            </a:r>
            <a:r>
              <a:rPr sz="2400" baseline="24305" dirty="0">
                <a:latin typeface="Calibri"/>
                <a:cs typeface="Calibri"/>
              </a:rPr>
              <a:t>2</a:t>
            </a:r>
            <a:r>
              <a:rPr sz="2400" dirty="0">
                <a:latin typeface="Calibri"/>
                <a:cs typeface="Calibri"/>
              </a:rPr>
              <a:t>),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</a:t>
            </a:r>
            <a:r>
              <a:rPr sz="2400" spc="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of 	</a:t>
            </a:r>
            <a:r>
              <a:rPr sz="2400" spc="-10" dirty="0">
                <a:latin typeface="Calibri"/>
                <a:cs typeface="Calibri"/>
              </a:rPr>
              <a:t>items.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pc="-25" dirty="0"/>
              <a:t>10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322529"/>
            <a:ext cx="60559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125" dirty="0"/>
              <a:t> </a:t>
            </a:r>
            <a:r>
              <a:rPr dirty="0"/>
              <a:t>Insertion</a:t>
            </a:r>
            <a:r>
              <a:rPr spc="-105" dirty="0"/>
              <a:t> </a:t>
            </a:r>
            <a:r>
              <a:rPr dirty="0"/>
              <a:t>Sort</a:t>
            </a:r>
            <a:r>
              <a:rPr spc="-120" dirty="0"/>
              <a:t> </a:t>
            </a:r>
            <a:r>
              <a:rPr spc="-10" dirty="0"/>
              <a:t>Works?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408938" y="1415618"/>
            <a:ext cx="574357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take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unsorted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array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48000" y="2462783"/>
            <a:ext cx="6358128" cy="909827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1408938" y="3805554"/>
            <a:ext cx="61810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Insertion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compares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elements.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0" y="4709159"/>
            <a:ext cx="5867400" cy="838199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pc="-25" dirty="0"/>
              <a:t>11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23010" y="1881378"/>
            <a:ext cx="1010158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finds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1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14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33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already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ascending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order.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now,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14</a:t>
            </a:r>
            <a:r>
              <a:rPr sz="2400" spc="1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in </a:t>
            </a:r>
            <a:r>
              <a:rPr sz="2400" dirty="0">
                <a:latin typeface="Calibri"/>
                <a:cs typeface="Calibri"/>
              </a:rPr>
              <a:t>sorted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sub-</a:t>
            </a:r>
            <a:r>
              <a:rPr sz="2400" spc="-20" dirty="0">
                <a:latin typeface="Calibri"/>
                <a:cs typeface="Calibri"/>
              </a:rPr>
              <a:t>list.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329940" y="3201923"/>
            <a:ext cx="5846064" cy="83515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23010" y="4191380"/>
            <a:ext cx="7000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Insertion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moves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ahead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compares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33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27.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36264" y="4922520"/>
            <a:ext cx="5791199" cy="827531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993139" y="1060449"/>
            <a:ext cx="77520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140" dirty="0"/>
              <a:t> </a:t>
            </a:r>
            <a:r>
              <a:rPr dirty="0"/>
              <a:t>Insertion</a:t>
            </a:r>
            <a:r>
              <a:rPr spc="-125" dirty="0"/>
              <a:t> </a:t>
            </a:r>
            <a:r>
              <a:rPr dirty="0"/>
              <a:t>Sort</a:t>
            </a:r>
            <a:r>
              <a:rPr spc="-135" dirty="0"/>
              <a:t> </a:t>
            </a:r>
            <a:r>
              <a:rPr dirty="0"/>
              <a:t>Works?</a:t>
            </a:r>
            <a:r>
              <a:rPr spc="-114" dirty="0"/>
              <a:t> </a:t>
            </a:r>
            <a:r>
              <a:rPr spc="-10" dirty="0"/>
              <a:t>(Cont.)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pc="-25" dirty="0"/>
              <a:t>12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pic>
        <p:nvPicPr>
          <p:cNvPr id="5" name="object 5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77767" y="2109216"/>
            <a:ext cx="5513832" cy="787908"/>
          </a:xfrm>
          <a:prstGeom prst="rect">
            <a:avLst/>
          </a:prstGeom>
        </p:spPr>
      </p:pic>
      <p:sp>
        <p:nvSpPr>
          <p:cNvPr id="6" name="object 6"/>
          <p:cNvSpPr txBox="1"/>
          <p:nvPr/>
        </p:nvSpPr>
        <p:spPr>
          <a:xfrm>
            <a:off x="1364361" y="1760982"/>
            <a:ext cx="10216515" cy="3423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33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correct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position.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buFont typeface="Wingdings"/>
              <a:buChar char=""/>
            </a:pP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175"/>
              </a:spcBef>
              <a:buFont typeface="Wingdings"/>
              <a:buChar char=""/>
            </a:pP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It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swaps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33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27.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also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checks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sub-list.</a:t>
            </a:r>
            <a:endParaRPr sz="2400">
              <a:latin typeface="Calibri"/>
              <a:cs typeface="Calibri"/>
            </a:endParaRPr>
          </a:p>
          <a:p>
            <a:pPr marL="355600" marR="5080" indent="-342900">
              <a:lnSpc>
                <a:spcPct val="150000"/>
              </a:lnSpc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Here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see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sorted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sub-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only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14,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27</a:t>
            </a:r>
            <a:r>
              <a:rPr sz="2400" spc="1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greater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14.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1445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Hence,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sub-</a:t>
            </a:r>
            <a:r>
              <a:rPr sz="2400" dirty="0">
                <a:latin typeface="Calibri"/>
                <a:cs typeface="Calibri"/>
              </a:rPr>
              <a:t>list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remains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swapping.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572255" y="5448300"/>
            <a:ext cx="5324856" cy="760476"/>
          </a:xfrm>
          <a:prstGeom prst="rect">
            <a:avLst/>
          </a:prstGeom>
        </p:spPr>
      </p:pic>
      <p:sp>
        <p:nvSpPr>
          <p:cNvPr id="8" name="object 8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75411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140" dirty="0"/>
              <a:t> </a:t>
            </a:r>
            <a:r>
              <a:rPr dirty="0"/>
              <a:t>Insertion</a:t>
            </a:r>
            <a:r>
              <a:rPr spc="-125" dirty="0"/>
              <a:t> </a:t>
            </a:r>
            <a:r>
              <a:rPr dirty="0"/>
              <a:t>Sort</a:t>
            </a:r>
            <a:r>
              <a:rPr spc="-135" dirty="0"/>
              <a:t> </a:t>
            </a:r>
            <a:r>
              <a:rPr dirty="0"/>
              <a:t>Works?</a:t>
            </a:r>
            <a:r>
              <a:rPr spc="-114" dirty="0"/>
              <a:t> </a:t>
            </a:r>
            <a:r>
              <a:rPr spc="-10" dirty="0"/>
              <a:t>(Cont.)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pc="-25" dirty="0"/>
              <a:t>13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93139" y="1551178"/>
            <a:ext cx="100234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By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now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14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27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sorted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sub-</a:t>
            </a:r>
            <a:r>
              <a:rPr sz="2400" dirty="0">
                <a:latin typeface="Calibri"/>
                <a:cs typeface="Calibri"/>
              </a:rPr>
              <a:t>list.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Next,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compares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33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10.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5600" y="2441448"/>
            <a:ext cx="6553200" cy="90068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93139" y="3971290"/>
            <a:ext cx="508508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order.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67811" y="4887467"/>
            <a:ext cx="6210299" cy="88696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57707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150" dirty="0"/>
              <a:t> </a:t>
            </a:r>
            <a:r>
              <a:rPr dirty="0"/>
              <a:t>Insertion</a:t>
            </a:r>
            <a:r>
              <a:rPr spc="-125" dirty="0"/>
              <a:t> </a:t>
            </a:r>
            <a:r>
              <a:rPr dirty="0"/>
              <a:t>Sort</a:t>
            </a:r>
            <a:r>
              <a:rPr spc="-140" dirty="0"/>
              <a:t> </a:t>
            </a:r>
            <a:r>
              <a:rPr dirty="0"/>
              <a:t>Works?</a:t>
            </a:r>
            <a:r>
              <a:rPr spc="-130" dirty="0"/>
              <a:t> </a:t>
            </a:r>
            <a:r>
              <a:rPr spc="-10" dirty="0"/>
              <a:t>(Cont.)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pc="-25" dirty="0"/>
              <a:t>14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74394" y="1855978"/>
            <a:ext cx="26142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So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swap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them.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37332" y="2318004"/>
            <a:ext cx="6062472" cy="86715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374394" y="4055745"/>
            <a:ext cx="617474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spc="-35" dirty="0">
                <a:latin typeface="Calibri"/>
                <a:cs typeface="Calibri"/>
              </a:rPr>
              <a:t>However,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swapping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makes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27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unsorted.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37332" y="4951476"/>
            <a:ext cx="6400800" cy="91440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11987" rIns="0" bIns="0" rtlCol="0">
            <a:spAutoFit/>
          </a:bodyPr>
          <a:lstStyle/>
          <a:p>
            <a:pPr marL="240665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150" dirty="0"/>
              <a:t> </a:t>
            </a:r>
            <a:r>
              <a:rPr dirty="0"/>
              <a:t>Insertion</a:t>
            </a:r>
            <a:r>
              <a:rPr spc="-125" dirty="0"/>
              <a:t> </a:t>
            </a:r>
            <a:r>
              <a:rPr dirty="0"/>
              <a:t>Sort</a:t>
            </a:r>
            <a:r>
              <a:rPr spc="-140" dirty="0"/>
              <a:t> </a:t>
            </a:r>
            <a:r>
              <a:rPr dirty="0"/>
              <a:t>Works?</a:t>
            </a:r>
            <a:r>
              <a:rPr spc="-130" dirty="0"/>
              <a:t> </a:t>
            </a:r>
            <a:r>
              <a:rPr spc="-10" dirty="0"/>
              <a:t>(Cont.)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pc="-25" dirty="0"/>
              <a:t>15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23010" y="1656969"/>
            <a:ext cx="36620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Hence,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swap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too.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843528" y="2375916"/>
            <a:ext cx="6486144" cy="92659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23010" y="3859529"/>
            <a:ext cx="59886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Again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14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unsorted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order.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962400" y="4622291"/>
            <a:ext cx="6248400" cy="891540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0534" rIns="0" bIns="0" rtlCol="0">
            <a:spAutoFit/>
          </a:bodyPr>
          <a:lstStyle/>
          <a:p>
            <a:pPr marL="164465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140" dirty="0"/>
              <a:t> </a:t>
            </a:r>
            <a:r>
              <a:rPr dirty="0"/>
              <a:t>Insertion</a:t>
            </a:r>
            <a:r>
              <a:rPr spc="-125" dirty="0"/>
              <a:t> </a:t>
            </a:r>
            <a:r>
              <a:rPr dirty="0"/>
              <a:t>Sort</a:t>
            </a:r>
            <a:r>
              <a:rPr spc="-135" dirty="0"/>
              <a:t> </a:t>
            </a:r>
            <a:r>
              <a:rPr dirty="0"/>
              <a:t>Works?</a:t>
            </a:r>
            <a:r>
              <a:rPr spc="-114" dirty="0"/>
              <a:t> </a:t>
            </a:r>
            <a:r>
              <a:rPr spc="-10" dirty="0"/>
              <a:t>(Cont.)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pc="-25" dirty="0"/>
              <a:t>16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93139" y="1697228"/>
            <a:ext cx="97478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marR="5080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swap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them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again.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third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iteration,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sorted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sub-</a:t>
            </a:r>
            <a:r>
              <a:rPr sz="2400" spc="-20" dirty="0">
                <a:latin typeface="Calibri"/>
                <a:cs typeface="Calibri"/>
              </a:rPr>
              <a:t>list 	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items.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95600" y="2596895"/>
            <a:ext cx="7391400" cy="1056131"/>
          </a:xfrm>
          <a:prstGeom prst="rect">
            <a:avLst/>
          </a:prstGeom>
        </p:spPr>
      </p:pic>
      <p:sp>
        <p:nvSpPr>
          <p:cNvPr id="7" name="object 7"/>
          <p:cNvSpPr txBox="1">
            <a:spLocks noGrp="1"/>
          </p:cNvSpPr>
          <p:nvPr>
            <p:ph type="title"/>
          </p:nvPr>
        </p:nvSpPr>
        <p:spPr>
          <a:xfrm>
            <a:off x="993139" y="1060780"/>
            <a:ext cx="775208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150" dirty="0"/>
              <a:t> </a:t>
            </a:r>
            <a:r>
              <a:rPr dirty="0"/>
              <a:t>Insertion</a:t>
            </a:r>
            <a:r>
              <a:rPr spc="-125" dirty="0"/>
              <a:t> </a:t>
            </a:r>
            <a:r>
              <a:rPr dirty="0"/>
              <a:t>Sort</a:t>
            </a:r>
            <a:r>
              <a:rPr spc="-140" dirty="0"/>
              <a:t> </a:t>
            </a:r>
            <a:r>
              <a:rPr dirty="0"/>
              <a:t>Works?</a:t>
            </a:r>
            <a:r>
              <a:rPr spc="-130" dirty="0"/>
              <a:t> </a:t>
            </a:r>
            <a:r>
              <a:rPr spc="-10" dirty="0"/>
              <a:t>(Cont.)</a:t>
            </a:r>
          </a:p>
        </p:txBody>
      </p:sp>
      <p:sp>
        <p:nvSpPr>
          <p:cNvPr id="9" name="object 9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pc="-25" dirty="0"/>
              <a:t>17</a:t>
            </a:r>
          </a:p>
        </p:txBody>
      </p:sp>
      <p:sp>
        <p:nvSpPr>
          <p:cNvPr id="8" name="object 8"/>
          <p:cNvSpPr txBox="1"/>
          <p:nvPr/>
        </p:nvSpPr>
        <p:spPr>
          <a:xfrm>
            <a:off x="993139" y="4113610"/>
            <a:ext cx="9671685" cy="1123950"/>
          </a:xfrm>
          <a:prstGeom prst="rect">
            <a:avLst/>
          </a:prstGeom>
        </p:spPr>
        <p:txBody>
          <a:bodyPr vert="horz" wrap="square" lIns="0" tIns="196215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545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process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goes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until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all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unsorted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covered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sorted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1440"/>
              </a:spcBef>
            </a:pPr>
            <a:r>
              <a:rPr sz="2400" spc="-25" dirty="0">
                <a:latin typeface="Calibri"/>
                <a:cs typeface="Calibri"/>
              </a:rPr>
              <a:t>sub-</a:t>
            </a:r>
            <a:r>
              <a:rPr sz="2400" spc="-10" dirty="0">
                <a:latin typeface="Calibri"/>
                <a:cs typeface="Calibri"/>
              </a:rPr>
              <a:t>list.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64540" y="740791"/>
            <a:ext cx="53060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Insertion</a:t>
            </a:r>
            <a:r>
              <a:rPr spc="-120" dirty="0"/>
              <a:t> </a:t>
            </a:r>
            <a:r>
              <a:rPr spc="-10" dirty="0"/>
              <a:t>Sort</a:t>
            </a:r>
            <a:r>
              <a:rPr spc="-270" dirty="0"/>
              <a:t> </a:t>
            </a:r>
            <a:r>
              <a:rPr spc="-10"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45539" y="1232661"/>
            <a:ext cx="10065385" cy="49460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330" marR="5080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Now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bigger</a:t>
            </a:r>
            <a:r>
              <a:rPr sz="2400" spc="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picture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sorting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technique</a:t>
            </a:r>
            <a:r>
              <a:rPr sz="2400" spc="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works,</a:t>
            </a:r>
            <a:r>
              <a:rPr sz="2400" spc="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can 	</a:t>
            </a:r>
            <a:r>
              <a:rPr sz="2400" dirty="0">
                <a:latin typeface="Calibri"/>
                <a:cs typeface="Calibri"/>
              </a:rPr>
              <a:t>derive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simple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steps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by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can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achieve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insertion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sort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245"/>
              </a:spcBef>
            </a:pPr>
            <a:endParaRPr sz="2400">
              <a:latin typeface="Calibri"/>
              <a:cs typeface="Calibri"/>
            </a:endParaRPr>
          </a:p>
          <a:p>
            <a:pPr marL="546100">
              <a:lnSpc>
                <a:spcPct val="100000"/>
              </a:lnSpc>
            </a:pPr>
            <a:r>
              <a:rPr sz="2400" b="1" dirty="0">
                <a:solidFill>
                  <a:srgbClr val="303030"/>
                </a:solidFill>
                <a:latin typeface="Calibri"/>
                <a:cs typeface="Calibri"/>
              </a:rPr>
              <a:t>Step</a:t>
            </a:r>
            <a:r>
              <a:rPr sz="2400" b="1" spc="-5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03030"/>
                </a:solidFill>
                <a:latin typeface="Calibri"/>
                <a:cs typeface="Calibri"/>
              </a:rPr>
              <a:t>1</a:t>
            </a:r>
            <a:r>
              <a:rPr sz="2400" b="1" spc="-5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−</a:t>
            </a:r>
            <a:r>
              <a:rPr sz="2400" spc="-4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If</a:t>
            </a:r>
            <a:r>
              <a:rPr sz="2400" spc="-5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it</a:t>
            </a:r>
            <a:r>
              <a:rPr sz="2400" spc="-5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is</a:t>
            </a:r>
            <a:r>
              <a:rPr sz="2400" spc="-4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the</a:t>
            </a:r>
            <a:r>
              <a:rPr sz="2400" spc="-4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first</a:t>
            </a:r>
            <a:r>
              <a:rPr sz="2400" spc="-6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element,</a:t>
            </a:r>
            <a:r>
              <a:rPr sz="2400" spc="-5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it</a:t>
            </a:r>
            <a:r>
              <a:rPr sz="2400" spc="-6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is</a:t>
            </a:r>
            <a:r>
              <a:rPr sz="2400" spc="-4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already</a:t>
            </a:r>
            <a:r>
              <a:rPr sz="2400" spc="-5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sorted.</a:t>
            </a:r>
            <a:r>
              <a:rPr sz="2400" spc="-4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return</a:t>
            </a:r>
            <a:r>
              <a:rPr sz="2400" spc="-3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303030"/>
                </a:solidFill>
                <a:latin typeface="Calibri"/>
                <a:cs typeface="Calibri"/>
              </a:rPr>
              <a:t>1;</a:t>
            </a:r>
            <a:endParaRPr sz="2400">
              <a:latin typeface="Calibri"/>
              <a:cs typeface="Calibri"/>
            </a:endParaRPr>
          </a:p>
          <a:p>
            <a:pPr marL="546100">
              <a:lnSpc>
                <a:spcPct val="100000"/>
              </a:lnSpc>
              <a:spcBef>
                <a:spcPts val="1445"/>
              </a:spcBef>
            </a:pPr>
            <a:r>
              <a:rPr sz="2400" b="1" dirty="0">
                <a:solidFill>
                  <a:srgbClr val="303030"/>
                </a:solidFill>
                <a:latin typeface="Calibri"/>
                <a:cs typeface="Calibri"/>
              </a:rPr>
              <a:t>Step</a:t>
            </a:r>
            <a:r>
              <a:rPr sz="2400" b="1" spc="-3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03030"/>
                </a:solidFill>
                <a:latin typeface="Calibri"/>
                <a:cs typeface="Calibri"/>
              </a:rPr>
              <a:t>2</a:t>
            </a:r>
            <a:r>
              <a:rPr sz="2400" b="1" spc="-3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−</a:t>
            </a:r>
            <a:r>
              <a:rPr sz="2400" spc="-2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Pick</a:t>
            </a:r>
            <a:r>
              <a:rPr sz="2400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next</a:t>
            </a:r>
            <a:r>
              <a:rPr sz="2400" spc="-5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Calibri"/>
                <a:cs typeface="Calibri"/>
              </a:rPr>
              <a:t>element</a:t>
            </a:r>
            <a:endParaRPr sz="2400">
              <a:latin typeface="Calibri"/>
              <a:cs typeface="Calibri"/>
            </a:endParaRPr>
          </a:p>
          <a:p>
            <a:pPr marL="546100">
              <a:lnSpc>
                <a:spcPct val="100000"/>
              </a:lnSpc>
              <a:spcBef>
                <a:spcPts val="1440"/>
              </a:spcBef>
            </a:pPr>
            <a:r>
              <a:rPr sz="2400" b="1" dirty="0">
                <a:solidFill>
                  <a:srgbClr val="303030"/>
                </a:solidFill>
                <a:latin typeface="Calibri"/>
                <a:cs typeface="Calibri"/>
              </a:rPr>
              <a:t>Step</a:t>
            </a:r>
            <a:r>
              <a:rPr sz="2400" b="1" spc="-4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03030"/>
                </a:solidFill>
                <a:latin typeface="Calibri"/>
                <a:cs typeface="Calibri"/>
              </a:rPr>
              <a:t>3</a:t>
            </a:r>
            <a:r>
              <a:rPr sz="2400" b="1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−</a:t>
            </a:r>
            <a:r>
              <a:rPr sz="2400" spc="-3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Compare</a:t>
            </a:r>
            <a:r>
              <a:rPr sz="2400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with</a:t>
            </a:r>
            <a:r>
              <a:rPr sz="2400" spc="-5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all</a:t>
            </a:r>
            <a:r>
              <a:rPr sz="2400" spc="-5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elements</a:t>
            </a:r>
            <a:r>
              <a:rPr sz="2400" spc="-5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in</a:t>
            </a:r>
            <a:r>
              <a:rPr sz="2400" spc="-4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the</a:t>
            </a:r>
            <a:r>
              <a:rPr sz="2400" spc="-3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sorted</a:t>
            </a:r>
            <a:r>
              <a:rPr sz="2400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03030"/>
                </a:solidFill>
                <a:latin typeface="Calibri"/>
                <a:cs typeface="Calibri"/>
              </a:rPr>
              <a:t>sub-list</a:t>
            </a:r>
            <a:endParaRPr sz="2400">
              <a:latin typeface="Calibri"/>
              <a:cs typeface="Calibri"/>
            </a:endParaRPr>
          </a:p>
          <a:p>
            <a:pPr marL="546100" marR="295910">
              <a:lnSpc>
                <a:spcPct val="150000"/>
              </a:lnSpc>
            </a:pPr>
            <a:r>
              <a:rPr sz="2400" b="1" dirty="0">
                <a:solidFill>
                  <a:srgbClr val="303030"/>
                </a:solidFill>
                <a:latin typeface="Calibri"/>
                <a:cs typeface="Calibri"/>
              </a:rPr>
              <a:t>Step</a:t>
            </a:r>
            <a:r>
              <a:rPr sz="2400" b="1" spc="-4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03030"/>
                </a:solidFill>
                <a:latin typeface="Calibri"/>
                <a:cs typeface="Calibri"/>
              </a:rPr>
              <a:t>4</a:t>
            </a:r>
            <a:r>
              <a:rPr sz="2400" b="1" spc="-3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−</a:t>
            </a:r>
            <a:r>
              <a:rPr sz="2400" spc="-3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Shift</a:t>
            </a:r>
            <a:r>
              <a:rPr sz="2400" spc="-3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all</a:t>
            </a:r>
            <a:r>
              <a:rPr sz="2400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the</a:t>
            </a:r>
            <a:r>
              <a:rPr sz="2400" spc="-3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elements</a:t>
            </a:r>
            <a:r>
              <a:rPr sz="2400" spc="-4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in</a:t>
            </a:r>
            <a:r>
              <a:rPr sz="2400" spc="-5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the</a:t>
            </a:r>
            <a:r>
              <a:rPr sz="2400" spc="-3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sorted</a:t>
            </a:r>
            <a:r>
              <a:rPr sz="2400" spc="-3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spc="-20" dirty="0">
                <a:solidFill>
                  <a:srgbClr val="303030"/>
                </a:solidFill>
                <a:latin typeface="Calibri"/>
                <a:cs typeface="Calibri"/>
              </a:rPr>
              <a:t>sub-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list</a:t>
            </a:r>
            <a:r>
              <a:rPr sz="2400" spc="-3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that</a:t>
            </a:r>
            <a:r>
              <a:rPr sz="2400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is</a:t>
            </a:r>
            <a:r>
              <a:rPr sz="2400" spc="-3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Calibri"/>
                <a:cs typeface="Calibri"/>
              </a:rPr>
              <a:t>greater</a:t>
            </a:r>
            <a:r>
              <a:rPr sz="2400" spc="-4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than</a:t>
            </a:r>
            <a:r>
              <a:rPr sz="2400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spc="-25" dirty="0">
                <a:solidFill>
                  <a:srgbClr val="303030"/>
                </a:solidFill>
                <a:latin typeface="Calibri"/>
                <a:cs typeface="Calibri"/>
              </a:rPr>
              <a:t>the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value</a:t>
            </a:r>
            <a:r>
              <a:rPr sz="2400" spc="-5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to</a:t>
            </a:r>
            <a:r>
              <a:rPr sz="2400" spc="-5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be</a:t>
            </a:r>
            <a:r>
              <a:rPr sz="2400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Calibri"/>
                <a:cs typeface="Calibri"/>
              </a:rPr>
              <a:t>sorted</a:t>
            </a:r>
            <a:endParaRPr sz="2400">
              <a:latin typeface="Calibri"/>
              <a:cs typeface="Calibri"/>
            </a:endParaRPr>
          </a:p>
          <a:p>
            <a:pPr marL="546100">
              <a:lnSpc>
                <a:spcPct val="100000"/>
              </a:lnSpc>
              <a:spcBef>
                <a:spcPts val="1445"/>
              </a:spcBef>
            </a:pPr>
            <a:r>
              <a:rPr sz="2400" b="1" dirty="0">
                <a:solidFill>
                  <a:srgbClr val="303030"/>
                </a:solidFill>
                <a:latin typeface="Calibri"/>
                <a:cs typeface="Calibri"/>
              </a:rPr>
              <a:t>Step</a:t>
            </a:r>
            <a:r>
              <a:rPr sz="2400" b="1" spc="-3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03030"/>
                </a:solidFill>
                <a:latin typeface="Calibri"/>
                <a:cs typeface="Calibri"/>
              </a:rPr>
              <a:t>5</a:t>
            </a:r>
            <a:r>
              <a:rPr sz="2400" b="1" spc="-4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−</a:t>
            </a:r>
            <a:r>
              <a:rPr sz="2400" spc="-3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Insert</a:t>
            </a:r>
            <a:r>
              <a:rPr sz="2400" spc="-4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the</a:t>
            </a:r>
            <a:r>
              <a:rPr sz="2400" spc="-3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Calibri"/>
                <a:cs typeface="Calibri"/>
              </a:rPr>
              <a:t>value</a:t>
            </a:r>
            <a:endParaRPr sz="2400">
              <a:latin typeface="Calibri"/>
              <a:cs typeface="Calibri"/>
            </a:endParaRPr>
          </a:p>
          <a:p>
            <a:pPr marL="546100">
              <a:lnSpc>
                <a:spcPct val="100000"/>
              </a:lnSpc>
              <a:spcBef>
                <a:spcPts val="1435"/>
              </a:spcBef>
            </a:pPr>
            <a:r>
              <a:rPr sz="2400" b="1" dirty="0">
                <a:solidFill>
                  <a:srgbClr val="303030"/>
                </a:solidFill>
                <a:latin typeface="Calibri"/>
                <a:cs typeface="Calibri"/>
              </a:rPr>
              <a:t>Step</a:t>
            </a:r>
            <a:r>
              <a:rPr sz="2400" b="1" spc="-5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303030"/>
                </a:solidFill>
                <a:latin typeface="Calibri"/>
                <a:cs typeface="Calibri"/>
              </a:rPr>
              <a:t>6</a:t>
            </a:r>
            <a:r>
              <a:rPr sz="2400" b="1" spc="-5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−</a:t>
            </a:r>
            <a:r>
              <a:rPr sz="2400" spc="-4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Repeat</a:t>
            </a:r>
            <a:r>
              <a:rPr sz="2400" spc="-7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until</a:t>
            </a:r>
            <a:r>
              <a:rPr sz="2400" spc="-4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list</a:t>
            </a:r>
            <a:r>
              <a:rPr sz="2400" spc="-55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dirty="0">
                <a:solidFill>
                  <a:srgbClr val="303030"/>
                </a:solidFill>
                <a:latin typeface="Calibri"/>
                <a:cs typeface="Calibri"/>
              </a:rPr>
              <a:t>is</a:t>
            </a:r>
            <a:r>
              <a:rPr sz="2400" spc="-50" dirty="0">
                <a:solidFill>
                  <a:srgbClr val="303030"/>
                </a:solidFill>
                <a:latin typeface="Calibri"/>
                <a:cs typeface="Calibri"/>
              </a:rPr>
              <a:t> </a:t>
            </a:r>
            <a:r>
              <a:rPr sz="2400" spc="-10" dirty="0">
                <a:solidFill>
                  <a:srgbClr val="303030"/>
                </a:solidFill>
                <a:latin typeface="Calibri"/>
                <a:cs typeface="Calibri"/>
              </a:rPr>
              <a:t>sorted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/>
          <p:nvPr/>
        </p:nvSpPr>
        <p:spPr>
          <a:xfrm>
            <a:off x="0" y="89915"/>
            <a:ext cx="1905" cy="277495"/>
          </a:xfrm>
          <a:custGeom>
            <a:avLst/>
            <a:gdLst/>
            <a:ahLst/>
            <a:cxnLst/>
            <a:rect l="l" t="t" r="r" b="b"/>
            <a:pathLst>
              <a:path w="1905" h="277495">
                <a:moveTo>
                  <a:pt x="1524" y="0"/>
                </a:moveTo>
                <a:lnTo>
                  <a:pt x="0" y="0"/>
                </a:lnTo>
                <a:lnTo>
                  <a:pt x="0" y="277367"/>
                </a:lnTo>
                <a:lnTo>
                  <a:pt x="1524" y="277367"/>
                </a:lnTo>
                <a:lnTo>
                  <a:pt x="1524" y="0"/>
                </a:lnTo>
                <a:close/>
              </a:path>
            </a:pathLst>
          </a:custGeom>
          <a:solidFill>
            <a:srgbClr val="F0F0F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pc="-25" dirty="0"/>
              <a:t>18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22044" y="485902"/>
            <a:ext cx="267779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Bubble</a:t>
            </a:r>
            <a:r>
              <a:rPr spc="-155" dirty="0"/>
              <a:t> </a:t>
            </a:r>
            <a:r>
              <a:rPr spc="-20" dirty="0"/>
              <a:t>Sort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509002"/>
            <a:ext cx="12192000" cy="349250"/>
            <a:chOff x="0" y="6509002"/>
            <a:chExt cx="12192000" cy="349250"/>
          </a:xfrm>
        </p:grpSpPr>
        <p:sp>
          <p:nvSpPr>
            <p:cNvPr id="4" name="object 4"/>
            <p:cNvSpPr/>
            <p:nvPr/>
          </p:nvSpPr>
          <p:spPr>
            <a:xfrm>
              <a:off x="0" y="6509002"/>
              <a:ext cx="12192000" cy="349250"/>
            </a:xfrm>
            <a:custGeom>
              <a:avLst/>
              <a:gdLst/>
              <a:ahLst/>
              <a:cxnLst/>
              <a:rect l="l" t="t" r="r" b="b"/>
              <a:pathLst>
                <a:path w="12192000" h="349250">
                  <a:moveTo>
                    <a:pt x="12192000" y="0"/>
                  </a:moveTo>
                  <a:lnTo>
                    <a:pt x="0" y="0"/>
                  </a:lnTo>
                  <a:lnTo>
                    <a:pt x="0" y="348994"/>
                  </a:lnTo>
                  <a:lnTo>
                    <a:pt x="12192000" y="34899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813802"/>
              <a:ext cx="12192000" cy="44450"/>
            </a:xfrm>
            <a:custGeom>
              <a:avLst/>
              <a:gdLst/>
              <a:ahLst/>
              <a:cxnLst/>
              <a:rect l="l" t="t" r="r" b="b"/>
              <a:pathLst>
                <a:path w="12192000" h="44450">
                  <a:moveTo>
                    <a:pt x="12192000" y="0"/>
                  </a:moveTo>
                  <a:lnTo>
                    <a:pt x="0" y="0"/>
                  </a:lnTo>
                  <a:lnTo>
                    <a:pt x="0" y="44194"/>
                  </a:lnTo>
                  <a:lnTo>
                    <a:pt x="12192000" y="44194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1196644" y="1436369"/>
            <a:ext cx="10102850" cy="27692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0365" marR="30480" indent="-342900">
              <a:lnSpc>
                <a:spcPct val="150000"/>
              </a:lnSpc>
              <a:spcBef>
                <a:spcPts val="100"/>
              </a:spcBef>
              <a:buFont typeface="Wingdings"/>
              <a:buChar char=""/>
              <a:tabLst>
                <a:tab pos="380365" algn="l"/>
              </a:tabLst>
            </a:pPr>
            <a:r>
              <a:rPr sz="2400" dirty="0">
                <a:latin typeface="Calibri"/>
                <a:cs typeface="Calibri"/>
              </a:rPr>
              <a:t>Bubble</a:t>
            </a:r>
            <a:r>
              <a:rPr sz="2400" spc="-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simple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algorithm.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sorting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comparison- </a:t>
            </a:r>
            <a:r>
              <a:rPr sz="2400" dirty="0">
                <a:latin typeface="Calibri"/>
                <a:cs typeface="Calibri"/>
              </a:rPr>
              <a:t>based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pair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adjacent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compared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the </a:t>
            </a:r>
            <a:r>
              <a:rPr sz="2400" dirty="0">
                <a:latin typeface="Calibri"/>
                <a:cs typeface="Calibri"/>
              </a:rPr>
              <a:t>elements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swapped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if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order.</a:t>
            </a:r>
            <a:endParaRPr sz="2400">
              <a:latin typeface="Calibri"/>
              <a:cs typeface="Calibri"/>
            </a:endParaRPr>
          </a:p>
          <a:p>
            <a:pPr marL="448945" indent="-410845">
              <a:lnSpc>
                <a:spcPct val="100000"/>
              </a:lnSpc>
              <a:spcBef>
                <a:spcPts val="1440"/>
              </a:spcBef>
              <a:buFont typeface="Wingdings"/>
              <a:buChar char=""/>
              <a:tabLst>
                <a:tab pos="448945" algn="l"/>
              </a:tabLst>
            </a:pPr>
            <a:r>
              <a:rPr sz="2400" dirty="0">
                <a:latin typeface="Calibri"/>
                <a:cs typeface="Calibri"/>
              </a:rPr>
              <a:t>This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algorithm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suitable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large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data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its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average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worst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case</a:t>
            </a:r>
            <a:endParaRPr sz="2400">
              <a:latin typeface="Calibri"/>
              <a:cs typeface="Calibri"/>
            </a:endParaRPr>
          </a:p>
          <a:p>
            <a:pPr marL="380365">
              <a:lnSpc>
                <a:spcPct val="100000"/>
              </a:lnSpc>
              <a:spcBef>
                <a:spcPts val="1440"/>
              </a:spcBef>
            </a:pPr>
            <a:r>
              <a:rPr sz="2400" dirty="0">
                <a:latin typeface="Calibri"/>
                <a:cs typeface="Calibri"/>
              </a:rPr>
              <a:t>complexity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Ο(n</a:t>
            </a:r>
            <a:r>
              <a:rPr sz="2400" baseline="24305" dirty="0">
                <a:latin typeface="Calibri"/>
                <a:cs typeface="Calibri"/>
              </a:rPr>
              <a:t>2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where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b="1" dirty="0">
                <a:latin typeface="Calibri"/>
                <a:cs typeface="Calibri"/>
              </a:rPr>
              <a:t>n</a:t>
            </a:r>
            <a:r>
              <a:rPr sz="2400" b="1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number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items.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7" name="object 7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pc="-25" dirty="0"/>
              <a:t>19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307771" rIns="0" bIns="0" rtlCol="0">
            <a:spAutoFit/>
          </a:bodyPr>
          <a:lstStyle/>
          <a:p>
            <a:pPr marL="12573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110" dirty="0"/>
              <a:t> </a:t>
            </a:r>
            <a:r>
              <a:rPr dirty="0"/>
              <a:t>Bubble</a:t>
            </a:r>
            <a:r>
              <a:rPr spc="-95" dirty="0"/>
              <a:t> </a:t>
            </a:r>
            <a:r>
              <a:rPr dirty="0"/>
              <a:t>Sort</a:t>
            </a:r>
            <a:r>
              <a:rPr spc="-105" dirty="0"/>
              <a:t> </a:t>
            </a:r>
            <a:r>
              <a:rPr spc="-10" dirty="0"/>
              <a:t>Works?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 txBox="1"/>
          <p:nvPr/>
        </p:nvSpPr>
        <p:spPr>
          <a:xfrm>
            <a:off x="881989" y="1624406"/>
            <a:ext cx="967295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676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67665" algn="l"/>
              </a:tabLst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take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unsorted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array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our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example.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Bubble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takes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Ο(n</a:t>
            </a:r>
            <a:r>
              <a:rPr sz="2400" baseline="24305" dirty="0">
                <a:latin typeface="Calibri"/>
                <a:cs typeface="Calibri"/>
              </a:rPr>
              <a:t>2</a:t>
            </a:r>
            <a:r>
              <a:rPr sz="2400" dirty="0">
                <a:latin typeface="Calibri"/>
                <a:cs typeface="Calibri"/>
              </a:rPr>
              <a:t>)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time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so</a:t>
            </a:r>
            <a:endParaRPr sz="2400">
              <a:latin typeface="Calibri"/>
              <a:cs typeface="Calibri"/>
            </a:endParaRPr>
          </a:p>
          <a:p>
            <a:pPr marL="3683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we're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keeping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short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precise.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7" name="object 7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2843783" y="2604516"/>
            <a:ext cx="5413248" cy="1197863"/>
          </a:xfrm>
          <a:prstGeom prst="rect">
            <a:avLst/>
          </a:prstGeom>
        </p:spPr>
      </p:pic>
      <p:sp>
        <p:nvSpPr>
          <p:cNvPr id="8" name="object 8"/>
          <p:cNvSpPr txBox="1"/>
          <p:nvPr/>
        </p:nvSpPr>
        <p:spPr>
          <a:xfrm>
            <a:off x="985519" y="4212158"/>
            <a:ext cx="968248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Bubble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starts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1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very</a:t>
            </a:r>
            <a:r>
              <a:rPr sz="2400" spc="1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first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elements,</a:t>
            </a:r>
            <a:r>
              <a:rPr sz="2400" spc="1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comparing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them</a:t>
            </a:r>
            <a:r>
              <a:rPr sz="2400" spc="1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1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check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which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2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greater.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9" name="object 9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48000" y="5085588"/>
            <a:ext cx="5209032" cy="1153668"/>
          </a:xfrm>
          <a:prstGeom prst="rect">
            <a:avLst/>
          </a:prstGeom>
        </p:spPr>
      </p:pic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pc="-25" dirty="0"/>
              <a:t>20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901090" y="1849323"/>
            <a:ext cx="982408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In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case,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33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greater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than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14,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</a:t>
            </a:r>
            <a:r>
              <a:rPr sz="2400" spc="1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1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already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1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sorted</a:t>
            </a:r>
            <a:r>
              <a:rPr sz="2400" spc="1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locations.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dirty="0">
                <a:latin typeface="Calibri"/>
                <a:cs typeface="Calibri"/>
              </a:rPr>
              <a:t>Next,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compare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33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27.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464052" y="2715767"/>
            <a:ext cx="5564124" cy="1231391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01090" y="4212158"/>
            <a:ext cx="942784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  <a:tab pos="925830" algn="l"/>
                <a:tab pos="1565910" algn="l"/>
                <a:tab pos="2228850" algn="l"/>
                <a:tab pos="2693670" algn="l"/>
                <a:tab pos="3037840" algn="l"/>
                <a:tab pos="4100195" algn="l"/>
                <a:tab pos="4824095" algn="l"/>
                <a:tab pos="5288915" algn="l"/>
                <a:tab pos="5912485" algn="l"/>
                <a:tab pos="6753859" algn="l"/>
                <a:tab pos="7387590" algn="l"/>
                <a:tab pos="8324215" algn="l"/>
                <a:tab pos="9099550" algn="l"/>
              </a:tabLst>
            </a:pPr>
            <a:r>
              <a:rPr sz="2400" spc="-25" dirty="0">
                <a:latin typeface="Calibri"/>
                <a:cs typeface="Calibri"/>
              </a:rPr>
              <a:t>We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find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that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27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is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smaller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than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33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and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these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two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10" dirty="0">
                <a:latin typeface="Calibri"/>
                <a:cs typeface="Calibri"/>
              </a:rPr>
              <a:t>values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0" dirty="0">
                <a:latin typeface="Calibri"/>
                <a:cs typeface="Calibri"/>
              </a:rPr>
              <a:t>must</a:t>
            </a:r>
            <a:r>
              <a:rPr sz="2400" dirty="0">
                <a:latin typeface="Calibri"/>
                <a:cs typeface="Calibri"/>
              </a:rPr>
              <a:t>	</a:t>
            </a:r>
            <a:r>
              <a:rPr sz="2400" spc="-25" dirty="0">
                <a:latin typeface="Calibri"/>
                <a:cs typeface="Calibri"/>
              </a:rPr>
              <a:t>be</a:t>
            </a:r>
            <a:endParaRPr sz="2400">
              <a:latin typeface="Calibri"/>
              <a:cs typeface="Calibri"/>
            </a:endParaRPr>
          </a:p>
          <a:p>
            <a:pPr marL="355600">
              <a:lnSpc>
                <a:spcPct val="100000"/>
              </a:lnSpc>
              <a:spcBef>
                <a:spcPts val="5"/>
              </a:spcBef>
            </a:pPr>
            <a:r>
              <a:rPr sz="2400" spc="-10" dirty="0">
                <a:latin typeface="Calibri"/>
                <a:cs typeface="Calibri"/>
              </a:rPr>
              <a:t>swapped.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677411" y="4824984"/>
            <a:ext cx="5350764" cy="1184147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69086" y="1134821"/>
            <a:ext cx="73818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120" dirty="0"/>
              <a:t> </a:t>
            </a:r>
            <a:r>
              <a:rPr dirty="0"/>
              <a:t>Bubble</a:t>
            </a:r>
            <a:r>
              <a:rPr spc="-95" dirty="0"/>
              <a:t> </a:t>
            </a:r>
            <a:r>
              <a:rPr dirty="0"/>
              <a:t>Sort</a:t>
            </a:r>
            <a:r>
              <a:rPr spc="-110" dirty="0"/>
              <a:t> </a:t>
            </a:r>
            <a:r>
              <a:rPr dirty="0"/>
              <a:t>Works?</a:t>
            </a:r>
            <a:r>
              <a:rPr spc="-100" dirty="0"/>
              <a:t> </a:t>
            </a:r>
            <a:r>
              <a:rPr spc="-10" dirty="0"/>
              <a:t>(Cont.)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pc="-25" dirty="0"/>
              <a:t>21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003808" y="1761871"/>
            <a:ext cx="485076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The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new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look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−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9335" y="2214372"/>
            <a:ext cx="6096000" cy="135026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000455" y="4281678"/>
            <a:ext cx="1004633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Next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compare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33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35.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both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already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sorted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positions.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69335" y="4902708"/>
            <a:ext cx="5958840" cy="1319784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74801" rIns="0" bIns="0" rtlCol="0">
            <a:spAutoFit/>
          </a:bodyPr>
          <a:lstStyle/>
          <a:p>
            <a:pPr marL="12573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120" dirty="0"/>
              <a:t> </a:t>
            </a:r>
            <a:r>
              <a:rPr dirty="0"/>
              <a:t>Bubble</a:t>
            </a:r>
            <a:r>
              <a:rPr spc="-95" dirty="0"/>
              <a:t> </a:t>
            </a:r>
            <a:r>
              <a:rPr dirty="0"/>
              <a:t>Sort</a:t>
            </a:r>
            <a:r>
              <a:rPr spc="-110" dirty="0"/>
              <a:t> </a:t>
            </a:r>
            <a:r>
              <a:rPr dirty="0"/>
              <a:t>Works?</a:t>
            </a:r>
            <a:r>
              <a:rPr spc="-100" dirty="0"/>
              <a:t> </a:t>
            </a:r>
            <a:r>
              <a:rPr spc="-10" dirty="0"/>
              <a:t>(Cont.)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pc="-25" dirty="0"/>
              <a:t>22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222044" y="1914271"/>
            <a:ext cx="64401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Then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next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two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values,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35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10.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22092" y="2273807"/>
            <a:ext cx="5928359" cy="131216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258316" y="4013707"/>
            <a:ext cx="817753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then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10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is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smaller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35.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Hence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they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not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sorted.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22092" y="4607052"/>
            <a:ext cx="6035039" cy="1336548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465962" rIns="0" bIns="0" rtlCol="0">
            <a:spAutoFit/>
          </a:bodyPr>
          <a:lstStyle/>
          <a:p>
            <a:pPr marL="12573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120" dirty="0"/>
              <a:t> </a:t>
            </a:r>
            <a:r>
              <a:rPr dirty="0"/>
              <a:t>Bubble</a:t>
            </a:r>
            <a:r>
              <a:rPr spc="-95" dirty="0"/>
              <a:t> </a:t>
            </a:r>
            <a:r>
              <a:rPr dirty="0"/>
              <a:t>Sort</a:t>
            </a:r>
            <a:r>
              <a:rPr spc="-110" dirty="0"/>
              <a:t> </a:t>
            </a:r>
            <a:r>
              <a:rPr dirty="0"/>
              <a:t>Works?</a:t>
            </a:r>
            <a:r>
              <a:rPr spc="-100" dirty="0"/>
              <a:t> </a:t>
            </a:r>
            <a:r>
              <a:rPr spc="-10" dirty="0"/>
              <a:t>(Cont.)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pc="-25" dirty="0"/>
              <a:t>23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877925" y="1849323"/>
            <a:ext cx="9526905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We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swap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these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values.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find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have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reached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end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array.</a:t>
            </a:r>
            <a:endParaRPr sz="24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5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iteration,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array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look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−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060192" y="2615183"/>
            <a:ext cx="5157215" cy="1141476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900785" y="4060063"/>
            <a:ext cx="10460990" cy="7575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5600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5600" algn="l"/>
              </a:tabLst>
            </a:pPr>
            <a:r>
              <a:rPr sz="2400" dirty="0">
                <a:latin typeface="Calibri"/>
                <a:cs typeface="Calibri"/>
              </a:rPr>
              <a:t>To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accurate,</a:t>
            </a:r>
            <a:r>
              <a:rPr sz="2400" spc="2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we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are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now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showing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how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2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array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2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look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2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after</a:t>
            </a:r>
            <a:r>
              <a:rPr sz="2400" spc="2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each </a:t>
            </a:r>
            <a:r>
              <a:rPr sz="2400" spc="-10" dirty="0">
                <a:latin typeface="Calibri"/>
                <a:cs typeface="Calibri"/>
              </a:rPr>
              <a:t>iteration.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second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iteration,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should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look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like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50" dirty="0">
                <a:latin typeface="Calibri"/>
                <a:cs typeface="Calibri"/>
              </a:rPr>
              <a:t>−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087623" y="5221223"/>
            <a:ext cx="5155691" cy="1141476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532688" rIns="0" bIns="0" rtlCol="0">
            <a:spAutoFit/>
          </a:bodyPr>
          <a:lstStyle/>
          <a:p>
            <a:pPr marL="12573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135" dirty="0"/>
              <a:t> </a:t>
            </a:r>
            <a:r>
              <a:rPr dirty="0"/>
              <a:t>Bubble</a:t>
            </a:r>
            <a:r>
              <a:rPr spc="-120" dirty="0"/>
              <a:t> </a:t>
            </a:r>
            <a:r>
              <a:rPr dirty="0"/>
              <a:t>Sort</a:t>
            </a:r>
            <a:r>
              <a:rPr spc="-130" dirty="0"/>
              <a:t> </a:t>
            </a:r>
            <a:r>
              <a:rPr dirty="0"/>
              <a:t>Works?</a:t>
            </a:r>
            <a:r>
              <a:rPr spc="-110" dirty="0"/>
              <a:t> </a:t>
            </a:r>
            <a:r>
              <a:rPr spc="-10" dirty="0"/>
              <a:t>(Cont.)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pc="-25" dirty="0"/>
              <a:t>24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3" name="object 3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" name="object 4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5" name="object 5"/>
          <p:cNvSpPr txBox="1"/>
          <p:nvPr/>
        </p:nvSpPr>
        <p:spPr>
          <a:xfrm>
            <a:off x="1374394" y="1761871"/>
            <a:ext cx="88023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Notice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after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each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iteration,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least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value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moves</a:t>
            </a:r>
            <a:r>
              <a:rPr sz="2400" spc="-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at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end.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6" name="object 6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3124200" y="2193035"/>
            <a:ext cx="5789676" cy="1281684"/>
          </a:xfrm>
          <a:prstGeom prst="rect">
            <a:avLst/>
          </a:prstGeom>
        </p:spPr>
      </p:pic>
      <p:sp>
        <p:nvSpPr>
          <p:cNvPr id="7" name="object 7"/>
          <p:cNvSpPr txBox="1"/>
          <p:nvPr/>
        </p:nvSpPr>
        <p:spPr>
          <a:xfrm>
            <a:off x="1430527" y="3854577"/>
            <a:ext cx="9328150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54965" marR="5080" indent="-342900">
              <a:lnSpc>
                <a:spcPct val="100000"/>
              </a:lnSpc>
              <a:spcBef>
                <a:spcPts val="100"/>
              </a:spcBef>
              <a:buFont typeface="Wingdings"/>
              <a:buChar char=""/>
              <a:tabLst>
                <a:tab pos="354965" algn="l"/>
              </a:tabLst>
            </a:pPr>
            <a:r>
              <a:rPr sz="2400" dirty="0">
                <a:latin typeface="Calibri"/>
                <a:cs typeface="Calibri"/>
              </a:rPr>
              <a:t>And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when</a:t>
            </a:r>
            <a:r>
              <a:rPr sz="2400" spc="3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there's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no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swap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required,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bubble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sorts</a:t>
            </a:r>
            <a:r>
              <a:rPr sz="2400" spc="2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learns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that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</a:t>
            </a:r>
            <a:r>
              <a:rPr sz="2400" spc="2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array</a:t>
            </a:r>
            <a:r>
              <a:rPr sz="2400" spc="3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is </a:t>
            </a:r>
            <a:r>
              <a:rPr sz="2400" dirty="0">
                <a:latin typeface="Calibri"/>
                <a:cs typeface="Calibri"/>
              </a:rPr>
              <a:t>completely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sorted.</a:t>
            </a:r>
            <a:endParaRPr sz="2400">
              <a:latin typeface="Calibri"/>
              <a:cs typeface="Calibri"/>
            </a:endParaRPr>
          </a:p>
        </p:txBody>
      </p:sp>
      <p:pic>
        <p:nvPicPr>
          <p:cNvPr id="8" name="object 8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3278123" y="4855464"/>
            <a:ext cx="5635752" cy="1246632"/>
          </a:xfrm>
          <a:prstGeom prst="rect">
            <a:avLst/>
          </a:prstGeom>
        </p:spPr>
      </p:pic>
      <p:sp>
        <p:nvSpPr>
          <p:cNvPr id="9" name="object 9"/>
          <p:cNvSpPr txBox="1">
            <a:spLocks noGrp="1"/>
          </p:cNvSpPr>
          <p:nvPr>
            <p:ph type="title"/>
          </p:nvPr>
        </p:nvSpPr>
        <p:spPr>
          <a:xfrm>
            <a:off x="840739" y="1149553"/>
            <a:ext cx="7381875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How</a:t>
            </a:r>
            <a:r>
              <a:rPr spc="-120" dirty="0"/>
              <a:t> </a:t>
            </a:r>
            <a:r>
              <a:rPr dirty="0"/>
              <a:t>Bubble</a:t>
            </a:r>
            <a:r>
              <a:rPr spc="-95" dirty="0"/>
              <a:t> </a:t>
            </a:r>
            <a:r>
              <a:rPr dirty="0"/>
              <a:t>Sort</a:t>
            </a:r>
            <a:r>
              <a:rPr spc="-110" dirty="0"/>
              <a:t> </a:t>
            </a:r>
            <a:r>
              <a:rPr dirty="0"/>
              <a:t>Works?</a:t>
            </a:r>
            <a:r>
              <a:rPr spc="-100" dirty="0"/>
              <a:t> </a:t>
            </a:r>
            <a:r>
              <a:rPr spc="-10" dirty="0"/>
              <a:t>(Cont.)</a:t>
            </a:r>
          </a:p>
        </p:txBody>
      </p:sp>
      <p:sp>
        <p:nvSpPr>
          <p:cNvPr id="10" name="object 10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pc="-25" dirty="0"/>
              <a:t>25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98194" y="565861"/>
            <a:ext cx="4937760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Bubble</a:t>
            </a:r>
            <a:r>
              <a:rPr spc="-55" dirty="0"/>
              <a:t> </a:t>
            </a:r>
            <a:r>
              <a:rPr spc="-10" dirty="0"/>
              <a:t>Sort</a:t>
            </a:r>
            <a:r>
              <a:rPr spc="-254" dirty="0"/>
              <a:t> </a:t>
            </a:r>
            <a:r>
              <a:rPr spc="-10" dirty="0"/>
              <a:t>Algorithm</a:t>
            </a:r>
          </a:p>
        </p:txBody>
      </p:sp>
      <p:grpSp>
        <p:nvGrpSpPr>
          <p:cNvPr id="3" name="object 3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4" name="object 4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0" y="0"/>
            <a:ext cx="1905" cy="478790"/>
          </a:xfrm>
          <a:custGeom>
            <a:avLst/>
            <a:gdLst/>
            <a:ahLst/>
            <a:cxnLst/>
            <a:rect l="l" t="t" r="r" b="b"/>
            <a:pathLst>
              <a:path w="1905" h="478790">
                <a:moveTo>
                  <a:pt x="0" y="478536"/>
                </a:moveTo>
                <a:lnTo>
                  <a:pt x="1524" y="478536"/>
                </a:lnTo>
                <a:lnTo>
                  <a:pt x="1524" y="0"/>
                </a:lnTo>
                <a:lnTo>
                  <a:pt x="0" y="0"/>
                </a:lnTo>
                <a:lnTo>
                  <a:pt x="0" y="478536"/>
                </a:lnTo>
                <a:close/>
              </a:path>
            </a:pathLst>
          </a:custGeom>
          <a:solidFill>
            <a:srgbClr val="EDEDED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195580" rIns="0" bIns="0" rtlCol="0">
            <a:spAutoFit/>
          </a:bodyPr>
          <a:lstStyle/>
          <a:p>
            <a:pPr marL="309245" indent="-296545">
              <a:lnSpc>
                <a:spcPct val="100000"/>
              </a:lnSpc>
              <a:spcBef>
                <a:spcPts val="1540"/>
              </a:spcBef>
              <a:buClr>
                <a:srgbClr val="000000"/>
              </a:buClr>
              <a:buAutoNum type="arabicPeriod"/>
              <a:tabLst>
                <a:tab pos="309245" algn="l"/>
              </a:tabLst>
            </a:pPr>
            <a:r>
              <a:rPr dirty="0">
                <a:solidFill>
                  <a:srgbClr val="7E0054"/>
                </a:solidFill>
              </a:rPr>
              <a:t>Each</a:t>
            </a:r>
            <a:r>
              <a:rPr spc="-80" dirty="0">
                <a:solidFill>
                  <a:srgbClr val="7E0054"/>
                </a:solidFill>
              </a:rPr>
              <a:t> </a:t>
            </a:r>
            <a:r>
              <a:rPr dirty="0"/>
              <a:t>two</a:t>
            </a:r>
            <a:r>
              <a:rPr spc="-90" dirty="0"/>
              <a:t> </a:t>
            </a:r>
            <a:r>
              <a:rPr dirty="0"/>
              <a:t>adjacent</a:t>
            </a:r>
            <a:r>
              <a:rPr spc="-85" dirty="0"/>
              <a:t> </a:t>
            </a:r>
            <a:r>
              <a:rPr dirty="0"/>
              <a:t>elements</a:t>
            </a:r>
            <a:r>
              <a:rPr spc="-90" dirty="0"/>
              <a:t> </a:t>
            </a:r>
            <a:r>
              <a:rPr dirty="0"/>
              <a:t>are</a:t>
            </a:r>
            <a:r>
              <a:rPr spc="-70" dirty="0"/>
              <a:t> </a:t>
            </a:r>
            <a:r>
              <a:rPr spc="-10" dirty="0"/>
              <a:t>compared</a:t>
            </a:r>
          </a:p>
          <a:p>
            <a:pPr marL="309245" indent="-296545">
              <a:lnSpc>
                <a:spcPct val="100000"/>
              </a:lnSpc>
              <a:spcBef>
                <a:spcPts val="1445"/>
              </a:spcBef>
              <a:buAutoNum type="arabicPeriod"/>
              <a:tabLst>
                <a:tab pos="309245" algn="l"/>
              </a:tabLst>
            </a:pPr>
            <a:r>
              <a:rPr dirty="0">
                <a:solidFill>
                  <a:srgbClr val="7E0054"/>
                </a:solidFill>
              </a:rPr>
              <a:t>Swap</a:t>
            </a:r>
            <a:r>
              <a:rPr spc="-80" dirty="0">
                <a:solidFill>
                  <a:srgbClr val="7E0054"/>
                </a:solidFill>
              </a:rPr>
              <a:t> </a:t>
            </a:r>
            <a:r>
              <a:rPr dirty="0">
                <a:solidFill>
                  <a:srgbClr val="000087"/>
                </a:solidFill>
              </a:rPr>
              <a:t>with</a:t>
            </a:r>
            <a:r>
              <a:rPr spc="-75" dirty="0">
                <a:solidFill>
                  <a:srgbClr val="000087"/>
                </a:solidFill>
              </a:rPr>
              <a:t> </a:t>
            </a:r>
            <a:r>
              <a:rPr dirty="0"/>
              <a:t>lighter</a:t>
            </a:r>
            <a:r>
              <a:rPr spc="-70" dirty="0"/>
              <a:t> </a:t>
            </a:r>
            <a:r>
              <a:rPr spc="-10" dirty="0"/>
              <a:t>elements</a:t>
            </a:r>
          </a:p>
          <a:p>
            <a:pPr marL="309245" indent="-296545">
              <a:lnSpc>
                <a:spcPct val="100000"/>
              </a:lnSpc>
              <a:spcBef>
                <a:spcPts val="1440"/>
              </a:spcBef>
              <a:buAutoNum type="arabicPeriod"/>
              <a:tabLst>
                <a:tab pos="309245" algn="l"/>
              </a:tabLst>
            </a:pPr>
            <a:r>
              <a:rPr dirty="0">
                <a:solidFill>
                  <a:srgbClr val="7E0054"/>
                </a:solidFill>
              </a:rPr>
              <a:t>Move</a:t>
            </a:r>
            <a:r>
              <a:rPr spc="-55" dirty="0">
                <a:solidFill>
                  <a:srgbClr val="7E0054"/>
                </a:solidFill>
              </a:rPr>
              <a:t> </a:t>
            </a:r>
            <a:r>
              <a:rPr spc="-10" dirty="0"/>
              <a:t>forward</a:t>
            </a:r>
            <a:r>
              <a:rPr spc="-65" dirty="0"/>
              <a:t> </a:t>
            </a:r>
            <a:r>
              <a:rPr dirty="0">
                <a:solidFill>
                  <a:srgbClr val="000087"/>
                </a:solidFill>
              </a:rPr>
              <a:t>and</a:t>
            </a:r>
            <a:r>
              <a:rPr spc="-60" dirty="0">
                <a:solidFill>
                  <a:srgbClr val="000087"/>
                </a:solidFill>
              </a:rPr>
              <a:t> </a:t>
            </a:r>
            <a:r>
              <a:rPr dirty="0"/>
              <a:t>swap</a:t>
            </a:r>
            <a:r>
              <a:rPr spc="-60" dirty="0"/>
              <a:t> </a:t>
            </a:r>
            <a:r>
              <a:rPr dirty="0">
                <a:solidFill>
                  <a:srgbClr val="000087"/>
                </a:solidFill>
              </a:rPr>
              <a:t>with</a:t>
            </a:r>
            <a:r>
              <a:rPr spc="-70" dirty="0">
                <a:solidFill>
                  <a:srgbClr val="000087"/>
                </a:solidFill>
              </a:rPr>
              <a:t> </a:t>
            </a:r>
            <a:r>
              <a:rPr dirty="0"/>
              <a:t>each</a:t>
            </a:r>
            <a:r>
              <a:rPr spc="-75" dirty="0"/>
              <a:t> </a:t>
            </a:r>
            <a:r>
              <a:rPr dirty="0"/>
              <a:t>lighter</a:t>
            </a:r>
            <a:r>
              <a:rPr spc="-65" dirty="0"/>
              <a:t> </a:t>
            </a:r>
            <a:r>
              <a:rPr spc="-20" dirty="0"/>
              <a:t>item</a:t>
            </a:r>
          </a:p>
          <a:p>
            <a:pPr marL="309880" indent="-297180">
              <a:lnSpc>
                <a:spcPct val="100000"/>
              </a:lnSpc>
              <a:spcBef>
                <a:spcPts val="1435"/>
              </a:spcBef>
              <a:buAutoNum type="arabicPeriod"/>
              <a:tabLst>
                <a:tab pos="309880" algn="l"/>
              </a:tabLst>
            </a:pPr>
            <a:r>
              <a:rPr dirty="0">
                <a:solidFill>
                  <a:srgbClr val="7E0054"/>
                </a:solidFill>
              </a:rPr>
              <a:t>If</a:t>
            </a:r>
            <a:r>
              <a:rPr spc="-45" dirty="0">
                <a:solidFill>
                  <a:srgbClr val="7E0054"/>
                </a:solidFill>
              </a:rPr>
              <a:t> </a:t>
            </a:r>
            <a:r>
              <a:rPr dirty="0"/>
              <a:t>there</a:t>
            </a:r>
            <a:r>
              <a:rPr spc="-40" dirty="0"/>
              <a:t> </a:t>
            </a:r>
            <a:r>
              <a:rPr dirty="0">
                <a:solidFill>
                  <a:srgbClr val="000087"/>
                </a:solidFill>
              </a:rPr>
              <a:t>is</a:t>
            </a:r>
            <a:r>
              <a:rPr spc="-45" dirty="0">
                <a:solidFill>
                  <a:srgbClr val="000087"/>
                </a:solidFill>
              </a:rPr>
              <a:t> </a:t>
            </a:r>
            <a:r>
              <a:rPr dirty="0"/>
              <a:t>a</a:t>
            </a:r>
            <a:r>
              <a:rPr spc="-55" dirty="0"/>
              <a:t> </a:t>
            </a:r>
            <a:r>
              <a:rPr dirty="0"/>
              <a:t>heavier</a:t>
            </a:r>
            <a:r>
              <a:rPr spc="-40" dirty="0"/>
              <a:t> </a:t>
            </a:r>
            <a:r>
              <a:rPr dirty="0"/>
              <a:t>element</a:t>
            </a:r>
            <a:r>
              <a:rPr dirty="0">
                <a:solidFill>
                  <a:srgbClr val="666600"/>
                </a:solidFill>
              </a:rPr>
              <a:t>,</a:t>
            </a:r>
            <a:r>
              <a:rPr spc="-50" dirty="0">
                <a:solidFill>
                  <a:srgbClr val="666600"/>
                </a:solidFill>
              </a:rPr>
              <a:t> </a:t>
            </a:r>
            <a:r>
              <a:rPr dirty="0">
                <a:solidFill>
                  <a:srgbClr val="000087"/>
                </a:solidFill>
              </a:rPr>
              <a:t>then</a:t>
            </a:r>
            <a:r>
              <a:rPr spc="-45" dirty="0">
                <a:solidFill>
                  <a:srgbClr val="000087"/>
                </a:solidFill>
              </a:rPr>
              <a:t> </a:t>
            </a:r>
            <a:r>
              <a:rPr dirty="0">
                <a:solidFill>
                  <a:srgbClr val="000087"/>
                </a:solidFill>
              </a:rPr>
              <a:t>this</a:t>
            </a:r>
            <a:r>
              <a:rPr spc="-50" dirty="0">
                <a:solidFill>
                  <a:srgbClr val="000087"/>
                </a:solidFill>
              </a:rPr>
              <a:t> </a:t>
            </a:r>
            <a:r>
              <a:rPr dirty="0"/>
              <a:t>item</a:t>
            </a:r>
            <a:r>
              <a:rPr spc="-60" dirty="0"/>
              <a:t> </a:t>
            </a:r>
            <a:r>
              <a:rPr dirty="0"/>
              <a:t>begins</a:t>
            </a:r>
            <a:r>
              <a:rPr spc="-50" dirty="0"/>
              <a:t> </a:t>
            </a:r>
            <a:r>
              <a:rPr dirty="0"/>
              <a:t>to</a:t>
            </a:r>
            <a:r>
              <a:rPr spc="-55" dirty="0"/>
              <a:t> </a:t>
            </a:r>
            <a:r>
              <a:rPr dirty="0"/>
              <a:t>bubble</a:t>
            </a:r>
            <a:r>
              <a:rPr spc="-40" dirty="0"/>
              <a:t> </a:t>
            </a:r>
            <a:r>
              <a:rPr dirty="0"/>
              <a:t>to</a:t>
            </a:r>
            <a:r>
              <a:rPr spc="-50" dirty="0"/>
              <a:t> </a:t>
            </a:r>
            <a:r>
              <a:rPr dirty="0"/>
              <a:t>the</a:t>
            </a:r>
            <a:r>
              <a:rPr spc="-55" dirty="0"/>
              <a:t> </a:t>
            </a:r>
            <a:r>
              <a:rPr spc="-10" dirty="0"/>
              <a:t>surface</a:t>
            </a:r>
          </a:p>
          <a:p>
            <a:pPr marL="309245" indent="-296545">
              <a:lnSpc>
                <a:spcPct val="100000"/>
              </a:lnSpc>
              <a:spcBef>
                <a:spcPts val="1445"/>
              </a:spcBef>
              <a:buAutoNum type="arabicPeriod"/>
              <a:tabLst>
                <a:tab pos="309245" algn="l"/>
              </a:tabLst>
            </a:pPr>
            <a:r>
              <a:rPr dirty="0">
                <a:solidFill>
                  <a:srgbClr val="7E0054"/>
                </a:solidFill>
              </a:rPr>
              <a:t>Finally</a:t>
            </a:r>
            <a:r>
              <a:rPr lang="en-US" dirty="0">
                <a:solidFill>
                  <a:srgbClr val="7E0054"/>
                </a:solidFill>
              </a:rPr>
              <a:t>,</a:t>
            </a:r>
            <a:r>
              <a:rPr spc="-55" dirty="0">
                <a:solidFill>
                  <a:srgbClr val="7E0054"/>
                </a:solidFill>
              </a:rPr>
              <a:t> </a:t>
            </a:r>
            <a:r>
              <a:rPr dirty="0"/>
              <a:t>the</a:t>
            </a:r>
            <a:r>
              <a:rPr spc="-30" dirty="0"/>
              <a:t> </a:t>
            </a:r>
            <a:r>
              <a:rPr spc="-10" dirty="0">
                <a:solidFill>
                  <a:srgbClr val="7E0054"/>
                </a:solidFill>
              </a:rPr>
              <a:t>Heaviest</a:t>
            </a:r>
            <a:r>
              <a:rPr spc="-40" dirty="0">
                <a:solidFill>
                  <a:srgbClr val="7E0054"/>
                </a:solidFill>
              </a:rPr>
              <a:t> </a:t>
            </a:r>
            <a:r>
              <a:rPr dirty="0">
                <a:solidFill>
                  <a:srgbClr val="7E0054"/>
                </a:solidFill>
              </a:rPr>
              <a:t>Element</a:t>
            </a:r>
            <a:r>
              <a:rPr spc="-45" dirty="0">
                <a:solidFill>
                  <a:srgbClr val="7E0054"/>
                </a:solidFill>
              </a:rPr>
              <a:t> </a:t>
            </a:r>
            <a:r>
              <a:rPr dirty="0">
                <a:solidFill>
                  <a:srgbClr val="000087"/>
                </a:solidFill>
              </a:rPr>
              <a:t>is</a:t>
            </a:r>
            <a:r>
              <a:rPr spc="-35" dirty="0">
                <a:solidFill>
                  <a:srgbClr val="000087"/>
                </a:solidFill>
              </a:rPr>
              <a:t> </a:t>
            </a:r>
            <a:r>
              <a:rPr dirty="0"/>
              <a:t>on</a:t>
            </a:r>
            <a:r>
              <a:rPr spc="-40" dirty="0"/>
              <a:t> </a:t>
            </a:r>
            <a:r>
              <a:rPr dirty="0"/>
              <a:t>its</a:t>
            </a:r>
            <a:r>
              <a:rPr spc="-40" dirty="0"/>
              <a:t> </a:t>
            </a:r>
            <a:r>
              <a:rPr spc="-10" dirty="0"/>
              <a:t>place</a:t>
            </a:r>
          </a:p>
        </p:txBody>
      </p: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2730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215"/>
              </a:spcBef>
            </a:pPr>
            <a:r>
              <a:rPr spc="-25" dirty="0"/>
              <a:t>26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606041" y="2025523"/>
            <a:ext cx="4429125" cy="305625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54965" indent="-342265">
              <a:lnSpc>
                <a:spcPct val="100000"/>
              </a:lnSpc>
              <a:spcBef>
                <a:spcPts val="95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What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is</a:t>
            </a:r>
            <a:r>
              <a:rPr sz="2800" spc="-55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Sorting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Techniques?</a:t>
            </a:r>
            <a:endParaRPr sz="2800">
              <a:latin typeface="Calibri"/>
              <a:cs typeface="Calibri"/>
            </a:endParaRPr>
          </a:p>
          <a:p>
            <a:pPr marL="354965" indent="-342265">
              <a:lnSpc>
                <a:spcPct val="100000"/>
              </a:lnSpc>
              <a:spcBef>
                <a:spcPts val="2355"/>
              </a:spcBef>
              <a:buFont typeface="Arial MT"/>
              <a:buChar char="•"/>
              <a:tabLst>
                <a:tab pos="354965" algn="l"/>
              </a:tabLst>
            </a:pPr>
            <a:r>
              <a:rPr sz="2800" dirty="0">
                <a:latin typeface="Calibri"/>
                <a:cs typeface="Calibri"/>
              </a:rPr>
              <a:t>When</a:t>
            </a:r>
            <a:r>
              <a:rPr sz="2800" spc="-4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to</a:t>
            </a:r>
            <a:r>
              <a:rPr sz="2800" spc="-60" dirty="0">
                <a:latin typeface="Calibri"/>
                <a:cs typeface="Calibri"/>
              </a:rPr>
              <a:t> </a:t>
            </a:r>
            <a:r>
              <a:rPr sz="2800" dirty="0">
                <a:latin typeface="Calibri"/>
                <a:cs typeface="Calibri"/>
              </a:rPr>
              <a:t>use</a:t>
            </a:r>
            <a:r>
              <a:rPr sz="2800" spc="-50" dirty="0">
                <a:latin typeface="Calibri"/>
                <a:cs typeface="Calibri"/>
              </a:rPr>
              <a:t> </a:t>
            </a:r>
            <a:r>
              <a:rPr sz="2800" spc="-10" dirty="0">
                <a:latin typeface="Calibri"/>
                <a:cs typeface="Calibri"/>
              </a:rPr>
              <a:t>sorting?</a:t>
            </a:r>
            <a:endParaRPr sz="28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spcBef>
                <a:spcPts val="2115"/>
              </a:spcBef>
              <a:buFont typeface="Arial MT"/>
              <a:buChar char="–"/>
              <a:tabLst>
                <a:tab pos="812165" algn="l"/>
              </a:tabLst>
            </a:pPr>
            <a:r>
              <a:rPr sz="2400" spc="-10" dirty="0">
                <a:latin typeface="Calibri"/>
                <a:cs typeface="Calibri"/>
              </a:rPr>
              <a:t>Understanding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Selection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Sort</a:t>
            </a:r>
            <a:endParaRPr sz="24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spcBef>
                <a:spcPts val="2020"/>
              </a:spcBef>
              <a:buFont typeface="Arial MT"/>
              <a:buChar char="–"/>
              <a:tabLst>
                <a:tab pos="812165" algn="l"/>
              </a:tabLst>
            </a:pPr>
            <a:r>
              <a:rPr sz="2400" spc="-10" dirty="0">
                <a:latin typeface="Calibri"/>
                <a:cs typeface="Calibri"/>
              </a:rPr>
              <a:t>Working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5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Bubble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Sort</a:t>
            </a:r>
            <a:endParaRPr sz="2400">
              <a:latin typeface="Calibri"/>
              <a:cs typeface="Calibri"/>
            </a:endParaRPr>
          </a:p>
          <a:p>
            <a:pPr marL="812165" lvl="1" indent="-342265">
              <a:lnSpc>
                <a:spcPct val="100000"/>
              </a:lnSpc>
              <a:spcBef>
                <a:spcPts val="2014"/>
              </a:spcBef>
              <a:buFont typeface="Arial MT"/>
              <a:buChar char="–"/>
              <a:tabLst>
                <a:tab pos="812165" algn="l"/>
              </a:tabLst>
            </a:pPr>
            <a:r>
              <a:rPr sz="2400" spc="-10" dirty="0">
                <a:latin typeface="Calibri"/>
                <a:cs typeface="Calibri"/>
              </a:rPr>
              <a:t>Working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With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Insertion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Sort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1374394" y="1026109"/>
            <a:ext cx="7338059" cy="6350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dirty="0"/>
              <a:t>Summery</a:t>
            </a:r>
            <a:r>
              <a:rPr spc="-85" dirty="0"/>
              <a:t> </a:t>
            </a:r>
            <a:r>
              <a:rPr dirty="0"/>
              <a:t>&amp;</a:t>
            </a:r>
            <a:r>
              <a:rPr spc="-110" dirty="0"/>
              <a:t> </a:t>
            </a:r>
            <a:r>
              <a:rPr dirty="0"/>
              <a:t>Students</a:t>
            </a:r>
            <a:r>
              <a:rPr spc="-100" dirty="0"/>
              <a:t> </a:t>
            </a:r>
            <a:r>
              <a:rPr spc="-10" dirty="0"/>
              <a:t>Evaluation</a:t>
            </a:r>
          </a:p>
        </p:txBody>
      </p:sp>
      <p:grpSp>
        <p:nvGrpSpPr>
          <p:cNvPr id="4" name="object 4"/>
          <p:cNvGrpSpPr/>
          <p:nvPr/>
        </p:nvGrpSpPr>
        <p:grpSpPr>
          <a:xfrm>
            <a:off x="0" y="6469379"/>
            <a:ext cx="12192000" cy="388620"/>
            <a:chOff x="0" y="6469379"/>
            <a:chExt cx="12192000" cy="388620"/>
          </a:xfrm>
        </p:grpSpPr>
        <p:sp>
          <p:nvSpPr>
            <p:cNvPr id="5" name="object 5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6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78173" y="3034664"/>
            <a:ext cx="4952365" cy="9398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6000" b="1" dirty="0">
                <a:latin typeface="Calibri"/>
                <a:cs typeface="Calibri"/>
              </a:rPr>
              <a:t>Any</a:t>
            </a:r>
            <a:r>
              <a:rPr sz="6000" b="1" spc="-185" dirty="0">
                <a:latin typeface="Calibri"/>
                <a:cs typeface="Calibri"/>
              </a:rPr>
              <a:t> </a:t>
            </a:r>
            <a:r>
              <a:rPr sz="6000" b="1" spc="-10" dirty="0">
                <a:latin typeface="Calibri"/>
                <a:cs typeface="Calibri"/>
              </a:rPr>
              <a:t>Questions?</a:t>
            </a:r>
            <a:endParaRPr sz="6000">
              <a:latin typeface="Calibri"/>
              <a:cs typeface="Calibri"/>
            </a:endParaRPr>
          </a:p>
        </p:txBody>
      </p:sp>
      <p:pic>
        <p:nvPicPr>
          <p:cNvPr id="3" name="object 3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46148" y="1120139"/>
            <a:ext cx="925842" cy="1629917"/>
          </a:xfrm>
          <a:prstGeom prst="rect">
            <a:avLst/>
          </a:prstGeom>
        </p:spPr>
      </p:pic>
      <p:pic>
        <p:nvPicPr>
          <p:cNvPr id="4" name="object 4"/>
          <p:cNvPicPr/>
          <p:nvPr/>
        </p:nvPicPr>
        <p:blipFill>
          <a:blip r:embed="rId3" cstate="print"/>
          <a:stretch>
            <a:fillRect/>
          </a:stretch>
        </p:blipFill>
        <p:spPr>
          <a:xfrm>
            <a:off x="6291071" y="1412747"/>
            <a:ext cx="2170937" cy="1137665"/>
          </a:xfrm>
          <a:prstGeom prst="rect">
            <a:avLst/>
          </a:prstGeom>
        </p:spPr>
      </p:pic>
      <p:grpSp>
        <p:nvGrpSpPr>
          <p:cNvPr id="5" name="object 5"/>
          <p:cNvGrpSpPr/>
          <p:nvPr/>
        </p:nvGrpSpPr>
        <p:grpSpPr>
          <a:xfrm>
            <a:off x="8828531" y="1360932"/>
            <a:ext cx="2172970" cy="4629150"/>
            <a:chOff x="8828531" y="1360932"/>
            <a:chExt cx="2172970" cy="4629150"/>
          </a:xfrm>
        </p:grpSpPr>
        <p:pic>
          <p:nvPicPr>
            <p:cNvPr id="6" name="object 6"/>
            <p:cNvPicPr/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9148571" y="3832860"/>
              <a:ext cx="1369314" cy="2157222"/>
            </a:xfrm>
            <a:prstGeom prst="rect">
              <a:avLst/>
            </a:prstGeom>
          </p:spPr>
        </p:pic>
        <p:pic>
          <p:nvPicPr>
            <p:cNvPr id="7" name="object 7"/>
            <p:cNvPicPr/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8828531" y="1360932"/>
              <a:ext cx="2172462" cy="2861310"/>
            </a:xfrm>
            <a:prstGeom prst="rect">
              <a:avLst/>
            </a:prstGeom>
          </p:spPr>
        </p:pic>
      </p:grpSp>
      <p:pic>
        <p:nvPicPr>
          <p:cNvPr id="8" name="object 8"/>
          <p:cNvPicPr/>
          <p:nvPr/>
        </p:nvPicPr>
        <p:blipFill>
          <a:blip r:embed="rId6" cstate="print"/>
          <a:stretch>
            <a:fillRect/>
          </a:stretch>
        </p:blipFill>
        <p:spPr>
          <a:xfrm>
            <a:off x="3317747" y="1054595"/>
            <a:ext cx="864882" cy="997470"/>
          </a:xfrm>
          <a:prstGeom prst="rect">
            <a:avLst/>
          </a:prstGeom>
        </p:spPr>
      </p:pic>
      <p:pic>
        <p:nvPicPr>
          <p:cNvPr id="9" name="object 9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5588508" y="4379976"/>
            <a:ext cx="1546097" cy="1783842"/>
          </a:xfrm>
          <a:prstGeom prst="rect">
            <a:avLst/>
          </a:prstGeom>
        </p:spPr>
      </p:pic>
      <p:pic>
        <p:nvPicPr>
          <p:cNvPr id="10" name="object 10"/>
          <p:cNvPicPr/>
          <p:nvPr/>
        </p:nvPicPr>
        <p:blipFill>
          <a:blip r:embed="rId8" cstate="print"/>
          <a:stretch>
            <a:fillRect/>
          </a:stretch>
        </p:blipFill>
        <p:spPr>
          <a:xfrm>
            <a:off x="4585715" y="4582655"/>
            <a:ext cx="489978" cy="651522"/>
          </a:xfrm>
          <a:prstGeom prst="rect">
            <a:avLst/>
          </a:prstGeom>
        </p:spPr>
      </p:pic>
      <p:pic>
        <p:nvPicPr>
          <p:cNvPr id="11" name="object 11"/>
          <p:cNvPicPr/>
          <p:nvPr/>
        </p:nvPicPr>
        <p:blipFill>
          <a:blip r:embed="rId9" cstate="print"/>
          <a:stretch>
            <a:fillRect/>
          </a:stretch>
        </p:blipFill>
        <p:spPr>
          <a:xfrm>
            <a:off x="7578852" y="4390644"/>
            <a:ext cx="735342" cy="1238250"/>
          </a:xfrm>
          <a:prstGeom prst="rect">
            <a:avLst/>
          </a:prstGeom>
        </p:spPr>
      </p:pic>
      <p:pic>
        <p:nvPicPr>
          <p:cNvPr id="12" name="object 12"/>
          <p:cNvPicPr/>
          <p:nvPr/>
        </p:nvPicPr>
        <p:blipFill>
          <a:blip r:embed="rId10" cstate="print"/>
          <a:stretch>
            <a:fillRect/>
          </a:stretch>
        </p:blipFill>
        <p:spPr>
          <a:xfrm>
            <a:off x="4642103" y="1603247"/>
            <a:ext cx="1116329" cy="1308353"/>
          </a:xfrm>
          <a:prstGeom prst="rect">
            <a:avLst/>
          </a:prstGeom>
        </p:spPr>
      </p:pic>
      <p:pic>
        <p:nvPicPr>
          <p:cNvPr id="13" name="object 13"/>
          <p:cNvPicPr/>
          <p:nvPr/>
        </p:nvPicPr>
        <p:blipFill>
          <a:blip r:embed="rId11" cstate="print"/>
          <a:stretch>
            <a:fillRect/>
          </a:stretch>
        </p:blipFill>
        <p:spPr>
          <a:xfrm>
            <a:off x="1520952" y="3691102"/>
            <a:ext cx="636295" cy="518947"/>
          </a:xfrm>
          <a:prstGeom prst="rect">
            <a:avLst/>
          </a:prstGeom>
        </p:spPr>
      </p:pic>
      <p:grpSp>
        <p:nvGrpSpPr>
          <p:cNvPr id="14" name="object 14"/>
          <p:cNvGrpSpPr/>
          <p:nvPr/>
        </p:nvGrpSpPr>
        <p:grpSpPr>
          <a:xfrm>
            <a:off x="0" y="4283964"/>
            <a:ext cx="12192000" cy="2574290"/>
            <a:chOff x="0" y="4283964"/>
            <a:chExt cx="12192000" cy="2574290"/>
          </a:xfrm>
        </p:grpSpPr>
        <p:pic>
          <p:nvPicPr>
            <p:cNvPr id="15" name="object 15"/>
            <p:cNvPicPr/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624583" y="4283964"/>
              <a:ext cx="2035302" cy="2161794"/>
            </a:xfrm>
            <a:prstGeom prst="rect">
              <a:avLst/>
            </a:prstGeom>
          </p:spPr>
        </p:pic>
        <p:sp>
          <p:nvSpPr>
            <p:cNvPr id="16" name="object 16"/>
            <p:cNvSpPr/>
            <p:nvPr/>
          </p:nvSpPr>
          <p:spPr>
            <a:xfrm>
              <a:off x="0" y="6469379"/>
              <a:ext cx="12192000" cy="304800"/>
            </a:xfrm>
            <a:custGeom>
              <a:avLst/>
              <a:gdLst/>
              <a:ahLst/>
              <a:cxnLst/>
              <a:rect l="l" t="t" r="r" b="b"/>
              <a:pathLst>
                <a:path w="12192000" h="304800">
                  <a:moveTo>
                    <a:pt x="0" y="304799"/>
                  </a:moveTo>
                  <a:lnTo>
                    <a:pt x="12192000" y="304799"/>
                  </a:lnTo>
                  <a:lnTo>
                    <a:pt x="12192000" y="0"/>
                  </a:lnTo>
                  <a:lnTo>
                    <a:pt x="0" y="0"/>
                  </a:lnTo>
                  <a:lnTo>
                    <a:pt x="0" y="304799"/>
                  </a:lnTo>
                  <a:close/>
                </a:path>
              </a:pathLst>
            </a:custGeom>
            <a:solidFill>
              <a:srgbClr val="7D1B6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0" y="6774179"/>
              <a:ext cx="12192000" cy="83820"/>
            </a:xfrm>
            <a:custGeom>
              <a:avLst/>
              <a:gdLst/>
              <a:ahLst/>
              <a:cxnLst/>
              <a:rect l="l" t="t" r="r" b="b"/>
              <a:pathLst>
                <a:path w="12192000" h="83820">
                  <a:moveTo>
                    <a:pt x="12192000" y="0"/>
                  </a:moveTo>
                  <a:lnTo>
                    <a:pt x="0" y="0"/>
                  </a:lnTo>
                  <a:lnTo>
                    <a:pt x="0" y="83819"/>
                  </a:lnTo>
                  <a:lnTo>
                    <a:pt x="12192000" y="83819"/>
                  </a:lnTo>
                  <a:lnTo>
                    <a:pt x="12192000" y="0"/>
                  </a:lnTo>
                  <a:close/>
                </a:path>
              </a:pathLst>
            </a:custGeom>
            <a:solidFill>
              <a:srgbClr val="B873B8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4400" dirty="0">
                <a:solidFill>
                  <a:srgbClr val="000000"/>
                </a:solidFill>
                <a:latin typeface="Calibri"/>
                <a:cs typeface="Calibri"/>
              </a:rPr>
              <a:t>Next</a:t>
            </a:r>
            <a:r>
              <a:rPr sz="4400" spc="-65" dirty="0">
                <a:solidFill>
                  <a:srgbClr val="000000"/>
                </a:solidFill>
                <a:latin typeface="Calibri"/>
                <a:cs typeface="Calibri"/>
              </a:rPr>
              <a:t> </a:t>
            </a:r>
            <a:r>
              <a:rPr sz="4400" spc="-75" dirty="0">
                <a:solidFill>
                  <a:srgbClr val="000000"/>
                </a:solidFill>
                <a:latin typeface="Calibri"/>
                <a:cs typeface="Calibri"/>
              </a:rPr>
              <a:t>Topic</a:t>
            </a:r>
            <a:endParaRPr sz="44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207002" y="2490596"/>
            <a:ext cx="2675890" cy="112268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7200" spc="-10" dirty="0">
                <a:solidFill>
                  <a:srgbClr val="7D1B68"/>
                </a:solidFill>
                <a:latin typeface="Calibri"/>
                <a:cs typeface="Calibri"/>
              </a:rPr>
              <a:t>Sorting</a:t>
            </a:r>
            <a:endParaRPr sz="7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323066" y="6426809"/>
            <a:ext cx="180975" cy="20891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200" spc="-25" dirty="0">
                <a:solidFill>
                  <a:srgbClr val="888888"/>
                </a:solidFill>
                <a:latin typeface="Calibri"/>
                <a:cs typeface="Calibri"/>
              </a:rPr>
              <a:t>33</a:t>
            </a:r>
            <a:endParaRPr sz="12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</TotalTime>
  <Words>1536</Words>
  <Application>Microsoft Office PowerPoint</Application>
  <PresentationFormat>Widescreen</PresentationFormat>
  <Paragraphs>174</Paragraphs>
  <Slides>32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32</vt:i4>
      </vt:variant>
    </vt:vector>
  </HeadingPairs>
  <TitlesOfParts>
    <vt:vector size="38" baseType="lpstr">
      <vt:lpstr>Arial</vt:lpstr>
      <vt:lpstr>Arial MT</vt:lpstr>
      <vt:lpstr>Calibri</vt:lpstr>
      <vt:lpstr>Times New Roman</vt:lpstr>
      <vt:lpstr>Wingdings</vt:lpstr>
      <vt:lpstr>Office Theme</vt:lpstr>
      <vt:lpstr>Course:Data Structure and Algorithms</vt:lpstr>
      <vt:lpstr>Contents</vt:lpstr>
      <vt:lpstr>Objectives</vt:lpstr>
      <vt:lpstr>Sorting Techniques</vt:lpstr>
      <vt:lpstr>Sorting Techniques</vt:lpstr>
      <vt:lpstr>Sorting Techniques</vt:lpstr>
      <vt:lpstr>Selection Sort</vt:lpstr>
      <vt:lpstr>How Selection Sort Works?</vt:lpstr>
      <vt:lpstr>How Selection Sort Works? (Cont.)</vt:lpstr>
      <vt:lpstr>How Selection Sort Works? (Cont.)</vt:lpstr>
      <vt:lpstr>How Selection Sort Works? (Cont.)</vt:lpstr>
      <vt:lpstr>Selection Sort Program</vt:lpstr>
      <vt:lpstr>Insertion Sort</vt:lpstr>
      <vt:lpstr>How Insertion Sort Works?</vt:lpstr>
      <vt:lpstr>How Insertion Sort Works? (Cont.)</vt:lpstr>
      <vt:lpstr>How Insertion Sort Works? (Cont.)</vt:lpstr>
      <vt:lpstr>How Insertion Sort Works? (Cont.)</vt:lpstr>
      <vt:lpstr>How Insertion Sort Works? (Cont.)</vt:lpstr>
      <vt:lpstr>How Insertion Sort Works? (Cont.)</vt:lpstr>
      <vt:lpstr>How Insertion Sort Works? (Cont.)</vt:lpstr>
      <vt:lpstr>Insertion Sort Algorithm</vt:lpstr>
      <vt:lpstr>Bubble Sort</vt:lpstr>
      <vt:lpstr>How Bubble Sort Works?</vt:lpstr>
      <vt:lpstr>How Bubble Sort Works? (Cont.)</vt:lpstr>
      <vt:lpstr>How Bubble Sort Works? (Cont.)</vt:lpstr>
      <vt:lpstr>How Bubble Sort Works? (Cont.)</vt:lpstr>
      <vt:lpstr>How Bubble Sort Works? (Cont.)</vt:lpstr>
      <vt:lpstr>How Bubble Sort Works? (Cont.)</vt:lpstr>
      <vt:lpstr>Bubble Sort Algorithm</vt:lpstr>
      <vt:lpstr>Summery &amp; Students Evaluation</vt:lpstr>
      <vt:lpstr>Any Questions?</vt:lpstr>
      <vt:lpstr>Next Topic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Slajd 1</dc:title>
  <dc:creator>zawt_ss</dc:creator>
  <cp:lastModifiedBy>HAMDARD</cp:lastModifiedBy>
  <cp:revision>7</cp:revision>
  <dcterms:created xsi:type="dcterms:W3CDTF">2024-04-22T08:07:22Z</dcterms:created>
  <dcterms:modified xsi:type="dcterms:W3CDTF">2026-03-05T18:13:18Z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2023-03-27T00:00:00Z</vt:filetime>
  </property>
  <property fmtid="{D5CDD505-2E9C-101B-9397-08002B2CF9AE}" pid="3" name="Creator">
    <vt:lpwstr>Microsoft® PowerPoint® 2019</vt:lpwstr>
  </property>
  <property fmtid="{D5CDD505-2E9C-101B-9397-08002B2CF9AE}" pid="4" name="LastSaved">
    <vt:filetime>2024-04-22T00:00:00Z</vt:filetime>
  </property>
  <property fmtid="{D5CDD505-2E9C-101B-9397-08002B2CF9AE}" pid="5" name="Producer">
    <vt:lpwstr>Microsoft® PowerPoint® 2019</vt:lpwstr>
  </property>
</Properties>
</file>