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80" r:id="rId16"/>
    <p:sldId id="281" r:id="rId17"/>
    <p:sldId id="282" r:id="rId1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114291" y="1559178"/>
            <a:ext cx="2388870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7D1B6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7D1B6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7D1B6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7D1B6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98194" y="565861"/>
            <a:ext cx="5236845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7D1B6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98194" y="1516252"/>
            <a:ext cx="9824085" cy="33185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664442" y="6498335"/>
            <a:ext cx="317500" cy="2787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60646" y="4507229"/>
            <a:ext cx="38709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624330" algn="l"/>
              </a:tabLst>
            </a:pP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Instructor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	:</a:t>
            </a:r>
            <a:r>
              <a:rPr sz="28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Ziaur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Rahman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09709" y="5357876"/>
            <a:ext cx="1142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year: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1402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8111" y="2447544"/>
            <a:ext cx="2070354" cy="899922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913382" y="2471750"/>
            <a:ext cx="78549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800" b="1" baseline="2604" dirty="0">
                <a:solidFill>
                  <a:srgbClr val="00AF50"/>
                </a:solidFill>
                <a:latin typeface="Arial"/>
                <a:cs typeface="Arial"/>
              </a:rPr>
              <a:t>Cours</a:t>
            </a:r>
            <a:r>
              <a:rPr sz="4800" b="1" spc="-15" baseline="2604" dirty="0">
                <a:solidFill>
                  <a:srgbClr val="00AF50"/>
                </a:solidFill>
                <a:latin typeface="Arial"/>
                <a:cs typeface="Arial"/>
              </a:rPr>
              <a:t>e</a:t>
            </a:r>
            <a:r>
              <a:rPr sz="4800" b="1" spc="-1289" baseline="2604" dirty="0">
                <a:solidFill>
                  <a:srgbClr val="00AF50"/>
                </a:solidFill>
                <a:latin typeface="Arial"/>
                <a:cs typeface="Arial"/>
              </a:rPr>
              <a:t>:</a:t>
            </a:r>
            <a:r>
              <a:rPr sz="4000" b="1" spc="5" dirty="0">
                <a:solidFill>
                  <a:srgbClr val="006FC0"/>
                </a:solidFill>
                <a:latin typeface="Calibri"/>
                <a:cs typeface="Calibri"/>
              </a:rPr>
              <a:t>D</a:t>
            </a:r>
            <a:r>
              <a:rPr sz="4000" b="1" spc="-45" dirty="0">
                <a:solidFill>
                  <a:srgbClr val="006FC0"/>
                </a:solidFill>
                <a:latin typeface="Calibri"/>
                <a:cs typeface="Calibri"/>
              </a:rPr>
              <a:t>at</a:t>
            </a:r>
            <a:r>
              <a:rPr sz="4000" b="1" spc="5" dirty="0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sz="4000" b="1" spc="-1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6FC0"/>
                </a:solidFill>
                <a:latin typeface="Calibri"/>
                <a:cs typeface="Calibri"/>
              </a:rPr>
              <a:t>Structure</a:t>
            </a:r>
            <a:r>
              <a:rPr sz="4000" b="1" spc="-9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6FC0"/>
                </a:solidFill>
                <a:latin typeface="Calibri"/>
                <a:cs typeface="Calibri"/>
              </a:rPr>
              <a:t>and</a:t>
            </a:r>
            <a:r>
              <a:rPr sz="4000" b="1" spc="-1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rgbClr val="006FC0"/>
                </a:solidFill>
                <a:latin typeface="Calibri"/>
                <a:cs typeface="Calibri"/>
              </a:rPr>
              <a:t>Algorithms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93288" y="3499383"/>
            <a:ext cx="401637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7D1B68"/>
                </a:solidFill>
                <a:latin typeface="Arial"/>
                <a:cs typeface="Arial"/>
              </a:rPr>
              <a:t>Lesson</a:t>
            </a:r>
            <a:r>
              <a:rPr sz="3200" b="1" spc="-55" dirty="0">
                <a:solidFill>
                  <a:srgbClr val="7D1B68"/>
                </a:solidFill>
                <a:latin typeface="Arial"/>
                <a:cs typeface="Arial"/>
              </a:rPr>
              <a:t> </a:t>
            </a:r>
            <a:r>
              <a:rPr lang="en-US" sz="3200" b="1" spc="-50" dirty="0">
                <a:solidFill>
                  <a:srgbClr val="7D1B68"/>
                </a:solidFill>
                <a:latin typeface="Arial"/>
                <a:cs typeface="Arial"/>
              </a:rPr>
              <a:t>6</a:t>
            </a:r>
            <a:endParaRPr sz="3200" dirty="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176771" y="2976372"/>
            <a:ext cx="3194050" cy="1929130"/>
            <a:chOff x="6176771" y="2976372"/>
            <a:chExt cx="3194050" cy="1929130"/>
          </a:xfrm>
        </p:grpSpPr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76771" y="3924300"/>
              <a:ext cx="3193542" cy="98069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87439" y="2976372"/>
              <a:ext cx="3173730" cy="1652777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6641972" y="3153867"/>
            <a:ext cx="223520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10" dirty="0">
                <a:solidFill>
                  <a:srgbClr val="7D1B68"/>
                </a:solidFill>
                <a:latin typeface="Calibri"/>
                <a:cs typeface="Calibri"/>
              </a:rPr>
              <a:t>Sorting</a:t>
            </a:r>
            <a:endParaRPr sz="6000">
              <a:latin typeface="Calibri"/>
              <a:cs typeface="Calibri"/>
            </a:endParaRPr>
          </a:p>
        </p:txBody>
      </p:sp>
      <p:sp>
        <p:nvSpPr>
          <p:cNvPr id="25" name="object 6"/>
          <p:cNvSpPr txBox="1"/>
          <p:nvPr/>
        </p:nvSpPr>
        <p:spPr>
          <a:xfrm>
            <a:off x="4890516" y="738886"/>
            <a:ext cx="3262884" cy="138762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indent="-2540" algn="ctr">
              <a:lnSpc>
                <a:spcPct val="101299"/>
              </a:lnSpc>
              <a:spcBef>
                <a:spcPts val="55"/>
              </a:spcBef>
            </a:pPr>
            <a:r>
              <a:rPr lang="en-US" sz="3200" b="1" spc="-415" dirty="0">
                <a:latin typeface="Calibri"/>
                <a:cs typeface="Calibri"/>
              </a:rPr>
              <a:t>Kabul </a:t>
            </a:r>
            <a:r>
              <a:rPr sz="3200" b="1" spc="-355" dirty="0">
                <a:latin typeface="Calibri"/>
                <a:cs typeface="Calibri"/>
              </a:rPr>
              <a:t>Univers</a:t>
            </a:r>
            <a:r>
              <a:rPr sz="3200" b="1" spc="-185" dirty="0">
                <a:latin typeface="Calibri"/>
                <a:cs typeface="Calibri"/>
              </a:rPr>
              <a:t>i</a:t>
            </a:r>
            <a:r>
              <a:rPr sz="3200" b="1" spc="-260" dirty="0">
                <a:latin typeface="Calibri"/>
                <a:cs typeface="Calibri"/>
              </a:rPr>
              <a:t>ty  </a:t>
            </a:r>
            <a:endParaRPr lang="en-US" sz="3200" b="1" spc="-260" dirty="0">
              <a:latin typeface="Calibri"/>
              <a:cs typeface="Calibri"/>
            </a:endParaRPr>
          </a:p>
          <a:p>
            <a:pPr marL="12700" marR="5080" indent="-2540" algn="ctr">
              <a:lnSpc>
                <a:spcPct val="101299"/>
              </a:lnSpc>
              <a:spcBef>
                <a:spcPts val="55"/>
              </a:spcBef>
            </a:pPr>
            <a:r>
              <a:rPr lang="en-US" sz="2800" b="1" spc="-300" dirty="0">
                <a:latin typeface="Calibri"/>
                <a:cs typeface="Calibri"/>
              </a:rPr>
              <a:t>Faculty of Computer Science </a:t>
            </a:r>
            <a:r>
              <a:rPr lang="en-US" sz="2400" b="1" spc="-300" dirty="0">
                <a:latin typeface="Calibri"/>
                <a:cs typeface="Calibri"/>
              </a:rPr>
              <a:t>SE</a:t>
            </a:r>
            <a:r>
              <a:rPr lang="en-US" sz="2800" b="1" spc="-300" dirty="0">
                <a:latin typeface="Calibri"/>
                <a:cs typeface="Calibri"/>
              </a:rPr>
              <a:t> </a:t>
            </a:r>
            <a:r>
              <a:rPr sz="2400" b="1" spc="-315" dirty="0">
                <a:latin typeface="Calibri"/>
                <a:cs typeface="Calibri"/>
              </a:rPr>
              <a:t>Depart</a:t>
            </a:r>
            <a:r>
              <a:rPr sz="2400" b="1" spc="-535" dirty="0">
                <a:latin typeface="Calibri"/>
                <a:cs typeface="Calibri"/>
              </a:rPr>
              <a:t>m</a:t>
            </a:r>
            <a:r>
              <a:rPr sz="2400" b="1" spc="-375" dirty="0">
                <a:latin typeface="Calibri"/>
                <a:cs typeface="Calibri"/>
              </a:rPr>
              <a:t>e</a:t>
            </a:r>
            <a:r>
              <a:rPr sz="2400" b="1" spc="-395" dirty="0">
                <a:latin typeface="Calibri"/>
                <a:cs typeface="Calibri"/>
              </a:rPr>
              <a:t>n</a:t>
            </a:r>
            <a:r>
              <a:rPr sz="2400" b="1" spc="-265" dirty="0">
                <a:latin typeface="Calibri"/>
                <a:cs typeface="Calibri"/>
              </a:rPr>
              <a:t>t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26" name="object 6"/>
          <p:cNvSpPr txBox="1"/>
          <p:nvPr/>
        </p:nvSpPr>
        <p:spPr>
          <a:xfrm>
            <a:off x="1005839" y="4523359"/>
            <a:ext cx="3142870" cy="846386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80"/>
              </a:spcBef>
            </a:pPr>
            <a:r>
              <a:rPr sz="1800" b="1" spc="-5" dirty="0">
                <a:latin typeface="Arial"/>
                <a:cs typeface="Arial"/>
              </a:rPr>
              <a:t>Semester: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lang="en-US" sz="1800" b="1" spc="-20" dirty="0">
                <a:latin typeface="Arial"/>
                <a:cs typeface="Arial"/>
              </a:rPr>
              <a:t>4</a:t>
            </a:r>
            <a:r>
              <a:rPr sz="1800" b="1" spc="-7" baseline="25462" dirty="0">
                <a:latin typeface="Arial"/>
                <a:cs typeface="Arial"/>
              </a:rPr>
              <a:t>th</a:t>
            </a:r>
            <a:endParaRPr sz="1800" baseline="25462" dirty="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080"/>
              </a:spcBef>
            </a:pPr>
            <a:r>
              <a:rPr sz="1800" b="1" spc="-5" dirty="0">
                <a:latin typeface="Arial"/>
                <a:cs typeface="Arial"/>
              </a:rPr>
              <a:t>Lecture</a:t>
            </a:r>
            <a:r>
              <a:rPr lang="en-US" sz="1800" b="1" spc="-5" dirty="0">
                <a:latin typeface="Arial"/>
                <a:cs typeface="Arial"/>
              </a:rPr>
              <a:t>r</a:t>
            </a:r>
            <a:r>
              <a:rPr sz="1800" b="1" spc="-5" dirty="0">
                <a:latin typeface="Arial"/>
                <a:cs typeface="Arial"/>
              </a:rPr>
              <a:t>: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M. Salim Hamdard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27" name="object 7"/>
          <p:cNvSpPr txBox="1"/>
          <p:nvPr/>
        </p:nvSpPr>
        <p:spPr>
          <a:xfrm>
            <a:off x="1031238" y="5483453"/>
            <a:ext cx="3616962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Prepare</a:t>
            </a:r>
            <a:r>
              <a:rPr lang="en-US" sz="1800" b="1" spc="-5" dirty="0">
                <a:latin typeface="Arial"/>
                <a:cs typeface="Arial"/>
              </a:rPr>
              <a:t>d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by: </a:t>
            </a:r>
            <a:r>
              <a:rPr lang="en-US" b="1" dirty="0">
                <a:solidFill>
                  <a:srgbClr val="001F5F"/>
                </a:solidFill>
                <a:latin typeface="Arial"/>
                <a:cs typeface="Arial"/>
              </a:rPr>
              <a:t>M. Salim Hamdard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6041" y="2041982"/>
            <a:ext cx="7729220" cy="21832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spc="-10" dirty="0">
                <a:latin typeface="Calibri"/>
                <a:cs typeface="Calibri"/>
              </a:rPr>
              <a:t>Understanding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Advanced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Sorting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Techniques</a:t>
            </a:r>
            <a:endParaRPr sz="32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69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spc="-10" dirty="0">
                <a:latin typeface="Calibri"/>
                <a:cs typeface="Calibri"/>
              </a:rPr>
              <a:t>Understanding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Merge</a:t>
            </a:r>
            <a:r>
              <a:rPr sz="3200" spc="-14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Sort</a:t>
            </a:r>
            <a:endParaRPr sz="32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69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Working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Quick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Sort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19022" y="558241"/>
            <a:ext cx="307657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10" dirty="0"/>
              <a:t>Contents</a:t>
            </a:r>
            <a:endParaRPr sz="6000"/>
          </a:p>
        </p:txBody>
      </p:sp>
      <p:grpSp>
        <p:nvGrpSpPr>
          <p:cNvPr id="4" name="object 4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Merge</a:t>
            </a:r>
            <a:r>
              <a:rPr spc="-114" dirty="0"/>
              <a:t> </a:t>
            </a:r>
            <a:r>
              <a:rPr spc="-20" dirty="0"/>
              <a:t>Sort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0" y="0"/>
            <a:ext cx="1905" cy="478790"/>
          </a:xfrm>
          <a:custGeom>
            <a:avLst/>
            <a:gdLst/>
            <a:ahLst/>
            <a:cxnLst/>
            <a:rect l="l" t="t" r="r" b="b"/>
            <a:pathLst>
              <a:path w="1905" h="478790">
                <a:moveTo>
                  <a:pt x="0" y="478536"/>
                </a:moveTo>
                <a:lnTo>
                  <a:pt x="1524" y="478536"/>
                </a:lnTo>
                <a:lnTo>
                  <a:pt x="1524" y="0"/>
                </a:lnTo>
                <a:lnTo>
                  <a:pt x="0" y="0"/>
                </a:lnTo>
                <a:lnTo>
                  <a:pt x="0" y="478536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311402" y="1516252"/>
            <a:ext cx="10052050" cy="4595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350" algn="just">
              <a:lnSpc>
                <a:spcPct val="15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Merge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sort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sorting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technique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divide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conquer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technique.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Merge </a:t>
            </a:r>
            <a:r>
              <a:rPr sz="2400" dirty="0">
                <a:latin typeface="Calibri"/>
                <a:cs typeface="Calibri"/>
              </a:rPr>
              <a:t>sort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first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divides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array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equal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halves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combines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them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sorted manner.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855"/>
              </a:spcBef>
            </a:pPr>
            <a:endParaRPr sz="24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</a:pPr>
            <a:r>
              <a:rPr sz="3200" dirty="0">
                <a:solidFill>
                  <a:srgbClr val="7D1B68"/>
                </a:solidFill>
                <a:latin typeface="Arial MT"/>
                <a:cs typeface="Arial MT"/>
              </a:rPr>
              <a:t>Divide</a:t>
            </a:r>
            <a:r>
              <a:rPr sz="3200" spc="-40" dirty="0">
                <a:solidFill>
                  <a:srgbClr val="7D1B68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D1B68"/>
                </a:solidFill>
                <a:latin typeface="Arial MT"/>
                <a:cs typeface="Arial MT"/>
              </a:rPr>
              <a:t>and</a:t>
            </a:r>
            <a:r>
              <a:rPr sz="3200" spc="-40" dirty="0">
                <a:solidFill>
                  <a:srgbClr val="7D1B68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7D1B68"/>
                </a:solidFill>
                <a:latin typeface="Arial MT"/>
                <a:cs typeface="Arial MT"/>
              </a:rPr>
              <a:t>Conquer</a:t>
            </a:r>
            <a:endParaRPr sz="3200">
              <a:latin typeface="Arial MT"/>
              <a:cs typeface="Arial MT"/>
            </a:endParaRPr>
          </a:p>
          <a:p>
            <a:pPr marL="12700" marR="5080" algn="just">
              <a:lnSpc>
                <a:spcPct val="150000"/>
              </a:lnSpc>
              <a:spcBef>
                <a:spcPts val="434"/>
              </a:spcBef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break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single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big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problem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smaller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sub-</a:t>
            </a:r>
            <a:r>
              <a:rPr sz="2400" dirty="0">
                <a:latin typeface="Calibri"/>
                <a:cs typeface="Calibri"/>
              </a:rPr>
              <a:t>problems,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solve the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smaller </a:t>
            </a:r>
            <a:r>
              <a:rPr sz="2400" spc="-25" dirty="0">
                <a:latin typeface="Calibri"/>
                <a:cs typeface="Calibri"/>
              </a:rPr>
              <a:t>sub-</a:t>
            </a:r>
            <a:r>
              <a:rPr sz="2400" dirty="0">
                <a:latin typeface="Calibri"/>
                <a:cs typeface="Calibri"/>
              </a:rPr>
              <a:t>problems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combine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their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solutions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find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solution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original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big </a:t>
            </a:r>
            <a:r>
              <a:rPr sz="2400" dirty="0">
                <a:latin typeface="Calibri"/>
                <a:cs typeface="Calibri"/>
              </a:rPr>
              <a:t>problem,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becomes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easier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solve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whole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problem</a:t>
            </a:r>
            <a:r>
              <a:rPr sz="2400" spc="-10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spc="-25" dirty="0"/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Divide</a:t>
            </a:r>
            <a:r>
              <a:rPr spc="-114" dirty="0"/>
              <a:t> </a:t>
            </a:r>
            <a:r>
              <a:rPr dirty="0"/>
              <a:t>and</a:t>
            </a:r>
            <a:r>
              <a:rPr spc="-95" dirty="0"/>
              <a:t> </a:t>
            </a:r>
            <a:r>
              <a:rPr spc="-10" dirty="0"/>
              <a:t>Conquer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0" y="0"/>
            <a:ext cx="1905" cy="478790"/>
          </a:xfrm>
          <a:custGeom>
            <a:avLst/>
            <a:gdLst/>
            <a:ahLst/>
            <a:cxnLst/>
            <a:rect l="l" t="t" r="r" b="b"/>
            <a:pathLst>
              <a:path w="1905" h="478790">
                <a:moveTo>
                  <a:pt x="0" y="478536"/>
                </a:moveTo>
                <a:lnTo>
                  <a:pt x="1524" y="478536"/>
                </a:lnTo>
                <a:lnTo>
                  <a:pt x="1524" y="0"/>
                </a:lnTo>
                <a:lnTo>
                  <a:pt x="0" y="0"/>
                </a:lnTo>
                <a:lnTo>
                  <a:pt x="0" y="478536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311402" y="1472641"/>
            <a:ext cx="9883775" cy="40500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concept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Divide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Conquer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involves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three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steps:</a:t>
            </a:r>
            <a:endParaRPr sz="2400">
              <a:latin typeface="Calibri"/>
              <a:cs typeface="Calibri"/>
            </a:endParaRPr>
          </a:p>
          <a:p>
            <a:pPr marL="812165" lvl="1" indent="-342900">
              <a:lnSpc>
                <a:spcPct val="100000"/>
              </a:lnSpc>
              <a:spcBef>
                <a:spcPts val="2885"/>
              </a:spcBef>
              <a:buFont typeface="Wingdings"/>
              <a:buChar char=""/>
              <a:tabLst>
                <a:tab pos="812165" algn="l"/>
              </a:tabLst>
            </a:pPr>
            <a:r>
              <a:rPr sz="2400" b="1" dirty="0">
                <a:latin typeface="Calibri"/>
                <a:cs typeface="Calibri"/>
              </a:rPr>
              <a:t>Divide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problem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multiple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small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problems.</a:t>
            </a:r>
            <a:endParaRPr sz="2400">
              <a:latin typeface="Calibri"/>
              <a:cs typeface="Calibri"/>
            </a:endParaRPr>
          </a:p>
          <a:p>
            <a:pPr marL="812165" marR="5080" lvl="1" indent="-342900">
              <a:lnSpc>
                <a:spcPct val="200000"/>
              </a:lnSpc>
              <a:buFont typeface="Wingdings"/>
              <a:buChar char=""/>
              <a:tabLst>
                <a:tab pos="812165" algn="l"/>
              </a:tabLst>
            </a:pPr>
            <a:r>
              <a:rPr sz="2400" b="1" dirty="0">
                <a:latin typeface="Calibri"/>
                <a:cs typeface="Calibri"/>
              </a:rPr>
              <a:t>Conquer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subproblems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solving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them.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idea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break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down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</a:t>
            </a:r>
            <a:r>
              <a:rPr sz="2400" dirty="0">
                <a:latin typeface="Calibri"/>
                <a:cs typeface="Calibri"/>
              </a:rPr>
              <a:t>problem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atomic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subproblems,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where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actually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solved.</a:t>
            </a:r>
            <a:endParaRPr sz="2400">
              <a:latin typeface="Calibri"/>
              <a:cs typeface="Calibri"/>
            </a:endParaRPr>
          </a:p>
          <a:p>
            <a:pPr marL="812165" marR="546100" lvl="1" indent="-342900">
              <a:lnSpc>
                <a:spcPct val="200000"/>
              </a:lnSpc>
              <a:spcBef>
                <a:spcPts val="5"/>
              </a:spcBef>
              <a:buFont typeface="Wingdings"/>
              <a:buChar char=""/>
              <a:tabLst>
                <a:tab pos="812165" algn="l"/>
              </a:tabLst>
            </a:pPr>
            <a:r>
              <a:rPr sz="2400" b="1" dirty="0">
                <a:latin typeface="Calibri"/>
                <a:cs typeface="Calibri"/>
              </a:rPr>
              <a:t>Combine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solutions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subproblems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solution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</a:t>
            </a:r>
            <a:r>
              <a:rPr sz="2400" dirty="0">
                <a:latin typeface="Calibri"/>
                <a:cs typeface="Calibri"/>
              </a:rPr>
              <a:t>actual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problem.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spc="-25" dirty="0"/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Divide</a:t>
            </a:r>
            <a:r>
              <a:rPr spc="-114" dirty="0"/>
              <a:t> </a:t>
            </a:r>
            <a:r>
              <a:rPr dirty="0"/>
              <a:t>and</a:t>
            </a:r>
            <a:r>
              <a:rPr spc="-95" dirty="0"/>
              <a:t> </a:t>
            </a:r>
            <a:r>
              <a:rPr spc="-10" dirty="0"/>
              <a:t>Conquer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0" y="0"/>
            <a:ext cx="1905" cy="478790"/>
          </a:xfrm>
          <a:custGeom>
            <a:avLst/>
            <a:gdLst/>
            <a:ahLst/>
            <a:cxnLst/>
            <a:rect l="l" t="t" r="r" b="b"/>
            <a:pathLst>
              <a:path w="1905" h="478790">
                <a:moveTo>
                  <a:pt x="0" y="478536"/>
                </a:moveTo>
                <a:lnTo>
                  <a:pt x="1524" y="478536"/>
                </a:lnTo>
                <a:lnTo>
                  <a:pt x="1524" y="0"/>
                </a:lnTo>
                <a:lnTo>
                  <a:pt x="0" y="0"/>
                </a:lnTo>
                <a:lnTo>
                  <a:pt x="0" y="478536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9400" y="1415796"/>
            <a:ext cx="6553200" cy="4920996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spc="-25" dirty="0"/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400558"/>
            <a:ext cx="55499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How</a:t>
            </a:r>
            <a:r>
              <a:rPr spc="-105" dirty="0"/>
              <a:t> </a:t>
            </a:r>
            <a:r>
              <a:rPr dirty="0"/>
              <a:t>Merge</a:t>
            </a:r>
            <a:r>
              <a:rPr spc="-65" dirty="0"/>
              <a:t> </a:t>
            </a:r>
            <a:r>
              <a:rPr dirty="0"/>
              <a:t>Sort</a:t>
            </a:r>
            <a:r>
              <a:rPr spc="-100" dirty="0"/>
              <a:t> </a:t>
            </a:r>
            <a:r>
              <a:rPr spc="-10" dirty="0"/>
              <a:t>Works?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0" y="0"/>
            <a:ext cx="1905" cy="478790"/>
          </a:xfrm>
          <a:custGeom>
            <a:avLst/>
            <a:gdLst/>
            <a:ahLst/>
            <a:cxnLst/>
            <a:rect l="l" t="t" r="r" b="b"/>
            <a:pathLst>
              <a:path w="1905" h="478790">
                <a:moveTo>
                  <a:pt x="0" y="478536"/>
                </a:moveTo>
                <a:lnTo>
                  <a:pt x="1524" y="478536"/>
                </a:lnTo>
                <a:lnTo>
                  <a:pt x="1524" y="0"/>
                </a:lnTo>
                <a:lnTo>
                  <a:pt x="0" y="0"/>
                </a:lnTo>
                <a:lnTo>
                  <a:pt x="0" y="478536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69339" y="1443609"/>
            <a:ext cx="91554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spc="-120" dirty="0">
                <a:latin typeface="Calibri"/>
                <a:cs typeface="Calibri"/>
              </a:rPr>
              <a:t>To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understand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merge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sort,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take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unsorted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array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following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−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9400" y="2232660"/>
            <a:ext cx="6772656" cy="97078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96492" y="3283584"/>
            <a:ext cx="9622155" cy="16725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501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We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know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merge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sort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first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divides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whole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array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iteratively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equal </a:t>
            </a:r>
            <a:r>
              <a:rPr sz="2400" dirty="0">
                <a:latin typeface="Calibri"/>
                <a:cs typeface="Calibri"/>
              </a:rPr>
              <a:t>halves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unless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atomic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achieved.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We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array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8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items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divided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two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arrays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size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4.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71800" y="5381244"/>
            <a:ext cx="6775704" cy="897636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spc="-25" dirty="0"/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3" name="object 3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0" y="0"/>
            <a:ext cx="1905" cy="478790"/>
          </a:xfrm>
          <a:custGeom>
            <a:avLst/>
            <a:gdLst/>
            <a:ahLst/>
            <a:cxnLst/>
            <a:rect l="l" t="t" r="r" b="b"/>
            <a:pathLst>
              <a:path w="1905" h="478790">
                <a:moveTo>
                  <a:pt x="0" y="478536"/>
                </a:moveTo>
                <a:lnTo>
                  <a:pt x="1524" y="478536"/>
                </a:lnTo>
                <a:lnTo>
                  <a:pt x="1524" y="0"/>
                </a:lnTo>
                <a:lnTo>
                  <a:pt x="0" y="0"/>
                </a:lnTo>
                <a:lnTo>
                  <a:pt x="0" y="478536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288161" y="1697228"/>
            <a:ext cx="1007681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This</a:t>
            </a:r>
            <a:r>
              <a:rPr sz="2400" spc="3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does</a:t>
            </a:r>
            <a:r>
              <a:rPr sz="2400" spc="3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3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change</a:t>
            </a:r>
            <a:r>
              <a:rPr sz="2400" spc="3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3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sequence</a:t>
            </a:r>
            <a:r>
              <a:rPr sz="2400" spc="3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3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appearance</a:t>
            </a:r>
            <a:r>
              <a:rPr sz="2400" spc="3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3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items</a:t>
            </a:r>
            <a:r>
              <a:rPr sz="2400" spc="3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3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3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original. </a:t>
            </a:r>
            <a:r>
              <a:rPr sz="2400" dirty="0">
                <a:latin typeface="Calibri"/>
                <a:cs typeface="Calibri"/>
              </a:rPr>
              <a:t>Now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divide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these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two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arrays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halves.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37816" y="2564892"/>
            <a:ext cx="7516368" cy="90982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98194" y="4364558"/>
            <a:ext cx="959802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299085" algn="l"/>
              </a:tabLst>
            </a:pPr>
            <a:r>
              <a:rPr sz="2400" dirty="0">
                <a:latin typeface="Calibri"/>
                <a:cs typeface="Calibri"/>
              </a:rPr>
              <a:t>We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further</a:t>
            </a:r>
            <a:r>
              <a:rPr sz="2400" spc="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divide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these</a:t>
            </a:r>
            <a:r>
              <a:rPr sz="2400" spc="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arrays</a:t>
            </a:r>
            <a:r>
              <a:rPr sz="2400" spc="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achieve</a:t>
            </a:r>
            <a:r>
              <a:rPr sz="2400" spc="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atomic</a:t>
            </a:r>
            <a:r>
              <a:rPr sz="2400" spc="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no</a:t>
            </a:r>
            <a:endParaRPr sz="24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Calibri"/>
                <a:cs typeface="Calibri"/>
              </a:rPr>
              <a:t>more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divided.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37816" y="5332476"/>
            <a:ext cx="8438388" cy="819912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993139" y="793242"/>
            <a:ext cx="72447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How</a:t>
            </a:r>
            <a:r>
              <a:rPr spc="-130" dirty="0"/>
              <a:t> </a:t>
            </a:r>
            <a:r>
              <a:rPr dirty="0"/>
              <a:t>Merge</a:t>
            </a:r>
            <a:r>
              <a:rPr spc="-90" dirty="0"/>
              <a:t> </a:t>
            </a:r>
            <a:r>
              <a:rPr dirty="0"/>
              <a:t>Sort</a:t>
            </a:r>
            <a:r>
              <a:rPr spc="-125" dirty="0"/>
              <a:t> </a:t>
            </a:r>
            <a:r>
              <a:rPr dirty="0"/>
              <a:t>Works?</a:t>
            </a:r>
            <a:r>
              <a:rPr spc="-105" dirty="0"/>
              <a:t> </a:t>
            </a:r>
            <a:r>
              <a:rPr spc="-10" dirty="0"/>
              <a:t>(Cont.)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spc="-25" dirty="0"/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3" name="object 3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0" y="0"/>
            <a:ext cx="1905" cy="478790"/>
          </a:xfrm>
          <a:custGeom>
            <a:avLst/>
            <a:gdLst/>
            <a:ahLst/>
            <a:cxnLst/>
            <a:rect l="l" t="t" r="r" b="b"/>
            <a:pathLst>
              <a:path w="1905" h="478790">
                <a:moveTo>
                  <a:pt x="0" y="478536"/>
                </a:moveTo>
                <a:lnTo>
                  <a:pt x="1524" y="478536"/>
                </a:lnTo>
                <a:lnTo>
                  <a:pt x="1524" y="0"/>
                </a:lnTo>
                <a:lnTo>
                  <a:pt x="0" y="0"/>
                </a:lnTo>
                <a:lnTo>
                  <a:pt x="0" y="478536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61110" y="1549654"/>
            <a:ext cx="10072370" cy="3867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7620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Now,</a:t>
            </a:r>
            <a:r>
              <a:rPr sz="2400" spc="3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4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combine</a:t>
            </a:r>
            <a:r>
              <a:rPr sz="2400" spc="4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them</a:t>
            </a:r>
            <a:r>
              <a:rPr sz="2400" spc="3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3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exactly</a:t>
            </a:r>
            <a:r>
              <a:rPr sz="2400" spc="4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3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same</a:t>
            </a:r>
            <a:r>
              <a:rPr sz="2400" spc="3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manner</a:t>
            </a:r>
            <a:r>
              <a:rPr sz="2400" spc="3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3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they</a:t>
            </a:r>
            <a:r>
              <a:rPr sz="2400" spc="3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were</a:t>
            </a:r>
            <a:r>
              <a:rPr sz="2400" spc="3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broken </a:t>
            </a:r>
            <a:r>
              <a:rPr sz="2400" dirty="0">
                <a:latin typeface="Calibri"/>
                <a:cs typeface="Calibri"/>
              </a:rPr>
              <a:t>down.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Please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codes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given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these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lists.</a:t>
            </a:r>
            <a:endParaRPr sz="2400">
              <a:latin typeface="Calibri"/>
              <a:cs typeface="Calibri"/>
            </a:endParaRPr>
          </a:p>
          <a:p>
            <a:pPr marL="354965" marR="5080" indent="-342900" algn="just">
              <a:lnSpc>
                <a:spcPct val="150000"/>
              </a:lnSpc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We</a:t>
            </a:r>
            <a:r>
              <a:rPr sz="2400" spc="50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first</a:t>
            </a:r>
            <a:r>
              <a:rPr sz="2400" spc="5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compare</a:t>
            </a:r>
            <a:r>
              <a:rPr sz="2400" spc="5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5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</a:t>
            </a:r>
            <a:r>
              <a:rPr sz="2400" spc="5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4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5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list</a:t>
            </a:r>
            <a:r>
              <a:rPr sz="2400" spc="5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50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5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combine</a:t>
            </a:r>
            <a:r>
              <a:rPr sz="2400" spc="4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them</a:t>
            </a:r>
            <a:r>
              <a:rPr sz="2400" spc="509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into </a:t>
            </a:r>
            <a:r>
              <a:rPr sz="2400" dirty="0">
                <a:latin typeface="Calibri"/>
                <a:cs typeface="Calibri"/>
              </a:rPr>
              <a:t>another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list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sorted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manner.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see that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14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 33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 in sorted </a:t>
            </a:r>
            <a:r>
              <a:rPr sz="2400" spc="-10" dirty="0">
                <a:latin typeface="Calibri"/>
                <a:cs typeface="Calibri"/>
              </a:rPr>
              <a:t>positions.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4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compare</a:t>
            </a:r>
            <a:r>
              <a:rPr sz="2400" spc="4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27</a:t>
            </a:r>
            <a:r>
              <a:rPr sz="2400" spc="4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4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10</a:t>
            </a:r>
            <a:r>
              <a:rPr sz="2400" spc="4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4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4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4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target</a:t>
            </a:r>
            <a:r>
              <a:rPr sz="2400" spc="4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list</a:t>
            </a:r>
            <a:r>
              <a:rPr sz="2400" spc="4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4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</a:t>
            </a:r>
            <a:r>
              <a:rPr sz="2400" spc="4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values</a:t>
            </a:r>
            <a:r>
              <a:rPr sz="2400" spc="4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4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put</a:t>
            </a:r>
            <a:r>
              <a:rPr sz="2400" spc="4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10</a:t>
            </a:r>
            <a:r>
              <a:rPr sz="2400" spc="4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first, </a:t>
            </a:r>
            <a:r>
              <a:rPr sz="2400" dirty="0">
                <a:latin typeface="Calibri"/>
                <a:cs typeface="Calibri"/>
              </a:rPr>
              <a:t>followed</a:t>
            </a:r>
            <a:r>
              <a:rPr sz="2400" spc="2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2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27.</a:t>
            </a:r>
            <a:r>
              <a:rPr sz="2400" spc="2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2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change</a:t>
            </a:r>
            <a:r>
              <a:rPr sz="2400" spc="2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order</a:t>
            </a:r>
            <a:r>
              <a:rPr sz="2400" spc="2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2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19</a:t>
            </a:r>
            <a:r>
              <a:rPr sz="2400" spc="2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2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35</a:t>
            </a:r>
            <a:r>
              <a:rPr sz="2400" spc="2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whereas</a:t>
            </a:r>
            <a:r>
              <a:rPr sz="2400" spc="2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42</a:t>
            </a:r>
            <a:r>
              <a:rPr sz="2400" spc="2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2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44</a:t>
            </a:r>
            <a:r>
              <a:rPr sz="2400" spc="28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are </a:t>
            </a:r>
            <a:r>
              <a:rPr sz="2400" dirty="0">
                <a:latin typeface="Calibri"/>
                <a:cs typeface="Calibri"/>
              </a:rPr>
              <a:t>placed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sequentially.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7200" y="5295900"/>
            <a:ext cx="7208520" cy="87630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93139" y="915999"/>
            <a:ext cx="72453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How</a:t>
            </a:r>
            <a:r>
              <a:rPr spc="-135" dirty="0"/>
              <a:t> </a:t>
            </a:r>
            <a:r>
              <a:rPr dirty="0"/>
              <a:t>Merge</a:t>
            </a:r>
            <a:r>
              <a:rPr spc="-105" dirty="0"/>
              <a:t> </a:t>
            </a:r>
            <a:r>
              <a:rPr dirty="0"/>
              <a:t>Sort</a:t>
            </a:r>
            <a:r>
              <a:rPr spc="-125" dirty="0"/>
              <a:t> </a:t>
            </a:r>
            <a:r>
              <a:rPr dirty="0"/>
              <a:t>Works?</a:t>
            </a:r>
            <a:r>
              <a:rPr spc="-114" dirty="0"/>
              <a:t> </a:t>
            </a:r>
            <a:r>
              <a:rPr spc="-10" dirty="0"/>
              <a:t>(Cont.)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spc="-25" dirty="0"/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3" name="object 3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0" y="0"/>
            <a:ext cx="1905" cy="478790"/>
          </a:xfrm>
          <a:custGeom>
            <a:avLst/>
            <a:gdLst/>
            <a:ahLst/>
            <a:cxnLst/>
            <a:rect l="l" t="t" r="r" b="b"/>
            <a:pathLst>
              <a:path w="1905" h="478790">
                <a:moveTo>
                  <a:pt x="0" y="478536"/>
                </a:moveTo>
                <a:lnTo>
                  <a:pt x="1524" y="478536"/>
                </a:lnTo>
                <a:lnTo>
                  <a:pt x="1524" y="0"/>
                </a:lnTo>
                <a:lnTo>
                  <a:pt x="0" y="0"/>
                </a:lnTo>
                <a:lnTo>
                  <a:pt x="0" y="478536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298194" y="1568704"/>
            <a:ext cx="967359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next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iteration</a:t>
            </a:r>
            <a:r>
              <a:rPr sz="2400" spc="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combining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phase,</a:t>
            </a:r>
            <a:r>
              <a:rPr sz="2400" spc="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compare</a:t>
            </a:r>
            <a:r>
              <a:rPr sz="2400" spc="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lists</a:t>
            </a:r>
            <a:r>
              <a:rPr sz="2400" spc="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two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data </a:t>
            </a:r>
            <a:r>
              <a:rPr sz="2400" dirty="0">
                <a:latin typeface="Calibri"/>
                <a:cs typeface="Calibri"/>
              </a:rPr>
              <a:t>values,</a:t>
            </a:r>
            <a:r>
              <a:rPr sz="2400" spc="3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3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merge</a:t>
            </a:r>
            <a:r>
              <a:rPr sz="2400" spc="3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them</a:t>
            </a:r>
            <a:r>
              <a:rPr sz="2400" spc="3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3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3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list</a:t>
            </a:r>
            <a:r>
              <a:rPr sz="2400" spc="3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3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found</a:t>
            </a:r>
            <a:r>
              <a:rPr sz="2400" spc="3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3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values</a:t>
            </a:r>
            <a:r>
              <a:rPr sz="2400" spc="3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placing</a:t>
            </a:r>
            <a:r>
              <a:rPr sz="2400" spc="3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3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34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 </a:t>
            </a:r>
            <a:r>
              <a:rPr sz="2400" dirty="0">
                <a:latin typeface="Calibri"/>
                <a:cs typeface="Calibri"/>
              </a:rPr>
              <a:t>sorted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order.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3600" y="4002023"/>
            <a:ext cx="8730996" cy="1171956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93139" y="710641"/>
            <a:ext cx="72453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How</a:t>
            </a:r>
            <a:r>
              <a:rPr spc="-135" dirty="0"/>
              <a:t> </a:t>
            </a:r>
            <a:r>
              <a:rPr dirty="0"/>
              <a:t>Merge</a:t>
            </a:r>
            <a:r>
              <a:rPr spc="-105" dirty="0"/>
              <a:t> </a:t>
            </a:r>
            <a:r>
              <a:rPr dirty="0"/>
              <a:t>Sort</a:t>
            </a:r>
            <a:r>
              <a:rPr spc="-125" dirty="0"/>
              <a:t> </a:t>
            </a:r>
            <a:r>
              <a:rPr dirty="0"/>
              <a:t>Works?</a:t>
            </a:r>
            <a:r>
              <a:rPr spc="-114" dirty="0"/>
              <a:t> </a:t>
            </a:r>
            <a:r>
              <a:rPr spc="-10" dirty="0"/>
              <a:t>(Cont.)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spc="-25" dirty="0"/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3" name="object 3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0" y="0"/>
            <a:ext cx="1905" cy="478790"/>
          </a:xfrm>
          <a:custGeom>
            <a:avLst/>
            <a:gdLst/>
            <a:ahLst/>
            <a:cxnLst/>
            <a:rect l="l" t="t" r="r" b="b"/>
            <a:pathLst>
              <a:path w="1905" h="478790">
                <a:moveTo>
                  <a:pt x="0" y="478536"/>
                </a:moveTo>
                <a:lnTo>
                  <a:pt x="1524" y="478536"/>
                </a:lnTo>
                <a:lnTo>
                  <a:pt x="1524" y="0"/>
                </a:lnTo>
                <a:lnTo>
                  <a:pt x="0" y="0"/>
                </a:lnTo>
                <a:lnTo>
                  <a:pt x="0" y="478536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291589" y="1707260"/>
            <a:ext cx="68789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After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final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merging,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list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should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look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like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50" dirty="0">
                <a:latin typeface="Calibri"/>
                <a:cs typeface="Calibri"/>
              </a:rPr>
              <a:t> −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8507" y="3075432"/>
            <a:ext cx="8634984" cy="123596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93139" y="954099"/>
            <a:ext cx="72453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How</a:t>
            </a:r>
            <a:r>
              <a:rPr spc="-135" dirty="0"/>
              <a:t> </a:t>
            </a:r>
            <a:r>
              <a:rPr dirty="0"/>
              <a:t>Merge</a:t>
            </a:r>
            <a:r>
              <a:rPr spc="-105" dirty="0"/>
              <a:t> </a:t>
            </a:r>
            <a:r>
              <a:rPr dirty="0"/>
              <a:t>Sort</a:t>
            </a:r>
            <a:r>
              <a:rPr spc="-125" dirty="0"/>
              <a:t> </a:t>
            </a:r>
            <a:r>
              <a:rPr dirty="0"/>
              <a:t>Works?</a:t>
            </a:r>
            <a:r>
              <a:rPr spc="-114" dirty="0"/>
              <a:t> </a:t>
            </a:r>
            <a:r>
              <a:rPr spc="-10" dirty="0"/>
              <a:t>(Cont.)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spc="-25" dirty="0"/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14450" y="802081"/>
            <a:ext cx="47974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Merge</a:t>
            </a:r>
            <a:r>
              <a:rPr spc="-105" dirty="0"/>
              <a:t> </a:t>
            </a:r>
            <a:r>
              <a:rPr spc="-10" dirty="0"/>
              <a:t>Sort</a:t>
            </a:r>
            <a:r>
              <a:rPr spc="-270" dirty="0"/>
              <a:t> </a:t>
            </a:r>
            <a:r>
              <a:rPr spc="-10" dirty="0"/>
              <a:t>Algorithm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0" y="0"/>
            <a:ext cx="1905" cy="478790"/>
            <a:chOff x="0" y="0"/>
            <a:chExt cx="1905" cy="478790"/>
          </a:xfrm>
        </p:grpSpPr>
        <p:sp>
          <p:nvSpPr>
            <p:cNvPr id="7" name="object 7"/>
            <p:cNvSpPr/>
            <p:nvPr/>
          </p:nvSpPr>
          <p:spPr>
            <a:xfrm>
              <a:off x="0" y="0"/>
              <a:ext cx="1905" cy="478790"/>
            </a:xfrm>
            <a:custGeom>
              <a:avLst/>
              <a:gdLst/>
              <a:ahLst/>
              <a:cxnLst/>
              <a:rect l="l" t="t" r="r" b="b"/>
              <a:pathLst>
                <a:path w="1905" h="478790">
                  <a:moveTo>
                    <a:pt x="0" y="478536"/>
                  </a:moveTo>
                  <a:lnTo>
                    <a:pt x="1524" y="478536"/>
                  </a:lnTo>
                  <a:lnTo>
                    <a:pt x="1524" y="0"/>
                  </a:lnTo>
                  <a:lnTo>
                    <a:pt x="0" y="0"/>
                  </a:lnTo>
                  <a:lnTo>
                    <a:pt x="0" y="478536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89915"/>
              <a:ext cx="1905" cy="277495"/>
            </a:xfrm>
            <a:custGeom>
              <a:avLst/>
              <a:gdLst/>
              <a:ahLst/>
              <a:cxnLst/>
              <a:rect l="l" t="t" r="r" b="b"/>
              <a:pathLst>
                <a:path w="1905" h="277495">
                  <a:moveTo>
                    <a:pt x="1524" y="0"/>
                  </a:moveTo>
                  <a:lnTo>
                    <a:pt x="0" y="0"/>
                  </a:lnTo>
                  <a:lnTo>
                    <a:pt x="0" y="277367"/>
                  </a:lnTo>
                  <a:lnTo>
                    <a:pt x="1524" y="277367"/>
                  </a:lnTo>
                  <a:lnTo>
                    <a:pt x="1524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298194" y="1516252"/>
            <a:ext cx="10196195" cy="402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37160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Merge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sort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keeps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dividing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list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equal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halves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until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more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be </a:t>
            </a:r>
            <a:r>
              <a:rPr sz="2400" dirty="0">
                <a:latin typeface="Calibri"/>
                <a:cs typeface="Calibri"/>
              </a:rPr>
              <a:t>divided.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2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definition,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25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2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2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only</a:t>
            </a:r>
            <a:r>
              <a:rPr sz="2400" spc="2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2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</a:t>
            </a:r>
            <a:r>
              <a:rPr sz="2400" spc="2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2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list,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2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2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sorted.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Then, </a:t>
            </a:r>
            <a:r>
              <a:rPr sz="2400" dirty="0">
                <a:latin typeface="Calibri"/>
                <a:cs typeface="Calibri"/>
              </a:rPr>
              <a:t>merge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sort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combines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smaller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sorted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lists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keeping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new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list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sorted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too.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75"/>
              </a:spcBef>
            </a:pPr>
            <a:endParaRPr sz="2400">
              <a:latin typeface="Calibri"/>
              <a:cs typeface="Calibri"/>
            </a:endParaRPr>
          </a:p>
          <a:p>
            <a:pPr marL="182880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solidFill>
                  <a:srgbClr val="303030"/>
                </a:solidFill>
                <a:latin typeface="Calibri"/>
                <a:cs typeface="Calibri"/>
              </a:rPr>
              <a:t>Step</a:t>
            </a:r>
            <a:r>
              <a:rPr sz="2400" b="1" spc="-4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03030"/>
                </a:solidFill>
                <a:latin typeface="Calibri"/>
                <a:cs typeface="Calibri"/>
              </a:rPr>
              <a:t>1</a:t>
            </a:r>
            <a:r>
              <a:rPr sz="2400" b="1" spc="-4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−</a:t>
            </a:r>
            <a:r>
              <a:rPr sz="2400" spc="-3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if</a:t>
            </a:r>
            <a:r>
              <a:rPr sz="2400" spc="-4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it</a:t>
            </a:r>
            <a:r>
              <a:rPr sz="2400" spc="-5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is</a:t>
            </a:r>
            <a:r>
              <a:rPr sz="2400" spc="-4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only</a:t>
            </a:r>
            <a:r>
              <a:rPr sz="2400" spc="-3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one</a:t>
            </a:r>
            <a:r>
              <a:rPr sz="2400" spc="-3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element</a:t>
            </a:r>
            <a:r>
              <a:rPr sz="2400" spc="-5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in</a:t>
            </a:r>
            <a:r>
              <a:rPr sz="2400" spc="-4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the</a:t>
            </a:r>
            <a:r>
              <a:rPr sz="2400" spc="-5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list</a:t>
            </a:r>
            <a:r>
              <a:rPr sz="2400" spc="-4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it</a:t>
            </a:r>
            <a:r>
              <a:rPr sz="2400" spc="-4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is</a:t>
            </a:r>
            <a:r>
              <a:rPr sz="2400" spc="-5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already</a:t>
            </a:r>
            <a:r>
              <a:rPr sz="2400" spc="-3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sorted,</a:t>
            </a:r>
            <a:r>
              <a:rPr sz="2400" spc="-4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03030"/>
                </a:solidFill>
                <a:latin typeface="Calibri"/>
                <a:cs typeface="Calibri"/>
              </a:rPr>
              <a:t>return.</a:t>
            </a:r>
            <a:endParaRPr sz="2400">
              <a:latin typeface="Calibri"/>
              <a:cs typeface="Calibri"/>
            </a:endParaRPr>
          </a:p>
          <a:p>
            <a:pPr marL="182880">
              <a:lnSpc>
                <a:spcPct val="100000"/>
              </a:lnSpc>
              <a:spcBef>
                <a:spcPts val="1440"/>
              </a:spcBef>
            </a:pPr>
            <a:r>
              <a:rPr sz="2400" b="1" dirty="0">
                <a:solidFill>
                  <a:srgbClr val="303030"/>
                </a:solidFill>
                <a:latin typeface="Calibri"/>
                <a:cs typeface="Calibri"/>
              </a:rPr>
              <a:t>Step</a:t>
            </a:r>
            <a:r>
              <a:rPr sz="2400" b="1" spc="-5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03030"/>
                </a:solidFill>
                <a:latin typeface="Calibri"/>
                <a:cs typeface="Calibri"/>
              </a:rPr>
              <a:t>2</a:t>
            </a:r>
            <a:r>
              <a:rPr sz="2400" b="1" spc="-5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−</a:t>
            </a:r>
            <a:r>
              <a:rPr sz="2400" spc="-4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divide</a:t>
            </a:r>
            <a:r>
              <a:rPr sz="2400" spc="-4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the</a:t>
            </a:r>
            <a:r>
              <a:rPr sz="2400" spc="-4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list</a:t>
            </a:r>
            <a:r>
              <a:rPr sz="2400" spc="-5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03030"/>
                </a:solidFill>
                <a:latin typeface="Calibri"/>
                <a:cs typeface="Calibri"/>
              </a:rPr>
              <a:t>recursively</a:t>
            </a:r>
            <a:r>
              <a:rPr sz="2400" spc="-5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into</a:t>
            </a:r>
            <a:r>
              <a:rPr sz="2400" spc="-5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two</a:t>
            </a:r>
            <a:r>
              <a:rPr sz="2400" spc="-6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halves</a:t>
            </a:r>
            <a:r>
              <a:rPr sz="2400" spc="-4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until</a:t>
            </a:r>
            <a:r>
              <a:rPr sz="2400" spc="-4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it</a:t>
            </a:r>
            <a:r>
              <a:rPr sz="2400" spc="-6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can</a:t>
            </a:r>
            <a:r>
              <a:rPr sz="2400" spc="-6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no</a:t>
            </a:r>
            <a:r>
              <a:rPr sz="2400" spc="-4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more</a:t>
            </a:r>
            <a:r>
              <a:rPr sz="2400" spc="-5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be</a:t>
            </a:r>
            <a:r>
              <a:rPr sz="2400" spc="-4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03030"/>
                </a:solidFill>
                <a:latin typeface="Calibri"/>
                <a:cs typeface="Calibri"/>
              </a:rPr>
              <a:t>divided.</a:t>
            </a:r>
            <a:endParaRPr sz="2400">
              <a:latin typeface="Calibri"/>
              <a:cs typeface="Calibri"/>
            </a:endParaRPr>
          </a:p>
          <a:p>
            <a:pPr marL="182880">
              <a:lnSpc>
                <a:spcPct val="100000"/>
              </a:lnSpc>
              <a:spcBef>
                <a:spcPts val="1440"/>
              </a:spcBef>
            </a:pPr>
            <a:r>
              <a:rPr sz="2400" b="1" dirty="0">
                <a:solidFill>
                  <a:srgbClr val="303030"/>
                </a:solidFill>
                <a:latin typeface="Calibri"/>
                <a:cs typeface="Calibri"/>
              </a:rPr>
              <a:t>Step</a:t>
            </a:r>
            <a:r>
              <a:rPr sz="2400" b="1" spc="-5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03030"/>
                </a:solidFill>
                <a:latin typeface="Calibri"/>
                <a:cs typeface="Calibri"/>
              </a:rPr>
              <a:t>3</a:t>
            </a:r>
            <a:r>
              <a:rPr sz="2400" b="1" spc="-5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−</a:t>
            </a:r>
            <a:r>
              <a:rPr sz="2400" spc="-4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merge</a:t>
            </a:r>
            <a:r>
              <a:rPr sz="2400" spc="-5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the</a:t>
            </a:r>
            <a:r>
              <a:rPr sz="2400" spc="-4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smaller</a:t>
            </a:r>
            <a:r>
              <a:rPr sz="2400" spc="-6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lists</a:t>
            </a:r>
            <a:r>
              <a:rPr sz="2400" spc="-5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into</a:t>
            </a:r>
            <a:r>
              <a:rPr sz="2400" spc="-6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new</a:t>
            </a:r>
            <a:r>
              <a:rPr sz="2400" spc="-4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list</a:t>
            </a:r>
            <a:r>
              <a:rPr sz="2400" spc="-6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in</a:t>
            </a:r>
            <a:r>
              <a:rPr sz="2400" spc="-5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sorted</a:t>
            </a:r>
            <a:r>
              <a:rPr sz="2400" spc="-4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03030"/>
                </a:solidFill>
                <a:latin typeface="Calibri"/>
                <a:cs typeface="Calibri"/>
              </a:rPr>
              <a:t>order.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spc="-25" dirty="0"/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6162" y="420369"/>
            <a:ext cx="23964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Quick</a:t>
            </a:r>
            <a:r>
              <a:rPr spc="-95" dirty="0"/>
              <a:t> </a:t>
            </a:r>
            <a:r>
              <a:rPr spc="-20" dirty="0"/>
              <a:t>Sort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0" y="0"/>
            <a:ext cx="1905" cy="478790"/>
          </a:xfrm>
          <a:custGeom>
            <a:avLst/>
            <a:gdLst/>
            <a:ahLst/>
            <a:cxnLst/>
            <a:rect l="l" t="t" r="r" b="b"/>
            <a:pathLst>
              <a:path w="1905" h="478790">
                <a:moveTo>
                  <a:pt x="0" y="478536"/>
                </a:moveTo>
                <a:lnTo>
                  <a:pt x="1524" y="478536"/>
                </a:lnTo>
                <a:lnTo>
                  <a:pt x="1524" y="0"/>
                </a:lnTo>
                <a:lnTo>
                  <a:pt x="0" y="0"/>
                </a:lnTo>
                <a:lnTo>
                  <a:pt x="0" y="478536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09573" y="1357629"/>
            <a:ext cx="10255250" cy="441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330" marR="7620" indent="-342265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Quick</a:t>
            </a:r>
            <a:r>
              <a:rPr sz="2400" spc="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sort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highly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efficient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sorting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algorithm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partitioning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 	</a:t>
            </a:r>
            <a:r>
              <a:rPr sz="2400" spc="-10" dirty="0">
                <a:latin typeface="Calibri"/>
                <a:cs typeface="Calibri"/>
              </a:rPr>
              <a:t>array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smaller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arrays.</a:t>
            </a:r>
            <a:endParaRPr sz="2400">
              <a:latin typeface="Calibri"/>
              <a:cs typeface="Calibri"/>
            </a:endParaRPr>
          </a:p>
          <a:p>
            <a:pPr marL="354330" marR="5080" indent="-342265" algn="just">
              <a:lnSpc>
                <a:spcPct val="150000"/>
              </a:lnSpc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large</a:t>
            </a:r>
            <a:r>
              <a:rPr sz="2400" spc="20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array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partitioned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two</a:t>
            </a:r>
            <a:r>
              <a:rPr sz="2400" spc="20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arrays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holds</a:t>
            </a:r>
            <a:r>
              <a:rPr sz="2400" spc="20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values</a:t>
            </a:r>
            <a:r>
              <a:rPr sz="2400" spc="2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smaller 	</a:t>
            </a:r>
            <a:r>
              <a:rPr sz="2400" dirty="0">
                <a:latin typeface="Calibri"/>
                <a:cs typeface="Calibri"/>
              </a:rPr>
              <a:t>than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0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specified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value,</a:t>
            </a:r>
            <a:r>
              <a:rPr sz="2400" spc="20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say</a:t>
            </a:r>
            <a:r>
              <a:rPr sz="2400" spc="20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pivot,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20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0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partition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made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 	</a:t>
            </a:r>
            <a:r>
              <a:rPr sz="2400" dirty="0">
                <a:latin typeface="Calibri"/>
                <a:cs typeface="Calibri"/>
              </a:rPr>
              <a:t>another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array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holds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greater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pivot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value.</a:t>
            </a:r>
            <a:endParaRPr sz="2400">
              <a:latin typeface="Calibri"/>
              <a:cs typeface="Calibri"/>
            </a:endParaRPr>
          </a:p>
          <a:p>
            <a:pPr marL="354330" marR="5715" indent="-342265" algn="just">
              <a:lnSpc>
                <a:spcPct val="150000"/>
              </a:lnSpc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Quick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sort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partitions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array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calls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itself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recursively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twice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sort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two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resulting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subarrays.</a:t>
            </a:r>
            <a:endParaRPr sz="2400">
              <a:latin typeface="Calibri"/>
              <a:cs typeface="Calibri"/>
            </a:endParaRPr>
          </a:p>
          <a:p>
            <a:pPr marL="354965" indent="-342265" algn="just">
              <a:lnSpc>
                <a:spcPct val="100000"/>
              </a:lnSpc>
              <a:spcBef>
                <a:spcPts val="1445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This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algorithm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quite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efficient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large-</a:t>
            </a:r>
            <a:r>
              <a:rPr sz="2400" dirty="0">
                <a:latin typeface="Calibri"/>
                <a:cs typeface="Calibri"/>
              </a:rPr>
              <a:t>sized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sets.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spc="-25" dirty="0"/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524967"/>
            <a:ext cx="49383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Partition</a:t>
            </a:r>
            <a:r>
              <a:rPr spc="-100" dirty="0"/>
              <a:t> </a:t>
            </a:r>
            <a:r>
              <a:rPr dirty="0"/>
              <a:t>in</a:t>
            </a:r>
            <a:r>
              <a:rPr spc="-114" dirty="0"/>
              <a:t> </a:t>
            </a:r>
            <a:r>
              <a:rPr dirty="0"/>
              <a:t>Quick</a:t>
            </a:r>
            <a:r>
              <a:rPr spc="-105" dirty="0"/>
              <a:t> </a:t>
            </a:r>
            <a:r>
              <a:rPr spc="-20" dirty="0"/>
              <a:t>Sort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0" y="0"/>
            <a:ext cx="1905" cy="478790"/>
          </a:xfrm>
          <a:custGeom>
            <a:avLst/>
            <a:gdLst/>
            <a:ahLst/>
            <a:cxnLst/>
            <a:rect l="l" t="t" r="r" b="b"/>
            <a:pathLst>
              <a:path w="1905" h="478790">
                <a:moveTo>
                  <a:pt x="0" y="478536"/>
                </a:moveTo>
                <a:lnTo>
                  <a:pt x="1524" y="478536"/>
                </a:lnTo>
                <a:lnTo>
                  <a:pt x="1524" y="0"/>
                </a:lnTo>
                <a:lnTo>
                  <a:pt x="0" y="0"/>
                </a:lnTo>
                <a:lnTo>
                  <a:pt x="0" y="478536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93139" y="1572895"/>
            <a:ext cx="103708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330" marR="5080" indent="-3422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Following</a:t>
            </a:r>
            <a:r>
              <a:rPr sz="2400" spc="2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animated</a:t>
            </a:r>
            <a:r>
              <a:rPr sz="2400" spc="3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representation</a:t>
            </a:r>
            <a:r>
              <a:rPr sz="2400" spc="2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explains</a:t>
            </a:r>
            <a:r>
              <a:rPr sz="2400" spc="3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how</a:t>
            </a:r>
            <a:r>
              <a:rPr sz="2400" spc="3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2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find</a:t>
            </a:r>
            <a:r>
              <a:rPr sz="2400" spc="3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3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pivot</a:t>
            </a:r>
            <a:r>
              <a:rPr sz="2400" spc="2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3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30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 	</a:t>
            </a:r>
            <a:r>
              <a:rPr sz="2400" spc="-10" dirty="0">
                <a:latin typeface="Calibri"/>
                <a:cs typeface="Calibri"/>
              </a:rPr>
              <a:t>array.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600" y="2211323"/>
            <a:ext cx="7162800" cy="286512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01953" y="4778451"/>
            <a:ext cx="1016127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330" marR="5080" indent="-342265">
              <a:lnSpc>
                <a:spcPct val="1501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pivot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divides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list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two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parts.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recursively,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pivot 	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sub-</a:t>
            </a:r>
            <a:r>
              <a:rPr sz="2400" dirty="0">
                <a:latin typeface="Calibri"/>
                <a:cs typeface="Calibri"/>
              </a:rPr>
              <a:t>lists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until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lists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contains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only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element.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spc="-25" dirty="0"/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417322"/>
            <a:ext cx="46551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Quick</a:t>
            </a:r>
            <a:r>
              <a:rPr spc="-95" dirty="0"/>
              <a:t> </a:t>
            </a:r>
            <a:r>
              <a:rPr dirty="0"/>
              <a:t>Sort</a:t>
            </a:r>
            <a:r>
              <a:rPr spc="-280" dirty="0"/>
              <a:t> </a:t>
            </a:r>
            <a:r>
              <a:rPr spc="-10" dirty="0"/>
              <a:t>Algorithm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0" y="0"/>
            <a:ext cx="1905" cy="478790"/>
            <a:chOff x="0" y="0"/>
            <a:chExt cx="1905" cy="478790"/>
          </a:xfrm>
        </p:grpSpPr>
        <p:sp>
          <p:nvSpPr>
            <p:cNvPr id="7" name="object 7"/>
            <p:cNvSpPr/>
            <p:nvPr/>
          </p:nvSpPr>
          <p:spPr>
            <a:xfrm>
              <a:off x="0" y="0"/>
              <a:ext cx="1905" cy="478790"/>
            </a:xfrm>
            <a:custGeom>
              <a:avLst/>
              <a:gdLst/>
              <a:ahLst/>
              <a:cxnLst/>
              <a:rect l="l" t="t" r="r" b="b"/>
              <a:pathLst>
                <a:path w="1905" h="478790">
                  <a:moveTo>
                    <a:pt x="0" y="478536"/>
                  </a:moveTo>
                  <a:lnTo>
                    <a:pt x="1524" y="478536"/>
                  </a:lnTo>
                  <a:lnTo>
                    <a:pt x="1524" y="0"/>
                  </a:lnTo>
                  <a:lnTo>
                    <a:pt x="0" y="0"/>
                  </a:lnTo>
                  <a:lnTo>
                    <a:pt x="0" y="478536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89915"/>
              <a:ext cx="1905" cy="277495"/>
            </a:xfrm>
            <a:custGeom>
              <a:avLst/>
              <a:gdLst/>
              <a:ahLst/>
              <a:cxnLst/>
              <a:rect l="l" t="t" r="r" b="b"/>
              <a:pathLst>
                <a:path w="1905" h="277495">
                  <a:moveTo>
                    <a:pt x="1524" y="0"/>
                  </a:moveTo>
                  <a:lnTo>
                    <a:pt x="0" y="0"/>
                  </a:lnTo>
                  <a:lnTo>
                    <a:pt x="0" y="277367"/>
                  </a:lnTo>
                  <a:lnTo>
                    <a:pt x="1524" y="277367"/>
                  </a:lnTo>
                  <a:lnTo>
                    <a:pt x="1524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26998" y="1299545"/>
            <a:ext cx="10706735" cy="4368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 algn="just">
              <a:lnSpc>
                <a:spcPct val="1501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Using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pivot</a:t>
            </a:r>
            <a:r>
              <a:rPr sz="2400" spc="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algorithm</a:t>
            </a:r>
            <a:r>
              <a:rPr sz="2400" spc="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recursively,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end</a:t>
            </a:r>
            <a:r>
              <a:rPr sz="2400" spc="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up</a:t>
            </a:r>
            <a:r>
              <a:rPr sz="2400" spc="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smaller</a:t>
            </a:r>
            <a:r>
              <a:rPr sz="2400" spc="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possible</a:t>
            </a:r>
            <a:r>
              <a:rPr sz="2400" spc="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partitions.</a:t>
            </a:r>
            <a:r>
              <a:rPr sz="2400" spc="8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Each </a:t>
            </a:r>
            <a:r>
              <a:rPr sz="2400" dirty="0">
                <a:latin typeface="Calibri"/>
                <a:cs typeface="Calibri"/>
              </a:rPr>
              <a:t>partition</a:t>
            </a:r>
            <a:r>
              <a:rPr sz="2400" spc="6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5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6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processed</a:t>
            </a:r>
            <a:r>
              <a:rPr sz="2400" spc="6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6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quick</a:t>
            </a:r>
            <a:r>
              <a:rPr sz="2400" spc="6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sort.</a:t>
            </a:r>
            <a:r>
              <a:rPr sz="2400" spc="5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6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define</a:t>
            </a:r>
            <a:r>
              <a:rPr sz="2400" spc="6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recursive</a:t>
            </a:r>
            <a:r>
              <a:rPr sz="2400" spc="6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algorithm</a:t>
            </a:r>
            <a:r>
              <a:rPr sz="2400" spc="65" dirty="0">
                <a:latin typeface="Calibri"/>
                <a:cs typeface="Calibri"/>
              </a:rPr>
              <a:t>  </a:t>
            </a:r>
            <a:r>
              <a:rPr sz="2400" spc="-25" dirty="0">
                <a:latin typeface="Calibri"/>
                <a:cs typeface="Calibri"/>
              </a:rPr>
              <a:t>for </a:t>
            </a:r>
            <a:r>
              <a:rPr sz="2400" dirty="0">
                <a:latin typeface="Calibri"/>
                <a:cs typeface="Calibri"/>
              </a:rPr>
              <a:t>quicksort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follows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−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2400">
              <a:latin typeface="Calibri"/>
              <a:cs typeface="Calibri"/>
            </a:endParaRPr>
          </a:p>
          <a:p>
            <a:pPr marL="1221740" marR="3704590">
              <a:lnSpc>
                <a:spcPct val="150100"/>
              </a:lnSpc>
            </a:pPr>
            <a:r>
              <a:rPr sz="2400" b="1" dirty="0">
                <a:solidFill>
                  <a:srgbClr val="303030"/>
                </a:solidFill>
                <a:latin typeface="Calibri"/>
                <a:cs typeface="Calibri"/>
              </a:rPr>
              <a:t>Step</a:t>
            </a:r>
            <a:r>
              <a:rPr sz="2400" b="1" spc="-6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03030"/>
                </a:solidFill>
                <a:latin typeface="Calibri"/>
                <a:cs typeface="Calibri"/>
              </a:rPr>
              <a:t>1</a:t>
            </a:r>
            <a:r>
              <a:rPr sz="2400" b="1" spc="-6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−</a:t>
            </a:r>
            <a:r>
              <a:rPr sz="2400" spc="-4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Make</a:t>
            </a:r>
            <a:r>
              <a:rPr sz="2400" spc="-6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the</a:t>
            </a:r>
            <a:r>
              <a:rPr sz="2400" spc="-6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03030"/>
                </a:solidFill>
                <a:latin typeface="Calibri"/>
                <a:cs typeface="Calibri"/>
              </a:rPr>
              <a:t>right-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most</a:t>
            </a:r>
            <a:r>
              <a:rPr sz="2400" spc="-6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index</a:t>
            </a:r>
            <a:r>
              <a:rPr sz="2400" spc="-6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value</a:t>
            </a:r>
            <a:r>
              <a:rPr sz="2400" spc="-4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03030"/>
                </a:solidFill>
                <a:latin typeface="Calibri"/>
                <a:cs typeface="Calibri"/>
              </a:rPr>
              <a:t>pivot </a:t>
            </a:r>
            <a:r>
              <a:rPr sz="2400" b="1" dirty="0">
                <a:solidFill>
                  <a:srgbClr val="303030"/>
                </a:solidFill>
                <a:latin typeface="Calibri"/>
                <a:cs typeface="Calibri"/>
              </a:rPr>
              <a:t>Step</a:t>
            </a:r>
            <a:r>
              <a:rPr sz="2400" b="1" spc="-4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03030"/>
                </a:solidFill>
                <a:latin typeface="Calibri"/>
                <a:cs typeface="Calibri"/>
              </a:rPr>
              <a:t>2</a:t>
            </a:r>
            <a:r>
              <a:rPr sz="2400" b="1" spc="-5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−</a:t>
            </a:r>
            <a:r>
              <a:rPr sz="2400" spc="-3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partition</a:t>
            </a:r>
            <a:r>
              <a:rPr sz="2400" spc="-6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the</a:t>
            </a:r>
            <a:r>
              <a:rPr sz="2400" spc="-4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03030"/>
                </a:solidFill>
                <a:latin typeface="Calibri"/>
                <a:cs typeface="Calibri"/>
              </a:rPr>
              <a:t>array</a:t>
            </a:r>
            <a:r>
              <a:rPr sz="2400" spc="-6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using</a:t>
            </a:r>
            <a:r>
              <a:rPr sz="2400" spc="-5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pivot</a:t>
            </a:r>
            <a:r>
              <a:rPr sz="2400" spc="-4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03030"/>
                </a:solidFill>
                <a:latin typeface="Calibri"/>
                <a:cs typeface="Calibri"/>
              </a:rPr>
              <a:t>value </a:t>
            </a:r>
            <a:r>
              <a:rPr sz="2400" b="1" dirty="0">
                <a:solidFill>
                  <a:srgbClr val="303030"/>
                </a:solidFill>
                <a:latin typeface="Calibri"/>
                <a:cs typeface="Calibri"/>
              </a:rPr>
              <a:t>Step</a:t>
            </a:r>
            <a:r>
              <a:rPr sz="2400" b="1" spc="-4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03030"/>
                </a:solidFill>
                <a:latin typeface="Calibri"/>
                <a:cs typeface="Calibri"/>
              </a:rPr>
              <a:t>3</a:t>
            </a:r>
            <a:r>
              <a:rPr sz="2400" b="1" spc="-4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−</a:t>
            </a:r>
            <a:r>
              <a:rPr sz="2400" spc="-3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quicksort</a:t>
            </a:r>
            <a:r>
              <a:rPr sz="2400" spc="-5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left</a:t>
            </a:r>
            <a:r>
              <a:rPr sz="2400" spc="-4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partition</a:t>
            </a:r>
            <a:r>
              <a:rPr sz="2400" spc="-5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03030"/>
                </a:solidFill>
                <a:latin typeface="Calibri"/>
                <a:cs typeface="Calibri"/>
              </a:rPr>
              <a:t>recursively </a:t>
            </a:r>
            <a:r>
              <a:rPr sz="2400" b="1" dirty="0">
                <a:solidFill>
                  <a:srgbClr val="303030"/>
                </a:solidFill>
                <a:latin typeface="Calibri"/>
                <a:cs typeface="Calibri"/>
              </a:rPr>
              <a:t>Step</a:t>
            </a:r>
            <a:r>
              <a:rPr sz="2400" b="1" spc="-4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03030"/>
                </a:solidFill>
                <a:latin typeface="Calibri"/>
                <a:cs typeface="Calibri"/>
              </a:rPr>
              <a:t>4</a:t>
            </a:r>
            <a:r>
              <a:rPr sz="2400" b="1" spc="-4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−</a:t>
            </a:r>
            <a:r>
              <a:rPr sz="2400" spc="-3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quicksort</a:t>
            </a:r>
            <a:r>
              <a:rPr sz="2400" spc="-5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right</a:t>
            </a:r>
            <a:r>
              <a:rPr sz="2400" spc="-4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partition</a:t>
            </a:r>
            <a:r>
              <a:rPr sz="2400" spc="-5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03030"/>
                </a:solidFill>
                <a:latin typeface="Calibri"/>
                <a:cs typeface="Calibri"/>
              </a:rPr>
              <a:t>recursively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spc="-25" dirty="0"/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8194" y="1183005"/>
            <a:ext cx="8077834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Summery</a:t>
            </a:r>
            <a:r>
              <a:rPr sz="4400" spc="-60" dirty="0"/>
              <a:t> </a:t>
            </a:r>
            <a:r>
              <a:rPr sz="4400" dirty="0"/>
              <a:t>&amp;</a:t>
            </a:r>
            <a:r>
              <a:rPr sz="4400" spc="-60" dirty="0"/>
              <a:t> </a:t>
            </a:r>
            <a:r>
              <a:rPr sz="4400" dirty="0"/>
              <a:t>Students</a:t>
            </a:r>
            <a:r>
              <a:rPr sz="4400" spc="-60" dirty="0"/>
              <a:t> </a:t>
            </a:r>
            <a:r>
              <a:rPr sz="4400" spc="-10" dirty="0"/>
              <a:t>Evaluation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606041" y="2223897"/>
            <a:ext cx="7725409" cy="199605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spc="-10" dirty="0">
                <a:latin typeface="Calibri"/>
                <a:cs typeface="Calibri"/>
              </a:rPr>
              <a:t>Understanding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Advanced</a:t>
            </a:r>
            <a:r>
              <a:rPr sz="3200" spc="-1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Sorting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Techniques</a:t>
            </a:r>
            <a:endParaRPr sz="3200" dirty="0">
              <a:latin typeface="Calibri"/>
              <a:cs typeface="Calibri"/>
            </a:endParaRPr>
          </a:p>
          <a:p>
            <a:pPr marL="812165" lvl="1" indent="-342265">
              <a:lnSpc>
                <a:spcPct val="100000"/>
              </a:lnSpc>
              <a:spcBef>
                <a:spcPts val="2455"/>
              </a:spcBef>
              <a:buFont typeface="Arial MT"/>
              <a:buChar char="–"/>
              <a:tabLst>
                <a:tab pos="812165" algn="l"/>
              </a:tabLst>
            </a:pPr>
            <a:r>
              <a:rPr sz="2800" spc="-10" dirty="0">
                <a:latin typeface="Calibri"/>
                <a:cs typeface="Calibri"/>
              </a:rPr>
              <a:t>Understanding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Merge</a:t>
            </a:r>
            <a:r>
              <a:rPr sz="2800" spc="-1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Sort</a:t>
            </a:r>
            <a:endParaRPr sz="2800" dirty="0">
              <a:latin typeface="Calibri"/>
              <a:cs typeface="Calibri"/>
            </a:endParaRPr>
          </a:p>
          <a:p>
            <a:pPr marL="812165" lvl="1" indent="-342265">
              <a:lnSpc>
                <a:spcPct val="100000"/>
              </a:lnSpc>
              <a:spcBef>
                <a:spcPts val="2350"/>
              </a:spcBef>
              <a:buFont typeface="Arial MT"/>
              <a:buChar char="–"/>
              <a:tabLst>
                <a:tab pos="812165" algn="l"/>
              </a:tabLst>
            </a:pPr>
            <a:r>
              <a:rPr sz="2800" spc="-10" dirty="0">
                <a:latin typeface="Calibri"/>
                <a:cs typeface="Calibri"/>
              </a:rPr>
              <a:t>Working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Quick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Sort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8173" y="3034664"/>
            <a:ext cx="495236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dirty="0">
                <a:latin typeface="Calibri"/>
                <a:cs typeface="Calibri"/>
              </a:rPr>
              <a:t>Any</a:t>
            </a:r>
            <a:r>
              <a:rPr sz="6000" b="1" spc="-185" dirty="0">
                <a:latin typeface="Calibri"/>
                <a:cs typeface="Calibri"/>
              </a:rPr>
              <a:t> </a:t>
            </a:r>
            <a:r>
              <a:rPr sz="6000" b="1" spc="-10" dirty="0">
                <a:latin typeface="Calibri"/>
                <a:cs typeface="Calibri"/>
              </a:rPr>
              <a:t>Questions?</a:t>
            </a:r>
            <a:endParaRPr sz="60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6148" y="1120139"/>
            <a:ext cx="925842" cy="162991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91071" y="1412747"/>
            <a:ext cx="2170937" cy="113766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8828531" y="1360932"/>
            <a:ext cx="2172970" cy="4629150"/>
            <a:chOff x="8828531" y="1360932"/>
            <a:chExt cx="2172970" cy="462915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48571" y="3832860"/>
              <a:ext cx="1369314" cy="215722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28531" y="1360932"/>
              <a:ext cx="2172462" cy="2861310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17747" y="1054595"/>
            <a:ext cx="864882" cy="99747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88508" y="4379976"/>
            <a:ext cx="1546097" cy="178384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85715" y="4582655"/>
            <a:ext cx="489978" cy="65152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578852" y="4390644"/>
            <a:ext cx="735342" cy="123825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642103" y="1603247"/>
            <a:ext cx="1116329" cy="130835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520952" y="3691102"/>
            <a:ext cx="636295" cy="518947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0" y="4283964"/>
            <a:ext cx="12192000" cy="2574290"/>
            <a:chOff x="0" y="4283964"/>
            <a:chExt cx="12192000" cy="2574290"/>
          </a:xfrm>
        </p:grpSpPr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24583" y="4283964"/>
              <a:ext cx="2035302" cy="216179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0000"/>
                </a:solidFill>
                <a:latin typeface="Calibri"/>
                <a:cs typeface="Calibri"/>
              </a:rPr>
              <a:t>Next</a:t>
            </a:r>
            <a:r>
              <a:rPr sz="4400" spc="-6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400" spc="-75" dirty="0">
                <a:solidFill>
                  <a:srgbClr val="000000"/>
                </a:solidFill>
                <a:latin typeface="Calibri"/>
                <a:cs typeface="Calibri"/>
              </a:rPr>
              <a:t>Topic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51426" y="2490596"/>
            <a:ext cx="1983739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spc="-10" dirty="0">
                <a:solidFill>
                  <a:srgbClr val="7D1B68"/>
                </a:solidFill>
                <a:latin typeface="Calibri"/>
                <a:cs typeface="Calibri"/>
              </a:rPr>
              <a:t>Stack</a:t>
            </a:r>
            <a:endParaRPr sz="7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23066" y="6426809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31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Words>814</Words>
  <Application>Microsoft Office PowerPoint</Application>
  <PresentationFormat>Widescreen</PresentationFormat>
  <Paragraphs>79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Arial MT</vt:lpstr>
      <vt:lpstr>Calibri</vt:lpstr>
      <vt:lpstr>Times New Roman</vt:lpstr>
      <vt:lpstr>Wingdings</vt:lpstr>
      <vt:lpstr>Office Theme</vt:lpstr>
      <vt:lpstr>Course:Data Structure and Algorithms</vt:lpstr>
      <vt:lpstr>Contents</vt:lpstr>
      <vt:lpstr>Merge Sort</vt:lpstr>
      <vt:lpstr>Divide and Conquer</vt:lpstr>
      <vt:lpstr>Divide and Conquer</vt:lpstr>
      <vt:lpstr>How Merge Sort Works?</vt:lpstr>
      <vt:lpstr>How Merge Sort Works? (Cont.)</vt:lpstr>
      <vt:lpstr>How Merge Sort Works? (Cont.)</vt:lpstr>
      <vt:lpstr>How Merge Sort Works? (Cont.)</vt:lpstr>
      <vt:lpstr>How Merge Sort Works? (Cont.)</vt:lpstr>
      <vt:lpstr>Merge Sort Algorithm</vt:lpstr>
      <vt:lpstr>Quick Sort</vt:lpstr>
      <vt:lpstr>Partition in Quick Sort</vt:lpstr>
      <vt:lpstr>Quick Sort Algorithm</vt:lpstr>
      <vt:lpstr>Summery &amp; Students Evaluation</vt:lpstr>
      <vt:lpstr>Any Questions?</vt:lpstr>
      <vt:lpstr>Next Topic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Slajd 1</dc:title>
  <dc:creator>zawt_ss</dc:creator>
  <cp:lastModifiedBy>HAMDARD</cp:lastModifiedBy>
  <cp:revision>8</cp:revision>
  <dcterms:created xsi:type="dcterms:W3CDTF">2024-04-22T08:10:24Z</dcterms:created>
  <dcterms:modified xsi:type="dcterms:W3CDTF">2026-03-05T18:14:21Z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2023-03-27T00:00:00Z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2024-04-22T00:00:00Z</vt:filetime>
  </property>
  <property fmtid="{D5CDD505-2E9C-101B-9397-08002B2CF9AE}" pid="5" name="Producer">
    <vt:lpwstr>Microsoft® PowerPoint® 2019</vt:lpwstr>
  </property>
</Properties>
</file>