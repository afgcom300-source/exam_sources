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3963416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1712" y="872439"/>
            <a:ext cx="6873240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7794" y="1670995"/>
            <a:ext cx="5942965" cy="148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048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8709" y="5065852"/>
            <a:ext cx="381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7996" y="5596534"/>
            <a:ext cx="3011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JAHAN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238" y="5483453"/>
            <a:ext cx="35167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7329" y="5483453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59680" y="2199132"/>
            <a:ext cx="5593842" cy="2859784"/>
            <a:chOff x="5059680" y="2199132"/>
            <a:chExt cx="5593842" cy="2859784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9680" y="2199132"/>
              <a:ext cx="2070353" cy="89992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8048" y="4177283"/>
              <a:ext cx="4935474" cy="88163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95312" y="1114077"/>
            <a:ext cx="9263759" cy="333629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322954" marR="264033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3322954" marR="264033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 Science </a:t>
            </a:r>
          </a:p>
          <a:p>
            <a:pPr marL="3322954" marR="264033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400" b="1" spc="-180" dirty="0">
                <a:latin typeface="Calibri"/>
                <a:cs typeface="Calibri"/>
              </a:rPr>
              <a:t>SE</a:t>
            </a:r>
            <a:r>
              <a:rPr sz="2400" b="1" spc="-16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  <a:p>
            <a:pPr marL="63500" algn="ctr">
              <a:lnSpc>
                <a:spcPts val="3110"/>
              </a:lnSpc>
            </a:pPr>
            <a:r>
              <a:rPr lang="en-US" sz="3200" b="1" dirty="0">
                <a:solidFill>
                  <a:srgbClr val="00AF50"/>
                </a:solidFill>
                <a:latin typeface="Arial"/>
                <a:cs typeface="Arial"/>
              </a:rPr>
              <a:t>      </a:t>
            </a:r>
            <a:r>
              <a:rPr sz="3200" b="1" dirty="0">
                <a:solidFill>
                  <a:srgbClr val="00AF50"/>
                </a:solidFill>
                <a:latin typeface="Arial"/>
                <a:cs typeface="Arial"/>
              </a:rPr>
              <a:t>Course:</a:t>
            </a:r>
            <a:endParaRPr sz="3200" dirty="0">
              <a:latin typeface="Arial"/>
              <a:cs typeface="Arial"/>
            </a:endParaRPr>
          </a:p>
          <a:p>
            <a:pPr marL="407670" algn="ctr">
              <a:lnSpc>
                <a:spcPct val="100000"/>
              </a:lnSpc>
              <a:spcBef>
                <a:spcPts val="95"/>
              </a:spcBef>
            </a:pPr>
            <a:r>
              <a:rPr sz="4000" b="1" spc="-3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4000" b="1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4000" b="1" spc="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4000" b="1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endParaRPr sz="4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  <a:tabLst>
                <a:tab pos="4210685" algn="l"/>
              </a:tabLst>
            </a:pPr>
            <a:r>
              <a:rPr lang="en-US" sz="3200" b="1" dirty="0">
                <a:solidFill>
                  <a:srgbClr val="7D1B68"/>
                </a:solidFill>
                <a:latin typeface="Arial"/>
                <a:cs typeface="Arial"/>
              </a:rPr>
              <a:t>               </a:t>
            </a:r>
            <a:r>
              <a:rPr lang="en-US" sz="3200" b="1" spc="-5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lang="en-US" sz="3200" b="1" spc="-25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lang="en-US" sz="3200" b="1" dirty="0">
                <a:solidFill>
                  <a:srgbClr val="7D1B68"/>
                </a:solidFill>
                <a:latin typeface="Arial"/>
                <a:cs typeface="Arial"/>
              </a:rPr>
              <a:t>1            </a:t>
            </a:r>
            <a:r>
              <a:rPr sz="8100" spc="-44" baseline="6172" dirty="0">
                <a:solidFill>
                  <a:srgbClr val="7D1B68"/>
                </a:solidFill>
                <a:latin typeface="Calibri"/>
                <a:cs typeface="Calibri"/>
              </a:rPr>
              <a:t>Data</a:t>
            </a:r>
            <a:r>
              <a:rPr sz="8100" spc="-75" baseline="6172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8100" spc="-22" baseline="6172" dirty="0">
                <a:solidFill>
                  <a:srgbClr val="7D1B68"/>
                </a:solidFill>
                <a:latin typeface="Calibri"/>
                <a:cs typeface="Calibri"/>
              </a:rPr>
              <a:t>Structure</a:t>
            </a:r>
            <a:endParaRPr sz="8100" baseline="6172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70075"/>
            <a:ext cx="7233920" cy="337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Introduction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 data </a:t>
            </a:r>
            <a:r>
              <a:rPr sz="3600" spc="-10" dirty="0">
                <a:latin typeface="Calibri"/>
                <a:cs typeface="Calibri"/>
              </a:rPr>
              <a:t>structure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5" dirty="0">
                <a:latin typeface="Calibri"/>
                <a:cs typeface="Calibri"/>
              </a:rPr>
              <a:t>Importance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25" dirty="0">
                <a:latin typeface="Calibri"/>
                <a:cs typeface="Calibri"/>
              </a:rPr>
              <a:t> data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5" dirty="0">
                <a:latin typeface="Calibri"/>
                <a:cs typeface="Calibri"/>
              </a:rPr>
              <a:t>Linear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non-linear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data</a:t>
            </a:r>
            <a:r>
              <a:rPr sz="3600" spc="-10" dirty="0">
                <a:latin typeface="Calibri"/>
                <a:cs typeface="Calibri"/>
              </a:rPr>
              <a:t> structures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25" dirty="0">
                <a:latin typeface="Calibri"/>
                <a:cs typeface="Calibri"/>
              </a:rPr>
              <a:t>Data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Operations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59556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135" dirty="0">
                <a:latin typeface="Arial MT"/>
                <a:cs typeface="Arial MT"/>
              </a:rPr>
              <a:t>Table</a:t>
            </a:r>
            <a:r>
              <a:rPr sz="6000" b="0" spc="-45" dirty="0">
                <a:latin typeface="Arial MT"/>
                <a:cs typeface="Arial MT"/>
              </a:rPr>
              <a:t> </a:t>
            </a:r>
            <a:r>
              <a:rPr sz="6000" b="0" dirty="0">
                <a:latin typeface="Arial MT"/>
                <a:cs typeface="Arial MT"/>
              </a:rPr>
              <a:t>of</a:t>
            </a:r>
            <a:r>
              <a:rPr sz="6000" b="0" spc="-55" dirty="0">
                <a:latin typeface="Arial MT"/>
                <a:cs typeface="Arial MT"/>
              </a:rPr>
              <a:t> </a:t>
            </a:r>
            <a:r>
              <a:rPr sz="6000" b="0" dirty="0">
                <a:latin typeface="Arial MT"/>
                <a:cs typeface="Arial MT"/>
              </a:rPr>
              <a:t>Contents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5148" y="932434"/>
            <a:ext cx="5770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Objective</a:t>
            </a:r>
            <a:r>
              <a:rPr lang="en-US" sz="2800" spc="-5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1757298"/>
            <a:ext cx="8398510" cy="353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6510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5" dirty="0">
                <a:latin typeface="Calibri"/>
                <a:cs typeface="Calibri"/>
              </a:rPr>
              <a:t> Introduce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data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its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importance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5" dirty="0">
                <a:latin typeface="Calibri"/>
                <a:cs typeface="Calibri"/>
              </a:rPr>
              <a:t> CS.</a:t>
            </a:r>
            <a:endParaRPr sz="3600" dirty="0">
              <a:latin typeface="Calibri"/>
              <a:cs typeface="Calibri"/>
            </a:endParaRPr>
          </a:p>
          <a:p>
            <a:pPr marL="355600" marR="14604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overview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on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types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5" dirty="0">
                <a:latin typeface="Calibri"/>
                <a:cs typeface="Calibri"/>
              </a:rPr>
              <a:t>DS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including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Linear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non-linear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data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structures</a:t>
            </a:r>
            <a:endParaRPr sz="36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list </a:t>
            </a:r>
            <a:r>
              <a:rPr sz="3600" spc="-5" dirty="0">
                <a:latin typeface="Calibri"/>
                <a:cs typeface="Calibri"/>
              </a:rPr>
              <a:t>down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undetstand</a:t>
            </a:r>
            <a:r>
              <a:rPr sz="3600" spc="-25" dirty="0">
                <a:latin typeface="Calibri"/>
                <a:cs typeface="Calibri"/>
              </a:rPr>
              <a:t> Data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Operations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10285" y="565339"/>
            <a:ext cx="10153650" cy="3425190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960"/>
              </a:spcBef>
            </a:pP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What</a:t>
            </a:r>
            <a:r>
              <a:rPr sz="3200" b="1" spc="-3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is</a:t>
            </a:r>
            <a:r>
              <a:rPr sz="3200" b="1" spc="-2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the</a:t>
            </a:r>
            <a:r>
              <a:rPr sz="3200" b="1" spc="-4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Data</a:t>
            </a:r>
            <a:r>
              <a:rPr sz="3200" b="1" spc="-4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Structure</a:t>
            </a:r>
            <a:r>
              <a:rPr sz="3200" b="1" spc="-45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?</a:t>
            </a:r>
            <a:endParaRPr sz="3200" dirty="0">
              <a:latin typeface="Arial"/>
              <a:cs typeface="Arial"/>
            </a:endParaRPr>
          </a:p>
          <a:p>
            <a:pPr marL="355600" marR="69850" indent="-342900">
              <a:lnSpc>
                <a:spcPct val="100000"/>
              </a:lnSpc>
              <a:spcBef>
                <a:spcPts val="1860"/>
              </a:spcBef>
              <a:buSzPct val="96875"/>
              <a:buFont typeface="Wingdings"/>
              <a:buChar char=""/>
              <a:tabLst>
                <a:tab pos="376555" algn="l"/>
              </a:tabLst>
            </a:pPr>
            <a:r>
              <a:rPr sz="3200" b="1" spc="-15" dirty="0">
                <a:latin typeface="Calibri"/>
                <a:cs typeface="Calibri"/>
              </a:rPr>
              <a:t>Data: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Facts,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statistics,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quantities,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characters,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symbols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 </a:t>
            </a:r>
            <a:r>
              <a:rPr sz="3200" spc="-15" dirty="0">
                <a:latin typeface="Calibri"/>
                <a:cs typeface="Calibri"/>
              </a:rPr>
              <a:t>operations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are</a:t>
            </a:r>
            <a:r>
              <a:rPr sz="3200" spc="-15" dirty="0">
                <a:latin typeface="Calibri"/>
                <a:cs typeface="Calibri"/>
              </a:rPr>
              <a:t> performed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by</a:t>
            </a:r>
            <a:r>
              <a:rPr sz="3200" dirty="0">
                <a:latin typeface="Calibri"/>
                <a:cs typeface="Calibri"/>
              </a:rPr>
              <a:t> 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computer.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Wingdings"/>
              <a:buChar char=""/>
            </a:pPr>
            <a:endParaRPr sz="315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SzPct val="96875"/>
              <a:buFont typeface="Wingdings"/>
              <a:buChar char=""/>
              <a:tabLst>
                <a:tab pos="376555" algn="l"/>
                <a:tab pos="9801860" algn="l"/>
              </a:tabLst>
            </a:pPr>
            <a:r>
              <a:rPr sz="3200" b="1" dirty="0">
                <a:latin typeface="Calibri"/>
                <a:cs typeface="Calibri"/>
              </a:rPr>
              <a:t>Structu</a:t>
            </a:r>
            <a:r>
              <a:rPr sz="3200" b="1" spc="-30" dirty="0">
                <a:latin typeface="Calibri"/>
                <a:cs typeface="Calibri"/>
              </a:rPr>
              <a:t>r</a:t>
            </a:r>
            <a:r>
              <a:rPr sz="3200" b="1" spc="-5" dirty="0">
                <a:latin typeface="Calibri"/>
                <a:cs typeface="Calibri"/>
              </a:rPr>
              <a:t>e</a:t>
            </a:r>
            <a:r>
              <a:rPr sz="3200" b="1" dirty="0">
                <a:latin typeface="Calibri"/>
                <a:cs typeface="Calibri"/>
              </a:rPr>
              <a:t>: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</a:t>
            </a:r>
            <a:r>
              <a:rPr sz="3200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</a:t>
            </a:r>
            <a:r>
              <a:rPr sz="3200" spc="-7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25" dirty="0">
                <a:latin typeface="Calibri"/>
                <a:cs typeface="Calibri"/>
              </a:rPr>
              <a:t>g</a:t>
            </a:r>
            <a:r>
              <a:rPr sz="3200" dirty="0">
                <a:latin typeface="Calibri"/>
                <a:cs typeface="Calibri"/>
              </a:rPr>
              <a:t>eme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t a</a:t>
            </a:r>
            <a:r>
              <a:rPr sz="3200" spc="-1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el</a:t>
            </a:r>
            <a:r>
              <a:rPr sz="3200" spc="-2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5" dirty="0">
                <a:latin typeface="Calibri"/>
                <a:cs typeface="Calibri"/>
              </a:rPr>
              <a:t> b</a:t>
            </a:r>
            <a:r>
              <a:rPr sz="3200" spc="-2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30" dirty="0">
                <a:latin typeface="Calibri"/>
                <a:cs typeface="Calibri"/>
              </a:rPr>
              <a:t>w</a:t>
            </a:r>
            <a:r>
              <a:rPr sz="3200" dirty="0">
                <a:latin typeface="Calibri"/>
                <a:cs typeface="Calibri"/>
              </a:rPr>
              <a:t>een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</a:t>
            </a:r>
            <a:r>
              <a:rPr sz="3200" spc="-3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lang="en-US"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 </a:t>
            </a:r>
            <a:r>
              <a:rPr sz="3200" spc="-15" dirty="0">
                <a:latin typeface="Calibri"/>
                <a:cs typeface="Calibri"/>
              </a:rPr>
              <a:t>complex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system.</a:t>
            </a:r>
            <a:endParaRPr sz="3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825754"/>
            <a:ext cx="3524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Data</a:t>
            </a:r>
            <a:r>
              <a:rPr sz="4000" spc="-50" dirty="0"/>
              <a:t> </a:t>
            </a:r>
            <a:r>
              <a:rPr sz="4000" spc="-5" dirty="0"/>
              <a:t>Structure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139" y="1481053"/>
            <a:ext cx="10140315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Structure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systematic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way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organize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efficiently.</a:t>
            </a:r>
            <a:endParaRPr sz="2800">
              <a:latin typeface="Calibri"/>
              <a:cs typeface="Calibri"/>
            </a:endParaRPr>
          </a:p>
          <a:p>
            <a:pPr marL="355600" marR="353060" indent="-343535">
              <a:lnSpc>
                <a:spcPct val="150000"/>
              </a:lnSpc>
              <a:spcBef>
                <a:spcPts val="5"/>
              </a:spcBef>
              <a:buFont typeface="Wingdings"/>
              <a:buChar char=""/>
              <a:tabLst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idea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reduce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complexities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different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tasks.</a:t>
            </a:r>
            <a:endParaRPr sz="2800">
              <a:latin typeface="Calibri"/>
              <a:cs typeface="Calibri"/>
            </a:endParaRPr>
          </a:p>
          <a:p>
            <a:pPr marL="355600" marR="840105" indent="-343535">
              <a:lnSpc>
                <a:spcPct val="15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Almost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enterprise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various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data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structures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way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e.g.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Facebook,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Google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0700" y="870966"/>
            <a:ext cx="7025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Importance</a:t>
            </a:r>
            <a:r>
              <a:rPr sz="4000" spc="10" dirty="0"/>
              <a:t> </a:t>
            </a:r>
            <a:r>
              <a:rPr sz="4000" spc="-5" dirty="0"/>
              <a:t>of</a:t>
            </a:r>
            <a:r>
              <a:rPr sz="4000" dirty="0"/>
              <a:t> </a:t>
            </a:r>
            <a:r>
              <a:rPr sz="4000" spc="-5" dirty="0"/>
              <a:t>Data</a:t>
            </a:r>
            <a:r>
              <a:rPr sz="4000" spc="5" dirty="0"/>
              <a:t> </a:t>
            </a:r>
            <a:r>
              <a:rPr sz="4000" spc="-5" dirty="0"/>
              <a:t>Structure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26160" y="1825193"/>
            <a:ext cx="10910570" cy="405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applications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>
                <a:latin typeface="Calibri"/>
                <a:cs typeface="Calibri"/>
              </a:rPr>
              <a:t>getting complex</a:t>
            </a:r>
            <a:r>
              <a:rPr sz="2400">
                <a:latin typeface="Calibri"/>
                <a:cs typeface="Calibri"/>
              </a:rPr>
              <a:t>, </a:t>
            </a:r>
            <a:r>
              <a:rPr sz="2400" spc="-10" dirty="0">
                <a:latin typeface="Calibri"/>
                <a:cs typeface="Calibri"/>
              </a:rPr>
              <a:t>there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applications</a:t>
            </a:r>
            <a:r>
              <a:rPr sz="2400" spc="-15" dirty="0">
                <a:latin typeface="Calibri"/>
                <a:cs typeface="Calibri"/>
              </a:rPr>
              <a:t> face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now-a-days.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Calibri"/>
              <a:cs typeface="Calibri"/>
            </a:endParaRPr>
          </a:p>
          <a:p>
            <a:pPr marL="926465" lvl="1" indent="-457200">
              <a:lnSpc>
                <a:spcPct val="100000"/>
              </a:lnSpc>
              <a:buAutoNum type="arabicPeriod"/>
              <a:tabLst>
                <a:tab pos="926465" algn="l"/>
                <a:tab pos="927100" algn="l"/>
              </a:tabLst>
            </a:pPr>
            <a:r>
              <a:rPr sz="2400" spc="-20" dirty="0">
                <a:latin typeface="Calibri"/>
                <a:cs typeface="Calibri"/>
              </a:rPr>
              <a:t>Store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large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  <a:p>
            <a:pPr marL="926465" lvl="1" indent="-457200">
              <a:lnSpc>
                <a:spcPct val="100000"/>
              </a:lnSpc>
              <a:buAutoNum type="arabicPeriod"/>
              <a:tabLst>
                <a:tab pos="926465" algn="l"/>
                <a:tab pos="927100" algn="l"/>
              </a:tabLst>
            </a:pPr>
            <a:r>
              <a:rPr sz="2400" spc="-10" dirty="0">
                <a:latin typeface="Calibri"/>
                <a:cs typeface="Calibri"/>
              </a:rPr>
              <a:t>Update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modify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  <a:p>
            <a:pPr marL="926465" lvl="1" indent="-457200">
              <a:lnSpc>
                <a:spcPct val="100000"/>
              </a:lnSpc>
              <a:buAutoNum type="arabicPeriod"/>
              <a:tabLst>
                <a:tab pos="926465" algn="l"/>
                <a:tab pos="927100" algn="l"/>
              </a:tabLst>
            </a:pPr>
            <a:r>
              <a:rPr sz="2400" spc="-10" dirty="0">
                <a:latin typeface="Calibri"/>
                <a:cs typeface="Calibri"/>
              </a:rPr>
              <a:t>Search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  <a:p>
            <a:pPr marL="926465" lvl="1" indent="-457200">
              <a:lnSpc>
                <a:spcPct val="100000"/>
              </a:lnSpc>
              <a:buAutoNum type="arabicPeriod"/>
              <a:tabLst>
                <a:tab pos="926465" algn="l"/>
                <a:tab pos="927100" algn="l"/>
              </a:tabLst>
            </a:pP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retrieval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15" dirty="0">
                <a:latin typeface="Calibri"/>
                <a:cs typeface="Calibri"/>
              </a:rPr>
              <a:t> (execution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time)</a:t>
            </a:r>
          </a:p>
          <a:p>
            <a:pPr marL="926465" lvl="1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400" spc="-15" dirty="0">
                <a:latin typeface="Calibri"/>
                <a:cs typeface="Calibri"/>
              </a:rPr>
              <a:t>Efficient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(memory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requirements)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libri"/>
              <a:buAutoNum type="arabicPeriod"/>
            </a:pPr>
            <a:endParaRPr sz="235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14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above-mentioned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well</a:t>
            </a:r>
            <a:r>
              <a:rPr sz="2400" spc="-5" dirty="0">
                <a:latin typeface="Calibri"/>
                <a:cs typeface="Calibri"/>
              </a:rPr>
              <a:t> planned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systematic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needed.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157478"/>
            <a:ext cx="82905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Foundation</a:t>
            </a:r>
            <a:r>
              <a:rPr sz="4000" dirty="0"/>
              <a:t> </a:t>
            </a:r>
            <a:r>
              <a:rPr sz="4000" spc="-5" dirty="0"/>
              <a:t>term</a:t>
            </a:r>
            <a:r>
              <a:rPr sz="4000" spc="25" dirty="0"/>
              <a:t> </a:t>
            </a:r>
            <a:r>
              <a:rPr sz="4000" spc="-5" dirty="0"/>
              <a:t>of Data</a:t>
            </a:r>
            <a:r>
              <a:rPr sz="4000" spc="15" dirty="0"/>
              <a:t> </a:t>
            </a:r>
            <a:r>
              <a:rPr sz="4000" spc="-5" dirty="0"/>
              <a:t>Structure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55039" y="1680972"/>
            <a:ext cx="10282555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 algn="just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470534" algn="l"/>
              </a:tabLst>
            </a:pP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Interface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10" dirty="0">
                <a:latin typeface="Calibri"/>
                <a:cs typeface="Calibri"/>
              </a:rPr>
              <a:t>Each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interface. </a:t>
            </a:r>
            <a:r>
              <a:rPr sz="2400" spc="-15" dirty="0">
                <a:latin typeface="Calibri"/>
                <a:cs typeface="Calibri"/>
              </a:rPr>
              <a:t>Interface </a:t>
            </a:r>
            <a:r>
              <a:rPr sz="2400" spc="-10" dirty="0">
                <a:latin typeface="Calibri"/>
                <a:cs typeface="Calibri"/>
              </a:rPr>
              <a:t>represents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set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 </a:t>
            </a:r>
            <a:r>
              <a:rPr sz="2400" spc="-15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sz="2400" spc="-5" dirty="0">
                <a:latin typeface="Calibri"/>
                <a:cs typeface="Calibri"/>
              </a:rPr>
              <a:t>supports.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interface </a:t>
            </a:r>
            <a:r>
              <a:rPr sz="2400" spc="-5" dirty="0">
                <a:latin typeface="Calibri"/>
                <a:cs typeface="Calibri"/>
              </a:rPr>
              <a:t>only </a:t>
            </a:r>
            <a:r>
              <a:rPr sz="2400" spc="-10" dirty="0">
                <a:latin typeface="Calibri"/>
                <a:cs typeface="Calibri"/>
              </a:rPr>
              <a:t>provides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 of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supported operations, </a:t>
            </a:r>
            <a:r>
              <a:rPr sz="2400" dirty="0">
                <a:latin typeface="Calibri"/>
                <a:cs typeface="Calibri"/>
              </a:rPr>
              <a:t>type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parameters </a:t>
            </a:r>
            <a:r>
              <a:rPr sz="2400" spc="-5" dirty="0">
                <a:latin typeface="Calibri"/>
                <a:cs typeface="Calibri"/>
              </a:rPr>
              <a:t>they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accept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return </a:t>
            </a:r>
            <a:r>
              <a:rPr sz="2400" dirty="0">
                <a:latin typeface="Calibri"/>
                <a:cs typeface="Calibri"/>
              </a:rPr>
              <a:t>type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10" dirty="0">
                <a:latin typeface="Calibri"/>
                <a:cs typeface="Calibri"/>
              </a:rPr>
              <a:t>operations.</a:t>
            </a:r>
            <a:endParaRPr sz="3500" dirty="0">
              <a:latin typeface="Calibri"/>
              <a:cs typeface="Calibri"/>
            </a:endParaRPr>
          </a:p>
          <a:p>
            <a:pPr marL="469900" marR="5080" indent="-457834" algn="just">
              <a:lnSpc>
                <a:spcPct val="150000"/>
              </a:lnSpc>
              <a:buFont typeface="Wingdings"/>
              <a:buChar char=""/>
              <a:tabLst>
                <a:tab pos="470534" algn="l"/>
              </a:tabLst>
            </a:pP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Implementation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10" dirty="0">
                <a:latin typeface="Calibri"/>
                <a:cs typeface="Calibri"/>
              </a:rPr>
              <a:t>Implementation provides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internal </a:t>
            </a:r>
            <a:r>
              <a:rPr sz="2400" spc="-15" dirty="0">
                <a:latin typeface="Calibri"/>
                <a:cs typeface="Calibri"/>
              </a:rPr>
              <a:t>representation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structure. Implementation </a:t>
            </a:r>
            <a:r>
              <a:rPr sz="2400" dirty="0">
                <a:latin typeface="Calibri"/>
                <a:cs typeface="Calibri"/>
              </a:rPr>
              <a:t>also </a:t>
            </a:r>
            <a:r>
              <a:rPr sz="2400" spc="-10" dirty="0">
                <a:latin typeface="Calibri"/>
                <a:cs typeface="Calibri"/>
              </a:rPr>
              <a:t>provides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definition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algorithms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 </a:t>
            </a:r>
            <a:r>
              <a:rPr sz="2400" spc="-5" dirty="0">
                <a:latin typeface="Calibri"/>
                <a:cs typeface="Calibri"/>
              </a:rPr>
              <a:t>of 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structure.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225042"/>
            <a:ext cx="7959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Characteristics</a:t>
            </a:r>
            <a:r>
              <a:rPr sz="4000" spc="40" dirty="0"/>
              <a:t> </a:t>
            </a:r>
            <a:r>
              <a:rPr sz="4000" spc="-5" dirty="0"/>
              <a:t>of</a:t>
            </a:r>
            <a:r>
              <a:rPr sz="4000" spc="-15" dirty="0"/>
              <a:t> </a:t>
            </a:r>
            <a:r>
              <a:rPr sz="4000" spc="-5" dirty="0"/>
              <a:t>Data</a:t>
            </a:r>
            <a:r>
              <a:rPr sz="4000" spc="5" dirty="0"/>
              <a:t> </a:t>
            </a:r>
            <a:r>
              <a:rPr sz="4000" spc="-5" dirty="0"/>
              <a:t>Structure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4463" y="1875281"/>
            <a:ext cx="1006475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7620" indent="-457834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470534" algn="l"/>
              </a:tabLst>
            </a:pP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Correctness</a:t>
            </a:r>
            <a:r>
              <a:rPr sz="2400" b="1" spc="16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implementation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should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interface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correctly.</a:t>
            </a:r>
            <a:endParaRPr sz="24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469265" algn="l"/>
                <a:tab pos="470534" algn="l"/>
              </a:tabLst>
            </a:pP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Time</a:t>
            </a:r>
            <a:r>
              <a:rPr sz="2400" b="1" spc="7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Complexity</a:t>
            </a:r>
            <a:r>
              <a:rPr sz="2400" b="1" spc="9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Running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execution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alibri"/>
                <a:cs typeface="Calibri"/>
              </a:rPr>
              <a:t>structure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small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  <a:p>
            <a:pPr marL="469900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469265" algn="l"/>
                <a:tab pos="470534" algn="l"/>
              </a:tabLst>
            </a:pP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Space</a:t>
            </a:r>
            <a:r>
              <a:rPr sz="2400" b="1" spc="2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Complexity</a:t>
            </a:r>
            <a:r>
              <a:rPr sz="2400" b="1" spc="2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usage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operation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should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little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096" y="860501"/>
            <a:ext cx="5403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Execution</a:t>
            </a:r>
            <a:r>
              <a:rPr sz="4000" spc="-35" dirty="0"/>
              <a:t> </a:t>
            </a:r>
            <a:r>
              <a:rPr sz="4000" spc="-25" dirty="0"/>
              <a:t>Time</a:t>
            </a:r>
            <a:r>
              <a:rPr sz="4000" spc="-20" dirty="0"/>
              <a:t> </a:t>
            </a:r>
            <a:r>
              <a:rPr sz="4000" spc="-5" dirty="0"/>
              <a:t>Cases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6096" y="1878584"/>
            <a:ext cx="1078166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61060" algn="l"/>
                <a:tab pos="1396365" algn="l"/>
                <a:tab pos="2199640" algn="l"/>
                <a:tab pos="2996565" algn="l"/>
                <a:tab pos="3868420" algn="l"/>
                <a:tab pos="4401820" algn="l"/>
                <a:tab pos="5400040" algn="l"/>
                <a:tab pos="6125845" algn="l"/>
                <a:tab pos="6518909" algn="l"/>
                <a:tab pos="7743190" algn="l"/>
                <a:tab pos="8771890" algn="l"/>
                <a:tab pos="9454515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	a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	th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ee	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ases	which	a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usuall</a:t>
            </a:r>
            <a:r>
              <a:rPr sz="2400" dirty="0">
                <a:latin typeface="Calibri"/>
                <a:cs typeface="Calibri"/>
              </a:rPr>
              <a:t>y	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sz="2400" dirty="0">
                <a:latin typeface="Calibri"/>
                <a:cs typeface="Calibri"/>
              </a:rPr>
              <a:t>d	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omp</a:t>
            </a:r>
            <a:r>
              <a:rPr sz="2400" spc="-15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arious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25" dirty="0">
                <a:latin typeface="Calibri"/>
                <a:cs typeface="Calibri"/>
              </a:rPr>
              <a:t>at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4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tructu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e's  </a:t>
            </a:r>
            <a:r>
              <a:rPr sz="2400" spc="-15" dirty="0">
                <a:latin typeface="Calibri"/>
                <a:cs typeface="Calibri"/>
              </a:rPr>
              <a:t>execution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relative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b="1" spc="-30" dirty="0">
                <a:solidFill>
                  <a:srgbClr val="7D1B68"/>
                </a:solidFill>
                <a:latin typeface="Calibri"/>
                <a:cs typeface="Calibri"/>
              </a:rPr>
              <a:t>Worst</a:t>
            </a:r>
            <a:r>
              <a:rPr sz="2400" b="1" spc="1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Case</a:t>
            </a:r>
            <a:r>
              <a:rPr sz="2400" b="1" spc="1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scenario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where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particular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takes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maximum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7D1B68"/>
              </a:buClr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marR="762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  <a:tab pos="2216150" algn="l"/>
                <a:tab pos="2495550" algn="l"/>
                <a:tab pos="3435350" algn="l"/>
                <a:tab pos="3976370" algn="l"/>
                <a:tab pos="6959600" algn="l"/>
                <a:tab pos="8053705" algn="l"/>
                <a:tab pos="10079355" algn="l"/>
              </a:tabLst>
            </a:pPr>
            <a:r>
              <a:rPr sz="2400" b="1" spc="-25" dirty="0">
                <a:solidFill>
                  <a:srgbClr val="7D1B68"/>
                </a:solidFill>
                <a:latin typeface="Calibri"/>
                <a:cs typeface="Calibri"/>
              </a:rPr>
              <a:t>Average</a:t>
            </a:r>
            <a:r>
              <a:rPr sz="2400" b="1" spc="46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Case	</a:t>
            </a:r>
            <a:r>
              <a:rPr sz="2400" dirty="0">
                <a:latin typeface="Calibri"/>
                <a:cs typeface="Calibri"/>
              </a:rPr>
              <a:t>−	</a:t>
            </a: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4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	the	</a:t>
            </a:r>
            <a:r>
              <a:rPr sz="2400" spc="-5" dirty="0">
                <a:latin typeface="Calibri"/>
                <a:cs typeface="Calibri"/>
              </a:rPr>
              <a:t>scenario</a:t>
            </a:r>
            <a:r>
              <a:rPr sz="2400" spc="4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depicting</a:t>
            </a:r>
            <a:r>
              <a:rPr sz="2400" spc="45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	</a:t>
            </a:r>
            <a:r>
              <a:rPr sz="2400" spc="-20" dirty="0">
                <a:latin typeface="Calibri"/>
                <a:cs typeface="Calibri"/>
              </a:rPr>
              <a:t>average	</a:t>
            </a:r>
            <a:r>
              <a:rPr sz="2400" spc="-15" dirty="0">
                <a:latin typeface="Calibri"/>
                <a:cs typeface="Calibri"/>
              </a:rPr>
              <a:t>execution</a:t>
            </a:r>
            <a:r>
              <a:rPr sz="2400" spc="4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time	of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7D1B68"/>
              </a:buClr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marR="5715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Best</a:t>
            </a:r>
            <a:r>
              <a:rPr sz="2400" b="1" spc="28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Case</a:t>
            </a:r>
            <a:r>
              <a:rPr sz="2400" b="1" spc="30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scenario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depicting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least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execution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time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25" dirty="0"/>
              <a:t> </a:t>
            </a:r>
            <a:r>
              <a:rPr spc="-5" dirty="0"/>
              <a:t>Structure</a:t>
            </a:r>
            <a:r>
              <a:rPr spc="-20" dirty="0"/>
              <a:t> </a:t>
            </a:r>
            <a:r>
              <a:rPr spc="-85" dirty="0"/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927100" indent="-914400">
              <a:lnSpc>
                <a:spcPct val="100000"/>
              </a:lnSpc>
              <a:spcBef>
                <a:spcPts val="2025"/>
              </a:spcBef>
              <a:buFont typeface="Wingdings"/>
              <a:buChar char=""/>
              <a:tabLst>
                <a:tab pos="926465" algn="l"/>
                <a:tab pos="927100" algn="l"/>
              </a:tabLst>
            </a:pPr>
            <a:r>
              <a:rPr dirty="0"/>
              <a:t>Linear</a:t>
            </a:r>
            <a:r>
              <a:rPr spc="-60" dirty="0"/>
              <a:t> </a:t>
            </a:r>
            <a:r>
              <a:rPr dirty="0"/>
              <a:t>datastructure</a:t>
            </a:r>
          </a:p>
          <a:p>
            <a:pPr marL="927100" indent="-914400">
              <a:lnSpc>
                <a:spcPct val="100000"/>
              </a:lnSpc>
              <a:spcBef>
                <a:spcPts val="1920"/>
              </a:spcBef>
              <a:buFont typeface="Wingdings"/>
              <a:buChar char=""/>
              <a:tabLst>
                <a:tab pos="926465" algn="l"/>
                <a:tab pos="927100" algn="l"/>
              </a:tabLst>
            </a:pPr>
            <a:r>
              <a:rPr dirty="0"/>
              <a:t>Non-Linear</a:t>
            </a:r>
            <a:r>
              <a:rPr spc="-8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Structure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4467" y="3639311"/>
            <a:ext cx="5257799" cy="257098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39" y="538987"/>
            <a:ext cx="5191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Linear</a:t>
            </a:r>
            <a:r>
              <a:rPr sz="4000" spc="-10" dirty="0"/>
              <a:t> </a:t>
            </a:r>
            <a:r>
              <a:rPr sz="4000" spc="-5" dirty="0"/>
              <a:t>Data Structure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19911" y="1549273"/>
            <a:ext cx="894778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Linear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dirty="0">
                <a:latin typeface="Calibri"/>
                <a:cs typeface="Calibri"/>
              </a:rPr>
              <a:t>in which the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items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placed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contiguously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spc="-10" dirty="0">
                <a:latin typeface="Calibri"/>
                <a:cs typeface="Calibri"/>
              </a:rPr>
              <a:t>after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other.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5" dirty="0">
                <a:latin typeface="Trebuchet MS"/>
                <a:cs typeface="Trebuchet MS"/>
              </a:rPr>
              <a:t>Examples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linear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data-structures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are:</a:t>
            </a:r>
            <a:endParaRPr sz="2400">
              <a:latin typeface="Trebuchet MS"/>
              <a:cs typeface="Trebuchet MS"/>
            </a:endParaRPr>
          </a:p>
          <a:p>
            <a:pPr marL="927100" lvl="1" indent="-4572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6465" algn="l"/>
                <a:tab pos="927100" algn="l"/>
              </a:tabLst>
            </a:pPr>
            <a:r>
              <a:rPr sz="2400" dirty="0">
                <a:solidFill>
                  <a:srgbClr val="800080"/>
                </a:solidFill>
                <a:latin typeface="Trebuchet MS"/>
                <a:cs typeface="Trebuchet MS"/>
              </a:rPr>
              <a:t>Arrays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3271" y="2718816"/>
            <a:ext cx="2787396" cy="27584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899236"/>
            <a:ext cx="5187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Linear</a:t>
            </a:r>
            <a:r>
              <a:rPr sz="4000" spc="-20" dirty="0"/>
              <a:t> </a:t>
            </a:r>
            <a:r>
              <a:rPr sz="4000" spc="-5" dirty="0"/>
              <a:t>Data</a:t>
            </a:r>
            <a:r>
              <a:rPr sz="4000" spc="-30" dirty="0"/>
              <a:t> </a:t>
            </a:r>
            <a:r>
              <a:rPr sz="4000" spc="-5" dirty="0"/>
              <a:t>Structure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19911" y="1549273"/>
            <a:ext cx="10021570" cy="3495829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Pros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first 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item,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 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very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easy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find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items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Cons</a:t>
            </a:r>
            <a:endParaRPr sz="2400" dirty="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6465" algn="l"/>
                <a:tab pos="927100" algn="l"/>
              </a:tabLst>
            </a:pPr>
            <a:r>
              <a:rPr sz="2400" spc="-15" dirty="0">
                <a:latin typeface="Calibri"/>
                <a:cs typeface="Calibri"/>
              </a:rPr>
              <a:t>Size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 prior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allocation</a:t>
            </a:r>
            <a:endParaRPr sz="2400" dirty="0">
              <a:latin typeface="Calibri"/>
              <a:cs typeface="Calibri"/>
            </a:endParaRPr>
          </a:p>
          <a:p>
            <a:pPr marL="812800" marR="245110" lvl="1" indent="-342900">
              <a:lnSpc>
                <a:spcPct val="150000"/>
              </a:lnSpc>
              <a:buFont typeface="Wingdings"/>
              <a:buChar char=""/>
              <a:tabLst>
                <a:tab pos="812800" algn="l"/>
              </a:tabLst>
            </a:pP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contiguous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memory, </a:t>
            </a:r>
            <a:r>
              <a:rPr lang="en-US" sz="2400" spc="-15" dirty="0">
                <a:latin typeface="Calibri"/>
                <a:cs typeface="Calibri"/>
              </a:rPr>
              <a:t>But </a:t>
            </a:r>
            <a:r>
              <a:rPr sz="2400" spc="-10" dirty="0">
                <a:latin typeface="Calibri"/>
                <a:cs typeface="Calibri"/>
              </a:rPr>
              <a:t>free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space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utilized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allocation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792937"/>
            <a:ext cx="64846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Non-</a:t>
            </a:r>
            <a:r>
              <a:rPr sz="4000" spc="-5" dirty="0"/>
              <a:t> Linear Data</a:t>
            </a:r>
            <a:r>
              <a:rPr sz="4000" spc="-20" dirty="0"/>
              <a:t> </a:t>
            </a:r>
            <a:r>
              <a:rPr sz="4000" spc="-5" dirty="0"/>
              <a:t>Structure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516252"/>
            <a:ext cx="9239250" cy="3141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non-linear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sz="2400" dirty="0">
                <a:latin typeface="Calibri"/>
                <a:cs typeface="Calibri"/>
              </a:rPr>
              <a:t>in which a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item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connected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several</a:t>
            </a:r>
            <a:r>
              <a:rPr sz="2400" spc="-5" dirty="0">
                <a:latin typeface="Calibri"/>
                <a:cs typeface="Calibri"/>
              </a:rPr>
              <a:t> other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items.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item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possibility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reach one-or-more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items.</a:t>
            </a:r>
            <a:endParaRPr sz="23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Examples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non-linear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data-structures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are:</a:t>
            </a:r>
            <a:endParaRPr sz="2400" dirty="0">
              <a:latin typeface="Calibri"/>
              <a:cs typeface="Calibri"/>
            </a:endParaRPr>
          </a:p>
          <a:p>
            <a:pPr marL="881380" lvl="1" indent="-41148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80744" algn="l"/>
                <a:tab pos="881380" algn="l"/>
              </a:tabLst>
            </a:pP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Graphs</a:t>
            </a:r>
            <a:endParaRPr sz="24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spc="-40" dirty="0">
                <a:solidFill>
                  <a:srgbClr val="7D1B68"/>
                </a:solidFill>
                <a:latin typeface="Calibri"/>
                <a:cs typeface="Calibri"/>
              </a:rPr>
              <a:t>Trees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7804" y="2979420"/>
            <a:ext cx="3080004" cy="301904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5142"/>
            <a:ext cx="64858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Non-</a:t>
            </a:r>
            <a:r>
              <a:rPr sz="4000" dirty="0"/>
              <a:t> </a:t>
            </a:r>
            <a:r>
              <a:rPr sz="4000" spc="-5" dirty="0"/>
              <a:t>Linear Data</a:t>
            </a:r>
            <a:r>
              <a:rPr sz="4000" spc="-15" dirty="0"/>
              <a:t> </a:t>
            </a:r>
            <a:r>
              <a:rPr sz="4000" spc="-5" dirty="0"/>
              <a:t>Structure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405254"/>
            <a:ext cx="10309225" cy="289566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Pros</a:t>
            </a:r>
            <a:endParaRPr sz="2400" dirty="0">
              <a:latin typeface="Calibri"/>
              <a:cs typeface="Calibri"/>
            </a:endParaRPr>
          </a:p>
          <a:p>
            <a:pPr marL="812800" marR="5080" lvl="1" indent="-342900">
              <a:lnSpc>
                <a:spcPct val="150000"/>
              </a:lnSpc>
              <a:buFont typeface="Wingdings"/>
              <a:buChar char=""/>
              <a:tabLst>
                <a:tab pos="812800" algn="l"/>
              </a:tabLst>
            </a:pPr>
            <a:r>
              <a:rPr sz="2400" spc="-5" dirty="0">
                <a:latin typeface="Calibri"/>
                <a:cs typeface="Calibri"/>
              </a:rPr>
              <a:t>Uses</a:t>
            </a:r>
            <a:r>
              <a:rPr sz="2400" dirty="0">
                <a:latin typeface="Calibri"/>
                <a:cs typeface="Calibri"/>
              </a:rPr>
              <a:t> memory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</a:t>
            </a:r>
            <a:r>
              <a:rPr sz="2400" spc="5" dirty="0">
                <a:latin typeface="Calibri"/>
                <a:cs typeface="Calibri"/>
              </a:rPr>
              <a:t> </a:t>
            </a:r>
            <a:endParaRPr sz="24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length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data </a:t>
            </a:r>
            <a:r>
              <a:rPr sz="2400" spc="-5" dirty="0">
                <a:latin typeface="Calibri"/>
                <a:cs typeface="Calibri"/>
              </a:rPr>
              <a:t>items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not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necessary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known prior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allocation</a:t>
            </a:r>
            <a:endParaRPr sz="27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"/>
            </a:pP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Cons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alibri"/>
                <a:cs typeface="Calibri"/>
              </a:rPr>
              <a:t>Overhead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029461"/>
            <a:ext cx="6065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Data Structure</a:t>
            </a:r>
            <a:r>
              <a:rPr sz="4000" dirty="0"/>
              <a:t> </a:t>
            </a:r>
            <a:r>
              <a:rPr sz="4000" spc="-5" dirty="0"/>
              <a:t>Operation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1712" y="2002281"/>
            <a:ext cx="10658475" cy="317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basic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operations</a:t>
            </a:r>
            <a:r>
              <a:rPr sz="2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performed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structure</a:t>
            </a:r>
            <a:r>
              <a:rPr sz="28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follows: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Calibri"/>
              <a:cs typeface="Calibri"/>
            </a:endParaRPr>
          </a:p>
          <a:p>
            <a:pPr marL="926465" indent="-457834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926465" algn="l"/>
                <a:tab pos="927100" algn="l"/>
              </a:tabLst>
            </a:pPr>
            <a:r>
              <a:rPr sz="2800" spc="-5" dirty="0">
                <a:solidFill>
                  <a:srgbClr val="7D1B68"/>
                </a:solidFill>
                <a:latin typeface="Calibri"/>
                <a:cs typeface="Calibri"/>
              </a:rPr>
              <a:t>Insertion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Adding</a:t>
            </a:r>
            <a:r>
              <a:rPr sz="2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structure.</a:t>
            </a:r>
            <a:endParaRPr sz="2800">
              <a:latin typeface="Calibri"/>
              <a:cs typeface="Calibri"/>
            </a:endParaRPr>
          </a:p>
          <a:p>
            <a:pPr marL="926465" indent="-457834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926465" algn="l"/>
                <a:tab pos="927100" algn="l"/>
              </a:tabLst>
            </a:pP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Deletion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sz="2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Removing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structure.</a:t>
            </a:r>
            <a:endParaRPr sz="2800">
              <a:latin typeface="Calibri"/>
              <a:cs typeface="Calibri"/>
            </a:endParaRPr>
          </a:p>
          <a:p>
            <a:pPr marL="926465" marR="5080" indent="-457200">
              <a:lnSpc>
                <a:spcPct val="150000"/>
              </a:lnSpc>
              <a:buFont typeface="Wingdings"/>
              <a:buChar char=""/>
              <a:tabLst>
                <a:tab pos="926465" algn="l"/>
                <a:tab pos="927100" algn="l"/>
              </a:tabLst>
            </a:pP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Searching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Searching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involves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searching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specified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 </a:t>
            </a:r>
            <a:r>
              <a:rPr sz="28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structure.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875792"/>
            <a:ext cx="5671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Data Structure Operation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47089" y="1525422"/>
            <a:ext cx="10494645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0320" indent="-457834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470534" algn="l"/>
              </a:tabLst>
            </a:pPr>
            <a:r>
              <a:rPr sz="2800" spc="-40" dirty="0">
                <a:solidFill>
                  <a:srgbClr val="7D1B68"/>
                </a:solidFill>
                <a:latin typeface="Calibri"/>
                <a:cs typeface="Calibri"/>
              </a:rPr>
              <a:t>Traversing</a:t>
            </a:r>
            <a:r>
              <a:rPr sz="2800" spc="-40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333333"/>
                </a:solidFill>
                <a:latin typeface="Calibri"/>
                <a:cs typeface="Calibri"/>
              </a:rPr>
              <a:t>Traversal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of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structure</a:t>
            </a:r>
            <a:r>
              <a:rPr sz="28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means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processing</a:t>
            </a:r>
            <a:r>
              <a:rPr sz="280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all the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data </a:t>
            </a:r>
            <a:r>
              <a:rPr sz="2800" spc="-6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elements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present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  <a:p>
            <a:pPr marL="469900" marR="5080" indent="-457834">
              <a:lnSpc>
                <a:spcPts val="5040"/>
              </a:lnSpc>
              <a:spcBef>
                <a:spcPts val="445"/>
              </a:spcBef>
              <a:buFont typeface="Wingdings"/>
              <a:buChar char=""/>
              <a:tabLst>
                <a:tab pos="469265" algn="l"/>
                <a:tab pos="470534" algn="l"/>
              </a:tabLst>
            </a:pP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Sorting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sz="2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Managing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8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some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logical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order(Ascending </a:t>
            </a:r>
            <a:r>
              <a:rPr sz="28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 descending</a:t>
            </a:r>
            <a:r>
              <a:rPr sz="28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order).</a:t>
            </a:r>
            <a:endParaRPr sz="2800">
              <a:latin typeface="Calibri"/>
              <a:cs typeface="Calibri"/>
            </a:endParaRPr>
          </a:p>
          <a:p>
            <a:pPr marL="469900" marR="615315" indent="-457834">
              <a:lnSpc>
                <a:spcPts val="5040"/>
              </a:lnSpc>
              <a:buFont typeface="Wingdings"/>
              <a:buChar char=""/>
              <a:tabLst>
                <a:tab pos="469265" algn="l"/>
                <a:tab pos="470534" algn="l"/>
              </a:tabLst>
            </a:pP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Merging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: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Combining</a:t>
            </a:r>
            <a:r>
              <a:rPr sz="28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two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sorted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files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 </a:t>
            </a:r>
            <a:r>
              <a:rPr sz="28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single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sorted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file.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539" y="1946275"/>
            <a:ext cx="7233920" cy="337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Introduction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 data </a:t>
            </a:r>
            <a:r>
              <a:rPr sz="3600" spc="-10" dirty="0">
                <a:latin typeface="Calibri"/>
                <a:cs typeface="Calibri"/>
              </a:rPr>
              <a:t>structure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5" dirty="0">
                <a:latin typeface="Calibri"/>
                <a:cs typeface="Calibri"/>
              </a:rPr>
              <a:t>Importance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25" dirty="0">
                <a:latin typeface="Calibri"/>
                <a:cs typeface="Calibri"/>
              </a:rPr>
              <a:t> data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5" dirty="0">
                <a:latin typeface="Calibri"/>
                <a:cs typeface="Calibri"/>
              </a:rPr>
              <a:t>Linear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non-linear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data</a:t>
            </a:r>
            <a:r>
              <a:rPr sz="3600" spc="-10" dirty="0">
                <a:latin typeface="Calibri"/>
                <a:cs typeface="Calibri"/>
              </a:rPr>
              <a:t> structures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25" dirty="0">
                <a:latin typeface="Calibri"/>
                <a:cs typeface="Calibri"/>
              </a:rPr>
              <a:t>Data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Operations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5539" y="1140713"/>
            <a:ext cx="8528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00000"/>
                </a:solidFill>
              </a:rPr>
              <a:t>Summary</a:t>
            </a:r>
            <a:r>
              <a:rPr sz="4000" spc="40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and</a:t>
            </a:r>
            <a:r>
              <a:rPr sz="4000" spc="-10" dirty="0">
                <a:solidFill>
                  <a:srgbClr val="000000"/>
                </a:solidFill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Student’s</a:t>
            </a:r>
            <a:r>
              <a:rPr sz="4000" spc="5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Evaluation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49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>
                <a:latin typeface="Calibri"/>
                <a:cs typeface="Calibri"/>
              </a:rPr>
              <a:t>Any</a:t>
            </a:r>
            <a:r>
              <a:rPr sz="6000" spc="-80" dirty="0">
                <a:latin typeface="Calibri"/>
                <a:cs typeface="Calibri"/>
              </a:rPr>
              <a:t> </a:t>
            </a:r>
            <a:r>
              <a:rPr sz="6000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291" y="1559178"/>
            <a:ext cx="2387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latin typeface="Calibri"/>
                <a:cs typeface="Calibri"/>
              </a:rPr>
              <a:t>Next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85" dirty="0"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5961" y="2493645"/>
            <a:ext cx="407225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solidFill>
                  <a:srgbClr val="7D1B68"/>
                </a:solidFill>
                <a:latin typeface="Calibri"/>
                <a:cs typeface="Calibri"/>
              </a:rPr>
              <a:t>Al</a:t>
            </a:r>
            <a:r>
              <a:rPr sz="7200" spc="-55" dirty="0">
                <a:solidFill>
                  <a:srgbClr val="7D1B68"/>
                </a:solidFill>
                <a:latin typeface="Calibri"/>
                <a:cs typeface="Calibri"/>
              </a:rPr>
              <a:t>g</a:t>
            </a:r>
            <a:r>
              <a:rPr sz="7200" spc="-5" dirty="0">
                <a:solidFill>
                  <a:srgbClr val="7D1B68"/>
                </a:solidFill>
                <a:latin typeface="Calibri"/>
                <a:cs typeface="Calibri"/>
              </a:rPr>
              <a:t>orithms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806</Words>
  <Application>Microsoft Office PowerPoint</Application>
  <PresentationFormat>Widescreen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MT</vt:lpstr>
      <vt:lpstr>Calibri</vt:lpstr>
      <vt:lpstr>Times New Roman</vt:lpstr>
      <vt:lpstr>Trebuchet MS</vt:lpstr>
      <vt:lpstr>Wingdings</vt:lpstr>
      <vt:lpstr>Office Theme</vt:lpstr>
      <vt:lpstr>PowerPoint Presentation</vt:lpstr>
      <vt:lpstr>Table of Contents</vt:lpstr>
      <vt:lpstr>Objectives</vt:lpstr>
      <vt:lpstr>PowerPoint Presentation</vt:lpstr>
      <vt:lpstr>Data Structure</vt:lpstr>
      <vt:lpstr>Importance of Data Structure</vt:lpstr>
      <vt:lpstr>Foundation term of Data Structure</vt:lpstr>
      <vt:lpstr>Characteristics of Data Structure</vt:lpstr>
      <vt:lpstr>Execution Time Cases</vt:lpstr>
      <vt:lpstr>Data Structure Types</vt:lpstr>
      <vt:lpstr>Linear Data Structure</vt:lpstr>
      <vt:lpstr>Linear Data Structure</vt:lpstr>
      <vt:lpstr>Non- Linear Data Structure</vt:lpstr>
      <vt:lpstr>Non- Linear Data Structure</vt:lpstr>
      <vt:lpstr>Data Structure Operation</vt:lpstr>
      <vt:lpstr>Data Structure Operation</vt:lpstr>
      <vt:lpstr>Summary and Student’s Evaluation</vt:lpstr>
      <vt:lpstr>Any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18</cp:revision>
  <dcterms:created xsi:type="dcterms:W3CDTF">2024-04-22T06:54:05Z</dcterms:created>
  <dcterms:modified xsi:type="dcterms:W3CDTF">2026-03-05T18:09:55Z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