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303" r:id="rId5"/>
    <p:sldId id="304" r:id="rId6"/>
    <p:sldId id="259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00" r:id="rId27"/>
    <p:sldId id="301" r:id="rId28"/>
    <p:sldId id="302" r:id="rId2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3963416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45539" y="400558"/>
            <a:ext cx="137985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88795" y="1496547"/>
            <a:ext cx="9614408" cy="3866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747754" y="6498335"/>
            <a:ext cx="1397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065"/>
              </a:lnSpc>
            </a:pPr>
            <a:r>
              <a:rPr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22354" y="6498335"/>
            <a:ext cx="1905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727" y="2406395"/>
            <a:ext cx="2070353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875917" y="2471750"/>
            <a:ext cx="79057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4800" b="1" spc="-112" baseline="7812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b="1" spc="-75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4000" b="1" spc="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5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5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64932" y="3146882"/>
            <a:ext cx="3540762" cy="124457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8000" spc="-495" dirty="0">
                <a:solidFill>
                  <a:srgbClr val="7D1B68"/>
                </a:solidFill>
                <a:latin typeface="Calibri"/>
                <a:cs typeface="Calibri"/>
              </a:rPr>
              <a:t>AVL </a:t>
            </a:r>
            <a:r>
              <a:rPr sz="8000" spc="-495" dirty="0">
                <a:solidFill>
                  <a:srgbClr val="7D1B68"/>
                </a:solidFill>
                <a:latin typeface="Calibri"/>
                <a:cs typeface="Calibri"/>
              </a:rPr>
              <a:t>T</a:t>
            </a:r>
            <a:r>
              <a:rPr sz="8000" spc="-105" dirty="0">
                <a:solidFill>
                  <a:srgbClr val="7D1B68"/>
                </a:solidFill>
                <a:latin typeface="Calibri"/>
                <a:cs typeface="Calibri"/>
              </a:rPr>
              <a:t>r</a:t>
            </a:r>
            <a:r>
              <a:rPr sz="8000" spc="5" dirty="0">
                <a:solidFill>
                  <a:srgbClr val="7D1B68"/>
                </a:solidFill>
                <a:latin typeface="Calibri"/>
                <a:cs typeface="Calibri"/>
              </a:rPr>
              <a:t>ee</a:t>
            </a:r>
            <a:endParaRPr sz="8000" dirty="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68903" y="3674567"/>
            <a:ext cx="319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2400" b="1" spc="-2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7D1B68"/>
                </a:solidFill>
                <a:latin typeface="Arial"/>
                <a:cs typeface="Arial"/>
              </a:rPr>
              <a:t>1</a:t>
            </a:r>
            <a:r>
              <a:rPr lang="en-US" sz="2400" b="1" spc="-5" dirty="0">
                <a:solidFill>
                  <a:srgbClr val="7D1B68"/>
                </a:solidFill>
                <a:latin typeface="Arial"/>
                <a:cs typeface="Arial"/>
              </a:rPr>
              <a:t>4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1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2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</a:t>
            </a:r>
            <a:r>
              <a:rPr lang="en-US" sz="1800" b="1" spc="-5" dirty="0">
                <a:latin typeface="Arial"/>
                <a:cs typeface="Arial"/>
              </a:rPr>
              <a:t>r</a:t>
            </a:r>
            <a:r>
              <a:rPr sz="1800" b="1" spc="-5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3" name="object 7"/>
          <p:cNvSpPr txBox="1"/>
          <p:nvPr/>
        </p:nvSpPr>
        <p:spPr>
          <a:xfrm>
            <a:off x="1031238" y="5483453"/>
            <a:ext cx="35407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1835023"/>
            <a:ext cx="3944620" cy="235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Introduction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lang="en-US" sz="2800" spc="-20" dirty="0">
                <a:latin typeface="Calibri"/>
                <a:cs typeface="Calibri"/>
              </a:rPr>
              <a:t>Balanced </a:t>
            </a:r>
            <a:r>
              <a:rPr sz="2800" spc="-55" dirty="0">
                <a:latin typeface="Calibri"/>
                <a:cs typeface="Calibri"/>
              </a:rPr>
              <a:t>Tree</a:t>
            </a:r>
            <a:r>
              <a:rPr lang="en-US" sz="2800" spc="-55" dirty="0">
                <a:latin typeface="Calibri"/>
                <a:cs typeface="Calibri"/>
              </a:rPr>
              <a:t> in Data Structure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Calibri"/>
                <a:cs typeface="Calibri"/>
              </a:rPr>
              <a:t>AVL Tree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800" dirty="0"/>
              <a:t>Rotations in AVL Trees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4394" y="988314"/>
            <a:ext cx="536067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25" dirty="0"/>
              <a:t>Table</a:t>
            </a:r>
            <a:r>
              <a:rPr sz="5400" spc="-30" dirty="0"/>
              <a:t> </a:t>
            </a:r>
            <a:r>
              <a:rPr sz="5400" dirty="0"/>
              <a:t>of</a:t>
            </a:r>
            <a:r>
              <a:rPr sz="5400" spc="-30" dirty="0"/>
              <a:t> </a:t>
            </a:r>
            <a:r>
              <a:rPr sz="5400" spc="-5" dirty="0"/>
              <a:t>Contents</a:t>
            </a:r>
            <a:endParaRPr sz="54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717" y="1699082"/>
            <a:ext cx="7101840" cy="11817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understand the concept of Balanced Trees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3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know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lang="en-US" sz="2800" spc="-5" dirty="0">
                <a:latin typeface="Calibri"/>
                <a:cs typeface="Calibri"/>
              </a:rPr>
              <a:t>the concept of AVL Tree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4394" y="835913"/>
            <a:ext cx="7675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006FC0"/>
                </a:solidFill>
              </a:rPr>
              <a:t>Objectives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1843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In a regular Binary Search Tree, elements are stored such that all values in the left subtree are smaller than the node value, and all values in the right subtree are greater.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Searching in a well-balanced BST usually takes </a:t>
            </a:r>
            <a:r>
              <a:rPr lang="en-US" sz="2400" b="1" dirty="0"/>
              <a:t>O(log n)</a:t>
            </a:r>
            <a:r>
              <a:rPr lang="en-US" sz="2400" dirty="0"/>
              <a:t> time.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Balanced Trees in Data Structures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514F272D-F920-4B3B-D6B2-D16C64A6E433}"/>
              </a:ext>
            </a:extLst>
          </p:cNvPr>
          <p:cNvSpPr/>
          <p:nvPr/>
        </p:nvSpPr>
        <p:spPr>
          <a:xfrm>
            <a:off x="7239000" y="3692395"/>
            <a:ext cx="3810000" cy="218438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50</a:t>
            </a:r>
          </a:p>
          <a:p>
            <a:pPr algn="ctr"/>
            <a:r>
              <a:rPr lang="en-US" sz="2400" dirty="0"/>
              <a:t>       /  \</a:t>
            </a:r>
          </a:p>
          <a:p>
            <a:pPr algn="ctr"/>
            <a:r>
              <a:rPr lang="en-US" sz="2400" dirty="0"/>
              <a:t>        30    70</a:t>
            </a:r>
          </a:p>
          <a:p>
            <a:pPr algn="ctr"/>
            <a:r>
              <a:rPr lang="en-US" sz="2400" dirty="0"/>
              <a:t>       /  \     / \</a:t>
            </a:r>
          </a:p>
          <a:p>
            <a:pPr algn="ctr"/>
            <a:r>
              <a:rPr lang="en-US" sz="2400" dirty="0"/>
              <a:t>       20   40  60  80</a:t>
            </a:r>
          </a:p>
        </p:txBody>
      </p:sp>
    </p:spTree>
    <p:extLst>
      <p:ext uri="{BB962C8B-B14F-4D97-AF65-F5344CB8AC3E}">
        <p14:creationId xmlns:p14="http://schemas.microsoft.com/office/powerpoint/2010/main" val="108356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764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While Binary Search Tree allows efficient searching, the structure can become highly unbalanced if data is inserted in sorted order.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For example, insert the numbers: 10, 20, 30, 40, 50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The tree becomes: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71D6DE60-982E-607F-CDA1-B5CF380A94D1}"/>
              </a:ext>
            </a:extLst>
          </p:cNvPr>
          <p:cNvSpPr/>
          <p:nvPr/>
        </p:nvSpPr>
        <p:spPr>
          <a:xfrm>
            <a:off x="3130931" y="3429000"/>
            <a:ext cx="4114800" cy="228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  <a:p>
            <a:pPr algn="ctr"/>
            <a:r>
              <a:rPr lang="en-US" dirty="0"/>
              <a:t>  \</a:t>
            </a:r>
          </a:p>
          <a:p>
            <a:pPr algn="ctr"/>
            <a:r>
              <a:rPr lang="en-US" dirty="0"/>
              <a:t>   20</a:t>
            </a:r>
          </a:p>
          <a:p>
            <a:pPr algn="ctr"/>
            <a:r>
              <a:rPr lang="en-US" dirty="0"/>
              <a:t>     \</a:t>
            </a:r>
          </a:p>
          <a:p>
            <a:pPr algn="ctr"/>
            <a:r>
              <a:rPr lang="en-US" dirty="0"/>
              <a:t>      30</a:t>
            </a:r>
          </a:p>
          <a:p>
            <a:pPr algn="ctr"/>
            <a:r>
              <a:rPr lang="en-US" dirty="0"/>
              <a:t>        \</a:t>
            </a:r>
          </a:p>
          <a:p>
            <a:pPr algn="ctr"/>
            <a:r>
              <a:rPr lang="en-US" dirty="0"/>
              <a:t>         40</a:t>
            </a:r>
          </a:p>
          <a:p>
            <a:pPr algn="ctr"/>
            <a:r>
              <a:rPr lang="en-US" dirty="0"/>
              <a:t>           \</a:t>
            </a:r>
          </a:p>
          <a:p>
            <a:pPr algn="ctr"/>
            <a:r>
              <a:rPr lang="en-US" dirty="0"/>
              <a:t>            50</a:t>
            </a:r>
          </a:p>
        </p:txBody>
      </p:sp>
    </p:spTree>
    <p:extLst>
      <p:ext uri="{BB962C8B-B14F-4D97-AF65-F5344CB8AC3E}">
        <p14:creationId xmlns:p14="http://schemas.microsoft.com/office/powerpoint/2010/main" val="3795236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502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Instead of spreading out like a tree, the structure becomes a </a:t>
            </a:r>
            <a:r>
              <a:rPr lang="en-US" sz="2400" b="1" dirty="0"/>
              <a:t>long chain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This looks almost like a </a:t>
            </a:r>
            <a:r>
              <a:rPr lang="en-US" sz="2400" b="1" dirty="0"/>
              <a:t>linked list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If we search for </a:t>
            </a:r>
            <a:r>
              <a:rPr lang="en-US" sz="2400" b="1" dirty="0"/>
              <a:t>50</a:t>
            </a:r>
            <a:r>
              <a:rPr lang="en-US" sz="2400" dirty="0"/>
              <a:t>, we must check: 10 → 20 → 30 → 40 → 50</a:t>
            </a:r>
          </a:p>
          <a:p>
            <a:r>
              <a:rPr lang="en-US" sz="2400" dirty="0"/>
              <a:t>That means we examine </a:t>
            </a:r>
            <a:r>
              <a:rPr lang="en-US" sz="2400" b="1" dirty="0"/>
              <a:t>every node</a:t>
            </a:r>
            <a:r>
              <a:rPr lang="en-US" sz="2400" dirty="0"/>
              <a:t>. So the time complexity becomes:</a:t>
            </a:r>
          </a:p>
          <a:p>
            <a:r>
              <a:rPr lang="en-US" sz="2400" b="1" dirty="0"/>
              <a:t>O(n)</a:t>
            </a:r>
            <a:r>
              <a:rPr lang="en-US" sz="2400" dirty="0"/>
              <a:t> instead of </a:t>
            </a:r>
            <a:r>
              <a:rPr lang="en-US" sz="2400" b="1" dirty="0"/>
              <a:t>O(log n)</a:t>
            </a:r>
            <a:r>
              <a:rPr lang="en-US" sz="2400" dirty="0"/>
              <a:t>.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2923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An </a:t>
            </a:r>
            <a:r>
              <a:rPr lang="en-US" sz="2400" b="1" dirty="0"/>
              <a:t>AVL Tree</a:t>
            </a:r>
            <a:r>
              <a:rPr lang="en-US" sz="2400" dirty="0"/>
              <a:t> is a special type of </a:t>
            </a:r>
            <a:r>
              <a:rPr lang="en-US" sz="2400" b="1" dirty="0"/>
              <a:t>self-balancing Binary Search Tree (BST)</a:t>
            </a:r>
            <a:r>
              <a:rPr lang="en-US" sz="2400" dirty="0"/>
              <a:t> designed to keep its height small so that operations remain efficient.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The concept was introduced in 1962 by the mathematicians Georgy Adelson‑</a:t>
            </a:r>
            <a:r>
              <a:rPr lang="en-US" sz="2400" dirty="0" err="1"/>
              <a:t>Velsky</a:t>
            </a:r>
            <a:r>
              <a:rPr lang="en-US" sz="2400" dirty="0"/>
              <a:t> and Evgenii Landis, and the name </a:t>
            </a:r>
            <a:r>
              <a:rPr lang="en-US" sz="2400" b="1" dirty="0"/>
              <a:t>AVL</a:t>
            </a:r>
            <a:r>
              <a:rPr lang="en-US" sz="2400" dirty="0"/>
              <a:t> comes from the initials of their surnames.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AVL Tree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927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77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An AVL Tree follows all the properties of a </a:t>
            </a:r>
            <a:r>
              <a:rPr lang="en-US" sz="2400" b="1" dirty="0"/>
              <a:t>Binary Search Tree</a:t>
            </a:r>
            <a:r>
              <a:rPr lang="en-US" sz="2400" dirty="0"/>
              <a:t>: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The </a:t>
            </a:r>
            <a:r>
              <a:rPr lang="en-US" sz="2400" b="1" dirty="0"/>
              <a:t>left subtree</a:t>
            </a:r>
            <a:r>
              <a:rPr lang="en-US" sz="2400" dirty="0"/>
              <a:t> of a node contains values </a:t>
            </a:r>
            <a:r>
              <a:rPr lang="en-US" sz="2400" b="1" dirty="0"/>
              <a:t>less than</a:t>
            </a:r>
            <a:r>
              <a:rPr lang="en-US" sz="2400" dirty="0"/>
              <a:t> the node.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The </a:t>
            </a:r>
            <a:r>
              <a:rPr lang="en-US" sz="2400" b="1" dirty="0"/>
              <a:t>right subtree</a:t>
            </a:r>
            <a:r>
              <a:rPr lang="en-US" sz="2400" dirty="0"/>
              <a:t> contains values </a:t>
            </a:r>
            <a:r>
              <a:rPr lang="en-US" sz="2400" b="1" dirty="0"/>
              <a:t>greater than</a:t>
            </a:r>
            <a:r>
              <a:rPr lang="en-US" sz="2400" dirty="0"/>
              <a:t> the node.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Both subtrees must also be </a:t>
            </a:r>
            <a:r>
              <a:rPr lang="en-US" sz="2400" b="1" dirty="0"/>
              <a:t>BSTs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In addition to BST rules, an AVL Tree maintains a </a:t>
            </a:r>
            <a:r>
              <a:rPr lang="en-US" sz="2400" b="1" dirty="0"/>
              <a:t>balance condition.</a:t>
            </a:r>
            <a:endParaRPr lang="en-US"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Basic Properties of an AVL Tree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15702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305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For every node in an AVL Tree, the balance factor must be: −1, 0 or +1.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Balance Factor=Height(Left Subtree)−Height(Right Subtree)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If the balance factor becomes </a:t>
            </a:r>
            <a:r>
              <a:rPr lang="en-US" sz="2400" b="1" dirty="0"/>
              <a:t>less than −1 or greater than +1</a:t>
            </a:r>
            <a:r>
              <a:rPr lang="en-US" sz="2400" dirty="0"/>
              <a:t>, the tree becomes </a:t>
            </a:r>
            <a:r>
              <a:rPr lang="en-US" sz="2400" b="1" dirty="0"/>
              <a:t>unbalanced</a:t>
            </a:r>
            <a:r>
              <a:rPr lang="en-US" sz="2400" dirty="0"/>
              <a:t>, and rotations are performed to restore balance.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86191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4464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The </a:t>
            </a:r>
            <a:r>
              <a:rPr lang="en-US" sz="2400" b="1" dirty="0"/>
              <a:t>height</a:t>
            </a:r>
            <a:r>
              <a:rPr lang="en-US" sz="2400" dirty="0"/>
              <a:t> of a node is the number of edges on the longest path from that node to a leaf.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Example: Height(10) = 0, Height(20) = 1 and Height(30) = 2.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30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/  \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20    40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/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10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Height of a Node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175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34367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For each node: BF=Height(left)−Height(right)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Example: </a:t>
            </a:r>
            <a:r>
              <a:rPr lang="de-DE" sz="2400" dirty="0"/>
              <a:t>BF(30) = 1 − 1 = </a:t>
            </a:r>
            <a:r>
              <a:rPr lang="de-DE" sz="2400" b="1" dirty="0"/>
              <a:t>0</a:t>
            </a:r>
            <a:endParaRPr lang="en-US" sz="2400" b="1" dirty="0"/>
          </a:p>
          <a:p>
            <a:pPr marL="1384300" marR="1036955" lvl="3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30</a:t>
            </a:r>
          </a:p>
          <a:p>
            <a:pPr marL="1384300" marR="1036955" lvl="3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/  \</a:t>
            </a:r>
          </a:p>
          <a:p>
            <a:pPr marL="1384300" marR="1036955" lvl="3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20    40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 panose="05000000000000000000" pitchFamily="2" charset="2"/>
              <a:buChar char="q"/>
              <a:tabLst>
                <a:tab pos="355600" algn="l"/>
              </a:tabLst>
            </a:pPr>
            <a:r>
              <a:rPr lang="en-US" sz="2400" dirty="0"/>
              <a:t>So, the Tree is AVL Tree.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Balance Factor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85330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504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Example: if the tree becomes:  </a:t>
            </a:r>
          </a:p>
          <a:p>
            <a:pPr marL="3213100" marR="1036955" lvl="7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30</a:t>
            </a:r>
          </a:p>
          <a:p>
            <a:pPr marL="3213100" marR="1036955" lvl="7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/</a:t>
            </a:r>
          </a:p>
          <a:p>
            <a:pPr marL="3213100" marR="1036955" lvl="7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20</a:t>
            </a:r>
          </a:p>
          <a:p>
            <a:pPr marL="3213100" marR="1036955" lvl="7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/</a:t>
            </a:r>
          </a:p>
          <a:p>
            <a:pPr marL="3213100" marR="1036955" lvl="7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10     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de-DE" sz="2400" dirty="0"/>
              <a:t>BF(30) = 2 − 0 = </a:t>
            </a:r>
            <a:r>
              <a:rPr lang="de-DE" sz="2400" b="1" dirty="0"/>
              <a:t>2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So, the Tree is not an AVL Tree.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endParaRPr lang="en-US"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21691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3308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To restore balance, AVL Trees use </a:t>
            </a:r>
            <a:r>
              <a:rPr lang="en-US" sz="2400" b="1" dirty="0"/>
              <a:t>tree rotations</a:t>
            </a:r>
            <a:r>
              <a:rPr lang="en-US" sz="2400" dirty="0"/>
              <a:t>. There are </a:t>
            </a:r>
            <a:r>
              <a:rPr lang="en-US" sz="2400" b="1" dirty="0"/>
              <a:t>four types</a:t>
            </a:r>
            <a:r>
              <a:rPr lang="en-US" sz="2400" dirty="0"/>
              <a:t>.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Left Rotation 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Right Rotation 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Left-Right Rotation 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Right-Left Rotation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Rotations in AVL Trees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59050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44644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Occurs when a Tree becomes unbalanced due to insertion in the </a:t>
            </a:r>
            <a:r>
              <a:rPr lang="en-US" sz="2400" b="1" dirty="0"/>
              <a:t>right subtree of the right child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Before Rotation: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10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20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Left Rotation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15739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After </a:t>
            </a:r>
            <a:r>
              <a:rPr lang="en-US" sz="2400" b="1" dirty="0"/>
              <a:t>Left Rotation</a:t>
            </a:r>
            <a:r>
              <a:rPr lang="en-US" sz="2400" dirty="0"/>
              <a:t>: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20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/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10    30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55385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38720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Occurs when insertion happens in the </a:t>
            </a:r>
            <a:r>
              <a:rPr lang="en-US" sz="2400" b="1" dirty="0"/>
              <a:t>left subtree of the left child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Before Rotation:</a:t>
            </a:r>
          </a:p>
          <a:p>
            <a:pPr marL="1841500" marR="1036955" lvl="4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30</a:t>
            </a:r>
            <a:br>
              <a:rPr lang="en-US" sz="2400" dirty="0"/>
            </a:br>
            <a:r>
              <a:rPr lang="en-US" sz="2400" dirty="0"/>
              <a:t>       /</a:t>
            </a:r>
            <a:br>
              <a:rPr lang="en-US" sz="2400" dirty="0"/>
            </a:br>
            <a:r>
              <a:rPr lang="en-US" sz="2400" dirty="0"/>
              <a:t>   20</a:t>
            </a:r>
            <a:br>
              <a:rPr lang="en-US" sz="2400" dirty="0"/>
            </a:br>
            <a:r>
              <a:rPr lang="en-US" sz="2400" dirty="0"/>
              <a:t>   /</a:t>
            </a:r>
          </a:p>
          <a:p>
            <a:pPr marL="1841500" marR="1036955" lvl="4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10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Right Rotation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1706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After </a:t>
            </a:r>
            <a:r>
              <a:rPr lang="en-US" sz="2400" b="1" dirty="0"/>
              <a:t>Right Rotation</a:t>
            </a:r>
            <a:r>
              <a:rPr lang="en-US" sz="2400" dirty="0"/>
              <a:t>: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                    20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/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10    30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68313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4744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Occurs when insertion happens in the </a:t>
            </a:r>
            <a:r>
              <a:rPr lang="en-US" sz="2400" b="1" dirty="0"/>
              <a:t>right subtree of the left child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Steps: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b="1" dirty="0"/>
              <a:t>Left rotation</a:t>
            </a:r>
            <a:r>
              <a:rPr lang="en-US" sz="2400" dirty="0"/>
              <a:t> on left child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b="1" dirty="0"/>
              <a:t>Right rotation</a:t>
            </a:r>
            <a:r>
              <a:rPr lang="en-US" sz="2400" dirty="0"/>
              <a:t> on node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Before Rotation: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30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/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10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\</a:t>
            </a:r>
          </a:p>
          <a:p>
            <a:pPr marL="927100" marR="1036955" lvl="2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                20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Left-Right Rotation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18501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After </a:t>
            </a:r>
            <a:r>
              <a:rPr lang="en-US" sz="2400" b="1" dirty="0"/>
              <a:t>Left-Right Rotation: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                    20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/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10    30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0264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4744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Occurs when insertion happens in the </a:t>
            </a:r>
            <a:r>
              <a:rPr lang="en-US" sz="2400" b="1" dirty="0"/>
              <a:t>left subtree of the right child</a:t>
            </a:r>
            <a:r>
              <a:rPr lang="en-US" sz="2400" dirty="0"/>
              <a:t>.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Steps: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b="1" dirty="0"/>
              <a:t>Right rotation</a:t>
            </a:r>
            <a:r>
              <a:rPr lang="en-US" sz="2400" dirty="0"/>
              <a:t> on right child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b="1" dirty="0"/>
              <a:t>Left rotation</a:t>
            </a:r>
            <a:r>
              <a:rPr lang="en-US" sz="2400" dirty="0"/>
              <a:t> on node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Before Rotation: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10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\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30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/</a:t>
            </a:r>
          </a:p>
          <a:p>
            <a:pPr marL="2298700" marR="1036955" lvl="5"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20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Right-Left Rotation</a:t>
            </a:r>
            <a:endParaRPr lang="en-US"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4272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After </a:t>
            </a:r>
            <a:r>
              <a:rPr lang="en-US" sz="2400" b="1" dirty="0"/>
              <a:t>Right-Left Rotation:</a:t>
            </a:r>
          </a:p>
          <a:p>
            <a:pPr marL="12700" marR="1036955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                           20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  /  \</a:t>
            </a:r>
          </a:p>
          <a:p>
            <a:pPr marL="1841500" marR="1036955" lvl="4" algn="just">
              <a:lnSpc>
                <a:spcPct val="150000"/>
              </a:lnSpc>
              <a:spcBef>
                <a:spcPts val="100"/>
              </a:spcBef>
              <a:tabLst>
                <a:tab pos="355600" algn="l"/>
              </a:tabLst>
            </a:pPr>
            <a:r>
              <a:rPr lang="en-US" sz="2400" dirty="0"/>
              <a:t>   10    30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5" dirty="0"/>
              <a:t>Cont..</a:t>
            </a:r>
            <a:endParaRPr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145661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77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Steps: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Insert node like a </a:t>
            </a:r>
            <a:r>
              <a:rPr lang="en-US" sz="2400" b="1" dirty="0"/>
              <a:t>BST</a:t>
            </a:r>
            <a:r>
              <a:rPr lang="en-US" sz="2400" dirty="0"/>
              <a:t>.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Update </a:t>
            </a:r>
            <a:r>
              <a:rPr lang="en-US" sz="2400" b="1" dirty="0"/>
              <a:t>height</a:t>
            </a:r>
            <a:r>
              <a:rPr lang="en-US" sz="2400" dirty="0"/>
              <a:t> of nodes.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Compute </a:t>
            </a:r>
            <a:r>
              <a:rPr lang="en-US" sz="2400" b="1" dirty="0"/>
              <a:t>balance factor</a:t>
            </a:r>
            <a:r>
              <a:rPr lang="en-US" sz="2400" dirty="0"/>
              <a:t>.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If unbalanced → perform appropriate </a:t>
            </a:r>
            <a:r>
              <a:rPr lang="en-US" sz="2400" b="1" dirty="0"/>
              <a:t>rotation</a:t>
            </a:r>
            <a:r>
              <a:rPr lang="en-US" sz="2400" dirty="0"/>
              <a:t>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AVL Tree Operations (Insertion)</a:t>
            </a:r>
            <a:endParaRPr lang="en-US"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14321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Deletion also follows BST rules, but after removing a node: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Update heights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Check balance</a:t>
            </a:r>
          </a:p>
          <a:p>
            <a:pPr marL="812800" marR="1036955" lvl="1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Perform rotations if necessary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AVL Tree Operations (Deletion)</a:t>
            </a:r>
            <a:endParaRPr lang="en-US"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42389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Always </a:t>
            </a:r>
            <a:r>
              <a:rPr lang="en-US" sz="2400" b="1" dirty="0"/>
              <a:t>balanced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Guarantees </a:t>
            </a:r>
            <a:r>
              <a:rPr lang="en-US" sz="2400" b="1" dirty="0"/>
              <a:t>O(log n)</a:t>
            </a:r>
            <a:r>
              <a:rPr lang="en-US" sz="2400" dirty="0"/>
              <a:t> search time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Good for </a:t>
            </a:r>
            <a:r>
              <a:rPr lang="en-US" sz="2400" b="1" dirty="0"/>
              <a:t>read-heavy applications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Perform rotations if necessary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Advantages of AVL Trees</a:t>
            </a:r>
            <a:endParaRPr lang="en-US"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223192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8194" y="1362582"/>
            <a:ext cx="10021570" cy="2210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More </a:t>
            </a:r>
            <a:r>
              <a:rPr lang="en-US" sz="2400" b="1" dirty="0"/>
              <a:t>rotations</a:t>
            </a:r>
            <a:r>
              <a:rPr lang="en-US" sz="2400" dirty="0"/>
              <a:t> during insertion/deletion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Slightly </a:t>
            </a:r>
            <a:r>
              <a:rPr lang="en-US" sz="2400" b="1" dirty="0"/>
              <a:t>slower updates</a:t>
            </a:r>
            <a:r>
              <a:rPr lang="en-US" sz="2400" dirty="0"/>
              <a:t> than some other balanced trees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Good for </a:t>
            </a:r>
            <a:r>
              <a:rPr lang="en-US" sz="2400" b="1" dirty="0"/>
              <a:t>read-heavy applications</a:t>
            </a:r>
          </a:p>
          <a:p>
            <a:pPr marL="355600" marR="103695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lang="en-US" sz="2400" dirty="0"/>
              <a:t>More </a:t>
            </a:r>
            <a:r>
              <a:rPr lang="en-US" sz="2400" b="1" dirty="0"/>
              <a:t>memory usage</a:t>
            </a:r>
            <a:r>
              <a:rPr lang="en-US" sz="2400" dirty="0"/>
              <a:t> due to storing heights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778027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Disadvantages of AVL Trees</a:t>
            </a:r>
            <a:endParaRPr lang="en-US" spc="-5" dirty="0"/>
          </a:p>
        </p:txBody>
      </p:sp>
      <p:grpSp>
        <p:nvGrpSpPr>
          <p:cNvPr id="19" name="object 19"/>
          <p:cNvGrpSpPr/>
          <p:nvPr/>
        </p:nvGrpSpPr>
        <p:grpSpPr>
          <a:xfrm>
            <a:off x="0" y="6477000"/>
            <a:ext cx="12192000" cy="381000"/>
            <a:chOff x="0" y="6477000"/>
            <a:chExt cx="12192000" cy="381000"/>
          </a:xfrm>
        </p:grpSpPr>
        <p:sp>
          <p:nvSpPr>
            <p:cNvPr id="20" name="object 20"/>
            <p:cNvSpPr/>
            <p:nvPr/>
          </p:nvSpPr>
          <p:spPr>
            <a:xfrm>
              <a:off x="0" y="6477000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8"/>
                  </a:moveTo>
                  <a:lnTo>
                    <a:pt x="12192000" y="304798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8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6781798"/>
              <a:ext cx="12192000" cy="76200"/>
            </a:xfrm>
            <a:custGeom>
              <a:avLst/>
              <a:gdLst/>
              <a:ahLst/>
              <a:cxnLst/>
              <a:rect l="l" t="t" r="r" b="b"/>
              <a:pathLst>
                <a:path w="12192000" h="76200">
                  <a:moveTo>
                    <a:pt x="12192000" y="0"/>
                  </a:moveTo>
                  <a:lnTo>
                    <a:pt x="0" y="0"/>
                  </a:lnTo>
                  <a:lnTo>
                    <a:pt x="0" y="76198"/>
                  </a:lnTo>
                  <a:lnTo>
                    <a:pt x="12192000" y="76198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55226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1929511"/>
            <a:ext cx="3944620" cy="2351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libri"/>
                <a:cs typeface="Calibri"/>
              </a:rPr>
              <a:t>Introduction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 </a:t>
            </a:r>
            <a:r>
              <a:rPr lang="en-US" sz="2800" spc="-20" dirty="0">
                <a:latin typeface="Calibri"/>
                <a:cs typeface="Calibri"/>
              </a:rPr>
              <a:t>Balanced </a:t>
            </a:r>
            <a:r>
              <a:rPr sz="2800" spc="-55" dirty="0">
                <a:latin typeface="Calibri"/>
                <a:cs typeface="Calibri"/>
              </a:rPr>
              <a:t>Tree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Calibri"/>
                <a:cs typeface="Calibri"/>
              </a:rPr>
              <a:t>AVL Tree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lang="en-US" sz="2800" spc="-5" dirty="0">
                <a:latin typeface="Calibri"/>
                <a:cs typeface="Calibri"/>
              </a:rPr>
              <a:t>AVL Tree Rotations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4394" y="1140916"/>
            <a:ext cx="66071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Summery</a:t>
            </a:r>
            <a:r>
              <a:rPr sz="3600" spc="-5" dirty="0"/>
              <a:t> </a:t>
            </a:r>
            <a:r>
              <a:rPr sz="3600" dirty="0"/>
              <a:t>&amp;</a:t>
            </a:r>
            <a:r>
              <a:rPr sz="3600" spc="-15" dirty="0"/>
              <a:t> </a:t>
            </a:r>
            <a:r>
              <a:rPr sz="3600" spc="-5" dirty="0"/>
              <a:t>Students Evaluation</a:t>
            </a:r>
            <a:endParaRPr sz="36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49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40" dirty="0">
                <a:latin typeface="Calibri"/>
                <a:cs typeface="Calibri"/>
              </a:rPr>
              <a:t>Any</a:t>
            </a:r>
            <a:r>
              <a:rPr sz="6000" b="1" spc="-80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14291" y="1559178"/>
            <a:ext cx="238760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>
                <a:latin typeface="Calibri"/>
                <a:cs typeface="Calibri"/>
              </a:rPr>
              <a:t>Next</a:t>
            </a:r>
            <a:r>
              <a:rPr sz="4400" spc="-80" dirty="0">
                <a:latin typeface="Calibri"/>
                <a:cs typeface="Calibri"/>
              </a:rPr>
              <a:t> </a:t>
            </a:r>
            <a:r>
              <a:rPr sz="4400" spc="-85" dirty="0"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33800" y="2514600"/>
            <a:ext cx="5863591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7200" dirty="0">
                <a:solidFill>
                  <a:srgbClr val="7D1B68"/>
                </a:solidFill>
                <a:latin typeface="Calibri"/>
                <a:cs typeface="Calibri"/>
              </a:rPr>
              <a:t>Red-black Tree</a:t>
            </a:r>
            <a:endParaRPr lang="en-US" sz="7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960</Words>
  <Application>Microsoft Office PowerPoint</Application>
  <PresentationFormat>Widescreen</PresentationFormat>
  <Paragraphs>171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</vt:lpstr>
      <vt:lpstr>Table of Contents</vt:lpstr>
      <vt:lpstr>Objectives</vt:lpstr>
      <vt:lpstr>Balanced Trees in Data Structures</vt:lpstr>
      <vt:lpstr>Cont..</vt:lpstr>
      <vt:lpstr>Cont..</vt:lpstr>
      <vt:lpstr>AVL Tree</vt:lpstr>
      <vt:lpstr>Basic Properties of an AVL Tree</vt:lpstr>
      <vt:lpstr>Cont..</vt:lpstr>
      <vt:lpstr>Height of a Node</vt:lpstr>
      <vt:lpstr>Balance Factor</vt:lpstr>
      <vt:lpstr>Cont..</vt:lpstr>
      <vt:lpstr>Rotations in AVL Trees</vt:lpstr>
      <vt:lpstr>Left Rotation</vt:lpstr>
      <vt:lpstr>Cont..</vt:lpstr>
      <vt:lpstr>Right Rotation</vt:lpstr>
      <vt:lpstr>Cont..</vt:lpstr>
      <vt:lpstr>Left-Right Rotation</vt:lpstr>
      <vt:lpstr>Cont..</vt:lpstr>
      <vt:lpstr>Right-Left Rotation</vt:lpstr>
      <vt:lpstr>Cont..</vt:lpstr>
      <vt:lpstr>AVL Tree Operations (Insertion)</vt:lpstr>
      <vt:lpstr>AVL Tree Operations (Deletion)</vt:lpstr>
      <vt:lpstr>Advantages of AVL Trees</vt:lpstr>
      <vt:lpstr>Disadvantages of AVL Trees</vt:lpstr>
      <vt:lpstr>Summery &amp; Students Evaluation</vt:lpstr>
      <vt:lpstr>Any 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Mohammad Salim Hamdard</cp:lastModifiedBy>
  <cp:revision>61</cp:revision>
  <dcterms:created xsi:type="dcterms:W3CDTF">2024-04-22T08:30:03Z</dcterms:created>
  <dcterms:modified xsi:type="dcterms:W3CDTF">2026-06-06T16:16:44Z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</Properties>
</file>