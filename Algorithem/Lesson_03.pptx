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4291" y="1559178"/>
            <a:ext cx="3963416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791413"/>
            <a:ext cx="518795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8385" y="1374140"/>
            <a:ext cx="10741025" cy="276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54028" y="6498335"/>
            <a:ext cx="315595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826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8709" y="5065852"/>
            <a:ext cx="3814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7996" y="5596534"/>
            <a:ext cx="3011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JAHAN</a:t>
            </a:r>
            <a:r>
              <a:rPr sz="32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7329" y="5483453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year: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2447544"/>
            <a:ext cx="2070354" cy="89992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13382" y="2471750"/>
            <a:ext cx="78530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spc="-135" baseline="2604" dirty="0">
                <a:solidFill>
                  <a:srgbClr val="00AF50"/>
                </a:solidFill>
              </a:rPr>
              <a:t>Course:</a:t>
            </a:r>
            <a:r>
              <a:rPr sz="4000" spc="-9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40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spc="-15" dirty="0">
                <a:solidFill>
                  <a:srgbClr val="006FC0"/>
                </a:solidFill>
                <a:latin typeface="Calibri"/>
                <a:cs typeface="Calibri"/>
              </a:rPr>
              <a:t>Structure</a:t>
            </a:r>
            <a:r>
              <a:rPr sz="4000" spc="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40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97779" y="3122676"/>
            <a:ext cx="2639060" cy="1929130"/>
            <a:chOff x="5097779" y="3122676"/>
            <a:chExt cx="2639060" cy="192913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7779" y="4072128"/>
              <a:ext cx="2638805" cy="9791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6923" y="3122676"/>
              <a:ext cx="2618994" cy="165277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561838" y="3300425"/>
            <a:ext cx="16783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7D1B68"/>
                </a:solidFill>
                <a:latin typeface="Calibri"/>
                <a:cs typeface="Calibri"/>
              </a:rPr>
              <a:t>Ar</a:t>
            </a:r>
            <a:r>
              <a:rPr sz="6000" spc="-145" dirty="0">
                <a:solidFill>
                  <a:srgbClr val="7D1B68"/>
                </a:solidFill>
                <a:latin typeface="Calibri"/>
                <a:cs typeface="Calibri"/>
              </a:rPr>
              <a:t>r</a:t>
            </a:r>
            <a:r>
              <a:rPr sz="6000" spc="-105" dirty="0">
                <a:solidFill>
                  <a:srgbClr val="7D1B68"/>
                </a:solidFill>
                <a:latin typeface="Calibri"/>
                <a:cs typeface="Calibri"/>
              </a:rPr>
              <a:t>a</a:t>
            </a:r>
            <a:r>
              <a:rPr sz="6000" dirty="0">
                <a:solidFill>
                  <a:srgbClr val="7D1B68"/>
                </a:solidFill>
                <a:latin typeface="Calibri"/>
                <a:cs typeface="Calibri"/>
              </a:rPr>
              <a:t>y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6000" y="3572980"/>
            <a:ext cx="40170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sz="3200" b="1" spc="-4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lang="en-US" sz="3200" b="1" spc="-40" dirty="0">
                <a:solidFill>
                  <a:srgbClr val="7D1B68"/>
                </a:solidFill>
                <a:latin typeface="Arial"/>
                <a:cs typeface="Arial"/>
              </a:rPr>
              <a:t>3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3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</a:t>
            </a:r>
            <a:r>
              <a:rPr lang="en-US" sz="1800" b="1" spc="-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5" name="object 7"/>
          <p:cNvSpPr txBox="1"/>
          <p:nvPr/>
        </p:nvSpPr>
        <p:spPr>
          <a:xfrm>
            <a:off x="1031238" y="5483453"/>
            <a:ext cx="35167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539" y="1456816"/>
            <a:ext cx="5553075" cy="4578818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Introduction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spc="-30" dirty="0">
                <a:latin typeface="Calibri"/>
                <a:cs typeface="Calibri"/>
              </a:rPr>
              <a:t> Array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20" dirty="0">
                <a:latin typeface="Calibri"/>
                <a:cs typeface="Calibri"/>
              </a:rPr>
              <a:t>Representation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Array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dirty="0">
                <a:latin typeface="Calibri"/>
                <a:cs typeface="Calibri"/>
              </a:rPr>
              <a:t>Basic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Operations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on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Array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Implementation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lang="en-US" sz="3600" spc="-20" dirty="0">
                <a:latin typeface="Calibri"/>
                <a:cs typeface="Calibri"/>
              </a:rPr>
              <a:t>Java or </a:t>
            </a:r>
            <a:r>
              <a:rPr sz="3600" dirty="0">
                <a:latin typeface="Calibri"/>
                <a:cs typeface="Calibri"/>
              </a:rPr>
              <a:t>C++</a:t>
            </a: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30" dirty="0">
                <a:latin typeface="Calibri"/>
                <a:cs typeface="Calibri"/>
              </a:rPr>
              <a:t>Array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traversing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30" dirty="0">
                <a:latin typeface="Calibri"/>
                <a:cs typeface="Calibri"/>
              </a:rPr>
              <a:t>Array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insertion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deletion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739" y="5582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latin typeface="Arial MT"/>
                <a:cs typeface="Arial MT"/>
              </a:rPr>
              <a:t>Contents</a:t>
            </a:r>
            <a:endParaRPr sz="6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830" y="831849"/>
            <a:ext cx="8227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>
                <a:solidFill>
                  <a:srgbClr val="001F5F"/>
                </a:solidFill>
                <a:latin typeface="Calibri"/>
                <a:cs typeface="Calibri"/>
              </a:rPr>
              <a:t>Objective</a:t>
            </a:r>
            <a:r>
              <a:rPr lang="en-US" spc="-1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endParaRPr spc="-20" dirty="0">
              <a:solidFill>
                <a:srgbClr val="001F5F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539" y="1528698"/>
            <a:ext cx="9331960" cy="485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19225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be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use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Array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algorithms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programming.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30" dirty="0">
                <a:latin typeface="Calibri"/>
                <a:cs typeface="Calibri"/>
              </a:rPr>
              <a:t>Working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with </a:t>
            </a:r>
            <a:r>
              <a:rPr sz="3600" spc="-20" dirty="0">
                <a:latin typeface="Calibri"/>
                <a:cs typeface="Calibri"/>
              </a:rPr>
              <a:t>Representation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 </a:t>
            </a:r>
            <a:r>
              <a:rPr sz="3600" spc="-65" dirty="0">
                <a:latin typeface="Calibri"/>
                <a:cs typeface="Calibri"/>
              </a:rPr>
              <a:t>Array.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dirty="0">
                <a:latin typeface="Calibri"/>
                <a:cs typeface="Calibri"/>
              </a:rPr>
              <a:t>Be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to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work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with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basic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operations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on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65" dirty="0">
                <a:latin typeface="Calibri"/>
                <a:cs typeface="Calibri"/>
              </a:rPr>
              <a:t>Array.</a:t>
            </a:r>
            <a:endParaRPr sz="36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be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work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with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Array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Implementation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programming.</a:t>
            </a:r>
            <a:endParaRPr sz="3600" dirty="0">
              <a:latin typeface="Calibri"/>
              <a:cs typeface="Calibri"/>
            </a:endParaRPr>
          </a:p>
          <a:p>
            <a:pPr marL="355600" marR="386080" indent="-3435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be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work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with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Array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traversing, </a:t>
            </a:r>
            <a:r>
              <a:rPr sz="3600" spc="-30" dirty="0">
                <a:latin typeface="Calibri"/>
                <a:cs typeface="Calibri"/>
              </a:rPr>
              <a:t>Array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insertion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deletion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315848"/>
            <a:ext cx="1633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148333"/>
            <a:ext cx="10561955" cy="167195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An </a:t>
            </a:r>
            <a:r>
              <a:rPr sz="2400" spc="-20" dirty="0">
                <a:latin typeface="Calibri"/>
                <a:cs typeface="Calibri"/>
              </a:rPr>
              <a:t>array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store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multiple</a:t>
            </a:r>
            <a:r>
              <a:rPr sz="2400" b="1" spc="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values</a:t>
            </a: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same </a:t>
            </a:r>
            <a:r>
              <a:rPr sz="2400" b="1" spc="-15" dirty="0">
                <a:solidFill>
                  <a:srgbClr val="7D1B68"/>
                </a:solidFill>
                <a:latin typeface="Calibri"/>
                <a:cs typeface="Calibri"/>
              </a:rPr>
              <a:t>data</a:t>
            </a:r>
            <a:r>
              <a:rPr sz="2400" b="1" spc="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type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dirty="0">
                <a:latin typeface="Calibri"/>
                <a:cs typeface="Calibri"/>
              </a:rPr>
              <a:t> 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time.</a:t>
            </a: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Collection of similar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items </a:t>
            </a:r>
            <a:r>
              <a:rPr sz="2400" spc="-20" dirty="0">
                <a:latin typeface="Calibri"/>
                <a:cs typeface="Calibri"/>
              </a:rPr>
              <a:t>stored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continuous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memory </a:t>
            </a:r>
            <a:r>
              <a:rPr sz="2400" b="1" spc="-5" dirty="0">
                <a:solidFill>
                  <a:srgbClr val="7D1B68"/>
                </a:solidFill>
                <a:latin typeface="Calibri"/>
                <a:cs typeface="Calibri"/>
              </a:rPr>
              <a:t>locations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5" dirty="0">
                <a:latin typeface="Calibri"/>
                <a:cs typeface="Calibri"/>
              </a:rPr>
              <a:t>single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name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2870" y="3871721"/>
            <a:ext cx="1206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C0000"/>
                </a:solidFill>
                <a:latin typeface="Trebuchet MS"/>
                <a:cs typeface="Trebuchet MS"/>
              </a:rPr>
              <a:t>int</a:t>
            </a:r>
            <a:r>
              <a:rPr sz="2400" b="1" spc="-7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CC0000"/>
                </a:solidFill>
                <a:latin typeface="Trebuchet MS"/>
                <a:cs typeface="Trebuchet MS"/>
              </a:rPr>
              <a:t>a[3];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3124200"/>
            <a:ext cx="3322320" cy="129387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7" name="object 7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315848"/>
            <a:ext cx="1633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148333"/>
            <a:ext cx="11033760" cy="167195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5" dirty="0">
                <a:latin typeface="Calibri"/>
                <a:cs typeface="Calibri"/>
              </a:rPr>
              <a:t>Element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Each item </a:t>
            </a:r>
            <a:r>
              <a:rPr sz="2400" spc="-20" dirty="0">
                <a:latin typeface="Calibri"/>
                <a:cs typeface="Calibri"/>
              </a:rPr>
              <a:t>stored</a:t>
            </a:r>
            <a:r>
              <a:rPr sz="2400" dirty="0">
                <a:latin typeface="Calibri"/>
                <a:cs typeface="Calibri"/>
              </a:rPr>
              <a:t> 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called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element.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b="1" spc="-10" dirty="0">
                <a:latin typeface="Calibri"/>
                <a:cs typeface="Calibri"/>
              </a:rPr>
              <a:t>Index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Each location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numerical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index,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Calibri"/>
                <a:cs typeface="Calibri"/>
              </a:rPr>
              <a:t>identify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5817" y="4135373"/>
            <a:ext cx="1207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C0000"/>
                </a:solidFill>
                <a:latin typeface="Trebuchet MS"/>
                <a:cs typeface="Trebuchet MS"/>
              </a:rPr>
              <a:t>int</a:t>
            </a:r>
            <a:r>
              <a:rPr sz="2400" b="1" spc="-90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CC0000"/>
                </a:solidFill>
                <a:latin typeface="Trebuchet MS"/>
                <a:cs typeface="Trebuchet MS"/>
              </a:rPr>
              <a:t>a[3];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6215" y="3220211"/>
            <a:ext cx="4654295" cy="198424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7" name="object 7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7166" y="810894"/>
            <a:ext cx="5188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Array</a:t>
            </a:r>
            <a:r>
              <a:rPr spc="-40" dirty="0"/>
              <a:t> </a:t>
            </a:r>
            <a:r>
              <a:rPr spc="-5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606" y="1773123"/>
            <a:ext cx="104463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20" dirty="0">
                <a:latin typeface="Calibri"/>
                <a:cs typeface="Calibri"/>
              </a:rPr>
              <a:t>Arrays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be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declared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various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ways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languages.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illustration,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let's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25" dirty="0">
                <a:latin typeface="Calibri"/>
                <a:cs typeface="Calibri"/>
              </a:rPr>
              <a:t>take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C++</a:t>
            </a:r>
            <a:r>
              <a:rPr sz="2400" spc="-20" dirty="0">
                <a:latin typeface="Calibri"/>
                <a:cs typeface="Calibri"/>
              </a:rPr>
              <a:t> array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declaration.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3048000"/>
            <a:ext cx="7245096" cy="20284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6" name="object 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5020" y="4419600"/>
            <a:ext cx="8061959" cy="16672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5600" algn="l"/>
              </a:tabLst>
            </a:pPr>
            <a:r>
              <a:rPr dirty="0"/>
              <a:t>As</a:t>
            </a:r>
            <a:r>
              <a:rPr spc="-5" dirty="0"/>
              <a:t> per</a:t>
            </a:r>
            <a:r>
              <a:rPr dirty="0"/>
              <a:t> the</a:t>
            </a:r>
            <a:r>
              <a:rPr spc="5" dirty="0"/>
              <a:t> </a:t>
            </a:r>
            <a:r>
              <a:rPr spc="-10" dirty="0"/>
              <a:t>below</a:t>
            </a:r>
            <a:r>
              <a:rPr spc="5" dirty="0"/>
              <a:t> </a:t>
            </a:r>
            <a:r>
              <a:rPr spc="-10" dirty="0"/>
              <a:t>illustration,</a:t>
            </a:r>
            <a:r>
              <a:rPr spc="-15" dirty="0"/>
              <a:t> </a:t>
            </a:r>
            <a:r>
              <a:rPr spc="-10" dirty="0"/>
              <a:t>following</a:t>
            </a:r>
            <a:r>
              <a:rPr spc="-5" dirty="0"/>
              <a:t> </a:t>
            </a:r>
            <a:r>
              <a:rPr spc="-15" dirty="0"/>
              <a:t>are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10" dirty="0"/>
              <a:t>important</a:t>
            </a:r>
            <a:r>
              <a:rPr spc="-30" dirty="0"/>
              <a:t> </a:t>
            </a:r>
            <a:r>
              <a:rPr spc="-10" dirty="0"/>
              <a:t>points</a:t>
            </a:r>
            <a:r>
              <a:rPr dirty="0"/>
              <a:t> </a:t>
            </a:r>
            <a:r>
              <a:rPr spc="-15" dirty="0"/>
              <a:t>to</a:t>
            </a:r>
            <a:r>
              <a:rPr dirty="0"/>
              <a:t> </a:t>
            </a:r>
            <a:r>
              <a:rPr spc="-5" dirty="0"/>
              <a:t>be</a:t>
            </a:r>
            <a:r>
              <a:rPr spc="5" dirty="0"/>
              <a:t> </a:t>
            </a:r>
            <a:r>
              <a:rPr spc="-10" dirty="0"/>
              <a:t>considered.</a:t>
            </a:r>
          </a:p>
          <a:p>
            <a:pPr marL="927100" lvl="1" indent="-51879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6465" algn="l"/>
                <a:tab pos="927735" algn="l"/>
              </a:tabLst>
            </a:pPr>
            <a:r>
              <a:rPr sz="2400" spc="-10" dirty="0">
                <a:latin typeface="Calibri"/>
                <a:cs typeface="Calibri"/>
              </a:rPr>
              <a:t>Index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</a:t>
            </a:r>
            <a:endParaRPr sz="2400">
              <a:latin typeface="Calibri"/>
              <a:cs typeface="Calibri"/>
            </a:endParaRPr>
          </a:p>
          <a:p>
            <a:pPr marL="927100" lvl="1" indent="-51879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6465" algn="l"/>
                <a:tab pos="927735" algn="l"/>
              </a:tabLst>
            </a:pP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length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10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store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10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elements.</a:t>
            </a:r>
            <a:endParaRPr sz="2400">
              <a:latin typeface="Calibri"/>
              <a:cs typeface="Calibri"/>
            </a:endParaRPr>
          </a:p>
          <a:p>
            <a:pPr marL="927100" marR="5080" lvl="1" indent="-518795">
              <a:lnSpc>
                <a:spcPts val="4320"/>
              </a:lnSpc>
              <a:spcBef>
                <a:spcPts val="185"/>
              </a:spcBef>
              <a:buFont typeface="Wingdings"/>
              <a:buChar char=""/>
              <a:tabLst>
                <a:tab pos="926465" algn="l"/>
                <a:tab pos="927735" algn="l"/>
                <a:tab pos="1637030" algn="l"/>
                <a:tab pos="2797175" algn="l"/>
                <a:tab pos="3361054" algn="l"/>
                <a:tab pos="3803015" algn="l"/>
                <a:tab pos="5039995" algn="l"/>
                <a:tab pos="5523865" algn="l"/>
                <a:tab pos="5944235" algn="l"/>
                <a:tab pos="6820534" algn="l"/>
                <a:tab pos="7353934" algn="l"/>
                <a:tab pos="8605520" algn="l"/>
                <a:tab pos="9103995" algn="l"/>
                <a:tab pos="9665970" algn="l"/>
                <a:tab pos="10420350" algn="l"/>
              </a:tabLst>
            </a:pPr>
            <a:r>
              <a:rPr sz="2400" spc="-3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ach	el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me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	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an	</a:t>
            </a:r>
            <a:r>
              <a:rPr sz="2400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essed	via	its	ind</a:t>
            </a:r>
            <a:r>
              <a:rPr sz="2400" spc="-30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x.	</a:t>
            </a:r>
            <a:r>
              <a:rPr sz="2400" spc="-35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r	</a:t>
            </a:r>
            <a:r>
              <a:rPr sz="2400" spc="-35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x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mp</a:t>
            </a:r>
            <a:r>
              <a:rPr sz="2400" spc="-10" dirty="0">
                <a:latin typeface="Calibri"/>
                <a:cs typeface="Calibri"/>
              </a:rPr>
              <a:t>l</a:t>
            </a:r>
            <a:r>
              <a:rPr sz="2400" dirty="0">
                <a:latin typeface="Calibri"/>
                <a:cs typeface="Calibri"/>
              </a:rPr>
              <a:t>e,	</a:t>
            </a:r>
            <a:r>
              <a:rPr sz="2400" spc="-25" dirty="0">
                <a:latin typeface="Calibri"/>
                <a:cs typeface="Calibri"/>
              </a:rPr>
              <a:t>w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3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an	</a:t>
            </a:r>
            <a:r>
              <a:rPr sz="2400" spc="-65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ch	an 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10" dirty="0">
                <a:latin typeface="Calibri"/>
                <a:cs typeface="Calibri"/>
              </a:rPr>
              <a:t>index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19.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Array</a:t>
            </a:r>
            <a:r>
              <a:rPr spc="-40" dirty="0"/>
              <a:t> </a:t>
            </a:r>
            <a:r>
              <a:rPr spc="-5" dirty="0"/>
              <a:t>Representation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245440"/>
            <a:ext cx="6694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Basic Operations on</a:t>
            </a:r>
            <a:r>
              <a:rPr spc="-170" dirty="0"/>
              <a:t> </a:t>
            </a:r>
            <a:r>
              <a:rPr spc="-5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963" y="924305"/>
            <a:ext cx="9762490" cy="33178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-15" dirty="0">
                <a:latin typeface="Calibri"/>
                <a:cs typeface="Calibri"/>
              </a:rPr>
              <a:t> are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5" dirty="0">
                <a:latin typeface="Calibri"/>
                <a:cs typeface="Calibri"/>
              </a:rPr>
              <a:t>basic </a:t>
            </a:r>
            <a:r>
              <a:rPr sz="2400" spc="-10" dirty="0">
                <a:latin typeface="Calibri"/>
                <a:cs typeface="Calibri"/>
              </a:rPr>
              <a:t>operations supported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  <a:p>
            <a:pPr marL="1384300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1383665" algn="l"/>
                <a:tab pos="1384935" algn="l"/>
              </a:tabLst>
            </a:pPr>
            <a:r>
              <a:rPr sz="2400" b="1" spc="-35" dirty="0">
                <a:latin typeface="Calibri"/>
                <a:cs typeface="Calibri"/>
              </a:rPr>
              <a:t>Traverse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10" dirty="0">
                <a:latin typeface="Calibri"/>
                <a:cs typeface="Calibri"/>
              </a:rPr>
              <a:t> print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-10" dirty="0">
                <a:latin typeface="Calibri"/>
                <a:cs typeface="Calibri"/>
              </a:rPr>
              <a:t> by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one.</a:t>
            </a:r>
            <a:endParaRPr sz="2400">
              <a:latin typeface="Calibri"/>
              <a:cs typeface="Calibri"/>
            </a:endParaRPr>
          </a:p>
          <a:p>
            <a:pPr marL="1384300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1383665" algn="l"/>
                <a:tab pos="1384935" algn="l"/>
              </a:tabLst>
            </a:pPr>
            <a:r>
              <a:rPr sz="2400" b="1" spc="-5" dirty="0">
                <a:latin typeface="Calibri"/>
                <a:cs typeface="Calibri"/>
              </a:rPr>
              <a:t>Insertion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index.</a:t>
            </a:r>
            <a:endParaRPr sz="2400">
              <a:latin typeface="Calibri"/>
              <a:cs typeface="Calibri"/>
            </a:endParaRPr>
          </a:p>
          <a:p>
            <a:pPr marL="1384300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1383665" algn="l"/>
                <a:tab pos="1384935" algn="l"/>
              </a:tabLst>
            </a:pPr>
            <a:r>
              <a:rPr sz="2400" b="1" spc="-5" dirty="0">
                <a:latin typeface="Calibri"/>
                <a:cs typeface="Calibri"/>
              </a:rPr>
              <a:t>Deletion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Deletes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index.</a:t>
            </a:r>
            <a:endParaRPr sz="2400">
              <a:latin typeface="Calibri"/>
              <a:cs typeface="Calibri"/>
            </a:endParaRPr>
          </a:p>
          <a:p>
            <a:pPr marL="1384300" indent="-457834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1383665" algn="l"/>
                <a:tab pos="1384935" algn="l"/>
              </a:tabLst>
            </a:pPr>
            <a:r>
              <a:rPr sz="2400" b="1" spc="-10" dirty="0">
                <a:latin typeface="Calibri"/>
                <a:cs typeface="Calibri"/>
              </a:rPr>
              <a:t>Search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 </a:t>
            </a:r>
            <a:r>
              <a:rPr sz="2400" spc="-5" dirty="0">
                <a:latin typeface="Calibri"/>
                <a:cs typeface="Calibri"/>
              </a:rPr>
              <a:t>Searches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  <a:p>
            <a:pPr marL="1384300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1383665" algn="l"/>
                <a:tab pos="1384935" algn="l"/>
              </a:tabLst>
            </a:pPr>
            <a:r>
              <a:rPr sz="2400" b="1" spc="-10" dirty="0">
                <a:latin typeface="Calibri"/>
                <a:cs typeface="Calibri"/>
              </a:rPr>
              <a:t>Update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Updates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given</a:t>
            </a:r>
            <a:r>
              <a:rPr sz="2400" spc="-5" dirty="0">
                <a:latin typeface="Calibri"/>
                <a:cs typeface="Calibri"/>
              </a:rPr>
              <a:t> index.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222326"/>
            <a:ext cx="2170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Insertion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85494"/>
            <a:ext cx="10445750" cy="435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35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  <a:tab pos="1614170" algn="l"/>
                <a:tab pos="2364105" algn="l"/>
                <a:tab pos="2775585" algn="l"/>
                <a:tab pos="3342640" algn="l"/>
                <a:tab pos="4437380" algn="l"/>
                <a:tab pos="4842510" algn="l"/>
                <a:tab pos="5835015" algn="l"/>
                <a:tab pos="6133465" algn="l"/>
                <a:tab pos="6814820" algn="l"/>
                <a:tab pos="7995920" algn="l"/>
                <a:tab pos="8408035" algn="l"/>
                <a:tab pos="8866505" algn="l"/>
                <a:tab pos="995934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tion	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70" dirty="0">
                <a:latin typeface="Calibri"/>
                <a:cs typeface="Calibri"/>
              </a:rPr>
              <a:t>f</a:t>
            </a:r>
            <a:r>
              <a:rPr sz="2400" dirty="0">
                <a:latin typeface="Calibri"/>
                <a:cs typeface="Calibri"/>
              </a:rPr>
              <a:t>er	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	the	</a:t>
            </a:r>
            <a:r>
              <a:rPr sz="2400" spc="-5" dirty="0">
                <a:latin typeface="Calibri"/>
                <a:cs typeface="Calibri"/>
              </a:rPr>
              <a:t>p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oces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	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adding	a	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n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w	el</a:t>
            </a:r>
            <a:r>
              <a:rPr sz="2400" spc="5" dirty="0">
                <a:solidFill>
                  <a:srgbClr val="7D1B68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me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t	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o	an	</a:t>
            </a:r>
            <a:r>
              <a:rPr sz="2400" spc="-3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xi</a:t>
            </a:r>
            <a:r>
              <a:rPr sz="2400" spc="-3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ting	</a:t>
            </a:r>
            <a:r>
              <a:rPr sz="2400" spc="-5" dirty="0">
                <a:latin typeface="Calibri"/>
                <a:cs typeface="Calibri"/>
              </a:rPr>
              <a:t>one  dimensional </a:t>
            </a:r>
            <a:r>
              <a:rPr sz="2400" spc="-45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Insertion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at</a:t>
            </a:r>
            <a:endParaRPr sz="24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buFont typeface="Wingdings"/>
              <a:buChar char=""/>
              <a:tabLst>
                <a:tab pos="813435" algn="l"/>
              </a:tabLst>
            </a:pP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Any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random</a:t>
            </a:r>
            <a:r>
              <a:rPr sz="2400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position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within</a:t>
            </a:r>
            <a:r>
              <a:rPr sz="2400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array</a:t>
            </a:r>
            <a:endParaRPr sz="24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buFont typeface="Wingdings"/>
              <a:buChar char=""/>
              <a:tabLst>
                <a:tab pos="813435" algn="l"/>
              </a:tabLst>
            </a:pP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end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an</a:t>
            </a:r>
            <a:r>
              <a:rPr sz="2400" spc="-4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array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7D1B68"/>
              </a:buClr>
              <a:buFont typeface="Wingdings"/>
              <a:buChar char=""/>
            </a:pPr>
            <a:endParaRPr sz="195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50100"/>
              </a:lnSpc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Inserting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element </a:t>
            </a:r>
            <a:r>
              <a:rPr sz="2400" spc="-20" dirty="0">
                <a:latin typeface="Calibri"/>
                <a:cs typeface="Calibri"/>
              </a:rPr>
              <a:t>at any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arbitrary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position</a:t>
            </a:r>
            <a:r>
              <a:rPr sz="2400" spc="-5" dirty="0">
                <a:latin typeface="Calibri"/>
                <a:cs typeface="Calibri"/>
              </a:rPr>
              <a:t>, all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elements </a:t>
            </a:r>
            <a:r>
              <a:rPr sz="2400" spc="-10" dirty="0">
                <a:latin typeface="Calibri"/>
                <a:cs typeface="Calibri"/>
              </a:rPr>
              <a:t>starting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specified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position 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are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shifted 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towards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right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make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vacant </a:t>
            </a:r>
            <a:r>
              <a:rPr sz="2400" spc="-10" dirty="0">
                <a:latin typeface="Calibri"/>
                <a:cs typeface="Calibri"/>
              </a:rPr>
              <a:t>position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new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insertion.</a:t>
            </a:r>
            <a:endParaRPr sz="240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Insertion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end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very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easy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dirty="0">
                <a:latin typeface="Calibri"/>
                <a:cs typeface="Calibri"/>
              </a:rPr>
              <a:t> 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shifting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3051" y="2765551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37888" y="2765551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2723" y="2765551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7559" y="2765551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02395" y="2765551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57231" y="2765551"/>
            <a:ext cx="1162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b="1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5558" y="231140"/>
            <a:ext cx="7473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Method</a:t>
            </a:r>
            <a:r>
              <a:rPr spc="10" dirty="0"/>
              <a:t> </a:t>
            </a:r>
            <a:r>
              <a:rPr spc="-5" dirty="0"/>
              <a:t>for</a:t>
            </a:r>
            <a:r>
              <a:rPr spc="15" dirty="0"/>
              <a:t> </a:t>
            </a:r>
            <a:r>
              <a:rPr spc="-5" dirty="0"/>
              <a:t>Insertion</a:t>
            </a:r>
            <a:r>
              <a:rPr spc="5" dirty="0"/>
              <a:t> </a:t>
            </a:r>
            <a:r>
              <a:rPr spc="-5" dirty="0"/>
              <a:t>Operation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6998" y="1024636"/>
            <a:ext cx="4523105" cy="112331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Insertion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at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any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arbitrary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position</a:t>
            </a:r>
            <a:endParaRPr sz="24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Lets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take </a:t>
            </a: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r>
              <a:rPr sz="2400" dirty="0">
                <a:latin typeface="Calibri"/>
                <a:cs typeface="Calibri"/>
              </a:rPr>
              <a:t> 6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6998" y="3767790"/>
            <a:ext cx="10729595" cy="1672589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54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Suppose,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want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insert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new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400" spc="4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35</a:t>
            </a:r>
            <a:r>
              <a:rPr sz="2400" spc="4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2</a:t>
            </a:r>
            <a:r>
              <a:rPr sz="2400" spc="4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location</a:t>
            </a:r>
            <a:r>
              <a:rPr sz="2400" spc="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array,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then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shifting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1445"/>
              </a:spcBef>
            </a:pPr>
            <a:r>
              <a:rPr sz="2400" spc="-5" dirty="0">
                <a:latin typeface="Calibri"/>
                <a:cs typeface="Calibri"/>
              </a:rPr>
              <a:t>elements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required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vacant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location</a:t>
            </a:r>
            <a:r>
              <a:rPr sz="2400" spc="-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2.</a:t>
            </a:r>
            <a:endParaRPr sz="24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Now </a:t>
            </a: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shift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40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location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480246" y="2594610"/>
          <a:ext cx="8149586" cy="7322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142">
                <a:tc>
                  <a:txBody>
                    <a:bodyPr/>
                    <a:lstStyle/>
                    <a:p>
                      <a:pPr marL="33020" algn="ctr">
                        <a:lnSpc>
                          <a:spcPts val="15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5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5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5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9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844">
                <a:tc>
                  <a:txBody>
                    <a:bodyPr/>
                    <a:lstStyle/>
                    <a:p>
                      <a:pPr marL="114300">
                        <a:lnSpc>
                          <a:spcPts val="166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166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6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6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13" name="object 1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443560"/>
            <a:ext cx="14179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Calibri"/>
                <a:cs typeface="Calibri"/>
              </a:rPr>
              <a:t>Co</a:t>
            </a:r>
            <a:r>
              <a:rPr spc="-50" dirty="0">
                <a:latin typeface="Calibri"/>
                <a:cs typeface="Calibri"/>
              </a:rPr>
              <a:t>n</a:t>
            </a:r>
            <a:r>
              <a:rPr spc="-5" dirty="0">
                <a:latin typeface="Calibri"/>
                <a:cs typeface="Calibri"/>
              </a:rPr>
              <a:t>t...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01469" y="1593850"/>
          <a:ext cx="8155303" cy="687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9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229">
                <a:tc>
                  <a:txBody>
                    <a:bodyPr/>
                    <a:lstStyle/>
                    <a:p>
                      <a:pPr marR="67310" algn="ctr">
                        <a:lnSpc>
                          <a:spcPts val="209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2075" algn="ctr">
                        <a:lnSpc>
                          <a:spcPts val="209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ts val="209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1440" algn="ctr">
                        <a:lnSpc>
                          <a:spcPts val="209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ts val="209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ts val="209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64540" y="2673476"/>
            <a:ext cx="5452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Next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shift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800" spc="-5" dirty="0">
                <a:solidFill>
                  <a:srgbClr val="7D1B68"/>
                </a:solidFill>
                <a:latin typeface="Calibri"/>
                <a:cs typeface="Calibri"/>
              </a:rPr>
              <a:t> 30</a:t>
            </a:r>
            <a:r>
              <a:rPr sz="2800" spc="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location</a:t>
            </a:r>
            <a:r>
              <a:rPr sz="28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7D1B68"/>
                </a:solidFill>
                <a:latin typeface="Calibri"/>
                <a:cs typeface="Calibri"/>
              </a:rPr>
              <a:t>3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6038" y="4886959"/>
            <a:ext cx="8646795" cy="12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3135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solidFill>
                  <a:srgbClr val="7D1B68"/>
                </a:solidFill>
                <a:latin typeface="Calibri"/>
                <a:cs typeface="Calibri"/>
              </a:rPr>
              <a:t>Vacant</a:t>
            </a:r>
            <a:r>
              <a:rPr sz="2400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for</a:t>
            </a:r>
            <a:r>
              <a:rPr sz="2400" spc="-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insertion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20" dirty="0">
                <a:latin typeface="Calibri"/>
                <a:cs typeface="Calibri"/>
              </a:rPr>
              <a:t>So,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here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got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7D1B68"/>
                </a:solidFill>
                <a:latin typeface="Calibri"/>
                <a:cs typeface="Calibri"/>
              </a:rPr>
              <a:t>vacant</a:t>
            </a:r>
            <a:r>
              <a:rPr sz="28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location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insert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800" spc="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7D1B68"/>
                </a:solidFill>
                <a:latin typeface="Calibri"/>
                <a:cs typeface="Calibri"/>
              </a:rPr>
              <a:t>35.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152650" y="3651250"/>
          <a:ext cx="8126727" cy="768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7510">
                <a:tc gridSpan="6">
                  <a:txBody>
                    <a:bodyPr/>
                    <a:lstStyle/>
                    <a:p>
                      <a:pPr marL="593725">
                        <a:lnSpc>
                          <a:spcPct val="100000"/>
                        </a:lnSpc>
                        <a:spcBef>
                          <a:spcPts val="295"/>
                        </a:spcBef>
                        <a:tabLst>
                          <a:tab pos="1948180" algn="l"/>
                          <a:tab pos="3302635" algn="l"/>
                          <a:tab pos="4657725" algn="l"/>
                          <a:tab pos="6012815" algn="l"/>
                          <a:tab pos="736727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	1	2	3	4	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25979" y="3651250"/>
          <a:ext cx="7145017" cy="397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7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9" name="object 9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436361" y="4464050"/>
            <a:ext cx="215900" cy="426720"/>
            <a:chOff x="5436361" y="4464050"/>
            <a:chExt cx="215900" cy="426720"/>
          </a:xfrm>
        </p:grpSpPr>
        <p:sp>
          <p:nvSpPr>
            <p:cNvPr id="12" name="object 12"/>
            <p:cNvSpPr/>
            <p:nvPr/>
          </p:nvSpPr>
          <p:spPr>
            <a:xfrm>
              <a:off x="5449061" y="4476750"/>
              <a:ext cx="190500" cy="401320"/>
            </a:xfrm>
            <a:custGeom>
              <a:avLst/>
              <a:gdLst/>
              <a:ahLst/>
              <a:cxnLst/>
              <a:rect l="l" t="t" r="r" b="b"/>
              <a:pathLst>
                <a:path w="190500" h="401320">
                  <a:moveTo>
                    <a:pt x="95250" y="0"/>
                  </a:moveTo>
                  <a:lnTo>
                    <a:pt x="0" y="95250"/>
                  </a:lnTo>
                  <a:lnTo>
                    <a:pt x="47625" y="95250"/>
                  </a:lnTo>
                  <a:lnTo>
                    <a:pt x="47625" y="400812"/>
                  </a:lnTo>
                  <a:lnTo>
                    <a:pt x="142875" y="400812"/>
                  </a:lnTo>
                  <a:lnTo>
                    <a:pt x="142875" y="95250"/>
                  </a:lnTo>
                  <a:lnTo>
                    <a:pt x="190500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49061" y="4476750"/>
              <a:ext cx="190500" cy="401320"/>
            </a:xfrm>
            <a:custGeom>
              <a:avLst/>
              <a:gdLst/>
              <a:ahLst/>
              <a:cxnLst/>
              <a:rect l="l" t="t" r="r" b="b"/>
              <a:pathLst>
                <a:path w="190500" h="401320">
                  <a:moveTo>
                    <a:pt x="0" y="95250"/>
                  </a:moveTo>
                  <a:lnTo>
                    <a:pt x="95250" y="0"/>
                  </a:lnTo>
                  <a:lnTo>
                    <a:pt x="190500" y="95250"/>
                  </a:lnTo>
                  <a:lnTo>
                    <a:pt x="142875" y="95250"/>
                  </a:lnTo>
                  <a:lnTo>
                    <a:pt x="142875" y="400812"/>
                  </a:lnTo>
                  <a:lnTo>
                    <a:pt x="47625" y="400812"/>
                  </a:lnTo>
                  <a:lnTo>
                    <a:pt x="47625" y="95250"/>
                  </a:lnTo>
                  <a:lnTo>
                    <a:pt x="0" y="95250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9759" y="2670810"/>
            <a:ext cx="6803390" cy="396240"/>
            <a:chOff x="3659759" y="2670810"/>
            <a:chExt cx="6803390" cy="396240"/>
          </a:xfrm>
        </p:grpSpPr>
        <p:sp>
          <p:nvSpPr>
            <p:cNvPr id="3" name="object 3"/>
            <p:cNvSpPr/>
            <p:nvPr/>
          </p:nvSpPr>
          <p:spPr>
            <a:xfrm>
              <a:off x="10456290" y="267081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439400" y="3062605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5">
                  <a:moveTo>
                    <a:pt x="0" y="0"/>
                  </a:moveTo>
                  <a:lnTo>
                    <a:pt x="23241" y="0"/>
                  </a:lnTo>
                </a:path>
              </a:pathLst>
            </a:custGeom>
            <a:ln w="88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9759" y="3058160"/>
              <a:ext cx="6786245" cy="0"/>
            </a:xfrm>
            <a:custGeom>
              <a:avLst/>
              <a:gdLst/>
              <a:ahLst/>
              <a:cxnLst/>
              <a:rect l="l" t="t" r="r" b="b"/>
              <a:pathLst>
                <a:path w="6786245">
                  <a:moveTo>
                    <a:pt x="0" y="0"/>
                  </a:moveTo>
                  <a:lnTo>
                    <a:pt x="678599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9300" y="154050"/>
            <a:ext cx="7473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Method</a:t>
            </a:r>
            <a:r>
              <a:rPr spc="10" dirty="0"/>
              <a:t> </a:t>
            </a:r>
            <a:r>
              <a:rPr spc="-5" dirty="0"/>
              <a:t>for</a:t>
            </a:r>
            <a:r>
              <a:rPr spc="15" dirty="0"/>
              <a:t> </a:t>
            </a:r>
            <a:r>
              <a:rPr spc="-5" dirty="0"/>
              <a:t>Insertion</a:t>
            </a:r>
            <a:r>
              <a:rPr spc="5" dirty="0"/>
              <a:t> </a:t>
            </a:r>
            <a:r>
              <a:rPr spc="-5" dirty="0"/>
              <a:t>Operation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7776" y="1351279"/>
            <a:ext cx="53136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7D1B68"/>
                </a:solidFill>
                <a:latin typeface="Calibri"/>
                <a:cs typeface="Calibri"/>
              </a:rPr>
              <a:t>Insertion</a:t>
            </a:r>
            <a:r>
              <a:rPr sz="28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7D1B68"/>
                </a:solidFill>
                <a:latin typeface="Calibri"/>
                <a:cs typeface="Calibri"/>
              </a:rPr>
              <a:t>at </a:t>
            </a:r>
            <a:r>
              <a:rPr lang="en-US" sz="2800" spc="-20" dirty="0">
                <a:solidFill>
                  <a:srgbClr val="7D1B68"/>
                </a:solidFill>
                <a:latin typeface="Calibri"/>
                <a:cs typeface="Calibri"/>
              </a:rPr>
              <a:t>the end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10" dirty="0">
                <a:latin typeface="Calibri"/>
                <a:cs typeface="Calibri"/>
              </a:rPr>
              <a:t>Lets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take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array</a:t>
            </a:r>
            <a:r>
              <a:rPr sz="2800" spc="-5" dirty="0">
                <a:latin typeface="Calibri"/>
                <a:cs typeface="Calibri"/>
              </a:rPr>
              <a:t> of </a:t>
            </a:r>
            <a:r>
              <a:rPr sz="2800" spc="-25" dirty="0">
                <a:latin typeface="Calibri"/>
                <a:cs typeface="Calibri"/>
              </a:rPr>
              <a:t>size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5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776" y="3912234"/>
            <a:ext cx="109835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we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want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insert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800" spc="9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45</a:t>
            </a:r>
            <a:r>
              <a:rPr sz="2800" spc="10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end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array,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there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no </a:t>
            </a:r>
            <a:r>
              <a:rPr sz="2800" spc="-6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shifting</a:t>
            </a:r>
            <a:r>
              <a:rPr sz="2800" spc="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elements.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659759" y="2670810"/>
          <a:ext cx="6772273" cy="758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59436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R="55435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803650" y="5109209"/>
          <a:ext cx="6779256" cy="6718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339">
                <a:tc>
                  <a:txBody>
                    <a:bodyPr/>
                    <a:lstStyle/>
                    <a:p>
                      <a:pPr marR="5080" algn="ctr">
                        <a:lnSpc>
                          <a:spcPts val="202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202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202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ts val="202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ts val="202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867904" y="6019596"/>
            <a:ext cx="14116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7D1B68"/>
                </a:solidFill>
                <a:latin typeface="Calibri"/>
                <a:cs typeface="Calibri"/>
              </a:rPr>
              <a:t>Inserted</a:t>
            </a:r>
            <a:r>
              <a:rPr sz="2000" spc="-5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7D1B68"/>
                </a:solidFill>
                <a:latin typeface="Calibri"/>
                <a:cs typeface="Calibri"/>
              </a:rPr>
              <a:t>here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175252" y="2670810"/>
          <a:ext cx="5789927" cy="391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3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14" name="object 1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484361" y="5779261"/>
            <a:ext cx="215900" cy="272415"/>
            <a:chOff x="8484361" y="5779261"/>
            <a:chExt cx="215900" cy="27241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7061" y="5791961"/>
              <a:ext cx="190500" cy="24688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497061" y="5791961"/>
              <a:ext cx="190500" cy="247015"/>
            </a:xfrm>
            <a:custGeom>
              <a:avLst/>
              <a:gdLst/>
              <a:ahLst/>
              <a:cxnLst/>
              <a:rect l="l" t="t" r="r" b="b"/>
              <a:pathLst>
                <a:path w="190500" h="247014">
                  <a:moveTo>
                    <a:pt x="0" y="95250"/>
                  </a:moveTo>
                  <a:lnTo>
                    <a:pt x="95250" y="0"/>
                  </a:lnTo>
                  <a:lnTo>
                    <a:pt x="190500" y="95250"/>
                  </a:lnTo>
                  <a:lnTo>
                    <a:pt x="142875" y="95250"/>
                  </a:lnTo>
                  <a:lnTo>
                    <a:pt x="142875" y="246887"/>
                  </a:lnTo>
                  <a:lnTo>
                    <a:pt x="47625" y="246887"/>
                  </a:lnTo>
                  <a:lnTo>
                    <a:pt x="47625" y="95250"/>
                  </a:lnTo>
                  <a:lnTo>
                    <a:pt x="0" y="9525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0039" y="100965"/>
            <a:ext cx="80657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Algorithm</a:t>
            </a:r>
            <a:r>
              <a:rPr spc="15" dirty="0"/>
              <a:t> </a:t>
            </a:r>
            <a:r>
              <a:rPr spc="-5" dirty="0"/>
              <a:t>for Insertion</a:t>
            </a:r>
            <a:r>
              <a:rPr dirty="0"/>
              <a:t> </a:t>
            </a:r>
            <a:r>
              <a:rPr spc="-5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1479" y="820292"/>
            <a:ext cx="10986770" cy="552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marR="8846185">
              <a:lnSpc>
                <a:spcPct val="15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Step </a:t>
            </a:r>
            <a:r>
              <a:rPr sz="2400" spc="-5" dirty="0">
                <a:latin typeface="Calibri"/>
                <a:cs typeface="Calibri"/>
              </a:rPr>
              <a:t>1: </a:t>
            </a:r>
            <a:r>
              <a:rPr sz="2400" spc="-10" dirty="0">
                <a:latin typeface="Calibri"/>
                <a:cs typeface="Calibri"/>
              </a:rPr>
              <a:t>Start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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n-1</a:t>
            </a:r>
            <a:endParaRPr sz="2400" dirty="0">
              <a:latin typeface="Calibri"/>
              <a:cs typeface="Calibri"/>
            </a:endParaRPr>
          </a:p>
          <a:p>
            <a:pPr marL="270510" marR="5766435">
              <a:lnSpc>
                <a:spcPct val="150000"/>
              </a:lnSpc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Repeat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steps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&gt;=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4: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a[i+1]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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a[i]</a:t>
            </a:r>
          </a:p>
          <a:p>
            <a:pPr marL="27051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5: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5" dirty="0">
                <a:latin typeface="Wingdings"/>
                <a:cs typeface="Wingdings"/>
              </a:rPr>
              <a:t></a:t>
            </a:r>
            <a:r>
              <a:rPr sz="2400" spc="-5" dirty="0">
                <a:latin typeface="Calibri"/>
                <a:cs typeface="Calibri"/>
              </a:rPr>
              <a:t>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-1</a:t>
            </a:r>
            <a:endParaRPr sz="2400" dirty="0">
              <a:latin typeface="Calibri"/>
              <a:cs typeface="Calibri"/>
            </a:endParaRPr>
          </a:p>
          <a:p>
            <a:pPr marL="270510" marR="7452995" indent="914400">
              <a:lnSpc>
                <a:spcPts val="4320"/>
              </a:lnSpc>
              <a:spcBef>
                <a:spcPts val="384"/>
              </a:spcBef>
            </a:pPr>
            <a:r>
              <a:rPr sz="2400" dirty="0">
                <a:latin typeface="Calibri"/>
                <a:cs typeface="Calibri"/>
              </a:rPr>
              <a:t>[end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loop]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6: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a[k]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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item</a:t>
            </a:r>
            <a:endParaRPr sz="2400" dirty="0">
              <a:latin typeface="Calibri"/>
              <a:cs typeface="Calibri"/>
            </a:endParaRPr>
          </a:p>
          <a:p>
            <a:pPr marL="270510" marR="8763635">
              <a:lnSpc>
                <a:spcPts val="4320"/>
              </a:lnSpc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7: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</a:t>
            </a:r>
            <a:r>
              <a:rPr sz="2400" spc="-5" dirty="0">
                <a:latin typeface="Wingdings"/>
                <a:cs typeface="Wingdings"/>
              </a:rPr>
              <a:t>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n+1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8: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spc="-10" dirty="0">
                <a:latin typeface="Calibri"/>
                <a:cs typeface="Calibri"/>
              </a:rPr>
              <a:t>Note: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n</a:t>
            </a:r>
            <a:r>
              <a:rPr sz="24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denotes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size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of</a:t>
            </a:r>
            <a:r>
              <a:rPr sz="24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an</a:t>
            </a:r>
            <a:r>
              <a:rPr sz="24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rgbClr val="7D1B68"/>
                </a:solidFill>
                <a:latin typeface="Calibri"/>
                <a:cs typeface="Calibri"/>
              </a:rPr>
              <a:t>array</a:t>
            </a:r>
            <a:r>
              <a:rPr sz="2400" spc="-4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k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denotes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position</a:t>
            </a:r>
            <a:r>
              <a:rPr sz="24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new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insertion.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363981"/>
            <a:ext cx="2027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Deletion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09039"/>
            <a:ext cx="10444480" cy="36804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Deletion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refers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removing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existing</a:t>
            </a:r>
            <a:r>
              <a:rPr sz="2400" spc="-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elem</a:t>
            </a:r>
            <a:r>
              <a:rPr sz="2400" spc="-5" dirty="0">
                <a:solidFill>
                  <a:srgbClr val="7030A0"/>
                </a:solidFill>
                <a:latin typeface="Calibri"/>
                <a:cs typeface="Calibri"/>
              </a:rPr>
              <a:t>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array.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114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delete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search </a:t>
            </a:r>
            <a:r>
              <a:rPr sz="2400" dirty="0">
                <a:latin typeface="Calibri"/>
                <a:cs typeface="Calibri"/>
              </a:rPr>
              <a:t>it,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searching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technique.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After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locating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specified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remove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from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array.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435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specified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removed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shift</a:t>
            </a:r>
            <a:r>
              <a:rPr sz="2400" spc="254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lang="en-US" sz="2400" spc="-15" dirty="0">
                <a:solidFill>
                  <a:srgbClr val="7D1B68"/>
                </a:solidFill>
                <a:latin typeface="Calibri"/>
                <a:cs typeface="Calibri"/>
              </a:rPr>
              <a:t>back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wards</a:t>
            </a:r>
            <a:r>
              <a:rPr sz="2400" spc="24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maintain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order</a:t>
            </a:r>
            <a:r>
              <a:rPr sz="24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array.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If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specified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deletion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last</a:t>
            </a:r>
            <a:r>
              <a:rPr sz="2400" spc="27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400" spc="-5" dirty="0">
                <a:latin typeface="Calibri"/>
                <a:cs typeface="Calibri"/>
              </a:rPr>
              <a:t>,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then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very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7D1B68"/>
                </a:solidFill>
                <a:latin typeface="Calibri"/>
                <a:cs typeface="Calibri"/>
              </a:rPr>
              <a:t>easy</a:t>
            </a:r>
            <a:r>
              <a:rPr sz="2400" spc="28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Calibri"/>
                <a:cs typeface="Calibri"/>
              </a:rPr>
              <a:t>delete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there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no</a:t>
            </a:r>
            <a:r>
              <a:rPr sz="2400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need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of shifting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remaining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538937"/>
            <a:ext cx="7331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Method for</a:t>
            </a:r>
            <a:r>
              <a:rPr dirty="0"/>
              <a:t> </a:t>
            </a:r>
            <a:r>
              <a:rPr spc="-5" dirty="0"/>
              <a:t>Deletion</a:t>
            </a:r>
            <a:r>
              <a:rPr spc="-10" dirty="0"/>
              <a:t> </a:t>
            </a:r>
            <a:r>
              <a:rPr spc="-5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919" y="1578102"/>
            <a:ext cx="4925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10" dirty="0">
                <a:latin typeface="Calibri"/>
                <a:cs typeface="Calibri"/>
              </a:rPr>
              <a:t>Lets </a:t>
            </a:r>
            <a:r>
              <a:rPr sz="2800" spc="-35" dirty="0">
                <a:latin typeface="Calibri"/>
                <a:cs typeface="Calibri"/>
              </a:rPr>
              <a:t>take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array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25" dirty="0">
                <a:latin typeface="Calibri"/>
                <a:cs typeface="Calibri"/>
              </a:rPr>
              <a:t>size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919" y="4565934"/>
            <a:ext cx="10591165" cy="130556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77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10" dirty="0">
                <a:latin typeface="Calibri"/>
                <a:cs typeface="Calibri"/>
              </a:rPr>
              <a:t>Suppose,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want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delete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7D1B68"/>
                </a:solidFill>
                <a:latin typeface="Calibri"/>
                <a:cs typeface="Calibri"/>
              </a:rPr>
              <a:t>40</a:t>
            </a:r>
            <a:r>
              <a:rPr sz="2800" spc="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55" dirty="0">
                <a:latin typeface="Calibri"/>
                <a:cs typeface="Calibri"/>
              </a:rPr>
              <a:t>array.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Searching</a:t>
            </a:r>
            <a:r>
              <a:rPr sz="2800" spc="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performed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locate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800" spc="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7D1B68"/>
                </a:solidFill>
                <a:latin typeface="Calibri"/>
                <a:cs typeface="Calibri"/>
              </a:rPr>
              <a:t>40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16416" y="3117850"/>
          <a:ext cx="8138157" cy="6921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5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310">
                <a:tc>
                  <a:txBody>
                    <a:bodyPr/>
                    <a:lstStyle/>
                    <a:p>
                      <a:pPr marR="26670" algn="ctr">
                        <a:lnSpc>
                          <a:spcPts val="213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ts val="213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ts val="213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ts val="213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ts val="213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ts val="2135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7" name="object 7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6553200" y="30480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533400"/>
                </a:moveTo>
                <a:lnTo>
                  <a:pt x="2179" y="484842"/>
                </a:lnTo>
                <a:lnTo>
                  <a:pt x="8592" y="437507"/>
                </a:lnTo>
                <a:lnTo>
                  <a:pt x="19050" y="391583"/>
                </a:lnTo>
                <a:lnTo>
                  <a:pt x="33364" y="347258"/>
                </a:lnTo>
                <a:lnTo>
                  <a:pt x="51348" y="304721"/>
                </a:lnTo>
                <a:lnTo>
                  <a:pt x="72813" y="264160"/>
                </a:lnTo>
                <a:lnTo>
                  <a:pt x="97570" y="225762"/>
                </a:lnTo>
                <a:lnTo>
                  <a:pt x="125432" y="189716"/>
                </a:lnTo>
                <a:lnTo>
                  <a:pt x="156210" y="156210"/>
                </a:lnTo>
                <a:lnTo>
                  <a:pt x="189716" y="125432"/>
                </a:lnTo>
                <a:lnTo>
                  <a:pt x="225762" y="97570"/>
                </a:lnTo>
                <a:lnTo>
                  <a:pt x="264160" y="72813"/>
                </a:lnTo>
                <a:lnTo>
                  <a:pt x="304721" y="51348"/>
                </a:lnTo>
                <a:lnTo>
                  <a:pt x="347258" y="33364"/>
                </a:lnTo>
                <a:lnTo>
                  <a:pt x="391583" y="19050"/>
                </a:lnTo>
                <a:lnTo>
                  <a:pt x="437507" y="8592"/>
                </a:lnTo>
                <a:lnTo>
                  <a:pt x="484842" y="2179"/>
                </a:lnTo>
                <a:lnTo>
                  <a:pt x="533400" y="0"/>
                </a:lnTo>
                <a:lnTo>
                  <a:pt x="581957" y="2179"/>
                </a:lnTo>
                <a:lnTo>
                  <a:pt x="629292" y="8592"/>
                </a:lnTo>
                <a:lnTo>
                  <a:pt x="675216" y="19050"/>
                </a:lnTo>
                <a:lnTo>
                  <a:pt x="719541" y="33364"/>
                </a:lnTo>
                <a:lnTo>
                  <a:pt x="762078" y="51348"/>
                </a:lnTo>
                <a:lnTo>
                  <a:pt x="802639" y="72813"/>
                </a:lnTo>
                <a:lnTo>
                  <a:pt x="841037" y="97570"/>
                </a:lnTo>
                <a:lnTo>
                  <a:pt x="877083" y="125432"/>
                </a:lnTo>
                <a:lnTo>
                  <a:pt x="910589" y="156209"/>
                </a:lnTo>
                <a:lnTo>
                  <a:pt x="941367" y="189716"/>
                </a:lnTo>
                <a:lnTo>
                  <a:pt x="969229" y="225762"/>
                </a:lnTo>
                <a:lnTo>
                  <a:pt x="993986" y="264159"/>
                </a:lnTo>
                <a:lnTo>
                  <a:pt x="1015451" y="304721"/>
                </a:lnTo>
                <a:lnTo>
                  <a:pt x="1033435" y="347258"/>
                </a:lnTo>
                <a:lnTo>
                  <a:pt x="1047750" y="391583"/>
                </a:lnTo>
                <a:lnTo>
                  <a:pt x="1058207" y="437507"/>
                </a:lnTo>
                <a:lnTo>
                  <a:pt x="1064620" y="484842"/>
                </a:lnTo>
                <a:lnTo>
                  <a:pt x="1066800" y="533400"/>
                </a:lnTo>
                <a:lnTo>
                  <a:pt x="1064620" y="581957"/>
                </a:lnTo>
                <a:lnTo>
                  <a:pt x="1058207" y="629292"/>
                </a:lnTo>
                <a:lnTo>
                  <a:pt x="1047750" y="675216"/>
                </a:lnTo>
                <a:lnTo>
                  <a:pt x="1033435" y="719541"/>
                </a:lnTo>
                <a:lnTo>
                  <a:pt x="1015451" y="762078"/>
                </a:lnTo>
                <a:lnTo>
                  <a:pt x="993986" y="802640"/>
                </a:lnTo>
                <a:lnTo>
                  <a:pt x="969229" y="841037"/>
                </a:lnTo>
                <a:lnTo>
                  <a:pt x="941367" y="877083"/>
                </a:lnTo>
                <a:lnTo>
                  <a:pt x="910589" y="910589"/>
                </a:lnTo>
                <a:lnTo>
                  <a:pt x="877083" y="941367"/>
                </a:lnTo>
                <a:lnTo>
                  <a:pt x="841037" y="969229"/>
                </a:lnTo>
                <a:lnTo>
                  <a:pt x="802639" y="993986"/>
                </a:lnTo>
                <a:lnTo>
                  <a:pt x="762078" y="1015451"/>
                </a:lnTo>
                <a:lnTo>
                  <a:pt x="719541" y="1033435"/>
                </a:lnTo>
                <a:lnTo>
                  <a:pt x="675216" y="1047749"/>
                </a:lnTo>
                <a:lnTo>
                  <a:pt x="629292" y="1058207"/>
                </a:lnTo>
                <a:lnTo>
                  <a:pt x="581957" y="1064620"/>
                </a:lnTo>
                <a:lnTo>
                  <a:pt x="533400" y="1066800"/>
                </a:lnTo>
                <a:lnTo>
                  <a:pt x="484842" y="1064620"/>
                </a:lnTo>
                <a:lnTo>
                  <a:pt x="437507" y="1058207"/>
                </a:lnTo>
                <a:lnTo>
                  <a:pt x="391583" y="1047750"/>
                </a:lnTo>
                <a:lnTo>
                  <a:pt x="347258" y="1033435"/>
                </a:lnTo>
                <a:lnTo>
                  <a:pt x="304721" y="1015451"/>
                </a:lnTo>
                <a:lnTo>
                  <a:pt x="264160" y="993986"/>
                </a:lnTo>
                <a:lnTo>
                  <a:pt x="225762" y="969229"/>
                </a:lnTo>
                <a:lnTo>
                  <a:pt x="189716" y="941367"/>
                </a:lnTo>
                <a:lnTo>
                  <a:pt x="156210" y="910590"/>
                </a:lnTo>
                <a:lnTo>
                  <a:pt x="125432" y="877083"/>
                </a:lnTo>
                <a:lnTo>
                  <a:pt x="97570" y="841037"/>
                </a:lnTo>
                <a:lnTo>
                  <a:pt x="72813" y="802640"/>
                </a:lnTo>
                <a:lnTo>
                  <a:pt x="51348" y="762078"/>
                </a:lnTo>
                <a:lnTo>
                  <a:pt x="33364" y="719541"/>
                </a:lnTo>
                <a:lnTo>
                  <a:pt x="19049" y="675216"/>
                </a:lnTo>
                <a:lnTo>
                  <a:pt x="8592" y="629292"/>
                </a:lnTo>
                <a:lnTo>
                  <a:pt x="2179" y="581957"/>
                </a:lnTo>
                <a:lnTo>
                  <a:pt x="0" y="533400"/>
                </a:lnTo>
                <a:close/>
              </a:path>
            </a:pathLst>
          </a:custGeom>
          <a:ln w="9525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6083" y="363981"/>
            <a:ext cx="7331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Method</a:t>
            </a:r>
            <a:r>
              <a:rPr spc="10" dirty="0"/>
              <a:t> </a:t>
            </a:r>
            <a:r>
              <a:rPr spc="-5" dirty="0"/>
              <a:t>for</a:t>
            </a:r>
            <a:r>
              <a:rPr spc="10" dirty="0"/>
              <a:t> </a:t>
            </a:r>
            <a:r>
              <a:rPr spc="-5" dirty="0"/>
              <a:t>Deletion</a:t>
            </a:r>
            <a:r>
              <a:rPr spc="-10" dirty="0"/>
              <a:t> </a:t>
            </a:r>
            <a:r>
              <a:rPr spc="-5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2283" y="1331341"/>
            <a:ext cx="10730865" cy="1672589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Search </a:t>
            </a:r>
            <a:r>
              <a:rPr sz="2400" spc="-5" dirty="0">
                <a:latin typeface="Calibri"/>
                <a:cs typeface="Calibri"/>
              </a:rPr>
              <a:t>method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locate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element 40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index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3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Now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delete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400" spc="2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40</a:t>
            </a:r>
            <a:r>
              <a:rPr sz="2400" spc="2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way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index</a:t>
            </a:r>
            <a:r>
              <a:rPr sz="2400" spc="2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4 </a:t>
            </a:r>
            <a:r>
              <a:rPr sz="2400" spc="-5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shifted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index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3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index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5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shifted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index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4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 on.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58950" y="4042409"/>
          <a:ext cx="8139427" cy="681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7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R="31115" algn="ctr">
                        <a:lnSpc>
                          <a:spcPts val="20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93725">
                        <a:lnSpc>
                          <a:spcPts val="20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20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0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ts val="20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ts val="205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532759" y="5146675"/>
            <a:ext cx="4775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7D1B68"/>
                </a:solidFill>
                <a:latin typeface="Arial MT"/>
                <a:cs typeface="Arial MT"/>
              </a:rPr>
              <a:t>Element</a:t>
            </a:r>
            <a:r>
              <a:rPr sz="1800" spc="1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D1B68"/>
                </a:solidFill>
                <a:latin typeface="Arial MT"/>
                <a:cs typeface="Arial MT"/>
              </a:rPr>
              <a:t>40</a:t>
            </a:r>
            <a:r>
              <a:rPr sz="180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deleted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D1B68"/>
                </a:solidFill>
                <a:latin typeface="Arial MT"/>
                <a:cs typeface="Arial MT"/>
              </a:rPr>
              <a:t>50 </a:t>
            </a:r>
            <a:r>
              <a:rPr sz="1800" spc="-5" dirty="0">
                <a:latin typeface="Arial MT"/>
                <a:cs typeface="Arial MT"/>
              </a:rPr>
              <a:t>shifted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D1B68"/>
                </a:solidFill>
                <a:latin typeface="Arial MT"/>
                <a:cs typeface="Arial MT"/>
              </a:rPr>
              <a:t>index</a:t>
            </a:r>
            <a:r>
              <a:rPr sz="1800" spc="1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7D1B68"/>
                </a:solidFill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7" name="object 7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312661" y="4712461"/>
            <a:ext cx="177800" cy="419100"/>
            <a:chOff x="6312661" y="4712461"/>
            <a:chExt cx="177800" cy="419100"/>
          </a:xfrm>
        </p:grpSpPr>
        <p:sp>
          <p:nvSpPr>
            <p:cNvPr id="10" name="object 10"/>
            <p:cNvSpPr/>
            <p:nvPr/>
          </p:nvSpPr>
          <p:spPr>
            <a:xfrm>
              <a:off x="6325361" y="4725161"/>
              <a:ext cx="152400" cy="393700"/>
            </a:xfrm>
            <a:custGeom>
              <a:avLst/>
              <a:gdLst/>
              <a:ahLst/>
              <a:cxnLst/>
              <a:rect l="l" t="t" r="r" b="b"/>
              <a:pathLst>
                <a:path w="152400" h="393700">
                  <a:moveTo>
                    <a:pt x="76200" y="0"/>
                  </a:moveTo>
                  <a:lnTo>
                    <a:pt x="0" y="76200"/>
                  </a:lnTo>
                  <a:lnTo>
                    <a:pt x="38100" y="76200"/>
                  </a:lnTo>
                  <a:lnTo>
                    <a:pt x="38100" y="393192"/>
                  </a:lnTo>
                  <a:lnTo>
                    <a:pt x="114300" y="393192"/>
                  </a:lnTo>
                  <a:lnTo>
                    <a:pt x="114300" y="76200"/>
                  </a:lnTo>
                  <a:lnTo>
                    <a:pt x="1524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5361" y="4725161"/>
              <a:ext cx="152400" cy="393700"/>
            </a:xfrm>
            <a:custGeom>
              <a:avLst/>
              <a:gdLst/>
              <a:ahLst/>
              <a:cxnLst/>
              <a:rect l="l" t="t" r="r" b="b"/>
              <a:pathLst>
                <a:path w="152400" h="393700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114300" y="76200"/>
                  </a:lnTo>
                  <a:lnTo>
                    <a:pt x="114300" y="393192"/>
                  </a:lnTo>
                  <a:lnTo>
                    <a:pt x="38100" y="393192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465061" y="3188461"/>
            <a:ext cx="1549400" cy="874394"/>
            <a:chOff x="6465061" y="3188461"/>
            <a:chExt cx="1549400" cy="874394"/>
          </a:xfrm>
        </p:grpSpPr>
        <p:sp>
          <p:nvSpPr>
            <p:cNvPr id="13" name="object 13"/>
            <p:cNvSpPr/>
            <p:nvPr/>
          </p:nvSpPr>
          <p:spPr>
            <a:xfrm>
              <a:off x="6477761" y="3201161"/>
              <a:ext cx="1524000" cy="848994"/>
            </a:xfrm>
            <a:custGeom>
              <a:avLst/>
              <a:gdLst/>
              <a:ahLst/>
              <a:cxnLst/>
              <a:rect l="l" t="t" r="r" b="b"/>
              <a:pathLst>
                <a:path w="1524000" h="848995">
                  <a:moveTo>
                    <a:pt x="1152652" y="0"/>
                  </a:moveTo>
                  <a:lnTo>
                    <a:pt x="477519" y="0"/>
                  </a:lnTo>
                  <a:lnTo>
                    <a:pt x="430933" y="2893"/>
                  </a:lnTo>
                  <a:lnTo>
                    <a:pt x="386071" y="11340"/>
                  </a:lnTo>
                  <a:lnTo>
                    <a:pt x="343281" y="24994"/>
                  </a:lnTo>
                  <a:lnTo>
                    <a:pt x="302912" y="43506"/>
                  </a:lnTo>
                  <a:lnTo>
                    <a:pt x="265312" y="66529"/>
                  </a:lnTo>
                  <a:lnTo>
                    <a:pt x="230830" y="93714"/>
                  </a:lnTo>
                  <a:lnTo>
                    <a:pt x="199815" y="124714"/>
                  </a:lnTo>
                  <a:lnTo>
                    <a:pt x="172615" y="159182"/>
                  </a:lnTo>
                  <a:lnTo>
                    <a:pt x="149579" y="196768"/>
                  </a:lnTo>
                  <a:lnTo>
                    <a:pt x="131056" y="237126"/>
                  </a:lnTo>
                  <a:lnTo>
                    <a:pt x="117393" y="279907"/>
                  </a:lnTo>
                  <a:lnTo>
                    <a:pt x="108940" y="324763"/>
                  </a:lnTo>
                  <a:lnTo>
                    <a:pt x="106044" y="371348"/>
                  </a:lnTo>
                  <a:lnTo>
                    <a:pt x="106044" y="424433"/>
                  </a:lnTo>
                  <a:lnTo>
                    <a:pt x="0" y="424433"/>
                  </a:lnTo>
                  <a:lnTo>
                    <a:pt x="212216" y="636651"/>
                  </a:lnTo>
                  <a:lnTo>
                    <a:pt x="424434" y="424433"/>
                  </a:lnTo>
                  <a:lnTo>
                    <a:pt x="318262" y="424433"/>
                  </a:lnTo>
                  <a:lnTo>
                    <a:pt x="318262" y="371348"/>
                  </a:lnTo>
                  <a:lnTo>
                    <a:pt x="326387" y="321050"/>
                  </a:lnTo>
                  <a:lnTo>
                    <a:pt x="349010" y="277368"/>
                  </a:lnTo>
                  <a:lnTo>
                    <a:pt x="383495" y="242920"/>
                  </a:lnTo>
                  <a:lnTo>
                    <a:pt x="427209" y="220329"/>
                  </a:lnTo>
                  <a:lnTo>
                    <a:pt x="477519" y="212216"/>
                  </a:lnTo>
                  <a:lnTo>
                    <a:pt x="1152652" y="212216"/>
                  </a:lnTo>
                  <a:lnTo>
                    <a:pt x="1202949" y="220329"/>
                  </a:lnTo>
                  <a:lnTo>
                    <a:pt x="1246632" y="242920"/>
                  </a:lnTo>
                  <a:lnTo>
                    <a:pt x="1281079" y="277367"/>
                  </a:lnTo>
                  <a:lnTo>
                    <a:pt x="1303670" y="321050"/>
                  </a:lnTo>
                  <a:lnTo>
                    <a:pt x="1311783" y="371348"/>
                  </a:lnTo>
                  <a:lnTo>
                    <a:pt x="1311783" y="848868"/>
                  </a:lnTo>
                  <a:lnTo>
                    <a:pt x="1523999" y="848868"/>
                  </a:lnTo>
                  <a:lnTo>
                    <a:pt x="1523999" y="371348"/>
                  </a:lnTo>
                  <a:lnTo>
                    <a:pt x="1521106" y="324763"/>
                  </a:lnTo>
                  <a:lnTo>
                    <a:pt x="1512659" y="279907"/>
                  </a:lnTo>
                  <a:lnTo>
                    <a:pt x="1499005" y="237126"/>
                  </a:lnTo>
                  <a:lnTo>
                    <a:pt x="1480493" y="196768"/>
                  </a:lnTo>
                  <a:lnTo>
                    <a:pt x="1457470" y="159182"/>
                  </a:lnTo>
                  <a:lnTo>
                    <a:pt x="1430285" y="124714"/>
                  </a:lnTo>
                  <a:lnTo>
                    <a:pt x="1399285" y="93714"/>
                  </a:lnTo>
                  <a:lnTo>
                    <a:pt x="1364817" y="66529"/>
                  </a:lnTo>
                  <a:lnTo>
                    <a:pt x="1327231" y="43506"/>
                  </a:lnTo>
                  <a:lnTo>
                    <a:pt x="1286873" y="24994"/>
                  </a:lnTo>
                  <a:lnTo>
                    <a:pt x="1244092" y="11340"/>
                  </a:lnTo>
                  <a:lnTo>
                    <a:pt x="1199236" y="2893"/>
                  </a:lnTo>
                  <a:lnTo>
                    <a:pt x="115265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7761" y="3201161"/>
              <a:ext cx="1524000" cy="848994"/>
            </a:xfrm>
            <a:custGeom>
              <a:avLst/>
              <a:gdLst/>
              <a:ahLst/>
              <a:cxnLst/>
              <a:rect l="l" t="t" r="r" b="b"/>
              <a:pathLst>
                <a:path w="1524000" h="848995">
                  <a:moveTo>
                    <a:pt x="1523999" y="848868"/>
                  </a:moveTo>
                  <a:lnTo>
                    <a:pt x="1523999" y="371348"/>
                  </a:lnTo>
                  <a:lnTo>
                    <a:pt x="1521106" y="324763"/>
                  </a:lnTo>
                  <a:lnTo>
                    <a:pt x="1512659" y="279907"/>
                  </a:lnTo>
                  <a:lnTo>
                    <a:pt x="1499005" y="237126"/>
                  </a:lnTo>
                  <a:lnTo>
                    <a:pt x="1480493" y="196768"/>
                  </a:lnTo>
                  <a:lnTo>
                    <a:pt x="1457470" y="159182"/>
                  </a:lnTo>
                  <a:lnTo>
                    <a:pt x="1430285" y="124714"/>
                  </a:lnTo>
                  <a:lnTo>
                    <a:pt x="1399285" y="93714"/>
                  </a:lnTo>
                  <a:lnTo>
                    <a:pt x="1364817" y="66529"/>
                  </a:lnTo>
                  <a:lnTo>
                    <a:pt x="1327231" y="43506"/>
                  </a:lnTo>
                  <a:lnTo>
                    <a:pt x="1286873" y="24994"/>
                  </a:lnTo>
                  <a:lnTo>
                    <a:pt x="1244092" y="11340"/>
                  </a:lnTo>
                  <a:lnTo>
                    <a:pt x="1199236" y="2893"/>
                  </a:lnTo>
                  <a:lnTo>
                    <a:pt x="1152652" y="0"/>
                  </a:lnTo>
                  <a:lnTo>
                    <a:pt x="477519" y="0"/>
                  </a:lnTo>
                  <a:lnTo>
                    <a:pt x="430933" y="2893"/>
                  </a:lnTo>
                  <a:lnTo>
                    <a:pt x="386071" y="11340"/>
                  </a:lnTo>
                  <a:lnTo>
                    <a:pt x="343281" y="24994"/>
                  </a:lnTo>
                  <a:lnTo>
                    <a:pt x="302912" y="43506"/>
                  </a:lnTo>
                  <a:lnTo>
                    <a:pt x="265312" y="66529"/>
                  </a:lnTo>
                  <a:lnTo>
                    <a:pt x="230830" y="93714"/>
                  </a:lnTo>
                  <a:lnTo>
                    <a:pt x="199815" y="124714"/>
                  </a:lnTo>
                  <a:lnTo>
                    <a:pt x="172615" y="159182"/>
                  </a:lnTo>
                  <a:lnTo>
                    <a:pt x="149579" y="196768"/>
                  </a:lnTo>
                  <a:lnTo>
                    <a:pt x="131056" y="237126"/>
                  </a:lnTo>
                  <a:lnTo>
                    <a:pt x="117393" y="279907"/>
                  </a:lnTo>
                  <a:lnTo>
                    <a:pt x="108940" y="324763"/>
                  </a:lnTo>
                  <a:lnTo>
                    <a:pt x="106044" y="371348"/>
                  </a:lnTo>
                  <a:lnTo>
                    <a:pt x="106044" y="424433"/>
                  </a:lnTo>
                  <a:lnTo>
                    <a:pt x="0" y="424433"/>
                  </a:lnTo>
                  <a:lnTo>
                    <a:pt x="212216" y="636651"/>
                  </a:lnTo>
                  <a:lnTo>
                    <a:pt x="424434" y="424433"/>
                  </a:lnTo>
                  <a:lnTo>
                    <a:pt x="318262" y="424433"/>
                  </a:lnTo>
                  <a:lnTo>
                    <a:pt x="318262" y="371348"/>
                  </a:lnTo>
                  <a:lnTo>
                    <a:pt x="326387" y="321050"/>
                  </a:lnTo>
                  <a:lnTo>
                    <a:pt x="349010" y="277368"/>
                  </a:lnTo>
                  <a:lnTo>
                    <a:pt x="383495" y="242920"/>
                  </a:lnTo>
                  <a:lnTo>
                    <a:pt x="427209" y="220329"/>
                  </a:lnTo>
                  <a:lnTo>
                    <a:pt x="477519" y="212216"/>
                  </a:lnTo>
                  <a:lnTo>
                    <a:pt x="1152652" y="212216"/>
                  </a:lnTo>
                  <a:lnTo>
                    <a:pt x="1202949" y="220329"/>
                  </a:lnTo>
                  <a:lnTo>
                    <a:pt x="1246632" y="242920"/>
                  </a:lnTo>
                  <a:lnTo>
                    <a:pt x="1281079" y="277367"/>
                  </a:lnTo>
                  <a:lnTo>
                    <a:pt x="1303670" y="321050"/>
                  </a:lnTo>
                  <a:lnTo>
                    <a:pt x="1311783" y="371348"/>
                  </a:lnTo>
                  <a:lnTo>
                    <a:pt x="1311783" y="848868"/>
                  </a:lnTo>
                  <a:lnTo>
                    <a:pt x="1523999" y="848868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356361"/>
            <a:ext cx="1602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</a:t>
            </a:r>
            <a:r>
              <a:rPr spc="-25" dirty="0"/>
              <a:t>n</a:t>
            </a:r>
            <a:r>
              <a:rPr spc="-5" dirty="0"/>
              <a:t>t...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89710"/>
            <a:ext cx="100787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Now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maintain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order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an </a:t>
            </a:r>
            <a:r>
              <a:rPr sz="2400" spc="-45" dirty="0">
                <a:latin typeface="Calibri"/>
                <a:cs typeface="Calibri"/>
              </a:rPr>
              <a:t>array,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element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60 </a:t>
            </a:r>
            <a:r>
              <a:rPr sz="2400" spc="-5" dirty="0">
                <a:latin typeface="Calibri"/>
                <a:cs typeface="Calibri"/>
              </a:rPr>
              <a:t>shift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index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Calibri"/>
                <a:cs typeface="Calibri"/>
              </a:rPr>
              <a:t>4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07819" y="3204210"/>
          <a:ext cx="8155303" cy="6967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9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5881">
                <a:tc>
                  <a:txBody>
                    <a:bodyPr/>
                    <a:lstStyle/>
                    <a:p>
                      <a:pPr marL="5937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861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105147" y="4867782"/>
            <a:ext cx="50241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marR="5080" indent="-18605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7D1B68"/>
                </a:solidFill>
                <a:latin typeface="Arial MT"/>
                <a:cs typeface="Arial MT"/>
              </a:rPr>
              <a:t>Element</a:t>
            </a:r>
            <a:r>
              <a:rPr sz="2400" spc="2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7D1B68"/>
                </a:solidFill>
                <a:latin typeface="Arial MT"/>
                <a:cs typeface="Arial MT"/>
              </a:rPr>
              <a:t>40</a:t>
            </a:r>
            <a:r>
              <a:rPr sz="2400" dirty="0">
                <a:solidFill>
                  <a:srgbClr val="7D1B68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deleted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array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remaining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shift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upwards.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7" name="object 7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693661" y="4179061"/>
            <a:ext cx="177800" cy="676275"/>
            <a:chOff x="6693661" y="4179061"/>
            <a:chExt cx="177800" cy="676275"/>
          </a:xfrm>
        </p:grpSpPr>
        <p:sp>
          <p:nvSpPr>
            <p:cNvPr id="10" name="object 10"/>
            <p:cNvSpPr/>
            <p:nvPr/>
          </p:nvSpPr>
          <p:spPr>
            <a:xfrm>
              <a:off x="6706361" y="4191761"/>
              <a:ext cx="152400" cy="650875"/>
            </a:xfrm>
            <a:custGeom>
              <a:avLst/>
              <a:gdLst/>
              <a:ahLst/>
              <a:cxnLst/>
              <a:rect l="l" t="t" r="r" b="b"/>
              <a:pathLst>
                <a:path w="152400" h="650875">
                  <a:moveTo>
                    <a:pt x="76200" y="0"/>
                  </a:moveTo>
                  <a:lnTo>
                    <a:pt x="0" y="76200"/>
                  </a:lnTo>
                  <a:lnTo>
                    <a:pt x="38100" y="76200"/>
                  </a:lnTo>
                  <a:lnTo>
                    <a:pt x="38100" y="650748"/>
                  </a:lnTo>
                  <a:lnTo>
                    <a:pt x="114300" y="650748"/>
                  </a:lnTo>
                  <a:lnTo>
                    <a:pt x="114300" y="76200"/>
                  </a:lnTo>
                  <a:lnTo>
                    <a:pt x="1524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06361" y="4191761"/>
              <a:ext cx="152400" cy="650875"/>
            </a:xfrm>
            <a:custGeom>
              <a:avLst/>
              <a:gdLst/>
              <a:ahLst/>
              <a:cxnLst/>
              <a:rect l="l" t="t" r="r" b="b"/>
              <a:pathLst>
                <a:path w="152400" h="650875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114300" y="76200"/>
                  </a:lnTo>
                  <a:lnTo>
                    <a:pt x="114300" y="650748"/>
                  </a:lnTo>
                  <a:lnTo>
                    <a:pt x="38100" y="650748"/>
                  </a:lnTo>
                  <a:lnTo>
                    <a:pt x="38100" y="762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065261" y="2339594"/>
            <a:ext cx="1549400" cy="874394"/>
            <a:chOff x="8065261" y="2339594"/>
            <a:chExt cx="1549400" cy="874394"/>
          </a:xfrm>
        </p:grpSpPr>
        <p:sp>
          <p:nvSpPr>
            <p:cNvPr id="13" name="object 13"/>
            <p:cNvSpPr/>
            <p:nvPr/>
          </p:nvSpPr>
          <p:spPr>
            <a:xfrm>
              <a:off x="8077961" y="2352294"/>
              <a:ext cx="1524000" cy="848994"/>
            </a:xfrm>
            <a:custGeom>
              <a:avLst/>
              <a:gdLst/>
              <a:ahLst/>
              <a:cxnLst/>
              <a:rect l="l" t="t" r="r" b="b"/>
              <a:pathLst>
                <a:path w="1524000" h="848994">
                  <a:moveTo>
                    <a:pt x="1152652" y="0"/>
                  </a:moveTo>
                  <a:lnTo>
                    <a:pt x="477520" y="0"/>
                  </a:lnTo>
                  <a:lnTo>
                    <a:pt x="430933" y="2893"/>
                  </a:lnTo>
                  <a:lnTo>
                    <a:pt x="386071" y="11340"/>
                  </a:lnTo>
                  <a:lnTo>
                    <a:pt x="343281" y="24994"/>
                  </a:lnTo>
                  <a:lnTo>
                    <a:pt x="302912" y="43506"/>
                  </a:lnTo>
                  <a:lnTo>
                    <a:pt x="265312" y="66529"/>
                  </a:lnTo>
                  <a:lnTo>
                    <a:pt x="230830" y="93714"/>
                  </a:lnTo>
                  <a:lnTo>
                    <a:pt x="199815" y="124714"/>
                  </a:lnTo>
                  <a:lnTo>
                    <a:pt x="172615" y="159182"/>
                  </a:lnTo>
                  <a:lnTo>
                    <a:pt x="149579" y="196768"/>
                  </a:lnTo>
                  <a:lnTo>
                    <a:pt x="131056" y="237126"/>
                  </a:lnTo>
                  <a:lnTo>
                    <a:pt x="117393" y="279907"/>
                  </a:lnTo>
                  <a:lnTo>
                    <a:pt x="108940" y="324763"/>
                  </a:lnTo>
                  <a:lnTo>
                    <a:pt x="106045" y="371347"/>
                  </a:lnTo>
                  <a:lnTo>
                    <a:pt x="106045" y="424433"/>
                  </a:lnTo>
                  <a:lnTo>
                    <a:pt x="0" y="424433"/>
                  </a:lnTo>
                  <a:lnTo>
                    <a:pt x="212217" y="636651"/>
                  </a:lnTo>
                  <a:lnTo>
                    <a:pt x="424434" y="424433"/>
                  </a:lnTo>
                  <a:lnTo>
                    <a:pt x="318262" y="424433"/>
                  </a:lnTo>
                  <a:lnTo>
                    <a:pt x="318262" y="371347"/>
                  </a:lnTo>
                  <a:lnTo>
                    <a:pt x="326387" y="321050"/>
                  </a:lnTo>
                  <a:lnTo>
                    <a:pt x="349010" y="277367"/>
                  </a:lnTo>
                  <a:lnTo>
                    <a:pt x="383495" y="242920"/>
                  </a:lnTo>
                  <a:lnTo>
                    <a:pt x="427209" y="220329"/>
                  </a:lnTo>
                  <a:lnTo>
                    <a:pt x="477520" y="212216"/>
                  </a:lnTo>
                  <a:lnTo>
                    <a:pt x="1152652" y="212216"/>
                  </a:lnTo>
                  <a:lnTo>
                    <a:pt x="1202949" y="220329"/>
                  </a:lnTo>
                  <a:lnTo>
                    <a:pt x="1246632" y="242920"/>
                  </a:lnTo>
                  <a:lnTo>
                    <a:pt x="1281079" y="277367"/>
                  </a:lnTo>
                  <a:lnTo>
                    <a:pt x="1303670" y="321050"/>
                  </a:lnTo>
                  <a:lnTo>
                    <a:pt x="1311783" y="371347"/>
                  </a:lnTo>
                  <a:lnTo>
                    <a:pt x="1311783" y="848867"/>
                  </a:lnTo>
                  <a:lnTo>
                    <a:pt x="1524000" y="848867"/>
                  </a:lnTo>
                  <a:lnTo>
                    <a:pt x="1524000" y="371347"/>
                  </a:lnTo>
                  <a:lnTo>
                    <a:pt x="1521106" y="324763"/>
                  </a:lnTo>
                  <a:lnTo>
                    <a:pt x="1512659" y="279907"/>
                  </a:lnTo>
                  <a:lnTo>
                    <a:pt x="1499005" y="237126"/>
                  </a:lnTo>
                  <a:lnTo>
                    <a:pt x="1480493" y="196768"/>
                  </a:lnTo>
                  <a:lnTo>
                    <a:pt x="1457470" y="159182"/>
                  </a:lnTo>
                  <a:lnTo>
                    <a:pt x="1430285" y="124714"/>
                  </a:lnTo>
                  <a:lnTo>
                    <a:pt x="1399285" y="93714"/>
                  </a:lnTo>
                  <a:lnTo>
                    <a:pt x="1364817" y="66529"/>
                  </a:lnTo>
                  <a:lnTo>
                    <a:pt x="1327231" y="43506"/>
                  </a:lnTo>
                  <a:lnTo>
                    <a:pt x="1286873" y="24994"/>
                  </a:lnTo>
                  <a:lnTo>
                    <a:pt x="1244092" y="11340"/>
                  </a:lnTo>
                  <a:lnTo>
                    <a:pt x="1199236" y="2893"/>
                  </a:lnTo>
                  <a:lnTo>
                    <a:pt x="115265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77961" y="2352294"/>
              <a:ext cx="1524000" cy="848994"/>
            </a:xfrm>
            <a:custGeom>
              <a:avLst/>
              <a:gdLst/>
              <a:ahLst/>
              <a:cxnLst/>
              <a:rect l="l" t="t" r="r" b="b"/>
              <a:pathLst>
                <a:path w="1524000" h="848994">
                  <a:moveTo>
                    <a:pt x="1524000" y="848867"/>
                  </a:moveTo>
                  <a:lnTo>
                    <a:pt x="1524000" y="371347"/>
                  </a:lnTo>
                  <a:lnTo>
                    <a:pt x="1521106" y="324763"/>
                  </a:lnTo>
                  <a:lnTo>
                    <a:pt x="1512659" y="279907"/>
                  </a:lnTo>
                  <a:lnTo>
                    <a:pt x="1499005" y="237126"/>
                  </a:lnTo>
                  <a:lnTo>
                    <a:pt x="1480493" y="196768"/>
                  </a:lnTo>
                  <a:lnTo>
                    <a:pt x="1457470" y="159182"/>
                  </a:lnTo>
                  <a:lnTo>
                    <a:pt x="1430285" y="124714"/>
                  </a:lnTo>
                  <a:lnTo>
                    <a:pt x="1399285" y="93714"/>
                  </a:lnTo>
                  <a:lnTo>
                    <a:pt x="1364817" y="66529"/>
                  </a:lnTo>
                  <a:lnTo>
                    <a:pt x="1327231" y="43506"/>
                  </a:lnTo>
                  <a:lnTo>
                    <a:pt x="1286873" y="24994"/>
                  </a:lnTo>
                  <a:lnTo>
                    <a:pt x="1244092" y="11340"/>
                  </a:lnTo>
                  <a:lnTo>
                    <a:pt x="1199236" y="2893"/>
                  </a:lnTo>
                  <a:lnTo>
                    <a:pt x="1152652" y="0"/>
                  </a:lnTo>
                  <a:lnTo>
                    <a:pt x="477520" y="0"/>
                  </a:lnTo>
                  <a:lnTo>
                    <a:pt x="430933" y="2893"/>
                  </a:lnTo>
                  <a:lnTo>
                    <a:pt x="386071" y="11340"/>
                  </a:lnTo>
                  <a:lnTo>
                    <a:pt x="343281" y="24994"/>
                  </a:lnTo>
                  <a:lnTo>
                    <a:pt x="302912" y="43506"/>
                  </a:lnTo>
                  <a:lnTo>
                    <a:pt x="265312" y="66529"/>
                  </a:lnTo>
                  <a:lnTo>
                    <a:pt x="230830" y="93714"/>
                  </a:lnTo>
                  <a:lnTo>
                    <a:pt x="199815" y="124714"/>
                  </a:lnTo>
                  <a:lnTo>
                    <a:pt x="172615" y="159182"/>
                  </a:lnTo>
                  <a:lnTo>
                    <a:pt x="149579" y="196768"/>
                  </a:lnTo>
                  <a:lnTo>
                    <a:pt x="131056" y="237126"/>
                  </a:lnTo>
                  <a:lnTo>
                    <a:pt x="117393" y="279907"/>
                  </a:lnTo>
                  <a:lnTo>
                    <a:pt x="108940" y="324763"/>
                  </a:lnTo>
                  <a:lnTo>
                    <a:pt x="106045" y="371347"/>
                  </a:lnTo>
                  <a:lnTo>
                    <a:pt x="106045" y="424433"/>
                  </a:lnTo>
                  <a:lnTo>
                    <a:pt x="0" y="424433"/>
                  </a:lnTo>
                  <a:lnTo>
                    <a:pt x="212217" y="636651"/>
                  </a:lnTo>
                  <a:lnTo>
                    <a:pt x="424434" y="424433"/>
                  </a:lnTo>
                  <a:lnTo>
                    <a:pt x="318262" y="424433"/>
                  </a:lnTo>
                  <a:lnTo>
                    <a:pt x="318262" y="371347"/>
                  </a:lnTo>
                  <a:lnTo>
                    <a:pt x="326387" y="321050"/>
                  </a:lnTo>
                  <a:lnTo>
                    <a:pt x="349010" y="277367"/>
                  </a:lnTo>
                  <a:lnTo>
                    <a:pt x="383495" y="242920"/>
                  </a:lnTo>
                  <a:lnTo>
                    <a:pt x="427209" y="220329"/>
                  </a:lnTo>
                  <a:lnTo>
                    <a:pt x="477520" y="212216"/>
                  </a:lnTo>
                  <a:lnTo>
                    <a:pt x="1152652" y="212216"/>
                  </a:lnTo>
                  <a:lnTo>
                    <a:pt x="1202949" y="220329"/>
                  </a:lnTo>
                  <a:lnTo>
                    <a:pt x="1246632" y="242920"/>
                  </a:lnTo>
                  <a:lnTo>
                    <a:pt x="1281079" y="277367"/>
                  </a:lnTo>
                  <a:lnTo>
                    <a:pt x="1303670" y="321050"/>
                  </a:lnTo>
                  <a:lnTo>
                    <a:pt x="1311783" y="371347"/>
                  </a:lnTo>
                  <a:lnTo>
                    <a:pt x="1311783" y="848867"/>
                  </a:lnTo>
                  <a:lnTo>
                    <a:pt x="1524000" y="848867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222326"/>
            <a:ext cx="7924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Algorithm</a:t>
            </a:r>
            <a:r>
              <a:rPr spc="15" dirty="0"/>
              <a:t> </a:t>
            </a:r>
            <a:r>
              <a:rPr spc="-5" dirty="0"/>
              <a:t>for Deletion 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078" y="1318260"/>
            <a:ext cx="3472179" cy="38671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start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Repeat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i=k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n-1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a[i]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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a[i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]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libri"/>
                <a:cs typeface="Calibri"/>
              </a:rPr>
              <a:t>[end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loop]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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n-1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alibri"/>
                <a:cs typeface="Calibri"/>
              </a:rPr>
              <a:t>Step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5: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040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49714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Advantages</a:t>
            </a:r>
            <a:r>
              <a:rPr spc="10" dirty="0"/>
              <a:t> </a:t>
            </a:r>
            <a:r>
              <a:rPr spc="-5" dirty="0"/>
              <a:t>of</a:t>
            </a:r>
            <a:r>
              <a:rPr spc="-165" dirty="0"/>
              <a:t> </a:t>
            </a:r>
            <a:r>
              <a:rPr spc="-5" dirty="0"/>
              <a:t>Array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1775587"/>
            <a:ext cx="9514840" cy="2703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920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"/>
              <a:tabLst>
                <a:tab pos="376555" algn="l"/>
              </a:tabLst>
            </a:pPr>
            <a:r>
              <a:rPr sz="3200" spc="-15" dirty="0">
                <a:latin typeface="Calibri"/>
                <a:cs typeface="Calibri"/>
              </a:rPr>
              <a:t>Here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advantages</a:t>
            </a:r>
            <a:r>
              <a:rPr sz="3200" spc="-5" dirty="0">
                <a:latin typeface="Calibri"/>
                <a:cs typeface="Calibri"/>
              </a:rPr>
              <a:t> of </a:t>
            </a:r>
            <a:r>
              <a:rPr sz="3200" spc="-25" dirty="0">
                <a:latin typeface="Calibri"/>
                <a:cs typeface="Calibri"/>
              </a:rPr>
              <a:t>arrays:</a:t>
            </a:r>
            <a:endParaRPr sz="3200">
              <a:latin typeface="Calibri"/>
              <a:cs typeface="Calibri"/>
            </a:endParaRPr>
          </a:p>
          <a:p>
            <a:pPr marL="786765" lvl="1" indent="-317500">
              <a:lnSpc>
                <a:spcPct val="100000"/>
              </a:lnSpc>
              <a:spcBef>
                <a:spcPts val="2450"/>
              </a:spcBef>
              <a:buSzPct val="96428"/>
              <a:buFont typeface="Wingdings"/>
              <a:buChar char=""/>
              <a:tabLst>
                <a:tab pos="787400" algn="l"/>
              </a:tabLst>
            </a:pPr>
            <a:r>
              <a:rPr sz="2800" spc="-40" dirty="0">
                <a:latin typeface="Calibri"/>
                <a:cs typeface="Calibri"/>
              </a:rPr>
              <a:t>Very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efficient,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both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space</a:t>
            </a:r>
            <a:endParaRPr sz="2800">
              <a:latin typeface="Calibri"/>
              <a:cs typeface="Calibri"/>
            </a:endParaRPr>
          </a:p>
          <a:p>
            <a:pPr marL="786765" lvl="1" indent="-317500">
              <a:lnSpc>
                <a:spcPct val="100000"/>
              </a:lnSpc>
              <a:spcBef>
                <a:spcPts val="2355"/>
              </a:spcBef>
              <a:buSzPct val="96428"/>
              <a:buFont typeface="Wingdings"/>
              <a:buChar char=""/>
              <a:tabLst>
                <a:tab pos="787400" algn="l"/>
              </a:tabLst>
            </a:pPr>
            <a:r>
              <a:rPr sz="2800" spc="-20" dirty="0">
                <a:latin typeface="Calibri"/>
                <a:cs typeface="Calibri"/>
              </a:rPr>
              <a:t>Convenient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syntax</a:t>
            </a:r>
            <a:endParaRPr sz="2800">
              <a:latin typeface="Calibri"/>
              <a:cs typeface="Calibri"/>
            </a:endParaRPr>
          </a:p>
          <a:p>
            <a:pPr marL="786765" lvl="1" indent="-317500">
              <a:lnSpc>
                <a:spcPct val="100000"/>
              </a:lnSpc>
              <a:spcBef>
                <a:spcPts val="2355"/>
              </a:spcBef>
              <a:buSzPct val="96428"/>
              <a:buFont typeface="Wingdings"/>
              <a:buChar char=""/>
              <a:tabLst>
                <a:tab pos="787400" algn="l"/>
              </a:tabLst>
            </a:pPr>
            <a:r>
              <a:rPr sz="2800" spc="-5" dirty="0">
                <a:latin typeface="Calibri"/>
                <a:cs typeface="Calibri"/>
              </a:rPr>
              <a:t>Accessing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index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fast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(constant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6" name="object 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040" y="6477685"/>
            <a:ext cx="15557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5395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Disadvantage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75" dirty="0"/>
              <a:t> </a:t>
            </a:r>
            <a:r>
              <a:rPr spc="-5" dirty="0"/>
              <a:t>Array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1775587"/>
            <a:ext cx="9060815" cy="3429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920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"/>
              <a:tabLst>
                <a:tab pos="376555" algn="l"/>
              </a:tabLst>
            </a:pPr>
            <a:r>
              <a:rPr sz="3200" spc="-15" dirty="0">
                <a:latin typeface="Calibri"/>
                <a:cs typeface="Calibri"/>
              </a:rPr>
              <a:t>Here are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disadvantages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arrays:</a:t>
            </a:r>
            <a:endParaRPr sz="3200">
              <a:latin typeface="Calibri"/>
              <a:cs typeface="Calibri"/>
            </a:endParaRPr>
          </a:p>
          <a:p>
            <a:pPr marL="786765" lvl="1" indent="-317500">
              <a:lnSpc>
                <a:spcPct val="100000"/>
              </a:lnSpc>
              <a:spcBef>
                <a:spcPts val="2450"/>
              </a:spcBef>
              <a:buSzPct val="96428"/>
              <a:buFont typeface="Wingdings"/>
              <a:buChar char=""/>
              <a:tabLst>
                <a:tab pos="787400" algn="l"/>
              </a:tabLst>
            </a:pP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spc="-10" dirty="0">
                <a:latin typeface="Calibri"/>
                <a:cs typeface="Calibri"/>
              </a:rPr>
              <a:t> elements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of 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same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  <a:p>
            <a:pPr marL="786765" lvl="1" indent="-317500">
              <a:lnSpc>
                <a:spcPct val="100000"/>
              </a:lnSpc>
              <a:spcBef>
                <a:spcPts val="2355"/>
              </a:spcBef>
              <a:buSzPct val="96428"/>
              <a:buFont typeface="Wingdings"/>
              <a:buChar char=""/>
              <a:tabLst>
                <a:tab pos="787400" algn="l"/>
              </a:tabLst>
            </a:pP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array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size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fixed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15" dirty="0">
                <a:latin typeface="Calibri"/>
                <a:cs typeface="Calibri"/>
              </a:rPr>
              <a:t>never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changed</a:t>
            </a:r>
            <a:endParaRPr sz="2800">
              <a:latin typeface="Calibri"/>
              <a:cs typeface="Calibri"/>
            </a:endParaRPr>
          </a:p>
          <a:p>
            <a:pPr marL="786765" lvl="1" indent="-317500">
              <a:lnSpc>
                <a:spcPct val="100000"/>
              </a:lnSpc>
              <a:spcBef>
                <a:spcPts val="2355"/>
              </a:spcBef>
              <a:buSzPct val="96428"/>
              <a:buFont typeface="Wingdings"/>
              <a:buChar char=""/>
              <a:tabLst>
                <a:tab pos="787400" algn="l"/>
              </a:tabLst>
            </a:pPr>
            <a:r>
              <a:rPr sz="2800" spc="-5" dirty="0">
                <a:latin typeface="Calibri"/>
                <a:cs typeface="Calibri"/>
              </a:rPr>
              <a:t>Insertion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arrays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deletion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arrays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slow</a:t>
            </a:r>
            <a:endParaRPr sz="2800">
              <a:latin typeface="Calibri"/>
              <a:cs typeface="Calibri"/>
            </a:endParaRPr>
          </a:p>
          <a:p>
            <a:pPr marL="786765" lvl="1" indent="-317500">
              <a:lnSpc>
                <a:spcPct val="100000"/>
              </a:lnSpc>
              <a:spcBef>
                <a:spcPts val="2350"/>
              </a:spcBef>
              <a:buSzPct val="96428"/>
              <a:buFont typeface="Wingdings"/>
              <a:buChar char=""/>
              <a:tabLst>
                <a:tab pos="787400" algn="l"/>
              </a:tabLst>
            </a:pPr>
            <a:r>
              <a:rPr sz="2800" spc="-15" dirty="0">
                <a:latin typeface="Calibri"/>
                <a:cs typeface="Calibri"/>
              </a:rPr>
              <a:t>wasting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memory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fully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6" name="object 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2065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6102" y="38480"/>
            <a:ext cx="40062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5" dirty="0">
                <a:latin typeface="Arial MT"/>
                <a:cs typeface="Arial MT"/>
              </a:rPr>
              <a:t>Assignment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5539" y="1545341"/>
            <a:ext cx="10158730" cy="20313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libri"/>
                <a:cs typeface="Calibri"/>
              </a:rPr>
              <a:t>Create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Program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Insertion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Deletion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array.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Submission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date</a:t>
            </a:r>
            <a:r>
              <a:rPr sz="2800" spc="-5" dirty="0">
                <a:latin typeface="Calibri"/>
                <a:cs typeface="Calibri"/>
              </a:rPr>
              <a:t> 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next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880" y="1079753"/>
            <a:ext cx="88068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5" dirty="0">
                <a:latin typeface="Arial MT"/>
                <a:cs typeface="Arial MT"/>
              </a:rPr>
              <a:t>Summery</a:t>
            </a:r>
            <a:r>
              <a:rPr sz="4800" b="0" spc="15" dirty="0">
                <a:latin typeface="Arial MT"/>
                <a:cs typeface="Arial MT"/>
              </a:rPr>
              <a:t> </a:t>
            </a:r>
            <a:r>
              <a:rPr sz="4800" b="0" spc="-5" dirty="0">
                <a:latin typeface="Arial MT"/>
                <a:cs typeface="Arial MT"/>
              </a:rPr>
              <a:t>&amp;</a:t>
            </a:r>
            <a:r>
              <a:rPr sz="4800" b="0" dirty="0">
                <a:latin typeface="Arial MT"/>
                <a:cs typeface="Arial MT"/>
              </a:rPr>
              <a:t> </a:t>
            </a:r>
            <a:r>
              <a:rPr sz="4800" b="0" spc="-5" dirty="0">
                <a:latin typeface="Arial MT"/>
                <a:cs typeface="Arial MT"/>
              </a:rPr>
              <a:t>Students</a:t>
            </a:r>
            <a:r>
              <a:rPr sz="4800" b="0" spc="50" dirty="0">
                <a:latin typeface="Arial MT"/>
                <a:cs typeface="Arial MT"/>
              </a:rPr>
              <a:t> </a:t>
            </a:r>
            <a:r>
              <a:rPr sz="4800" b="0" spc="-5" dirty="0">
                <a:latin typeface="Arial MT"/>
                <a:cs typeface="Arial MT"/>
              </a:rPr>
              <a:t>Evaluation</a:t>
            </a:r>
            <a:endParaRPr sz="4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15339" y="2204973"/>
            <a:ext cx="4086860" cy="26590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2800" spc="-15" dirty="0">
                <a:latin typeface="Calibri"/>
                <a:cs typeface="Calibri"/>
              </a:rPr>
              <a:t>Introduction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Array</a:t>
            </a:r>
            <a:endParaRPr sz="28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2800" spc="-20" dirty="0">
                <a:latin typeface="Calibri"/>
                <a:cs typeface="Calibri"/>
              </a:rPr>
              <a:t>Representation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Array</a:t>
            </a:r>
            <a:endParaRPr sz="28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Basic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Operations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Array</a:t>
            </a:r>
            <a:endParaRPr sz="28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Implementation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Java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49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>
                <a:latin typeface="Calibri"/>
                <a:cs typeface="Calibri"/>
              </a:rPr>
              <a:t>Any</a:t>
            </a:r>
            <a:r>
              <a:rPr sz="6000" spc="-80" dirty="0">
                <a:latin typeface="Calibri"/>
                <a:cs typeface="Calibri"/>
              </a:rPr>
              <a:t> </a:t>
            </a:r>
            <a:r>
              <a:rPr sz="6000" spc="-10" dirty="0"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291" y="1559178"/>
            <a:ext cx="2387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>
                <a:latin typeface="Calibri"/>
                <a:cs typeface="Calibri"/>
              </a:rPr>
              <a:t>Next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85" dirty="0"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7600" y="2438400"/>
            <a:ext cx="367423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" dirty="0">
                <a:solidFill>
                  <a:srgbClr val="7D1B68"/>
                </a:solidFill>
                <a:latin typeface="Calibri"/>
                <a:cs typeface="Calibri"/>
              </a:rPr>
              <a:t>S</a:t>
            </a:r>
            <a:r>
              <a:rPr lang="en-US" sz="7200" spc="-10" dirty="0">
                <a:solidFill>
                  <a:srgbClr val="7D1B68"/>
                </a:solidFill>
                <a:latin typeface="Calibri"/>
                <a:cs typeface="Calibri"/>
              </a:rPr>
              <a:t>earching</a:t>
            </a:r>
            <a:endParaRPr sz="7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1177</Words>
  <Application>Microsoft Office PowerPoint</Application>
  <PresentationFormat>Widescreen</PresentationFormat>
  <Paragraphs>230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MT</vt:lpstr>
      <vt:lpstr>Calibri</vt:lpstr>
      <vt:lpstr>Times New Roman</vt:lpstr>
      <vt:lpstr>Trebuchet MS</vt:lpstr>
      <vt:lpstr>Wingdings</vt:lpstr>
      <vt:lpstr>Office Theme</vt:lpstr>
      <vt:lpstr>Course:Data Structure and Algorithms</vt:lpstr>
      <vt:lpstr>Contents</vt:lpstr>
      <vt:lpstr>Objectives</vt:lpstr>
      <vt:lpstr>Arrays</vt:lpstr>
      <vt:lpstr>Arrays</vt:lpstr>
      <vt:lpstr>Array Representation</vt:lpstr>
      <vt:lpstr>Array Representation</vt:lpstr>
      <vt:lpstr>Basic Operations on Arrays</vt:lpstr>
      <vt:lpstr>Insertion</vt:lpstr>
      <vt:lpstr>Method for Insertion Operation</vt:lpstr>
      <vt:lpstr>Cont...</vt:lpstr>
      <vt:lpstr>Method for Insertion Operation</vt:lpstr>
      <vt:lpstr>Algorithm for Insertion Operation</vt:lpstr>
      <vt:lpstr>Deletion</vt:lpstr>
      <vt:lpstr>Method for Deletion Operation</vt:lpstr>
      <vt:lpstr>Method for Deletion Operation</vt:lpstr>
      <vt:lpstr>Cont...</vt:lpstr>
      <vt:lpstr>Algorithm for Deletion Operation</vt:lpstr>
      <vt:lpstr>Advantages of Array</vt:lpstr>
      <vt:lpstr>Disadvantage of Array</vt:lpstr>
      <vt:lpstr>Assignment</vt:lpstr>
      <vt:lpstr>Summery &amp; Students Evaluation</vt:lpstr>
      <vt:lpstr>Any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14</cp:revision>
  <dcterms:created xsi:type="dcterms:W3CDTF">2024-04-22T08:00:05Z</dcterms:created>
  <dcterms:modified xsi:type="dcterms:W3CDTF">2026-03-05T18:06:58Z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</Properties>
</file>