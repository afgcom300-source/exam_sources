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82953" y="905637"/>
            <a:ext cx="9626092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00" y="899287"/>
            <a:ext cx="517906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274497"/>
            <a:ext cx="8608060" cy="4761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6235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Rahman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9709" y="5357876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year: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2447544"/>
            <a:ext cx="2070354" cy="89992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13382" y="2471750"/>
            <a:ext cx="78555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spc="-135" baseline="2604" dirty="0">
                <a:solidFill>
                  <a:srgbClr val="00AF50"/>
                </a:solidFill>
                <a:latin typeface="Arial"/>
                <a:cs typeface="Arial"/>
              </a:rPr>
              <a:t>Course:</a:t>
            </a:r>
            <a:r>
              <a:rPr sz="4000" spc="-90" dirty="0">
                <a:solidFill>
                  <a:srgbClr val="006FC0"/>
                </a:solidFill>
              </a:rPr>
              <a:t>Data</a:t>
            </a:r>
            <a:r>
              <a:rPr sz="4000" spc="10" dirty="0">
                <a:solidFill>
                  <a:srgbClr val="006FC0"/>
                </a:solidFill>
              </a:rPr>
              <a:t> </a:t>
            </a:r>
            <a:r>
              <a:rPr sz="4000" spc="-15" dirty="0">
                <a:solidFill>
                  <a:srgbClr val="006FC0"/>
                </a:solidFill>
              </a:rPr>
              <a:t>Structure</a:t>
            </a:r>
            <a:r>
              <a:rPr sz="4000" spc="40" dirty="0">
                <a:solidFill>
                  <a:srgbClr val="006FC0"/>
                </a:solidFill>
              </a:rPr>
              <a:t> </a:t>
            </a:r>
            <a:r>
              <a:rPr sz="4000" spc="-5" dirty="0">
                <a:solidFill>
                  <a:srgbClr val="006FC0"/>
                </a:solidFill>
              </a:rPr>
              <a:t>and</a:t>
            </a:r>
            <a:r>
              <a:rPr sz="4000" spc="25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Algorithms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09800" y="3405567"/>
            <a:ext cx="40163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7D1B68"/>
                </a:solidFill>
                <a:latin typeface="Arial"/>
                <a:cs typeface="Arial"/>
              </a:rPr>
              <a:t>Lesson</a:t>
            </a:r>
            <a:r>
              <a:rPr sz="3200" b="1" spc="-5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8</a:t>
            </a:r>
            <a:endParaRPr sz="32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101084" y="3619500"/>
            <a:ext cx="7870825" cy="2122170"/>
            <a:chOff x="4101084" y="3619500"/>
            <a:chExt cx="7870825" cy="212217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1084" y="4664963"/>
              <a:ext cx="5788914" cy="10767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1752" y="3619500"/>
              <a:ext cx="5767578" cy="18158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7196" y="4664963"/>
              <a:ext cx="1338833" cy="107670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17864" y="3619500"/>
              <a:ext cx="1317498" cy="181584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63228" y="4664963"/>
              <a:ext cx="2908554" cy="107670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73896" y="3619500"/>
              <a:ext cx="2888742" cy="1815846"/>
            </a:xfrm>
            <a:prstGeom prst="rect">
              <a:avLst/>
            </a:prstGeom>
          </p:spPr>
        </p:pic>
      </p:grpSp>
      <p:sp>
        <p:nvSpPr>
          <p:cNvPr id="29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0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1" name="object 7"/>
          <p:cNvSpPr txBox="1"/>
          <p:nvPr/>
        </p:nvSpPr>
        <p:spPr>
          <a:xfrm>
            <a:off x="1031238" y="5483453"/>
            <a:ext cx="354076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lang="en-US" sz="1800" b="1" spc="-5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394" y="1775444"/>
            <a:ext cx="9345295" cy="226441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5"/>
              </a:spcBef>
              <a:buFont typeface="Symbol"/>
              <a:buChar char=""/>
              <a:tabLst>
                <a:tab pos="355600" algn="l"/>
              </a:tabLst>
            </a:pPr>
            <a:r>
              <a:rPr sz="4400" dirty="0">
                <a:latin typeface="Times New Roman"/>
                <a:cs typeface="Times New Roman"/>
              </a:rPr>
              <a:t>Pop</a:t>
            </a:r>
            <a:r>
              <a:rPr sz="4400" spc="-2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algorithm</a:t>
            </a:r>
            <a:r>
              <a:rPr sz="4400" spc="-2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5" dirty="0">
                <a:latin typeface="Times New Roman"/>
                <a:cs typeface="Times New Roman"/>
              </a:rPr>
              <a:t> its </a:t>
            </a:r>
            <a:r>
              <a:rPr sz="4400" dirty="0">
                <a:latin typeface="Times New Roman"/>
                <a:cs typeface="Times New Roman"/>
              </a:rPr>
              <a:t>implementation</a:t>
            </a:r>
            <a:endParaRPr sz="4400">
              <a:latin typeface="Times New Roman"/>
              <a:cs typeface="Times New Roman"/>
            </a:endParaRPr>
          </a:p>
          <a:p>
            <a:pPr marL="584200" marR="5080" indent="-5715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sz="4000" spc="-5" dirty="0">
                <a:latin typeface="Times New Roman"/>
                <a:cs typeface="Times New Roman"/>
              </a:rPr>
              <a:t>Midterm</a:t>
            </a:r>
            <a:r>
              <a:rPr sz="4000" spc="1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Exam:</a:t>
            </a:r>
            <a:r>
              <a:rPr sz="400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1.5</a:t>
            </a:r>
            <a:r>
              <a:rPr sz="4000" spc="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credit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will</a:t>
            </a:r>
            <a:r>
              <a:rPr sz="4000" spc="5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be exams</a:t>
            </a:r>
            <a:r>
              <a:rPr sz="4000" spc="1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&amp; </a:t>
            </a:r>
            <a:r>
              <a:rPr sz="4000" spc="-985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remaining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will</a:t>
            </a:r>
            <a:r>
              <a:rPr sz="4000" spc="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be</a:t>
            </a:r>
            <a:r>
              <a:rPr sz="4000" spc="-2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the </a:t>
            </a:r>
            <a:r>
              <a:rPr sz="4000" dirty="0">
                <a:latin typeface="Times New Roman"/>
                <a:cs typeface="Times New Roman"/>
              </a:rPr>
              <a:t>lecture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9689" y="1777466"/>
            <a:ext cx="5390515" cy="2389116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POP-Operation</a:t>
            </a:r>
            <a:endParaRPr sz="32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Algorithm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POP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Operation</a:t>
            </a:r>
            <a:endParaRPr sz="32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Applications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Stack</a:t>
            </a:r>
            <a:endParaRPr sz="32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25" dirty="0">
                <a:latin typeface="Calibri"/>
                <a:cs typeface="Calibri"/>
              </a:rPr>
              <a:t>Array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Implementation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Stack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710641"/>
            <a:ext cx="30765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latin typeface="Arial MT"/>
                <a:cs typeface="Arial MT"/>
              </a:rPr>
              <a:t>Contents</a:t>
            </a:r>
            <a:endParaRPr sz="6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6830" y="1136345"/>
            <a:ext cx="82270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001F5F"/>
                </a:solidFill>
              </a:rPr>
              <a:t>Objective</a:t>
            </a:r>
            <a:r>
              <a:rPr lang="en-US" sz="4000" spc="-10">
                <a:solidFill>
                  <a:srgbClr val="001F5F"/>
                </a:solidFill>
              </a:rPr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45539" y="2028443"/>
            <a:ext cx="10424795" cy="3518912"/>
          </a:xfrm>
          <a:prstGeom prst="rect">
            <a:avLst/>
          </a:prstGeom>
        </p:spPr>
        <p:txBody>
          <a:bodyPr vert="horz" wrap="square" lIns="0" tIns="20828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64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know </a:t>
            </a:r>
            <a:r>
              <a:rPr sz="3600" dirty="0">
                <a:latin typeface="Calibri"/>
                <a:cs typeface="Calibri"/>
              </a:rPr>
              <a:t>about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Push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algorithm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its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implementation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know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POP-Operation.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be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use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Algorithm</a:t>
            </a:r>
            <a:r>
              <a:rPr sz="3600" spc="3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for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POP </a:t>
            </a:r>
            <a:r>
              <a:rPr sz="3600" spc="-15" dirty="0">
                <a:latin typeface="Calibri"/>
                <a:cs typeface="Calibri"/>
              </a:rPr>
              <a:t>Operation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5" dirty="0">
                <a:latin typeface="Calibri"/>
                <a:cs typeface="Calibri"/>
              </a:rPr>
              <a:t>Applications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of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Stack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30" dirty="0">
                <a:latin typeface="Calibri"/>
                <a:cs typeface="Calibri"/>
              </a:rPr>
              <a:t>Array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Implementation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of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Stack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6428" y="1010538"/>
            <a:ext cx="3663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Arial"/>
                <a:cs typeface="Arial"/>
              </a:rPr>
              <a:t>POP-Operation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7817" y="2019427"/>
            <a:ext cx="9845040" cy="3321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96875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Accessing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content </a:t>
            </a:r>
            <a:r>
              <a:rPr sz="2400" dirty="0">
                <a:latin typeface="Calibri"/>
                <a:cs typeface="Calibri"/>
              </a:rPr>
              <a:t>while </a:t>
            </a:r>
            <a:r>
              <a:rPr sz="2400" spc="-10" dirty="0">
                <a:latin typeface="Calibri"/>
                <a:cs typeface="Calibri"/>
              </a:rPr>
              <a:t>removing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stack,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known </a:t>
            </a:r>
            <a:r>
              <a:rPr sz="2400" dirty="0">
                <a:latin typeface="Calibri"/>
                <a:cs typeface="Calibri"/>
              </a:rPr>
              <a:t>as a </a:t>
            </a:r>
            <a:r>
              <a:rPr sz="2400" spc="-25" dirty="0">
                <a:latin typeface="Calibri"/>
                <a:cs typeface="Calibri"/>
              </a:rPr>
              <a:t>Pop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0" dirty="0">
                <a:latin typeface="Calibri"/>
                <a:cs typeface="Calibri"/>
              </a:rPr>
              <a:t> array </a:t>
            </a:r>
            <a:r>
              <a:rPr sz="2400" spc="-5" dirty="0">
                <a:latin typeface="Calibri"/>
                <a:cs typeface="Calibri"/>
              </a:rPr>
              <a:t>implementation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pop()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operation</a:t>
            </a:r>
            <a:r>
              <a:rPr lang="en-US" sz="2400">
                <a:latin typeface="Calibri"/>
                <a:cs typeface="Calibri"/>
              </a:rPr>
              <a:t>, </a:t>
            </a:r>
            <a:r>
              <a:rPr lang="en-US" sz="2400" spc="-5">
                <a:latin typeface="Calibri"/>
                <a:cs typeface="Calibri"/>
              </a:rPr>
              <a:t>t</a:t>
            </a:r>
            <a:r>
              <a:rPr sz="2400" spc="-5">
                <a:latin typeface="Calibri"/>
                <a:cs typeface="Calibri"/>
              </a:rPr>
              <a:t>he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not</a:t>
            </a:r>
            <a:r>
              <a:rPr sz="2400" dirty="0">
                <a:latin typeface="Calibri"/>
                <a:cs typeface="Calibri"/>
              </a:rPr>
              <a:t> actually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removed,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instead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top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decremented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lower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</a:t>
            </a:r>
            <a:r>
              <a:rPr sz="2400" spc="-15" dirty="0">
                <a:latin typeface="Calibri"/>
                <a:cs typeface="Calibri"/>
              </a:rPr>
              <a:t> stack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point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next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linked-list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implementation,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pop()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actually</a:t>
            </a:r>
            <a:r>
              <a:rPr sz="2400" b="1" spc="-10" dirty="0">
                <a:latin typeface="Calibri"/>
                <a:cs typeface="Calibri"/>
              </a:rPr>
              <a:t> removes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data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element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5" dirty="0">
                <a:latin typeface="Calibri"/>
                <a:cs typeface="Calibri"/>
              </a:rPr>
              <a:t> de- </a:t>
            </a:r>
            <a:r>
              <a:rPr sz="2400" b="1" spc="-5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allocates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memory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space.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747754" y="647344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7602" y="1911857"/>
            <a:ext cx="9672320" cy="27692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Pop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15" dirty="0">
                <a:latin typeface="Calibri"/>
                <a:cs typeface="Calibri"/>
              </a:rPr>
              <a:t> may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involve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following </a:t>
            </a:r>
            <a:r>
              <a:rPr sz="2400" spc="-15" dirty="0">
                <a:latin typeface="Calibri"/>
                <a:cs typeface="Calibri"/>
              </a:rPr>
              <a:t>steps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10" dirty="0">
                <a:latin typeface="Calibri"/>
                <a:cs typeface="Calibri"/>
              </a:rPr>
              <a:t>Step </a:t>
            </a:r>
            <a:r>
              <a:rPr sz="2400" b="1" dirty="0">
                <a:latin typeface="Calibri"/>
                <a:cs typeface="Calibri"/>
              </a:rPr>
              <a:t>1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5" dirty="0">
                <a:latin typeface="Calibri"/>
                <a:cs typeface="Calibri"/>
              </a:rPr>
              <a:t> Checks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empty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</a:pPr>
            <a:r>
              <a:rPr sz="2400" b="1" spc="-10" dirty="0">
                <a:latin typeface="Calibri"/>
                <a:cs typeface="Calibri"/>
              </a:rPr>
              <a:t>Step </a:t>
            </a:r>
            <a:r>
              <a:rPr sz="2400" b="1" dirty="0">
                <a:latin typeface="Calibri"/>
                <a:cs typeface="Calibri"/>
              </a:rPr>
              <a:t>2 </a:t>
            </a:r>
            <a:r>
              <a:rPr sz="2400" dirty="0">
                <a:latin typeface="Calibri"/>
                <a:cs typeface="Calibri"/>
              </a:rPr>
              <a:t>− </a:t>
            </a:r>
            <a:r>
              <a:rPr sz="2400" spc="-5" dirty="0">
                <a:latin typeface="Calibri"/>
                <a:cs typeface="Calibri"/>
              </a:rPr>
              <a:t>If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stack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30" dirty="0">
                <a:latin typeface="Calibri"/>
                <a:cs typeface="Calibri"/>
              </a:rPr>
              <a:t>empty, </a:t>
            </a:r>
            <a:r>
              <a:rPr sz="2400" dirty="0">
                <a:latin typeface="Calibri"/>
                <a:cs typeface="Calibri"/>
              </a:rPr>
              <a:t>then </a:t>
            </a:r>
            <a:r>
              <a:rPr sz="2400" spc="-10" dirty="0">
                <a:latin typeface="Calibri"/>
                <a:cs typeface="Calibri"/>
              </a:rPr>
              <a:t>produces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error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exit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program.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Step</a:t>
            </a:r>
            <a:r>
              <a:rPr sz="2400" b="1" spc="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If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stack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empty,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print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top</a:t>
            </a:r>
            <a:r>
              <a:rPr sz="2400" b="1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decrement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top.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747754" y="649142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82953" y="968502"/>
            <a:ext cx="6984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Arial"/>
                <a:cs typeface="Arial"/>
              </a:rPr>
              <a:t>Algorithm</a:t>
            </a:r>
            <a:r>
              <a:rPr sz="4000" spc="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for</a:t>
            </a:r>
            <a:r>
              <a:rPr sz="4000" spc="-1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POP</a:t>
            </a:r>
            <a:r>
              <a:rPr sz="4000" spc="-80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Operation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939" y="2065020"/>
            <a:ext cx="7033259" cy="395477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689842" y="6473444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82953" y="1024254"/>
            <a:ext cx="3663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Arial"/>
                <a:cs typeface="Arial"/>
              </a:rPr>
              <a:t>POP-Operation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5394" y="1621028"/>
            <a:ext cx="3493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Example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)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*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-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7271" y="1705355"/>
            <a:ext cx="4114800" cy="423824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689842" y="6473444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2953" y="905637"/>
            <a:ext cx="4420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7D1B68"/>
                </a:solidFill>
                <a:latin typeface="Calibri"/>
                <a:cs typeface="Calibri"/>
              </a:rPr>
              <a:t>Infix</a:t>
            </a:r>
            <a:r>
              <a:rPr sz="3200" b="1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7D1B68"/>
                </a:solidFill>
                <a:latin typeface="Calibri"/>
                <a:cs typeface="Calibri"/>
              </a:rPr>
              <a:t>to</a:t>
            </a:r>
            <a:r>
              <a:rPr sz="3200" b="1" spc="-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D1B68"/>
                </a:solidFill>
                <a:latin typeface="Calibri"/>
                <a:cs typeface="Calibri"/>
              </a:rPr>
              <a:t>Postfix</a:t>
            </a:r>
            <a:r>
              <a:rPr sz="3200" b="1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7D1B68"/>
                </a:solidFill>
                <a:latin typeface="Calibri"/>
                <a:cs typeface="Calibri"/>
              </a:rPr>
              <a:t>Conversion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635253"/>
            <a:ext cx="5179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Array</a:t>
            </a:r>
            <a:r>
              <a:rPr spc="-45" dirty="0"/>
              <a:t> </a:t>
            </a:r>
            <a:r>
              <a:rPr spc="-5" dirty="0"/>
              <a:t>Implementation</a:t>
            </a:r>
            <a:r>
              <a:rPr spc="-3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Stack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747754" y="647344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468628"/>
            <a:ext cx="5498465" cy="3425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Push()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operation</a:t>
            </a:r>
            <a:endParaRPr sz="2800">
              <a:latin typeface="Calibri"/>
              <a:cs typeface="Calibri"/>
            </a:endParaRPr>
          </a:p>
          <a:p>
            <a:pPr marL="1334770" marR="1042035">
              <a:lnSpc>
                <a:spcPts val="4320"/>
              </a:lnSpc>
              <a:spcBef>
                <a:spcPts val="155"/>
              </a:spcBef>
              <a:tabLst>
                <a:tab pos="2623820" algn="l"/>
                <a:tab pos="3602354" algn="l"/>
              </a:tabLst>
            </a:pPr>
            <a:r>
              <a:rPr sz="1800" spc="-5" dirty="0">
                <a:latin typeface="Arial MT"/>
                <a:cs typeface="Arial MT"/>
              </a:rPr>
              <a:t>int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size </a:t>
            </a:r>
            <a:r>
              <a:rPr sz="1800" dirty="0">
                <a:latin typeface="Arial MT"/>
                <a:cs typeface="Arial MT"/>
              </a:rPr>
              <a:t>= 8,	stack[8],	top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-1;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void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push (int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value)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525905">
              <a:lnSpc>
                <a:spcPct val="100000"/>
              </a:lnSpc>
              <a:spcBef>
                <a:spcPts val="1660"/>
              </a:spcBef>
            </a:pPr>
            <a:r>
              <a:rPr sz="1800" dirty="0">
                <a:latin typeface="Arial MT"/>
                <a:cs typeface="Arial MT"/>
              </a:rPr>
              <a:t>if(top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&gt;=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size-1)</a:t>
            </a:r>
            <a:endParaRPr sz="1800">
              <a:latin typeface="Arial MT"/>
              <a:cs typeface="Arial MT"/>
            </a:endParaRPr>
          </a:p>
          <a:p>
            <a:pPr marL="165227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224980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cout&lt;&lt;"Stack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overflow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&lt;&lt;endl;</a:t>
            </a:r>
            <a:endParaRPr sz="1800">
              <a:latin typeface="Arial MT"/>
              <a:cs typeface="Arial MT"/>
            </a:endParaRPr>
          </a:p>
          <a:p>
            <a:pPr marL="224980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39890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else</a:t>
            </a:r>
            <a:endParaRPr sz="1800">
              <a:latin typeface="Arial MT"/>
              <a:cs typeface="Arial MT"/>
            </a:endParaRPr>
          </a:p>
          <a:p>
            <a:pPr marL="152590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9517" y="5692241"/>
            <a:ext cx="10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4172" y="5143246"/>
            <a:ext cx="174561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top++;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stack[top]=value;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635253"/>
            <a:ext cx="5179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Array</a:t>
            </a:r>
            <a:r>
              <a:rPr spc="-45" dirty="0"/>
              <a:t> </a:t>
            </a:r>
            <a:r>
              <a:rPr spc="-5" dirty="0"/>
              <a:t>Implementation</a:t>
            </a:r>
            <a:r>
              <a:rPr spc="-3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Stack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747754" y="647344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468628"/>
            <a:ext cx="2336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latin typeface="Calibri"/>
                <a:cs typeface="Calibri"/>
              </a:rPr>
              <a:t>Pop()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operation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0194" y="2257425"/>
            <a:ext cx="713613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void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pop()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(top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&lt;=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-1)</a:t>
            </a:r>
            <a:endParaRPr sz="18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cout&lt;&lt;"Stack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underflow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"&lt;&lt;endl;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else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cout&lt;&lt;"The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Poped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element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 "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&lt;&lt;stack[top]</a:t>
            </a:r>
            <a:r>
              <a:rPr sz="1800" spc="-5" dirty="0">
                <a:latin typeface="Arial MT"/>
                <a:cs typeface="Arial MT"/>
              </a:rPr>
              <a:t> &lt;&lt;endl;</a:t>
            </a:r>
            <a:endParaRPr sz="18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 MT"/>
                <a:cs typeface="Arial MT"/>
              </a:rPr>
              <a:t>top--;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711453"/>
            <a:ext cx="5179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Array</a:t>
            </a:r>
            <a:r>
              <a:rPr spc="-45" dirty="0"/>
              <a:t> </a:t>
            </a:r>
            <a:r>
              <a:rPr spc="-5" dirty="0"/>
              <a:t>Implementation</a:t>
            </a:r>
            <a:r>
              <a:rPr spc="-3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Stack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747754" y="647344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544828"/>
            <a:ext cx="1313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latin typeface="Calibri"/>
                <a:cs typeface="Calibri"/>
              </a:rPr>
              <a:t>Display()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8394" y="1597914"/>
            <a:ext cx="487362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void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display()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if(top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&gt;=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0)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cout&lt;&lt;"Stake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elements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are: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";</a:t>
            </a:r>
            <a:endParaRPr sz="18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for(int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top; i </a:t>
            </a:r>
            <a:r>
              <a:rPr sz="1800" dirty="0">
                <a:latin typeface="Arial MT"/>
                <a:cs typeface="Arial MT"/>
              </a:rPr>
              <a:t>&gt;=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0;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i--)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8394" y="3518407"/>
            <a:ext cx="594042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5900" marR="114744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cout&lt;&lt;stack[i]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&lt;&lt;"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cout&lt;&lt;endl;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else</a:t>
            </a:r>
            <a:endParaRPr sz="18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27559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cout&lt;&lt;"Stack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empty"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&lt;&lt;endl;</a:t>
            </a:r>
            <a:endParaRPr sz="18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635253"/>
            <a:ext cx="5179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Array</a:t>
            </a:r>
            <a:r>
              <a:rPr spc="-45" dirty="0"/>
              <a:t> </a:t>
            </a:r>
            <a:r>
              <a:rPr spc="-5" dirty="0"/>
              <a:t>Implementation</a:t>
            </a:r>
            <a:r>
              <a:rPr spc="-3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Stack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747754" y="647344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282638"/>
            <a:ext cx="5431790" cy="350139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800" b="1" spc="-10" dirty="0">
                <a:latin typeface="Calibri"/>
                <a:cs typeface="Calibri"/>
              </a:rPr>
              <a:t>main()</a:t>
            </a:r>
            <a:endParaRPr sz="280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940"/>
              </a:spcBef>
            </a:pPr>
            <a:r>
              <a:rPr sz="1800" spc="-5" dirty="0">
                <a:latin typeface="Arial MT"/>
                <a:cs typeface="Arial MT"/>
              </a:rPr>
              <a:t>int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main()</a:t>
            </a:r>
            <a:endParaRPr sz="1800">
              <a:latin typeface="Arial MT"/>
              <a:cs typeface="Arial MT"/>
            </a:endParaRPr>
          </a:p>
          <a:p>
            <a:pPr marL="4889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963294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 MT"/>
                <a:cs typeface="Arial MT"/>
              </a:rPr>
              <a:t>int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val;</a:t>
            </a:r>
            <a:endParaRPr sz="1800">
              <a:latin typeface="Arial MT"/>
              <a:cs typeface="Arial MT"/>
            </a:endParaRPr>
          </a:p>
          <a:p>
            <a:pPr marL="963294" marR="220979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cout&lt;&lt;" 1 </a:t>
            </a:r>
            <a:r>
              <a:rPr sz="1800" dirty="0">
                <a:latin typeface="Arial MT"/>
                <a:cs typeface="Arial MT"/>
              </a:rPr>
              <a:t>: </a:t>
            </a:r>
            <a:r>
              <a:rPr sz="1800" spc="-5" dirty="0">
                <a:latin typeface="Arial MT"/>
                <a:cs typeface="Arial MT"/>
              </a:rPr>
              <a:t>Push in </a:t>
            </a:r>
            <a:r>
              <a:rPr sz="1800" dirty="0">
                <a:latin typeface="Arial MT"/>
                <a:cs typeface="Arial MT"/>
              </a:rPr>
              <a:t>Stack " </a:t>
            </a:r>
            <a:r>
              <a:rPr sz="1800" spc="-5" dirty="0">
                <a:latin typeface="Arial MT"/>
                <a:cs typeface="Arial MT"/>
              </a:rPr>
              <a:t>&lt;&lt;endl;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cout&lt;&lt;" 2 </a:t>
            </a:r>
            <a:r>
              <a:rPr sz="1800" dirty="0">
                <a:latin typeface="Arial MT"/>
                <a:cs typeface="Arial MT"/>
              </a:rPr>
              <a:t>: </a:t>
            </a:r>
            <a:r>
              <a:rPr sz="1800" spc="-5" dirty="0">
                <a:latin typeface="Arial MT"/>
                <a:cs typeface="Arial MT"/>
              </a:rPr>
              <a:t>Pop </a:t>
            </a:r>
            <a:r>
              <a:rPr sz="1800" dirty="0">
                <a:latin typeface="Arial MT"/>
                <a:cs typeface="Arial MT"/>
              </a:rPr>
              <a:t>from stack " </a:t>
            </a:r>
            <a:r>
              <a:rPr sz="1800" spc="-5" dirty="0">
                <a:latin typeface="Arial MT"/>
                <a:cs typeface="Arial MT"/>
              </a:rPr>
              <a:t>&lt;&lt;endl;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cout&lt;&lt;"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5" dirty="0">
                <a:latin typeface="Arial MT"/>
                <a:cs typeface="Arial MT"/>
              </a:rPr>
              <a:t> Display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stack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</a:t>
            </a:r>
            <a:r>
              <a:rPr sz="1800" spc="-5" dirty="0">
                <a:latin typeface="Arial MT"/>
                <a:cs typeface="Arial MT"/>
              </a:rPr>
              <a:t> &lt;&lt;endl &lt;&lt;endl;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963294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do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877695" marR="508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cout&lt;&lt;"Enter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Your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choice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 </a:t>
            </a:r>
            <a:r>
              <a:rPr sz="1800" spc="-5" dirty="0">
                <a:latin typeface="Arial MT"/>
                <a:cs typeface="Arial MT"/>
              </a:rPr>
              <a:t>&lt;&lt;endl;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cin&gt;&gt;ch;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Array</a:t>
            </a:r>
            <a:r>
              <a:rPr spc="-45" dirty="0"/>
              <a:t> </a:t>
            </a:r>
            <a:r>
              <a:rPr spc="-5" dirty="0"/>
              <a:t>Implementation</a:t>
            </a:r>
            <a:r>
              <a:rPr spc="-3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Stack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747754" y="647344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pc="-10" dirty="0"/>
              <a:t>main()</a:t>
            </a:r>
          </a:p>
          <a:p>
            <a:pPr marL="584200">
              <a:lnSpc>
                <a:spcPct val="100000"/>
              </a:lnSpc>
              <a:spcBef>
                <a:spcPts val="595"/>
              </a:spcBef>
            </a:pPr>
            <a:r>
              <a:rPr sz="1800" b="0" spc="-10" dirty="0">
                <a:latin typeface="Arial MT"/>
                <a:cs typeface="Arial MT"/>
              </a:rPr>
              <a:t>switch</a:t>
            </a:r>
            <a:r>
              <a:rPr sz="1800" b="0" spc="-5" dirty="0">
                <a:latin typeface="Arial MT"/>
                <a:cs typeface="Arial MT"/>
              </a:rPr>
              <a:t> (ch)</a:t>
            </a:r>
            <a:endParaRPr sz="1800">
              <a:latin typeface="Arial MT"/>
              <a:cs typeface="Arial MT"/>
            </a:endParaRPr>
          </a:p>
          <a:p>
            <a:pPr marL="1498600">
              <a:lnSpc>
                <a:spcPct val="100000"/>
              </a:lnSpc>
            </a:pPr>
            <a:r>
              <a:rPr sz="1800" b="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2413000">
              <a:lnSpc>
                <a:spcPct val="100000"/>
              </a:lnSpc>
            </a:pPr>
            <a:r>
              <a:rPr sz="1800" b="0" spc="-5" dirty="0">
                <a:latin typeface="Arial MT"/>
                <a:cs typeface="Arial MT"/>
              </a:rPr>
              <a:t>case</a:t>
            </a:r>
            <a:r>
              <a:rPr sz="1800" b="0" spc="-50" dirty="0">
                <a:latin typeface="Arial MT"/>
                <a:cs typeface="Arial MT"/>
              </a:rPr>
              <a:t> </a:t>
            </a:r>
            <a:r>
              <a:rPr sz="1800" b="0" dirty="0">
                <a:latin typeface="Arial MT"/>
                <a:cs typeface="Arial MT"/>
              </a:rPr>
              <a:t>1: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3328035">
              <a:lnSpc>
                <a:spcPct val="100000"/>
              </a:lnSpc>
            </a:pPr>
            <a:r>
              <a:rPr sz="1800" b="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4242435">
              <a:lnSpc>
                <a:spcPct val="100000"/>
              </a:lnSpc>
            </a:pPr>
            <a:r>
              <a:rPr sz="1800" b="0" spc="-5" dirty="0">
                <a:latin typeface="Arial MT"/>
                <a:cs typeface="Arial MT"/>
              </a:rPr>
              <a:t>cout&lt;&lt;"Enter</a:t>
            </a:r>
            <a:r>
              <a:rPr sz="1800" b="0" spc="-10" dirty="0">
                <a:latin typeface="Arial MT"/>
                <a:cs typeface="Arial MT"/>
              </a:rPr>
              <a:t> </a:t>
            </a:r>
            <a:r>
              <a:rPr sz="1800" b="0" spc="-5" dirty="0">
                <a:latin typeface="Arial MT"/>
                <a:cs typeface="Arial MT"/>
              </a:rPr>
              <a:t>value</a:t>
            </a:r>
            <a:r>
              <a:rPr sz="1800" b="0" spc="5" dirty="0">
                <a:latin typeface="Arial MT"/>
                <a:cs typeface="Arial MT"/>
              </a:rPr>
              <a:t> </a:t>
            </a:r>
            <a:r>
              <a:rPr sz="1800" b="0" dirty="0">
                <a:latin typeface="Arial MT"/>
                <a:cs typeface="Arial MT"/>
              </a:rPr>
              <a:t>to </a:t>
            </a:r>
            <a:r>
              <a:rPr sz="1800" b="0" spc="-5" dirty="0">
                <a:latin typeface="Arial MT"/>
                <a:cs typeface="Arial MT"/>
              </a:rPr>
              <a:t>be</a:t>
            </a:r>
            <a:r>
              <a:rPr sz="1800" b="0" spc="-10" dirty="0">
                <a:latin typeface="Arial MT"/>
                <a:cs typeface="Arial MT"/>
              </a:rPr>
              <a:t> </a:t>
            </a:r>
            <a:r>
              <a:rPr sz="1800" b="0" spc="-5" dirty="0">
                <a:latin typeface="Arial MT"/>
                <a:cs typeface="Arial MT"/>
              </a:rPr>
              <a:t>pushed</a:t>
            </a:r>
            <a:r>
              <a:rPr sz="1800" b="0" spc="20" dirty="0">
                <a:latin typeface="Arial MT"/>
                <a:cs typeface="Arial MT"/>
              </a:rPr>
              <a:t> </a:t>
            </a:r>
            <a:r>
              <a:rPr sz="1800" b="0" dirty="0">
                <a:latin typeface="Arial MT"/>
                <a:cs typeface="Arial MT"/>
              </a:rPr>
              <a:t>: </a:t>
            </a:r>
            <a:r>
              <a:rPr sz="1800" b="0" spc="-5" dirty="0">
                <a:latin typeface="Arial MT"/>
                <a:cs typeface="Arial MT"/>
              </a:rPr>
              <a:t>"&lt;&lt;endl;</a:t>
            </a:r>
            <a:endParaRPr sz="1800">
              <a:latin typeface="Arial MT"/>
              <a:cs typeface="Arial MT"/>
            </a:endParaRPr>
          </a:p>
          <a:p>
            <a:pPr marL="4242435" marR="3356610">
              <a:lnSpc>
                <a:spcPct val="100000"/>
              </a:lnSpc>
            </a:pPr>
            <a:r>
              <a:rPr sz="1800" b="0" spc="-5" dirty="0">
                <a:latin typeface="Arial MT"/>
                <a:cs typeface="Arial MT"/>
              </a:rPr>
              <a:t>cin&gt;&gt;val; </a:t>
            </a:r>
            <a:r>
              <a:rPr sz="1800" b="0" dirty="0">
                <a:latin typeface="Arial MT"/>
                <a:cs typeface="Arial MT"/>
              </a:rPr>
              <a:t> </a:t>
            </a:r>
            <a:r>
              <a:rPr sz="1800" b="0" spc="-5" dirty="0">
                <a:latin typeface="Arial MT"/>
                <a:cs typeface="Arial MT"/>
              </a:rPr>
              <a:t>p</a:t>
            </a:r>
            <a:r>
              <a:rPr sz="1800" b="0" spc="-15" dirty="0">
                <a:latin typeface="Arial MT"/>
                <a:cs typeface="Arial MT"/>
              </a:rPr>
              <a:t>u</a:t>
            </a:r>
            <a:r>
              <a:rPr sz="1800" b="0" spc="-5" dirty="0">
                <a:latin typeface="Arial MT"/>
                <a:cs typeface="Arial MT"/>
              </a:rPr>
              <a:t>sh</a:t>
            </a:r>
            <a:r>
              <a:rPr sz="1800" b="0" spc="-10" dirty="0">
                <a:latin typeface="Arial MT"/>
                <a:cs typeface="Arial MT"/>
              </a:rPr>
              <a:t>(</a:t>
            </a:r>
            <a:r>
              <a:rPr sz="1800" b="0" spc="-5" dirty="0">
                <a:latin typeface="Arial MT"/>
                <a:cs typeface="Arial MT"/>
              </a:rPr>
              <a:t>va</a:t>
            </a:r>
            <a:r>
              <a:rPr sz="1800" b="0" spc="-15" dirty="0">
                <a:latin typeface="Arial MT"/>
                <a:cs typeface="Arial MT"/>
              </a:rPr>
              <a:t>l</a:t>
            </a:r>
            <a:r>
              <a:rPr sz="1800" b="0" dirty="0">
                <a:latin typeface="Arial MT"/>
                <a:cs typeface="Arial MT"/>
              </a:rPr>
              <a:t>);  </a:t>
            </a:r>
            <a:r>
              <a:rPr sz="1800" b="0" spc="-5" dirty="0">
                <a:latin typeface="Arial MT"/>
                <a:cs typeface="Arial MT"/>
              </a:rPr>
              <a:t>break;</a:t>
            </a:r>
            <a:endParaRPr sz="1800">
              <a:latin typeface="Arial MT"/>
              <a:cs typeface="Arial MT"/>
            </a:endParaRPr>
          </a:p>
          <a:p>
            <a:pPr marL="3328035">
              <a:lnSpc>
                <a:spcPct val="100000"/>
              </a:lnSpc>
              <a:spcBef>
                <a:spcPts val="5"/>
              </a:spcBef>
            </a:pPr>
            <a:r>
              <a:rPr sz="1800" b="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2413000">
              <a:lnSpc>
                <a:spcPct val="100000"/>
              </a:lnSpc>
            </a:pPr>
            <a:r>
              <a:rPr sz="1800" b="0" spc="-5" dirty="0">
                <a:latin typeface="Arial MT"/>
                <a:cs typeface="Arial MT"/>
              </a:rPr>
              <a:t>case</a:t>
            </a:r>
            <a:r>
              <a:rPr sz="1800" b="0" spc="-50" dirty="0">
                <a:latin typeface="Arial MT"/>
                <a:cs typeface="Arial MT"/>
              </a:rPr>
              <a:t> </a:t>
            </a:r>
            <a:r>
              <a:rPr sz="1800" b="0" dirty="0">
                <a:latin typeface="Arial MT"/>
                <a:cs typeface="Arial MT"/>
              </a:rPr>
              <a:t>2:</a:t>
            </a:r>
            <a:endParaRPr sz="1800">
              <a:latin typeface="Arial MT"/>
              <a:cs typeface="Arial MT"/>
            </a:endParaRPr>
          </a:p>
          <a:p>
            <a:pPr marL="3328035">
              <a:lnSpc>
                <a:spcPct val="100000"/>
              </a:lnSpc>
            </a:pPr>
            <a:r>
              <a:rPr sz="1800" b="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4242435" marR="3723640">
              <a:lnSpc>
                <a:spcPct val="100000"/>
              </a:lnSpc>
            </a:pPr>
            <a:r>
              <a:rPr sz="1800" b="0" spc="-5" dirty="0">
                <a:latin typeface="Arial MT"/>
                <a:cs typeface="Arial MT"/>
              </a:rPr>
              <a:t>pop(); </a:t>
            </a:r>
            <a:r>
              <a:rPr sz="1800" b="0" spc="-490" dirty="0">
                <a:latin typeface="Arial MT"/>
                <a:cs typeface="Arial MT"/>
              </a:rPr>
              <a:t> </a:t>
            </a:r>
            <a:r>
              <a:rPr sz="1800" b="0" spc="-5" dirty="0">
                <a:latin typeface="Arial MT"/>
                <a:cs typeface="Arial MT"/>
              </a:rPr>
              <a:t>br</a:t>
            </a:r>
            <a:r>
              <a:rPr sz="1800" b="0" spc="-15" dirty="0">
                <a:latin typeface="Arial MT"/>
                <a:cs typeface="Arial MT"/>
              </a:rPr>
              <a:t>e</a:t>
            </a:r>
            <a:r>
              <a:rPr sz="1800" b="0" dirty="0">
                <a:latin typeface="Arial MT"/>
                <a:cs typeface="Arial MT"/>
              </a:rPr>
              <a:t>ak;</a:t>
            </a:r>
            <a:endParaRPr sz="1800">
              <a:latin typeface="Arial MT"/>
              <a:cs typeface="Arial MT"/>
            </a:endParaRPr>
          </a:p>
          <a:p>
            <a:pPr marL="3328035">
              <a:lnSpc>
                <a:spcPct val="100000"/>
              </a:lnSpc>
            </a:pPr>
            <a:r>
              <a:rPr sz="1800" b="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7494" y="6284772"/>
            <a:ext cx="761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case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2275" y="6559092"/>
            <a:ext cx="10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9689" y="1912235"/>
            <a:ext cx="9735185" cy="2685351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0" dirty="0">
                <a:latin typeface="Calibri"/>
                <a:cs typeface="Calibri"/>
              </a:rPr>
              <a:t>What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are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POP-Operation?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0" dirty="0">
                <a:latin typeface="Calibri"/>
                <a:cs typeface="Calibri"/>
              </a:rPr>
              <a:t>What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is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Algorithm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for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POP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Operation?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0" dirty="0">
                <a:latin typeface="Calibri"/>
                <a:cs typeface="Calibri"/>
              </a:rPr>
              <a:t>What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are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Applications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of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Stack?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0" dirty="0">
                <a:latin typeface="Calibri"/>
                <a:cs typeface="Calibri"/>
              </a:rPr>
              <a:t>How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Array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Implementation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of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Stack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can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be </a:t>
            </a:r>
            <a:r>
              <a:rPr sz="3600" spc="-10" dirty="0">
                <a:latin typeface="Calibri"/>
                <a:cs typeface="Calibri"/>
              </a:rPr>
              <a:t>coded?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65378"/>
            <a:ext cx="8808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5" dirty="0">
                <a:latin typeface="Arial MT"/>
                <a:cs typeface="Arial MT"/>
              </a:rPr>
              <a:t>Summery</a:t>
            </a:r>
            <a:r>
              <a:rPr sz="4800" b="0" spc="30" dirty="0">
                <a:latin typeface="Arial MT"/>
                <a:cs typeface="Arial MT"/>
              </a:rPr>
              <a:t> </a:t>
            </a:r>
            <a:r>
              <a:rPr sz="4800" b="0" spc="-5" dirty="0">
                <a:latin typeface="Arial MT"/>
                <a:cs typeface="Arial MT"/>
              </a:rPr>
              <a:t>&amp;</a:t>
            </a:r>
            <a:r>
              <a:rPr sz="4800" b="0" spc="5" dirty="0">
                <a:latin typeface="Arial MT"/>
                <a:cs typeface="Arial MT"/>
              </a:rPr>
              <a:t> </a:t>
            </a:r>
            <a:r>
              <a:rPr sz="4800" b="0" spc="-5" dirty="0">
                <a:latin typeface="Arial MT"/>
                <a:cs typeface="Arial MT"/>
              </a:rPr>
              <a:t>Students</a:t>
            </a:r>
            <a:r>
              <a:rPr sz="4800" b="0" spc="40" dirty="0">
                <a:latin typeface="Arial MT"/>
                <a:cs typeface="Arial MT"/>
              </a:rPr>
              <a:t> </a:t>
            </a:r>
            <a:r>
              <a:rPr sz="4800" b="0" spc="-5" dirty="0">
                <a:latin typeface="Arial MT"/>
                <a:cs typeface="Arial MT"/>
              </a:rPr>
              <a:t>Evaluation</a:t>
            </a:r>
            <a:endParaRPr sz="4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8173" y="3034664"/>
            <a:ext cx="49549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0" dirty="0"/>
              <a:t>Any</a:t>
            </a:r>
            <a:r>
              <a:rPr sz="6000" spc="-80" dirty="0"/>
              <a:t> </a:t>
            </a:r>
            <a:r>
              <a:rPr sz="6000" spc="-10" dirty="0"/>
              <a:t>Questions?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11296" y="2505455"/>
            <a:ext cx="8488045" cy="1929130"/>
            <a:chOff x="3511296" y="2505455"/>
            <a:chExt cx="8488045" cy="19291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1296" y="4070553"/>
              <a:ext cx="8470392" cy="14025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56254" y="4115561"/>
              <a:ext cx="8331200" cy="0"/>
            </a:xfrm>
            <a:custGeom>
              <a:avLst/>
              <a:gdLst/>
              <a:ahLst/>
              <a:cxnLst/>
              <a:rect l="l" t="t" r="r" b="b"/>
              <a:pathLst>
                <a:path w="8331200">
                  <a:moveTo>
                    <a:pt x="0" y="0"/>
                  </a:moveTo>
                  <a:lnTo>
                    <a:pt x="8331200" y="0"/>
                  </a:lnTo>
                </a:path>
              </a:pathLst>
            </a:custGeom>
            <a:ln w="38100">
              <a:solidFill>
                <a:srgbClr val="DBED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2492" y="3453383"/>
              <a:ext cx="4115562" cy="98069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33160" y="2505455"/>
              <a:ext cx="4094226" cy="165277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9740" y="3453383"/>
              <a:ext cx="2649474" cy="98069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60408" y="2505455"/>
              <a:ext cx="2629661" cy="165277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687693" y="2682951"/>
            <a:ext cx="48164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latin typeface="Calibri"/>
                <a:cs typeface="Calibri"/>
              </a:rPr>
              <a:t>Mid</a:t>
            </a:r>
            <a:r>
              <a:rPr sz="6000" b="0" spc="-40" dirty="0">
                <a:latin typeface="Calibri"/>
                <a:cs typeface="Calibri"/>
              </a:rPr>
              <a:t> </a:t>
            </a:r>
            <a:r>
              <a:rPr sz="6000" b="0" spc="-130" dirty="0">
                <a:latin typeface="Calibri"/>
                <a:cs typeface="Calibri"/>
              </a:rPr>
              <a:t>Term</a:t>
            </a:r>
            <a:r>
              <a:rPr sz="6000" b="0" spc="-70" dirty="0">
                <a:latin typeface="Calibri"/>
                <a:cs typeface="Calibri"/>
              </a:rPr>
              <a:t> </a:t>
            </a:r>
            <a:r>
              <a:rPr sz="6000" b="0" spc="-30" dirty="0">
                <a:latin typeface="Calibri"/>
                <a:cs typeface="Calibri"/>
              </a:rPr>
              <a:t>Exam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584</Words>
  <Application>Microsoft Office PowerPoint</Application>
  <PresentationFormat>Widescreen</PresentationFormat>
  <Paragraphs>117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MT</vt:lpstr>
      <vt:lpstr>Calibri</vt:lpstr>
      <vt:lpstr>Symbol</vt:lpstr>
      <vt:lpstr>Times New Roman</vt:lpstr>
      <vt:lpstr>Wingdings</vt:lpstr>
      <vt:lpstr>Office Theme</vt:lpstr>
      <vt:lpstr>Course:Data Structure and Algorithms</vt:lpstr>
      <vt:lpstr>PowerPoint Presentation</vt:lpstr>
      <vt:lpstr>Contents</vt:lpstr>
      <vt:lpstr>Objectives</vt:lpstr>
      <vt:lpstr>POP-Operation</vt:lpstr>
      <vt:lpstr>Algorithm for POP Operation</vt:lpstr>
      <vt:lpstr>POP-Operation</vt:lpstr>
      <vt:lpstr>PowerPoint Presentation</vt:lpstr>
      <vt:lpstr>Array Implementation of Stack</vt:lpstr>
      <vt:lpstr>Array Implementation of Stack</vt:lpstr>
      <vt:lpstr>Array Implementation of Stack</vt:lpstr>
      <vt:lpstr>Array Implementation of Stack</vt:lpstr>
      <vt:lpstr>Array Implementation of Stack</vt:lpstr>
      <vt:lpstr>Summery &amp; Students Evaluation</vt:lpstr>
      <vt:lpstr>Any Questions?</vt:lpstr>
      <vt:lpstr>Mid Term Exam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HAMDARD</cp:lastModifiedBy>
  <cp:revision>9</cp:revision>
  <dcterms:created xsi:type="dcterms:W3CDTF">2024-04-22T08:15:10Z</dcterms:created>
  <dcterms:modified xsi:type="dcterms:W3CDTF">2026-03-05T18:17:06Z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</Properties>
</file>