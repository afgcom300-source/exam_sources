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14291" y="1559178"/>
            <a:ext cx="238887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4916" y="400558"/>
            <a:ext cx="10742167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077192"/>
            <a:ext cx="11122659" cy="441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64442" y="6498335"/>
            <a:ext cx="3175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4330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: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Rahman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8709" y="5065852"/>
            <a:ext cx="3814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2800" b="1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2800" b="1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Faculty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7996" y="5596534"/>
            <a:ext cx="30111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JAHAN</a:t>
            </a:r>
            <a:r>
              <a:rPr sz="3200" b="1" spc="-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7329" y="5483453"/>
            <a:ext cx="114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year: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1402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2447544"/>
            <a:ext cx="2070354" cy="89992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376672" y="2976372"/>
            <a:ext cx="3993641" cy="1928622"/>
            <a:chOff x="5376672" y="2976372"/>
            <a:chExt cx="3993641" cy="1928622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6672" y="3924300"/>
              <a:ext cx="3993641" cy="98069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7339" y="2976372"/>
              <a:ext cx="3973829" cy="1652777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619758" y="2423281"/>
            <a:ext cx="8148320" cy="16713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480"/>
              </a:spcBef>
            </a:pPr>
            <a:r>
              <a:rPr sz="4800" b="1" baseline="2604" dirty="0">
                <a:solidFill>
                  <a:srgbClr val="00AF50"/>
                </a:solidFill>
                <a:latin typeface="Arial"/>
                <a:cs typeface="Arial"/>
              </a:rPr>
              <a:t>Cours</a:t>
            </a:r>
            <a:r>
              <a:rPr sz="4800" b="1" spc="-15" baseline="2604" dirty="0">
                <a:solidFill>
                  <a:srgbClr val="00AF50"/>
                </a:solidFill>
                <a:latin typeface="Arial"/>
                <a:cs typeface="Arial"/>
              </a:rPr>
              <a:t>e</a:t>
            </a:r>
            <a:r>
              <a:rPr sz="4800" b="1" spc="-1289" baseline="2604" dirty="0">
                <a:solidFill>
                  <a:srgbClr val="00AF50"/>
                </a:solidFill>
                <a:latin typeface="Arial"/>
                <a:cs typeface="Arial"/>
              </a:rPr>
              <a:t>:</a:t>
            </a:r>
            <a:r>
              <a:rPr sz="4000" b="1" spc="5" dirty="0">
                <a:solidFill>
                  <a:srgbClr val="006FC0"/>
                </a:solidFill>
                <a:latin typeface="Calibri"/>
                <a:cs typeface="Calibri"/>
              </a:rPr>
              <a:t>D</a:t>
            </a:r>
            <a:r>
              <a:rPr sz="4000" b="1" spc="-45" dirty="0">
                <a:solidFill>
                  <a:srgbClr val="006FC0"/>
                </a:solidFill>
                <a:latin typeface="Calibri"/>
                <a:cs typeface="Calibri"/>
              </a:rPr>
              <a:t>at</a:t>
            </a:r>
            <a:r>
              <a:rPr sz="4000" b="1" spc="5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4000" b="1" spc="-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6FC0"/>
                </a:solidFill>
                <a:latin typeface="Calibri"/>
                <a:cs typeface="Calibri"/>
              </a:rPr>
              <a:t>Structure</a:t>
            </a:r>
            <a:r>
              <a:rPr sz="40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4000" b="1" spc="-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6FC0"/>
                </a:solidFill>
                <a:latin typeface="Calibri"/>
                <a:cs typeface="Calibri"/>
              </a:rPr>
              <a:t>Algorithms</a:t>
            </a:r>
            <a:endParaRPr sz="4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4234180" algn="l"/>
              </a:tabLst>
            </a:pPr>
            <a:r>
              <a:rPr lang="en-US" sz="4800" b="1" baseline="1736" dirty="0">
                <a:latin typeface="Arial"/>
                <a:cs typeface="Arial"/>
              </a:rPr>
              <a:t>     </a:t>
            </a:r>
            <a:r>
              <a:rPr sz="4800" b="1" baseline="1736" dirty="0">
                <a:latin typeface="Arial"/>
                <a:cs typeface="Arial"/>
              </a:rPr>
              <a:t>Lesson</a:t>
            </a:r>
            <a:r>
              <a:rPr sz="4800" b="1" spc="-82" baseline="1736" dirty="0">
                <a:latin typeface="Arial"/>
                <a:cs typeface="Arial"/>
              </a:rPr>
              <a:t> </a:t>
            </a:r>
            <a:r>
              <a:rPr lang="en-US" sz="4800" b="1" spc="-75" baseline="1736" dirty="0">
                <a:latin typeface="Arial"/>
                <a:cs typeface="Arial"/>
              </a:rPr>
              <a:t>4</a:t>
            </a:r>
            <a:r>
              <a:rPr lang="en-US" sz="4800" b="1" baseline="1736" dirty="0">
                <a:latin typeface="Arial"/>
                <a:cs typeface="Arial"/>
              </a:rPr>
              <a:t>	</a:t>
            </a:r>
            <a:r>
              <a:rPr sz="6000" spc="-10" dirty="0">
                <a:latin typeface="Calibri"/>
                <a:cs typeface="Calibri"/>
              </a:rPr>
              <a:t>Searching</a:t>
            </a:r>
            <a:endParaRPr sz="6000" dirty="0">
              <a:latin typeface="Calibri"/>
              <a:cs typeface="Calibri"/>
            </a:endParaRPr>
          </a:p>
        </p:txBody>
      </p:sp>
      <p:sp>
        <p:nvSpPr>
          <p:cNvPr id="20" name="object 6"/>
          <p:cNvSpPr txBox="1"/>
          <p:nvPr/>
        </p:nvSpPr>
        <p:spPr>
          <a:xfrm>
            <a:off x="4890516" y="738886"/>
            <a:ext cx="3262884" cy="13876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Science </a:t>
            </a:r>
            <a:r>
              <a:rPr lang="en-US" sz="2400" b="1" spc="-300" dirty="0">
                <a:latin typeface="Calibri"/>
                <a:cs typeface="Calibri"/>
              </a:rPr>
              <a:t>SE</a:t>
            </a:r>
            <a:r>
              <a:rPr lang="en-US" sz="2800" b="1" spc="-30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1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</a:t>
            </a:r>
            <a:r>
              <a:rPr lang="en-US" sz="1800" b="1" spc="-5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2" name="object 7"/>
          <p:cNvSpPr txBox="1"/>
          <p:nvPr/>
        </p:nvSpPr>
        <p:spPr>
          <a:xfrm>
            <a:off x="1031238" y="5483453"/>
            <a:ext cx="351675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Prepare</a:t>
            </a:r>
            <a:r>
              <a:rPr lang="en-US" sz="1800" b="1" spc="-5" dirty="0">
                <a:latin typeface="Arial"/>
                <a:cs typeface="Arial"/>
              </a:rPr>
              <a:t>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6041" y="2060270"/>
            <a:ext cx="2896235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3600" dirty="0">
                <a:latin typeface="Calibri"/>
                <a:cs typeface="Calibri"/>
              </a:rPr>
              <a:t>Linear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Search</a:t>
            </a:r>
            <a:endParaRPr sz="3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25"/>
              </a:spcBef>
              <a:buFont typeface="Arial MT"/>
              <a:buChar char="•"/>
              <a:tabLst>
                <a:tab pos="354965" algn="l"/>
              </a:tabLst>
            </a:pPr>
            <a:r>
              <a:rPr sz="3600" dirty="0">
                <a:latin typeface="Calibri"/>
                <a:cs typeface="Calibri"/>
              </a:rPr>
              <a:t>Binary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Search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9022" y="558241"/>
            <a:ext cx="30765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Contents</a:t>
            </a:r>
            <a:endParaRPr sz="6000"/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6830" y="831849"/>
            <a:ext cx="8221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>
                <a:solidFill>
                  <a:srgbClr val="001F5F"/>
                </a:solidFill>
                <a:latin typeface="Calibri"/>
                <a:cs typeface="Calibri"/>
              </a:rPr>
              <a:t>Objective</a:t>
            </a:r>
            <a:r>
              <a:rPr lang="en-US" b="1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endParaRPr b="1" spc="-10" dirty="0">
              <a:solidFill>
                <a:srgbClr val="001F5F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539" y="1443842"/>
            <a:ext cx="10057130" cy="3427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3600" spc="-160" dirty="0">
                <a:latin typeface="Calibri"/>
                <a:cs typeface="Calibri"/>
              </a:rPr>
              <a:t>To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be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work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with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Linear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Search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array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or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any </a:t>
            </a:r>
            <a:r>
              <a:rPr sz="3600" dirty="0">
                <a:latin typeface="Calibri"/>
                <a:cs typeface="Calibri"/>
              </a:rPr>
              <a:t>other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data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structure.</a:t>
            </a:r>
            <a:endParaRPr sz="3600">
              <a:latin typeface="Calibri"/>
              <a:cs typeface="Calibri"/>
            </a:endParaRPr>
          </a:p>
          <a:p>
            <a:pPr marL="355600" marR="1120775" indent="-343535">
              <a:lnSpc>
                <a:spcPct val="150100"/>
              </a:lnSpc>
              <a:spcBef>
                <a:spcPts val="860"/>
              </a:spcBef>
              <a:buFont typeface="Arial MT"/>
              <a:buChar char="•"/>
              <a:tabLst>
                <a:tab pos="355600" algn="l"/>
              </a:tabLst>
            </a:pPr>
            <a:r>
              <a:rPr sz="3600" spc="-160" dirty="0">
                <a:latin typeface="Calibri"/>
                <a:cs typeface="Calibri"/>
              </a:rPr>
              <a:t>To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work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with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Binary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Search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understand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its </a:t>
            </a:r>
            <a:r>
              <a:rPr sz="3600" spc="-10" dirty="0">
                <a:latin typeface="Calibri"/>
                <a:cs typeface="Calibri"/>
              </a:rPr>
              <a:t>benefits.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30428"/>
            <a:ext cx="2311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Searching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9703" y="1198879"/>
            <a:ext cx="976630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Searching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a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storage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media.</a:t>
            </a:r>
            <a:endParaRPr sz="2400" dirty="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lang="en-US" sz="2400" spc="-75" dirty="0">
                <a:latin typeface="Calibri"/>
                <a:cs typeface="Calibri"/>
              </a:rPr>
              <a:t>will </a:t>
            </a:r>
            <a:r>
              <a:rPr sz="2400" dirty="0">
                <a:latin typeface="Calibri"/>
                <a:cs typeface="Calibri"/>
              </a:rPr>
              <a:t>discuss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searching</a:t>
            </a:r>
            <a:r>
              <a:rPr lang="en-US" sz="2400" dirty="0">
                <a:latin typeface="Calibri"/>
                <a:cs typeface="Calibri"/>
              </a:rPr>
              <a:t> technique</a:t>
            </a:r>
            <a:r>
              <a:rPr lang="en-US" sz="2400" spc="-75" dirty="0">
                <a:latin typeface="Calibri"/>
                <a:cs typeface="Calibri"/>
              </a:rPr>
              <a:t>s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926465" indent="-4565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6465" algn="l"/>
              </a:tabLst>
            </a:pP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Linear</a:t>
            </a:r>
            <a:r>
              <a:rPr sz="2400" spc="-6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search</a:t>
            </a:r>
            <a:endParaRPr sz="2400" dirty="0">
              <a:latin typeface="Calibri"/>
              <a:cs typeface="Calibri"/>
            </a:endParaRPr>
          </a:p>
          <a:p>
            <a:pPr marL="926465" indent="-456565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926465" algn="l"/>
              </a:tabLst>
            </a:pP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Binary</a:t>
            </a:r>
            <a:r>
              <a:rPr sz="2400" spc="-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search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24358"/>
            <a:ext cx="3187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Linear</a:t>
            </a:r>
            <a:r>
              <a:rPr spc="-100" dirty="0"/>
              <a:t> </a:t>
            </a:r>
            <a:r>
              <a:rPr spc="-10" dirty="0"/>
              <a:t>Search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8768" y="1115669"/>
            <a:ext cx="9986010" cy="330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Linear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search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finding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particular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consists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</a:t>
            </a:r>
            <a:r>
              <a:rPr sz="2000" dirty="0">
                <a:latin typeface="Arial MT"/>
                <a:cs typeface="Arial MT"/>
              </a:rPr>
              <a:t>checking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every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elements,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sequence,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until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desired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5" dirty="0">
                <a:latin typeface="Arial MT"/>
                <a:cs typeface="Arial MT"/>
              </a:rPr>
              <a:t> is </a:t>
            </a:r>
            <a:r>
              <a:rPr sz="2000" spc="-10" dirty="0">
                <a:latin typeface="Arial MT"/>
                <a:cs typeface="Arial MT"/>
              </a:rPr>
              <a:t>found.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also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sequential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search.</a:t>
            </a:r>
            <a:endParaRPr sz="2000">
              <a:latin typeface="Arial MT"/>
              <a:cs typeface="Arial MT"/>
            </a:endParaRPr>
          </a:p>
          <a:p>
            <a:pPr marL="425450" indent="-412750">
              <a:lnSpc>
                <a:spcPct val="100000"/>
              </a:lnSpc>
              <a:spcBef>
                <a:spcPts val="1340"/>
              </a:spcBef>
              <a:buFont typeface="Wingdings"/>
              <a:buChar char=""/>
              <a:tabLst>
                <a:tab pos="425450" algn="l"/>
              </a:tabLst>
            </a:pPr>
            <a:r>
              <a:rPr sz="2000" dirty="0">
                <a:latin typeface="Arial MT"/>
                <a:cs typeface="Arial MT"/>
              </a:rPr>
              <a:t>linear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search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both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sorted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unsorted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arrays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20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7D1B68"/>
                </a:solidFill>
                <a:latin typeface="Arial MT"/>
                <a:cs typeface="Arial MT"/>
              </a:rPr>
              <a:t>Example:</a:t>
            </a:r>
            <a:r>
              <a:rPr sz="2400" spc="-7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D1B68"/>
                </a:solidFill>
                <a:latin typeface="Arial MT"/>
                <a:cs typeface="Arial MT"/>
              </a:rPr>
              <a:t>Finding</a:t>
            </a:r>
            <a:r>
              <a:rPr sz="2400" spc="-7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D1B68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D1B68"/>
                </a:solidFill>
                <a:latin typeface="Arial MT"/>
                <a:cs typeface="Arial MT"/>
              </a:rPr>
              <a:t>Element</a:t>
            </a:r>
            <a:r>
              <a:rPr sz="2400" spc="-65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7D1B68"/>
                </a:solidFill>
                <a:latin typeface="Arial MT"/>
                <a:cs typeface="Arial MT"/>
              </a:rPr>
              <a:t>33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4405884"/>
            <a:ext cx="8028432" cy="205130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58849"/>
            <a:ext cx="4098925" cy="3410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7E0054"/>
                </a:solidFill>
                <a:latin typeface="Calibri"/>
                <a:cs typeface="Calibri"/>
              </a:rPr>
              <a:t>Unordered</a:t>
            </a:r>
            <a:r>
              <a:rPr sz="2400" spc="-25" dirty="0">
                <a:solidFill>
                  <a:srgbClr val="666600"/>
                </a:solidFill>
                <a:latin typeface="Calibri"/>
                <a:cs typeface="Calibri"/>
              </a:rPr>
              <a:t>-</a:t>
            </a:r>
            <a:r>
              <a:rPr sz="2400" spc="-20" dirty="0">
                <a:solidFill>
                  <a:srgbClr val="7E0054"/>
                </a:solidFill>
                <a:latin typeface="Calibri"/>
                <a:cs typeface="Calibri"/>
              </a:rPr>
              <a:t>Linear</a:t>
            </a:r>
            <a:r>
              <a:rPr sz="2400" spc="-20" dirty="0">
                <a:solidFill>
                  <a:srgbClr val="666600"/>
                </a:solidFill>
                <a:latin typeface="Calibri"/>
                <a:cs typeface="Calibri"/>
              </a:rPr>
              <a:t>-</a:t>
            </a:r>
            <a:r>
              <a:rPr sz="2400" dirty="0">
                <a:solidFill>
                  <a:srgbClr val="7E0054"/>
                </a:solidFill>
                <a:latin typeface="Calibri"/>
                <a:cs typeface="Calibri"/>
              </a:rPr>
              <a:t>Search</a:t>
            </a:r>
            <a:r>
              <a:rPr sz="2400" dirty="0">
                <a:solidFill>
                  <a:srgbClr val="666600"/>
                </a:solidFill>
                <a:latin typeface="Calibri"/>
                <a:cs typeface="Calibri"/>
              </a:rPr>
              <a:t>[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666600"/>
                </a:solidFill>
                <a:latin typeface="Calibri"/>
                <a:cs typeface="Calibri"/>
              </a:rPr>
              <a:t>,</a:t>
            </a:r>
            <a:r>
              <a:rPr sz="2400" spc="50" dirty="0">
                <a:solidFill>
                  <a:srgbClr val="6666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666600"/>
                </a:solidFill>
                <a:latin typeface="Calibri"/>
                <a:cs typeface="Calibri"/>
              </a:rPr>
              <a:t>,</a:t>
            </a:r>
            <a:r>
              <a:rPr sz="2400" spc="40" dirty="0">
                <a:solidFill>
                  <a:srgbClr val="6666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25" dirty="0">
                <a:solidFill>
                  <a:srgbClr val="666600"/>
                </a:solidFill>
                <a:latin typeface="Calibri"/>
                <a:cs typeface="Calibri"/>
              </a:rPr>
              <a:t>]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400" dirty="0">
              <a:latin typeface="Calibri"/>
              <a:cs typeface="Calibri"/>
            </a:endParaRPr>
          </a:p>
          <a:p>
            <a:pPr marL="1223645" indent="-296545">
              <a:lnSpc>
                <a:spcPct val="100000"/>
              </a:lnSpc>
              <a:buClr>
                <a:srgbClr val="006666"/>
              </a:buClr>
              <a:buAutoNum type="arabicPeriod"/>
              <a:tabLst>
                <a:tab pos="1223645" algn="l"/>
              </a:tabLst>
            </a:pPr>
            <a:r>
              <a:rPr sz="2400" dirty="0">
                <a:solidFill>
                  <a:srgbClr val="000087"/>
                </a:solidFill>
                <a:latin typeface="Calibri"/>
                <a:cs typeface="Calibri"/>
              </a:rPr>
              <a:t>for</a:t>
            </a:r>
            <a:r>
              <a:rPr sz="2400" spc="-35" dirty="0">
                <a:solidFill>
                  <a:srgbClr val="000087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666"/>
                </a:solidFill>
                <a:latin typeface="Calibri"/>
                <a:cs typeface="Calibri"/>
              </a:rPr>
              <a:t>1</a:t>
            </a:r>
            <a:r>
              <a:rPr sz="2400" spc="-30" dirty="0">
                <a:solidFill>
                  <a:srgbClr val="006666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n</a:t>
            </a:r>
            <a:endParaRPr sz="2400" dirty="0">
              <a:latin typeface="Calibri"/>
              <a:cs typeface="Calibri"/>
            </a:endParaRPr>
          </a:p>
          <a:p>
            <a:pPr marL="1224280" indent="-297180">
              <a:lnSpc>
                <a:spcPct val="100000"/>
              </a:lnSpc>
              <a:spcBef>
                <a:spcPts val="1440"/>
              </a:spcBef>
              <a:buClr>
                <a:srgbClr val="006666"/>
              </a:buClr>
              <a:buAutoNum type="arabicPeriod"/>
              <a:tabLst>
                <a:tab pos="1224280" algn="l"/>
              </a:tabLst>
            </a:pPr>
            <a:r>
              <a:rPr sz="2400" dirty="0">
                <a:solidFill>
                  <a:srgbClr val="000087"/>
                </a:solidFill>
                <a:latin typeface="Calibri"/>
                <a:cs typeface="Calibri"/>
              </a:rPr>
              <a:t>do</a:t>
            </a:r>
            <a:r>
              <a:rPr sz="2400" spc="-25" dirty="0">
                <a:solidFill>
                  <a:srgbClr val="00008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87"/>
                </a:solidFill>
                <a:latin typeface="Calibri"/>
                <a:cs typeface="Calibri"/>
              </a:rPr>
              <a:t>if</a:t>
            </a:r>
            <a:r>
              <a:rPr sz="2400" spc="-20" dirty="0">
                <a:solidFill>
                  <a:srgbClr val="000087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666600"/>
                </a:solidFill>
                <a:latin typeface="Calibri"/>
                <a:cs typeface="Calibri"/>
              </a:rPr>
              <a:t>[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666600"/>
                </a:solidFill>
                <a:latin typeface="Calibri"/>
                <a:cs typeface="Calibri"/>
              </a:rPr>
              <a:t>]</a:t>
            </a:r>
            <a:r>
              <a:rPr sz="2400" spc="-25" dirty="0">
                <a:solidFill>
                  <a:srgbClr val="6666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6600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66660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x</a:t>
            </a:r>
            <a:endParaRPr sz="2400" dirty="0">
              <a:latin typeface="Calibri"/>
              <a:cs typeface="Calibri"/>
            </a:endParaRPr>
          </a:p>
          <a:p>
            <a:pPr marL="1223645" indent="-296545">
              <a:lnSpc>
                <a:spcPct val="100000"/>
              </a:lnSpc>
              <a:spcBef>
                <a:spcPts val="1440"/>
              </a:spcBef>
              <a:buClr>
                <a:srgbClr val="006666"/>
              </a:buClr>
              <a:buAutoNum type="arabicPeriod"/>
              <a:tabLst>
                <a:tab pos="1223645" algn="l"/>
              </a:tabLst>
            </a:pPr>
            <a:r>
              <a:rPr sz="2400" dirty="0">
                <a:solidFill>
                  <a:srgbClr val="000087"/>
                </a:solidFill>
                <a:latin typeface="Calibri"/>
                <a:cs typeface="Calibri"/>
              </a:rPr>
              <a:t>then</a:t>
            </a:r>
            <a:r>
              <a:rPr sz="2400" spc="-95" dirty="0">
                <a:solidFill>
                  <a:srgbClr val="00008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87"/>
                </a:solidFill>
                <a:latin typeface="Calibri"/>
                <a:cs typeface="Calibri"/>
              </a:rPr>
              <a:t>return</a:t>
            </a:r>
            <a:r>
              <a:rPr sz="2400" spc="-100" dirty="0">
                <a:solidFill>
                  <a:srgbClr val="000087"/>
                </a:solidFill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i</a:t>
            </a:r>
            <a:endParaRPr sz="2400" dirty="0">
              <a:latin typeface="Calibri"/>
              <a:cs typeface="Calibri"/>
            </a:endParaRPr>
          </a:p>
          <a:p>
            <a:pPr marL="1224280" indent="-297180">
              <a:lnSpc>
                <a:spcPct val="100000"/>
              </a:lnSpc>
              <a:spcBef>
                <a:spcPts val="1440"/>
              </a:spcBef>
              <a:buClr>
                <a:srgbClr val="006666"/>
              </a:buClr>
              <a:buAutoNum type="arabicPeriod"/>
              <a:tabLst>
                <a:tab pos="1224280" algn="l"/>
              </a:tabLst>
            </a:pPr>
            <a:r>
              <a:rPr sz="2400" dirty="0">
                <a:solidFill>
                  <a:srgbClr val="000087"/>
                </a:solidFill>
                <a:latin typeface="Calibri"/>
                <a:cs typeface="Calibri"/>
              </a:rPr>
              <a:t>else</a:t>
            </a:r>
            <a:r>
              <a:rPr sz="2400" spc="-15" dirty="0">
                <a:solidFill>
                  <a:srgbClr val="000087"/>
                </a:solidFill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i</a:t>
            </a:r>
            <a:r>
              <a:rPr lang="en-US" sz="2400" spc="-30" dirty="0">
                <a:latin typeface="Calibri"/>
                <a:cs typeface="Calibri"/>
              </a:rPr>
              <a:t>=</a:t>
            </a:r>
            <a:r>
              <a:rPr sz="2400" dirty="0" err="1">
                <a:latin typeface="Calibri"/>
                <a:cs typeface="Calibri"/>
              </a:rPr>
              <a:t>i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6600"/>
                </a:solidFill>
                <a:latin typeface="Calibri"/>
                <a:cs typeface="Calibri"/>
              </a:rPr>
              <a:t>+</a:t>
            </a:r>
            <a:r>
              <a:rPr sz="2400" spc="-15" dirty="0">
                <a:solidFill>
                  <a:srgbClr val="66660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6666"/>
                </a:solidFill>
                <a:latin typeface="Calibri"/>
                <a:cs typeface="Calibri"/>
              </a:rPr>
              <a:t>1</a:t>
            </a:r>
            <a:endParaRPr sz="2400" dirty="0">
              <a:latin typeface="Calibri"/>
              <a:cs typeface="Calibri"/>
            </a:endParaRPr>
          </a:p>
          <a:p>
            <a:pPr marL="1223645" indent="-296545">
              <a:lnSpc>
                <a:spcPct val="100000"/>
              </a:lnSpc>
              <a:spcBef>
                <a:spcPts val="1445"/>
              </a:spcBef>
              <a:buClr>
                <a:srgbClr val="006666"/>
              </a:buClr>
              <a:buAutoNum type="arabicPeriod"/>
              <a:tabLst>
                <a:tab pos="1223645" algn="l"/>
              </a:tabLst>
            </a:pPr>
            <a:r>
              <a:rPr sz="2400" dirty="0">
                <a:solidFill>
                  <a:srgbClr val="000087"/>
                </a:solidFill>
                <a:latin typeface="Calibri"/>
                <a:cs typeface="Calibri"/>
              </a:rPr>
              <a:t>return</a:t>
            </a:r>
            <a:r>
              <a:rPr sz="2400" spc="-45" dirty="0">
                <a:solidFill>
                  <a:srgbClr val="00008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6600"/>
                </a:solidFill>
                <a:latin typeface="Calibri"/>
                <a:cs typeface="Calibri"/>
              </a:rPr>
              <a:t>“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87"/>
                </a:solidFill>
                <a:latin typeface="Calibri"/>
                <a:cs typeface="Calibri"/>
              </a:rPr>
              <a:t>not</a:t>
            </a:r>
            <a:r>
              <a:rPr sz="2400" spc="-50" dirty="0">
                <a:solidFill>
                  <a:srgbClr val="00008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found</a:t>
            </a:r>
            <a:r>
              <a:rPr sz="2400" spc="-10" dirty="0">
                <a:solidFill>
                  <a:srgbClr val="666600"/>
                </a:solidFill>
                <a:latin typeface="Calibri"/>
                <a:cs typeface="Calibri"/>
              </a:rPr>
              <a:t>”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95"/>
              </a:spcBef>
            </a:pPr>
            <a:r>
              <a:rPr dirty="0"/>
              <a:t>Linear</a:t>
            </a:r>
            <a:r>
              <a:rPr spc="-100" dirty="0"/>
              <a:t> </a:t>
            </a:r>
            <a:r>
              <a:rPr spc="-25" dirty="0"/>
              <a:t>Search</a:t>
            </a:r>
            <a:r>
              <a:rPr spc="-254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95"/>
              </a:spcBef>
            </a:pPr>
            <a:r>
              <a:rPr dirty="0"/>
              <a:t>Linear</a:t>
            </a:r>
            <a:r>
              <a:rPr spc="-100" dirty="0"/>
              <a:t> </a:t>
            </a:r>
            <a:r>
              <a:rPr spc="-10" dirty="0"/>
              <a:t>Search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22044" y="1359154"/>
            <a:ext cx="7320280" cy="3860031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Advantages</a:t>
            </a:r>
            <a:endParaRPr sz="2400" dirty="0">
              <a:latin typeface="Calibri"/>
              <a:cs typeface="Calibri"/>
            </a:endParaRPr>
          </a:p>
          <a:p>
            <a:pPr marL="811530" lvl="1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11530" algn="l"/>
              </a:tabLst>
            </a:pP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Easy</a:t>
            </a:r>
            <a:r>
              <a:rPr sz="2400" spc="-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algorithm</a:t>
            </a:r>
            <a:r>
              <a:rPr sz="2400" spc="-8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to</a:t>
            </a:r>
            <a:r>
              <a:rPr sz="2400" spc="-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4444"/>
                </a:solidFill>
                <a:latin typeface="Calibri"/>
                <a:cs typeface="Calibri"/>
              </a:rPr>
              <a:t>understand</a:t>
            </a:r>
            <a:endParaRPr sz="2400" dirty="0">
              <a:latin typeface="Calibri"/>
              <a:cs typeface="Calibri"/>
            </a:endParaRPr>
          </a:p>
          <a:p>
            <a:pPr marL="811530" lvl="1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11530" algn="l"/>
              </a:tabLst>
            </a:pP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Array</a:t>
            </a:r>
            <a:r>
              <a:rPr sz="2400" spc="-7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can</a:t>
            </a:r>
            <a:r>
              <a:rPr sz="2400" spc="-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be</a:t>
            </a:r>
            <a:r>
              <a:rPr sz="2400" spc="-4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in</a:t>
            </a:r>
            <a:r>
              <a:rPr sz="2400" spc="-5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any</a:t>
            </a:r>
            <a:r>
              <a:rPr sz="2400" spc="-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4444"/>
                </a:solidFill>
                <a:latin typeface="Calibri"/>
                <a:cs typeface="Calibri"/>
              </a:rPr>
              <a:t>order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830"/>
              </a:spcBef>
              <a:buClr>
                <a:srgbClr val="444444"/>
              </a:buClr>
              <a:buFont typeface="Wingdings"/>
              <a:buChar char=""/>
            </a:pP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Disadvantage</a:t>
            </a:r>
            <a:endParaRPr sz="2400" dirty="0">
              <a:latin typeface="Calibri"/>
              <a:cs typeface="Calibri"/>
            </a:endParaRPr>
          </a:p>
          <a:p>
            <a:pPr marL="811530" lvl="1" indent="-342265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811530" algn="l"/>
              </a:tabLst>
            </a:pPr>
            <a:r>
              <a:rPr sz="2400" spc="-10" dirty="0">
                <a:solidFill>
                  <a:srgbClr val="444444"/>
                </a:solidFill>
                <a:latin typeface="Calibri"/>
                <a:cs typeface="Calibri"/>
              </a:rPr>
              <a:t>Inefficient</a:t>
            </a:r>
            <a:r>
              <a:rPr sz="2400" spc="-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(slow):</a:t>
            </a:r>
            <a:r>
              <a:rPr sz="2400" spc="-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for</a:t>
            </a:r>
            <a:r>
              <a:rPr sz="2400" spc="-4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4444"/>
                </a:solidFill>
                <a:latin typeface="Calibri"/>
                <a:cs typeface="Calibri"/>
              </a:rPr>
              <a:t>array</a:t>
            </a:r>
            <a:r>
              <a:rPr sz="2400" spc="-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N</a:t>
            </a:r>
            <a:r>
              <a:rPr sz="2400" spc="-4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4444"/>
                </a:solidFill>
                <a:latin typeface="Calibri"/>
                <a:cs typeface="Calibri"/>
              </a:rPr>
              <a:t>elements,</a:t>
            </a:r>
            <a:endParaRPr sz="2400" dirty="0">
              <a:latin typeface="Calibri"/>
              <a:cs typeface="Calibri"/>
            </a:endParaRPr>
          </a:p>
          <a:p>
            <a:pPr marL="811530" lvl="1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11530" algn="l"/>
              </a:tabLst>
            </a:pP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N</a:t>
            </a:r>
            <a:r>
              <a:rPr sz="2400" spc="-5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elements</a:t>
            </a:r>
            <a:r>
              <a:rPr sz="2400" spc="-7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for</a:t>
            </a:r>
            <a:r>
              <a:rPr sz="2400" spc="-5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value</a:t>
            </a:r>
            <a:r>
              <a:rPr sz="2400" spc="-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not</a:t>
            </a:r>
            <a:r>
              <a:rPr sz="2400" spc="-7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4444"/>
                </a:solidFill>
                <a:latin typeface="Calibri"/>
                <a:cs typeface="Calibri"/>
              </a:rPr>
              <a:t>array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100" dirty="0"/>
              <a:t> </a:t>
            </a:r>
            <a:r>
              <a:rPr spc="-10" dirty="0"/>
              <a:t>Search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63574" y="1080495"/>
            <a:ext cx="1050925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5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finds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sorted array.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principle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conquer.</a:t>
            </a:r>
            <a:endParaRPr sz="2400">
              <a:latin typeface="Calibri"/>
              <a:cs typeface="Calibri"/>
            </a:endParaRPr>
          </a:p>
          <a:p>
            <a:pPr marL="354965" marR="5080" indent="-342900">
              <a:lnSpc>
                <a:spcPts val="4320"/>
              </a:lnSpc>
              <a:spcBef>
                <a:spcPts val="385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quite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fast,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limitation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form.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6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half-</a:t>
            </a:r>
            <a:r>
              <a:rPr sz="2400" dirty="0">
                <a:latin typeface="Calibri"/>
                <a:cs typeface="Calibri"/>
              </a:rPr>
              <a:t>interval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logarithmic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search.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run-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Ο(log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100" dirty="0"/>
              <a:t> </a:t>
            </a:r>
            <a:r>
              <a:rPr spc="-10" dirty="0"/>
              <a:t>Search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2165" marR="6350" indent="-342265">
              <a:lnSpc>
                <a:spcPct val="150000"/>
              </a:lnSpc>
              <a:spcBef>
                <a:spcPts val="95"/>
              </a:spcBef>
              <a:buFont typeface="Wingdings"/>
              <a:buChar char=""/>
              <a:tabLst>
                <a:tab pos="814069" algn="l"/>
              </a:tabLst>
            </a:pPr>
            <a:r>
              <a:rPr dirty="0"/>
              <a:t>Binary</a:t>
            </a:r>
            <a:r>
              <a:rPr spc="5" dirty="0"/>
              <a:t> </a:t>
            </a:r>
            <a:r>
              <a:rPr dirty="0"/>
              <a:t>search</a:t>
            </a:r>
            <a:r>
              <a:rPr spc="5" dirty="0"/>
              <a:t> </a:t>
            </a:r>
            <a:r>
              <a:rPr dirty="0"/>
              <a:t>looks</a:t>
            </a:r>
            <a:r>
              <a:rPr spc="5" dirty="0"/>
              <a:t> </a:t>
            </a:r>
            <a:r>
              <a:rPr dirty="0"/>
              <a:t>for</a:t>
            </a:r>
            <a:r>
              <a:rPr spc="10" dirty="0"/>
              <a:t> </a:t>
            </a:r>
            <a:r>
              <a:rPr dirty="0"/>
              <a:t>a particular</a:t>
            </a:r>
            <a:r>
              <a:rPr spc="5" dirty="0"/>
              <a:t> </a:t>
            </a:r>
            <a:r>
              <a:rPr dirty="0"/>
              <a:t>item</a:t>
            </a:r>
            <a:r>
              <a:rPr spc="20" dirty="0"/>
              <a:t> </a:t>
            </a:r>
            <a:r>
              <a:rPr dirty="0"/>
              <a:t>by</a:t>
            </a:r>
            <a:r>
              <a:rPr spc="5" dirty="0"/>
              <a:t> </a:t>
            </a:r>
            <a:r>
              <a:rPr dirty="0"/>
              <a:t>comparing</a:t>
            </a:r>
            <a:r>
              <a:rPr spc="15" dirty="0"/>
              <a:t> </a:t>
            </a:r>
            <a:r>
              <a:rPr dirty="0"/>
              <a:t>the middle</a:t>
            </a:r>
            <a:r>
              <a:rPr spc="15" dirty="0"/>
              <a:t> </a:t>
            </a:r>
            <a:r>
              <a:rPr dirty="0"/>
              <a:t>most</a:t>
            </a:r>
            <a:r>
              <a:rPr spc="10" dirty="0"/>
              <a:t> </a:t>
            </a:r>
            <a:r>
              <a:rPr dirty="0"/>
              <a:t>item</a:t>
            </a:r>
            <a:r>
              <a:rPr spc="2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25" dirty="0"/>
              <a:t>the 	</a:t>
            </a:r>
            <a:r>
              <a:rPr spc="-10" dirty="0"/>
              <a:t>collection.</a:t>
            </a:r>
          </a:p>
          <a:p>
            <a:pPr marL="812800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13435" algn="l"/>
              </a:tabLst>
            </a:pPr>
            <a:r>
              <a:rPr dirty="0"/>
              <a:t>If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match</a:t>
            </a:r>
            <a:r>
              <a:rPr spc="-60" dirty="0"/>
              <a:t> </a:t>
            </a:r>
            <a:r>
              <a:rPr dirty="0"/>
              <a:t>occurs,</a:t>
            </a:r>
            <a:r>
              <a:rPr spc="-70" dirty="0"/>
              <a:t> </a:t>
            </a:r>
            <a:r>
              <a:rPr dirty="0"/>
              <a:t>then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index</a:t>
            </a:r>
            <a:r>
              <a:rPr spc="-5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item</a:t>
            </a:r>
            <a:r>
              <a:rPr spc="-5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10" dirty="0"/>
              <a:t>returned.</a:t>
            </a:r>
          </a:p>
          <a:p>
            <a:pPr marL="813435" indent="-34290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14069" algn="l"/>
              </a:tabLst>
            </a:pPr>
            <a:r>
              <a:rPr dirty="0"/>
              <a:t>If</a:t>
            </a:r>
            <a:r>
              <a:rPr spc="180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dirty="0"/>
              <a:t>middle</a:t>
            </a:r>
            <a:r>
              <a:rPr spc="180" dirty="0"/>
              <a:t> </a:t>
            </a:r>
            <a:r>
              <a:rPr dirty="0"/>
              <a:t>item</a:t>
            </a:r>
            <a:r>
              <a:rPr spc="190" dirty="0"/>
              <a:t> </a:t>
            </a:r>
            <a:r>
              <a:rPr dirty="0"/>
              <a:t>is</a:t>
            </a:r>
            <a:r>
              <a:rPr spc="180" dirty="0"/>
              <a:t> </a:t>
            </a:r>
            <a:r>
              <a:rPr dirty="0"/>
              <a:t>greater</a:t>
            </a:r>
            <a:r>
              <a:rPr spc="190" dirty="0"/>
              <a:t> </a:t>
            </a:r>
            <a:r>
              <a:rPr dirty="0"/>
              <a:t>than</a:t>
            </a:r>
            <a:r>
              <a:rPr spc="180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dirty="0"/>
              <a:t>item,</a:t>
            </a:r>
            <a:r>
              <a:rPr spc="190" dirty="0"/>
              <a:t> </a:t>
            </a:r>
            <a:r>
              <a:rPr dirty="0"/>
              <a:t>then</a:t>
            </a:r>
            <a:r>
              <a:rPr spc="175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dirty="0"/>
              <a:t>item</a:t>
            </a:r>
            <a:r>
              <a:rPr spc="190" dirty="0"/>
              <a:t> </a:t>
            </a:r>
            <a:r>
              <a:rPr dirty="0"/>
              <a:t>is</a:t>
            </a:r>
            <a:r>
              <a:rPr spc="180" dirty="0"/>
              <a:t> </a:t>
            </a:r>
            <a:r>
              <a:rPr dirty="0"/>
              <a:t>searched</a:t>
            </a:r>
            <a:r>
              <a:rPr spc="190" dirty="0"/>
              <a:t> </a:t>
            </a:r>
            <a:r>
              <a:rPr dirty="0"/>
              <a:t>in</a:t>
            </a:r>
            <a:r>
              <a:rPr spc="180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spc="-20" dirty="0"/>
              <a:t>sub-</a:t>
            </a:r>
          </a:p>
          <a:p>
            <a:pPr marL="813435">
              <a:lnSpc>
                <a:spcPct val="100000"/>
              </a:lnSpc>
              <a:spcBef>
                <a:spcPts val="1445"/>
              </a:spcBef>
            </a:pPr>
            <a:r>
              <a:rPr spc="-10" dirty="0"/>
              <a:t>array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left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middle</a:t>
            </a:r>
            <a:r>
              <a:rPr spc="-50" dirty="0"/>
              <a:t> </a:t>
            </a:r>
            <a:r>
              <a:rPr spc="-10" dirty="0"/>
              <a:t>item.</a:t>
            </a:r>
          </a:p>
          <a:p>
            <a:pPr marL="812800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13435" algn="l"/>
              </a:tabLst>
            </a:pPr>
            <a:r>
              <a:rPr dirty="0"/>
              <a:t>Otherwise,</a:t>
            </a:r>
            <a:r>
              <a:rPr spc="-6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item</a:t>
            </a:r>
            <a:r>
              <a:rPr spc="-50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searched</a:t>
            </a:r>
            <a:r>
              <a:rPr spc="-5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5" dirty="0"/>
              <a:t>sub-</a:t>
            </a:r>
            <a:r>
              <a:rPr spc="-10" dirty="0"/>
              <a:t>array</a:t>
            </a:r>
            <a:r>
              <a:rPr spc="-4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right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middle</a:t>
            </a:r>
            <a:r>
              <a:rPr spc="-60" dirty="0"/>
              <a:t> </a:t>
            </a:r>
            <a:r>
              <a:rPr spc="-10" dirty="0"/>
              <a:t>item.</a:t>
            </a:r>
          </a:p>
          <a:p>
            <a:pPr marL="812165" marR="5080" indent="-342265">
              <a:lnSpc>
                <a:spcPct val="150000"/>
              </a:lnSpc>
              <a:buFont typeface="Wingdings"/>
              <a:buChar char=""/>
              <a:tabLst>
                <a:tab pos="814069" algn="l"/>
                <a:tab pos="1449705" algn="l"/>
                <a:tab pos="2531745" algn="l"/>
                <a:tab pos="3879215" algn="l"/>
                <a:tab pos="4337685" algn="l"/>
                <a:tab pos="4890770" algn="l"/>
                <a:tab pos="6195695" algn="l"/>
                <a:tab pos="6599555" algn="l"/>
                <a:tab pos="7245984" algn="l"/>
                <a:tab pos="7943850" algn="l"/>
                <a:tab pos="8496935" algn="l"/>
                <a:tab pos="9091930" algn="l"/>
                <a:tab pos="9483725" algn="l"/>
                <a:tab pos="10038080" algn="l"/>
              </a:tabLst>
            </a:pPr>
            <a:r>
              <a:rPr spc="-20" dirty="0"/>
              <a:t>This</a:t>
            </a:r>
            <a:r>
              <a:rPr dirty="0"/>
              <a:t>	</a:t>
            </a:r>
            <a:r>
              <a:rPr spc="-10" dirty="0"/>
              <a:t>process</a:t>
            </a:r>
            <a:r>
              <a:rPr dirty="0"/>
              <a:t>	</a:t>
            </a:r>
            <a:r>
              <a:rPr spc="-10" dirty="0"/>
              <a:t>continues</a:t>
            </a:r>
            <a:r>
              <a:rPr dirty="0"/>
              <a:t>	</a:t>
            </a:r>
            <a:r>
              <a:rPr spc="-25" dirty="0"/>
              <a:t>on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20" dirty="0"/>
              <a:t>sub-</a:t>
            </a:r>
            <a:r>
              <a:rPr spc="-10" dirty="0"/>
              <a:t>array</a:t>
            </a:r>
            <a:r>
              <a:rPr dirty="0"/>
              <a:t>	</a:t>
            </a:r>
            <a:r>
              <a:rPr spc="-25" dirty="0"/>
              <a:t>as</a:t>
            </a:r>
            <a:r>
              <a:rPr dirty="0"/>
              <a:t>	</a:t>
            </a:r>
            <a:r>
              <a:rPr spc="-20" dirty="0"/>
              <a:t>well</a:t>
            </a:r>
            <a:r>
              <a:rPr dirty="0"/>
              <a:t>	</a:t>
            </a:r>
            <a:r>
              <a:rPr spc="-10" dirty="0"/>
              <a:t>until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20" dirty="0"/>
              <a:t>size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25" dirty="0"/>
              <a:t>subarray 	</a:t>
            </a:r>
            <a:r>
              <a:rPr dirty="0"/>
              <a:t>reduces</a:t>
            </a:r>
            <a:r>
              <a:rPr spc="-70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spc="-10" dirty="0"/>
              <a:t>zero.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100" dirty="0"/>
              <a:t> </a:t>
            </a:r>
            <a:r>
              <a:rPr spc="-10" dirty="0"/>
              <a:t>Search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312153" y="1389633"/>
            <a:ext cx="4895850" cy="1075055"/>
            <a:chOff x="6312153" y="1389633"/>
            <a:chExt cx="4895850" cy="1075055"/>
          </a:xfrm>
        </p:grpSpPr>
        <p:sp>
          <p:nvSpPr>
            <p:cNvPr id="7" name="object 7"/>
            <p:cNvSpPr/>
            <p:nvPr/>
          </p:nvSpPr>
          <p:spPr>
            <a:xfrm>
              <a:off x="6318503" y="1395983"/>
              <a:ext cx="3548379" cy="525780"/>
            </a:xfrm>
            <a:custGeom>
              <a:avLst/>
              <a:gdLst/>
              <a:ahLst/>
              <a:cxnLst/>
              <a:rect l="l" t="t" r="r" b="b"/>
              <a:pathLst>
                <a:path w="3548379" h="525780">
                  <a:moveTo>
                    <a:pt x="891540" y="525779"/>
                  </a:moveTo>
                  <a:lnTo>
                    <a:pt x="1321308" y="525779"/>
                  </a:lnTo>
                  <a:lnTo>
                    <a:pt x="1321308" y="0"/>
                  </a:lnTo>
                  <a:lnTo>
                    <a:pt x="891540" y="0"/>
                  </a:lnTo>
                  <a:lnTo>
                    <a:pt x="891540" y="525779"/>
                  </a:lnTo>
                  <a:close/>
                </a:path>
                <a:path w="3548379" h="525780">
                  <a:moveTo>
                    <a:pt x="2226564" y="525779"/>
                  </a:moveTo>
                  <a:lnTo>
                    <a:pt x="2656332" y="525779"/>
                  </a:lnTo>
                  <a:lnTo>
                    <a:pt x="2656332" y="0"/>
                  </a:lnTo>
                  <a:lnTo>
                    <a:pt x="2226564" y="0"/>
                  </a:lnTo>
                  <a:lnTo>
                    <a:pt x="2226564" y="525779"/>
                  </a:lnTo>
                  <a:close/>
                </a:path>
                <a:path w="3548379" h="525780">
                  <a:moveTo>
                    <a:pt x="3116579" y="525779"/>
                  </a:moveTo>
                  <a:lnTo>
                    <a:pt x="3547872" y="525779"/>
                  </a:lnTo>
                  <a:lnTo>
                    <a:pt x="3547872" y="0"/>
                  </a:lnTo>
                  <a:lnTo>
                    <a:pt x="3116579" y="0"/>
                  </a:lnTo>
                  <a:lnTo>
                    <a:pt x="3116579" y="525779"/>
                  </a:lnTo>
                  <a:close/>
                </a:path>
                <a:path w="3548379" h="525780">
                  <a:moveTo>
                    <a:pt x="0" y="525779"/>
                  </a:moveTo>
                  <a:lnTo>
                    <a:pt x="431292" y="525779"/>
                  </a:lnTo>
                  <a:lnTo>
                    <a:pt x="431292" y="0"/>
                  </a:lnTo>
                  <a:lnTo>
                    <a:pt x="0" y="0"/>
                  </a:lnTo>
                  <a:lnTo>
                    <a:pt x="0" y="525779"/>
                  </a:lnTo>
                  <a:close/>
                </a:path>
                <a:path w="3548379" h="525780">
                  <a:moveTo>
                    <a:pt x="445007" y="525779"/>
                  </a:moveTo>
                  <a:lnTo>
                    <a:pt x="876300" y="525779"/>
                  </a:lnTo>
                  <a:lnTo>
                    <a:pt x="876300" y="0"/>
                  </a:lnTo>
                  <a:lnTo>
                    <a:pt x="445007" y="0"/>
                  </a:lnTo>
                  <a:lnTo>
                    <a:pt x="445007" y="525779"/>
                  </a:lnTo>
                  <a:close/>
                </a:path>
                <a:path w="3548379" h="525780">
                  <a:moveTo>
                    <a:pt x="1336548" y="525779"/>
                  </a:moveTo>
                  <a:lnTo>
                    <a:pt x="1766316" y="525779"/>
                  </a:lnTo>
                  <a:lnTo>
                    <a:pt x="1766316" y="0"/>
                  </a:lnTo>
                  <a:lnTo>
                    <a:pt x="1336548" y="0"/>
                  </a:lnTo>
                  <a:lnTo>
                    <a:pt x="1336548" y="52577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00059" y="1395983"/>
              <a:ext cx="429895" cy="525780"/>
            </a:xfrm>
            <a:custGeom>
              <a:avLst/>
              <a:gdLst/>
              <a:ahLst/>
              <a:cxnLst/>
              <a:rect l="l" t="t" r="r" b="b"/>
              <a:pathLst>
                <a:path w="429895" h="525780">
                  <a:moveTo>
                    <a:pt x="429768" y="0"/>
                  </a:moveTo>
                  <a:lnTo>
                    <a:pt x="0" y="0"/>
                  </a:lnTo>
                  <a:lnTo>
                    <a:pt x="0" y="525779"/>
                  </a:lnTo>
                  <a:lnTo>
                    <a:pt x="429768" y="525779"/>
                  </a:lnTo>
                  <a:lnTo>
                    <a:pt x="429768" y="0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00059" y="1395983"/>
              <a:ext cx="2211705" cy="525780"/>
            </a:xfrm>
            <a:custGeom>
              <a:avLst/>
              <a:gdLst/>
              <a:ahLst/>
              <a:cxnLst/>
              <a:rect l="l" t="t" r="r" b="b"/>
              <a:pathLst>
                <a:path w="2211704" h="525780">
                  <a:moveTo>
                    <a:pt x="0" y="525779"/>
                  </a:moveTo>
                  <a:lnTo>
                    <a:pt x="429768" y="525779"/>
                  </a:lnTo>
                  <a:lnTo>
                    <a:pt x="429768" y="0"/>
                  </a:lnTo>
                  <a:lnTo>
                    <a:pt x="0" y="0"/>
                  </a:lnTo>
                  <a:lnTo>
                    <a:pt x="0" y="525779"/>
                  </a:lnTo>
                  <a:close/>
                </a:path>
                <a:path w="2211704" h="525780">
                  <a:moveTo>
                    <a:pt x="890016" y="525779"/>
                  </a:moveTo>
                  <a:lnTo>
                    <a:pt x="1319784" y="525779"/>
                  </a:lnTo>
                  <a:lnTo>
                    <a:pt x="1319784" y="0"/>
                  </a:lnTo>
                  <a:lnTo>
                    <a:pt x="890016" y="0"/>
                  </a:lnTo>
                  <a:lnTo>
                    <a:pt x="890016" y="525779"/>
                  </a:lnTo>
                  <a:close/>
                </a:path>
                <a:path w="2211704" h="525780">
                  <a:moveTo>
                    <a:pt x="1780032" y="525779"/>
                  </a:moveTo>
                  <a:lnTo>
                    <a:pt x="2211324" y="525779"/>
                  </a:lnTo>
                  <a:lnTo>
                    <a:pt x="2211324" y="0"/>
                  </a:lnTo>
                  <a:lnTo>
                    <a:pt x="1780032" y="0"/>
                  </a:lnTo>
                  <a:lnTo>
                    <a:pt x="1780032" y="52577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33459" y="1932431"/>
              <a:ext cx="253365" cy="525780"/>
            </a:xfrm>
            <a:custGeom>
              <a:avLst/>
              <a:gdLst/>
              <a:ahLst/>
              <a:cxnLst/>
              <a:rect l="l" t="t" r="r" b="b"/>
              <a:pathLst>
                <a:path w="253365" h="525780">
                  <a:moveTo>
                    <a:pt x="126492" y="0"/>
                  </a:moveTo>
                  <a:lnTo>
                    <a:pt x="0" y="349757"/>
                  </a:lnTo>
                  <a:lnTo>
                    <a:pt x="63246" y="349757"/>
                  </a:lnTo>
                  <a:lnTo>
                    <a:pt x="63246" y="525779"/>
                  </a:lnTo>
                  <a:lnTo>
                    <a:pt x="189738" y="525779"/>
                  </a:lnTo>
                  <a:lnTo>
                    <a:pt x="189738" y="349757"/>
                  </a:lnTo>
                  <a:lnTo>
                    <a:pt x="252984" y="349757"/>
                  </a:lnTo>
                  <a:lnTo>
                    <a:pt x="126492" y="0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33459" y="1395983"/>
              <a:ext cx="2567940" cy="1062355"/>
            </a:xfrm>
            <a:custGeom>
              <a:avLst/>
              <a:gdLst/>
              <a:ahLst/>
              <a:cxnLst/>
              <a:rect l="l" t="t" r="r" b="b"/>
              <a:pathLst>
                <a:path w="2567940" h="1062355">
                  <a:moveTo>
                    <a:pt x="63246" y="1062227"/>
                  </a:moveTo>
                  <a:lnTo>
                    <a:pt x="63246" y="886205"/>
                  </a:lnTo>
                  <a:lnTo>
                    <a:pt x="0" y="886205"/>
                  </a:lnTo>
                  <a:lnTo>
                    <a:pt x="126492" y="536448"/>
                  </a:lnTo>
                  <a:lnTo>
                    <a:pt x="252984" y="886205"/>
                  </a:lnTo>
                  <a:lnTo>
                    <a:pt x="189738" y="886205"/>
                  </a:lnTo>
                  <a:lnTo>
                    <a:pt x="189738" y="1062227"/>
                  </a:lnTo>
                  <a:lnTo>
                    <a:pt x="63246" y="1062227"/>
                  </a:lnTo>
                  <a:close/>
                </a:path>
                <a:path w="2567940" h="1062355">
                  <a:moveTo>
                    <a:pt x="1691640" y="525779"/>
                  </a:moveTo>
                  <a:lnTo>
                    <a:pt x="2122932" y="525779"/>
                  </a:lnTo>
                  <a:lnTo>
                    <a:pt x="2122932" y="0"/>
                  </a:lnTo>
                  <a:lnTo>
                    <a:pt x="1691640" y="0"/>
                  </a:lnTo>
                  <a:lnTo>
                    <a:pt x="1691640" y="525779"/>
                  </a:lnTo>
                  <a:close/>
                </a:path>
                <a:path w="2567940" h="1062355">
                  <a:moveTo>
                    <a:pt x="2138172" y="525779"/>
                  </a:moveTo>
                  <a:lnTo>
                    <a:pt x="2567940" y="525779"/>
                  </a:lnTo>
                  <a:lnTo>
                    <a:pt x="2567940" y="0"/>
                  </a:lnTo>
                  <a:lnTo>
                    <a:pt x="2138172" y="0"/>
                  </a:lnTo>
                  <a:lnTo>
                    <a:pt x="2138172" y="52577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316726" y="2689605"/>
            <a:ext cx="2224405" cy="538480"/>
            <a:chOff x="6316726" y="2689605"/>
            <a:chExt cx="2224405" cy="538480"/>
          </a:xfrm>
        </p:grpSpPr>
        <p:sp>
          <p:nvSpPr>
            <p:cNvPr id="13" name="object 13"/>
            <p:cNvSpPr/>
            <p:nvPr/>
          </p:nvSpPr>
          <p:spPr>
            <a:xfrm>
              <a:off x="6323076" y="2695955"/>
              <a:ext cx="1766570" cy="525780"/>
            </a:xfrm>
            <a:custGeom>
              <a:avLst/>
              <a:gdLst/>
              <a:ahLst/>
              <a:cxnLst/>
              <a:rect l="l" t="t" r="r" b="b"/>
              <a:pathLst>
                <a:path w="1766570" h="525780">
                  <a:moveTo>
                    <a:pt x="0" y="525779"/>
                  </a:moveTo>
                  <a:lnTo>
                    <a:pt x="429768" y="525779"/>
                  </a:lnTo>
                  <a:lnTo>
                    <a:pt x="429768" y="0"/>
                  </a:lnTo>
                  <a:lnTo>
                    <a:pt x="0" y="0"/>
                  </a:lnTo>
                  <a:lnTo>
                    <a:pt x="0" y="525779"/>
                  </a:lnTo>
                  <a:close/>
                </a:path>
                <a:path w="1766570" h="525780">
                  <a:moveTo>
                    <a:pt x="445007" y="525779"/>
                  </a:moveTo>
                  <a:lnTo>
                    <a:pt x="876300" y="525779"/>
                  </a:lnTo>
                  <a:lnTo>
                    <a:pt x="876300" y="0"/>
                  </a:lnTo>
                  <a:lnTo>
                    <a:pt x="445007" y="0"/>
                  </a:lnTo>
                  <a:lnTo>
                    <a:pt x="445007" y="525779"/>
                  </a:lnTo>
                  <a:close/>
                </a:path>
                <a:path w="1766570" h="525780">
                  <a:moveTo>
                    <a:pt x="890016" y="525779"/>
                  </a:moveTo>
                  <a:lnTo>
                    <a:pt x="1321308" y="525779"/>
                  </a:lnTo>
                  <a:lnTo>
                    <a:pt x="1321308" y="0"/>
                  </a:lnTo>
                  <a:lnTo>
                    <a:pt x="890016" y="0"/>
                  </a:lnTo>
                  <a:lnTo>
                    <a:pt x="890016" y="525779"/>
                  </a:lnTo>
                  <a:close/>
                </a:path>
                <a:path w="1766570" h="525780">
                  <a:moveTo>
                    <a:pt x="1335024" y="525779"/>
                  </a:moveTo>
                  <a:lnTo>
                    <a:pt x="1766316" y="525779"/>
                  </a:lnTo>
                  <a:lnTo>
                    <a:pt x="1766316" y="0"/>
                  </a:lnTo>
                  <a:lnTo>
                    <a:pt x="1335024" y="0"/>
                  </a:lnTo>
                  <a:lnTo>
                    <a:pt x="1335024" y="52577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04632" y="2695955"/>
              <a:ext cx="429895" cy="525780"/>
            </a:xfrm>
            <a:custGeom>
              <a:avLst/>
              <a:gdLst/>
              <a:ahLst/>
              <a:cxnLst/>
              <a:rect l="l" t="t" r="r" b="b"/>
              <a:pathLst>
                <a:path w="429895" h="525780">
                  <a:moveTo>
                    <a:pt x="429768" y="0"/>
                  </a:moveTo>
                  <a:lnTo>
                    <a:pt x="0" y="0"/>
                  </a:lnTo>
                  <a:lnTo>
                    <a:pt x="0" y="525779"/>
                  </a:lnTo>
                  <a:lnTo>
                    <a:pt x="429768" y="525779"/>
                  </a:lnTo>
                  <a:lnTo>
                    <a:pt x="429768" y="0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04632" y="2695955"/>
              <a:ext cx="429895" cy="525780"/>
            </a:xfrm>
            <a:custGeom>
              <a:avLst/>
              <a:gdLst/>
              <a:ahLst/>
              <a:cxnLst/>
              <a:rect l="l" t="t" r="r" b="b"/>
              <a:pathLst>
                <a:path w="429895" h="525780">
                  <a:moveTo>
                    <a:pt x="0" y="525779"/>
                  </a:moveTo>
                  <a:lnTo>
                    <a:pt x="429768" y="525779"/>
                  </a:lnTo>
                  <a:lnTo>
                    <a:pt x="429768" y="0"/>
                  </a:lnTo>
                  <a:lnTo>
                    <a:pt x="0" y="0"/>
                  </a:lnTo>
                  <a:lnTo>
                    <a:pt x="0" y="52577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098281" y="3360165"/>
            <a:ext cx="264160" cy="538480"/>
            <a:chOff x="8098281" y="3360165"/>
            <a:chExt cx="264160" cy="538480"/>
          </a:xfrm>
        </p:grpSpPr>
        <p:sp>
          <p:nvSpPr>
            <p:cNvPr id="17" name="object 17"/>
            <p:cNvSpPr/>
            <p:nvPr/>
          </p:nvSpPr>
          <p:spPr>
            <a:xfrm>
              <a:off x="8104631" y="3366515"/>
              <a:ext cx="251460" cy="525780"/>
            </a:xfrm>
            <a:custGeom>
              <a:avLst/>
              <a:gdLst/>
              <a:ahLst/>
              <a:cxnLst/>
              <a:rect l="l" t="t" r="r" b="b"/>
              <a:pathLst>
                <a:path w="251459" h="525779">
                  <a:moveTo>
                    <a:pt x="125729" y="0"/>
                  </a:moveTo>
                  <a:lnTo>
                    <a:pt x="0" y="347599"/>
                  </a:lnTo>
                  <a:lnTo>
                    <a:pt x="62865" y="347599"/>
                  </a:lnTo>
                  <a:lnTo>
                    <a:pt x="62865" y="525780"/>
                  </a:lnTo>
                  <a:lnTo>
                    <a:pt x="188595" y="525780"/>
                  </a:lnTo>
                  <a:lnTo>
                    <a:pt x="188595" y="347599"/>
                  </a:lnTo>
                  <a:lnTo>
                    <a:pt x="251460" y="347599"/>
                  </a:lnTo>
                  <a:lnTo>
                    <a:pt x="125729" y="0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04631" y="3366515"/>
              <a:ext cx="251460" cy="525780"/>
            </a:xfrm>
            <a:custGeom>
              <a:avLst/>
              <a:gdLst/>
              <a:ahLst/>
              <a:cxnLst/>
              <a:rect l="l" t="t" r="r" b="b"/>
              <a:pathLst>
                <a:path w="251459" h="525779">
                  <a:moveTo>
                    <a:pt x="62865" y="525780"/>
                  </a:moveTo>
                  <a:lnTo>
                    <a:pt x="62865" y="347599"/>
                  </a:lnTo>
                  <a:lnTo>
                    <a:pt x="0" y="347599"/>
                  </a:lnTo>
                  <a:lnTo>
                    <a:pt x="125729" y="0"/>
                  </a:lnTo>
                  <a:lnTo>
                    <a:pt x="251460" y="347599"/>
                  </a:lnTo>
                  <a:lnTo>
                    <a:pt x="188595" y="347599"/>
                  </a:lnTo>
                  <a:lnTo>
                    <a:pt x="188595" y="525780"/>
                  </a:lnTo>
                  <a:lnTo>
                    <a:pt x="62865" y="5257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394450" y="4113021"/>
            <a:ext cx="889000" cy="1075055"/>
            <a:chOff x="6394450" y="4113021"/>
            <a:chExt cx="889000" cy="1075055"/>
          </a:xfrm>
        </p:grpSpPr>
        <p:sp>
          <p:nvSpPr>
            <p:cNvPr id="20" name="object 20"/>
            <p:cNvSpPr/>
            <p:nvPr/>
          </p:nvSpPr>
          <p:spPr>
            <a:xfrm>
              <a:off x="6489192" y="4655819"/>
              <a:ext cx="253365" cy="525780"/>
            </a:xfrm>
            <a:custGeom>
              <a:avLst/>
              <a:gdLst/>
              <a:ahLst/>
              <a:cxnLst/>
              <a:rect l="l" t="t" r="r" b="b"/>
              <a:pathLst>
                <a:path w="253365" h="525779">
                  <a:moveTo>
                    <a:pt x="126491" y="0"/>
                  </a:moveTo>
                  <a:lnTo>
                    <a:pt x="0" y="349757"/>
                  </a:lnTo>
                  <a:lnTo>
                    <a:pt x="63246" y="349757"/>
                  </a:lnTo>
                  <a:lnTo>
                    <a:pt x="63246" y="525779"/>
                  </a:lnTo>
                  <a:lnTo>
                    <a:pt x="189737" y="525779"/>
                  </a:lnTo>
                  <a:lnTo>
                    <a:pt x="189737" y="349757"/>
                  </a:lnTo>
                  <a:lnTo>
                    <a:pt x="252984" y="349757"/>
                  </a:lnTo>
                  <a:lnTo>
                    <a:pt x="126491" y="0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00800" y="4119371"/>
              <a:ext cx="429895" cy="1062355"/>
            </a:xfrm>
            <a:custGeom>
              <a:avLst/>
              <a:gdLst/>
              <a:ahLst/>
              <a:cxnLst/>
              <a:rect l="l" t="t" r="r" b="b"/>
              <a:pathLst>
                <a:path w="429895" h="1062354">
                  <a:moveTo>
                    <a:pt x="151638" y="1062227"/>
                  </a:moveTo>
                  <a:lnTo>
                    <a:pt x="151638" y="886205"/>
                  </a:lnTo>
                  <a:lnTo>
                    <a:pt x="88391" y="886205"/>
                  </a:lnTo>
                  <a:lnTo>
                    <a:pt x="214883" y="536447"/>
                  </a:lnTo>
                  <a:lnTo>
                    <a:pt x="341375" y="886205"/>
                  </a:lnTo>
                  <a:lnTo>
                    <a:pt x="278129" y="886205"/>
                  </a:lnTo>
                  <a:lnTo>
                    <a:pt x="278129" y="1062227"/>
                  </a:lnTo>
                  <a:lnTo>
                    <a:pt x="151638" y="1062227"/>
                  </a:lnTo>
                  <a:close/>
                </a:path>
                <a:path w="429895" h="1062354">
                  <a:moveTo>
                    <a:pt x="0" y="525779"/>
                  </a:moveTo>
                  <a:lnTo>
                    <a:pt x="429768" y="525779"/>
                  </a:lnTo>
                  <a:lnTo>
                    <a:pt x="429768" y="0"/>
                  </a:lnTo>
                  <a:lnTo>
                    <a:pt x="0" y="0"/>
                  </a:lnTo>
                  <a:lnTo>
                    <a:pt x="0" y="52577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45808" y="4119371"/>
              <a:ext cx="431800" cy="525780"/>
            </a:xfrm>
            <a:custGeom>
              <a:avLst/>
              <a:gdLst/>
              <a:ahLst/>
              <a:cxnLst/>
              <a:rect l="l" t="t" r="r" b="b"/>
              <a:pathLst>
                <a:path w="431800" h="525779">
                  <a:moveTo>
                    <a:pt x="431292" y="0"/>
                  </a:moveTo>
                  <a:lnTo>
                    <a:pt x="0" y="0"/>
                  </a:lnTo>
                  <a:lnTo>
                    <a:pt x="0" y="525779"/>
                  </a:lnTo>
                  <a:lnTo>
                    <a:pt x="431292" y="525779"/>
                  </a:lnTo>
                  <a:lnTo>
                    <a:pt x="431292" y="0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45808" y="4119371"/>
              <a:ext cx="431800" cy="525780"/>
            </a:xfrm>
            <a:custGeom>
              <a:avLst/>
              <a:gdLst/>
              <a:ahLst/>
              <a:cxnLst/>
              <a:rect l="l" t="t" r="r" b="b"/>
              <a:pathLst>
                <a:path w="431800" h="525779">
                  <a:moveTo>
                    <a:pt x="0" y="525779"/>
                  </a:moveTo>
                  <a:lnTo>
                    <a:pt x="431292" y="525779"/>
                  </a:lnTo>
                  <a:lnTo>
                    <a:pt x="431292" y="0"/>
                  </a:lnTo>
                  <a:lnTo>
                    <a:pt x="0" y="0"/>
                  </a:lnTo>
                  <a:lnTo>
                    <a:pt x="0" y="52577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394450" y="5563870"/>
            <a:ext cx="442595" cy="538480"/>
            <a:chOff x="6394450" y="5563870"/>
            <a:chExt cx="442595" cy="538480"/>
          </a:xfrm>
        </p:grpSpPr>
        <p:sp>
          <p:nvSpPr>
            <p:cNvPr id="25" name="object 25"/>
            <p:cNvSpPr/>
            <p:nvPr/>
          </p:nvSpPr>
          <p:spPr>
            <a:xfrm>
              <a:off x="6400800" y="5570220"/>
              <a:ext cx="429895" cy="525780"/>
            </a:xfrm>
            <a:custGeom>
              <a:avLst/>
              <a:gdLst/>
              <a:ahLst/>
              <a:cxnLst/>
              <a:rect l="l" t="t" r="r" b="b"/>
              <a:pathLst>
                <a:path w="429895" h="525779">
                  <a:moveTo>
                    <a:pt x="429768" y="0"/>
                  </a:moveTo>
                  <a:lnTo>
                    <a:pt x="0" y="0"/>
                  </a:lnTo>
                  <a:lnTo>
                    <a:pt x="0" y="525779"/>
                  </a:lnTo>
                  <a:lnTo>
                    <a:pt x="429768" y="525779"/>
                  </a:lnTo>
                  <a:lnTo>
                    <a:pt x="429768" y="0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00800" y="5570220"/>
              <a:ext cx="429895" cy="525780"/>
            </a:xfrm>
            <a:custGeom>
              <a:avLst/>
              <a:gdLst/>
              <a:ahLst/>
              <a:cxnLst/>
              <a:rect l="l" t="t" r="r" b="b"/>
              <a:pathLst>
                <a:path w="429895" h="525779">
                  <a:moveTo>
                    <a:pt x="0" y="525779"/>
                  </a:moveTo>
                  <a:lnTo>
                    <a:pt x="429768" y="525779"/>
                  </a:lnTo>
                  <a:lnTo>
                    <a:pt x="429768" y="0"/>
                  </a:lnTo>
                  <a:lnTo>
                    <a:pt x="0" y="0"/>
                  </a:lnTo>
                  <a:lnTo>
                    <a:pt x="0" y="52577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859" y="2200351"/>
            <a:ext cx="460247" cy="472744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115060" y="2213559"/>
            <a:ext cx="3659504" cy="1732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033780" algn="l"/>
              </a:tabLst>
            </a:pP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Always</a:t>
            </a:r>
            <a:r>
              <a:rPr sz="2800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look</a:t>
            </a:r>
            <a:r>
              <a:rPr sz="2800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at</a:t>
            </a:r>
            <a:r>
              <a:rPr sz="2800" spc="-5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the</a:t>
            </a:r>
            <a:r>
              <a:rPr sz="2800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center value.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	Each</a:t>
            </a:r>
            <a:r>
              <a:rPr sz="2800" spc="-7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time</a:t>
            </a:r>
            <a:r>
              <a:rPr sz="2800" spc="-7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you</a:t>
            </a:r>
            <a:r>
              <a:rPr sz="2800" spc="-5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7D1B68"/>
                </a:solidFill>
                <a:latin typeface="Calibri"/>
                <a:cs typeface="Calibri"/>
              </a:rPr>
              <a:t>get 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to</a:t>
            </a:r>
            <a:r>
              <a:rPr sz="2800" spc="-5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discard</a:t>
            </a:r>
            <a:r>
              <a:rPr sz="2800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half</a:t>
            </a:r>
            <a:r>
              <a:rPr sz="2800" spc="-5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of</a:t>
            </a:r>
            <a:r>
              <a:rPr sz="2800" spc="-5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7D1B68"/>
                </a:solidFill>
                <a:latin typeface="Calibri"/>
                <a:cs typeface="Calibri"/>
              </a:rPr>
              <a:t>the 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remaining</a:t>
            </a:r>
            <a:r>
              <a:rPr sz="2800" spc="-1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7D1B68"/>
                </a:solidFill>
                <a:latin typeface="Calibri"/>
                <a:cs typeface="Calibri"/>
              </a:rPr>
              <a:t>list.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25" dirty="0"/>
              <a:t> </a:t>
            </a:r>
            <a:r>
              <a:rPr dirty="0"/>
              <a:t>Binary</a:t>
            </a:r>
            <a:r>
              <a:rPr spc="-100" dirty="0"/>
              <a:t> </a:t>
            </a:r>
            <a:r>
              <a:rPr dirty="0"/>
              <a:t>Search</a:t>
            </a:r>
            <a:r>
              <a:rPr spc="-110" dirty="0"/>
              <a:t> </a:t>
            </a:r>
            <a:r>
              <a:rPr spc="-10" dirty="0"/>
              <a:t>Works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04722" y="1265427"/>
            <a:ext cx="10024110" cy="222123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mandatory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target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sorted.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pictorial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example.</a:t>
            </a:r>
            <a:endParaRPr sz="2400">
              <a:latin typeface="Calibri"/>
              <a:cs typeface="Calibri"/>
            </a:endParaRPr>
          </a:p>
          <a:p>
            <a:pPr marL="354965" marR="5080" indent="-342900">
              <a:lnSpc>
                <a:spcPts val="4320"/>
              </a:lnSpc>
              <a:spcBef>
                <a:spcPts val="18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31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search.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4381500"/>
            <a:ext cx="8497824" cy="126796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40" dirty="0"/>
              <a:t> </a:t>
            </a:r>
            <a:r>
              <a:rPr dirty="0"/>
              <a:t>Binary</a:t>
            </a:r>
            <a:r>
              <a:rPr spc="-125" dirty="0"/>
              <a:t> </a:t>
            </a:r>
            <a:r>
              <a:rPr dirty="0"/>
              <a:t>Search</a:t>
            </a:r>
            <a:r>
              <a:rPr spc="-140" dirty="0"/>
              <a:t> </a:t>
            </a:r>
            <a:r>
              <a:rPr dirty="0"/>
              <a:t>Works</a:t>
            </a:r>
            <a:r>
              <a:rPr spc="-130" dirty="0"/>
              <a:t> </a:t>
            </a:r>
            <a:r>
              <a:rPr spc="-10" dirty="0"/>
              <a:t>(Cont...)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096000" y="89915"/>
            <a:ext cx="1905" cy="277495"/>
          </a:xfrm>
          <a:custGeom>
            <a:avLst/>
            <a:gdLst/>
            <a:ahLst/>
            <a:cxnLst/>
            <a:rect l="l" t="t" r="r" b="b"/>
            <a:pathLst>
              <a:path w="1904" h="277495">
                <a:moveTo>
                  <a:pt x="1524" y="0"/>
                </a:moveTo>
                <a:lnTo>
                  <a:pt x="0" y="0"/>
                </a:lnTo>
                <a:lnTo>
                  <a:pt x="0" y="277367"/>
                </a:lnTo>
                <a:lnTo>
                  <a:pt x="1524" y="277367"/>
                </a:lnTo>
                <a:lnTo>
                  <a:pt x="15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9903" y="1413509"/>
            <a:ext cx="8313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First,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determine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half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formula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9903" y="3608578"/>
            <a:ext cx="9909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Here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(9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(integer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4.5).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500" y="4413503"/>
            <a:ext cx="8761476" cy="175564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048000" y="2377439"/>
            <a:ext cx="4727575" cy="646430"/>
          </a:xfrm>
          <a:prstGeom prst="rect">
            <a:avLst/>
          </a:prstGeom>
          <a:solidFill>
            <a:srgbClr val="FFFFFF"/>
          </a:solidFill>
          <a:ln w="9525">
            <a:solidFill>
              <a:srgbClr val="4F81BC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mid</a:t>
            </a:r>
            <a:r>
              <a:rPr sz="2400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=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low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+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(high</a:t>
            </a:r>
            <a:r>
              <a:rPr sz="2400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-</a:t>
            </a:r>
            <a:r>
              <a:rPr sz="2400" spc="-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low)</a:t>
            </a:r>
            <a:r>
              <a:rPr sz="2400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/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7D1B68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3139" y="1098930"/>
            <a:ext cx="10238105" cy="27692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Now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searched,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Calibri"/>
                <a:cs typeface="Calibri"/>
              </a:rPr>
              <a:t>i.e.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31.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27,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match.</a:t>
            </a:r>
            <a:endParaRPr sz="2400">
              <a:latin typeface="Calibri"/>
              <a:cs typeface="Calibri"/>
            </a:endParaRPr>
          </a:p>
          <a:p>
            <a:pPr marL="354330" marR="5080" indent="-342265">
              <a:lnSpc>
                <a:spcPct val="15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greater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27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array,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target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upper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4727" y="4678679"/>
            <a:ext cx="8325611" cy="1295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89482" y="248158"/>
            <a:ext cx="7920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40" dirty="0"/>
              <a:t> </a:t>
            </a:r>
            <a:r>
              <a:rPr dirty="0"/>
              <a:t>Binary</a:t>
            </a:r>
            <a:r>
              <a:rPr spc="-120" dirty="0"/>
              <a:t> </a:t>
            </a: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Works</a:t>
            </a:r>
            <a:r>
              <a:rPr spc="-125" dirty="0"/>
              <a:t> </a:t>
            </a:r>
            <a:r>
              <a:rPr spc="-10" dirty="0"/>
              <a:t>(Cont...)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096000" y="89915"/>
            <a:ext cx="1905" cy="277495"/>
          </a:xfrm>
          <a:custGeom>
            <a:avLst/>
            <a:gdLst/>
            <a:ahLst/>
            <a:cxnLst/>
            <a:rect l="l" t="t" r="r" b="b"/>
            <a:pathLst>
              <a:path w="1904" h="277495">
                <a:moveTo>
                  <a:pt x="1524" y="0"/>
                </a:moveTo>
                <a:lnTo>
                  <a:pt x="0" y="0"/>
                </a:lnTo>
                <a:lnTo>
                  <a:pt x="0" y="277367"/>
                </a:lnTo>
                <a:lnTo>
                  <a:pt x="1524" y="277367"/>
                </a:lnTo>
                <a:lnTo>
                  <a:pt x="15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139" y="1542034"/>
            <a:ext cx="8304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again.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3553414"/>
            <a:ext cx="10415270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Our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now.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target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31.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2407" y="4552188"/>
            <a:ext cx="7391400" cy="162306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819400" y="2305811"/>
            <a:ext cx="6720840" cy="524503"/>
          </a:xfrm>
          <a:prstGeom prst="rect">
            <a:avLst/>
          </a:prstGeom>
          <a:solidFill>
            <a:srgbClr val="FFFFFF"/>
          </a:solidFill>
          <a:ln w="9525">
            <a:solidFill>
              <a:srgbClr val="4F81BC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10"/>
              </a:spcBef>
            </a:pP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low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mid</a:t>
            </a:r>
            <a:r>
              <a:rPr sz="2400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+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1</a:t>
            </a:r>
            <a:r>
              <a:rPr sz="2400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lang="en-US" sz="2400" spc="-35" dirty="0">
                <a:solidFill>
                  <a:srgbClr val="7D1B68"/>
                </a:solidFill>
                <a:latin typeface="Calibri"/>
                <a:cs typeface="Calibri"/>
              </a:rPr>
              <a:t>where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mid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low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+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(high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-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low)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/</a:t>
            </a:r>
            <a:r>
              <a:rPr sz="2400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7D1B68"/>
                </a:solidFill>
                <a:latin typeface="Calibri"/>
                <a:cs typeface="Calibri"/>
              </a:rPr>
              <a:t>2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40" dirty="0"/>
              <a:t> </a:t>
            </a:r>
            <a:r>
              <a:rPr dirty="0"/>
              <a:t>Binary</a:t>
            </a:r>
            <a:r>
              <a:rPr spc="-125" dirty="0"/>
              <a:t> </a:t>
            </a:r>
            <a:r>
              <a:rPr dirty="0"/>
              <a:t>Search</a:t>
            </a:r>
            <a:r>
              <a:rPr spc="-140" dirty="0"/>
              <a:t> </a:t>
            </a:r>
            <a:r>
              <a:rPr dirty="0"/>
              <a:t>Works</a:t>
            </a:r>
            <a:r>
              <a:rPr spc="-130" dirty="0"/>
              <a:t> </a:t>
            </a:r>
            <a:r>
              <a:rPr spc="-10" dirty="0"/>
              <a:t>(Con...)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6551" y="1328292"/>
            <a:ext cx="1018222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501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match,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dirty="0">
                <a:latin typeface="Calibri"/>
                <a:cs typeface="Calibri"/>
              </a:rPr>
              <a:t>looking</a:t>
            </a:r>
            <a:r>
              <a:rPr sz="2400" spc="-65" dirty="0">
                <a:latin typeface="Calibri"/>
                <a:cs typeface="Calibri"/>
              </a:rPr>
              <a:t> for.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2753867"/>
            <a:ext cx="7467600" cy="120853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69339" y="4353305"/>
            <a:ext cx="6597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98450" algn="l"/>
              </a:tabLst>
            </a:pPr>
            <a:r>
              <a:rPr sz="2400" dirty="0">
                <a:latin typeface="Calibri"/>
                <a:cs typeface="Calibri"/>
              </a:rPr>
              <a:t>Hence,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again.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5.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4741164"/>
            <a:ext cx="7572756" cy="163068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6939" y="301828"/>
            <a:ext cx="7780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40" dirty="0"/>
              <a:t> </a:t>
            </a:r>
            <a:r>
              <a:rPr dirty="0"/>
              <a:t>Binary</a:t>
            </a:r>
            <a:r>
              <a:rPr spc="-125" dirty="0"/>
              <a:t> </a:t>
            </a:r>
            <a:r>
              <a:rPr dirty="0"/>
              <a:t>Search</a:t>
            </a:r>
            <a:r>
              <a:rPr spc="-140" dirty="0"/>
              <a:t> </a:t>
            </a:r>
            <a:r>
              <a:rPr dirty="0"/>
              <a:t>Works</a:t>
            </a:r>
            <a:r>
              <a:rPr spc="-130" dirty="0"/>
              <a:t> </a:t>
            </a:r>
            <a:r>
              <a:rPr spc="-10" dirty="0"/>
              <a:t>(Con...)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3139" y="1359154"/>
            <a:ext cx="101809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target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	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match.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2849879"/>
            <a:ext cx="6819900" cy="10591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3139" y="4236465"/>
            <a:ext cx="10368280" cy="167195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conclude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target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31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5.</a:t>
            </a:r>
            <a:endParaRPr sz="2400">
              <a:latin typeface="Calibri"/>
              <a:cs typeface="Calibri"/>
            </a:endParaRPr>
          </a:p>
          <a:p>
            <a:pPr marL="354330" marR="5080" indent="-342265">
              <a:lnSpc>
                <a:spcPts val="4320"/>
              </a:lnSpc>
              <a:spcBef>
                <a:spcPts val="185"/>
              </a:spcBef>
              <a:buFont typeface="Wingdings"/>
              <a:buChar char=""/>
              <a:tabLst>
                <a:tab pos="355600" algn="l"/>
                <a:tab pos="1311275" algn="l"/>
                <a:tab pos="2284730" algn="l"/>
                <a:tab pos="3233420" algn="l"/>
                <a:tab pos="3813810" algn="l"/>
                <a:tab pos="5318125" algn="l"/>
                <a:tab pos="6168390" algn="l"/>
                <a:tab pos="6799580" algn="l"/>
                <a:tab pos="7506970" algn="l"/>
                <a:tab pos="8649970" algn="l"/>
                <a:tab pos="9230995" algn="l"/>
                <a:tab pos="10102215" algn="l"/>
              </a:tabLst>
            </a:pPr>
            <a:r>
              <a:rPr sz="2400" spc="-10" dirty="0">
                <a:latin typeface="Calibri"/>
                <a:cs typeface="Calibri"/>
              </a:rPr>
              <a:t>Binary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search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halves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searchable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items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thus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reduces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count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comparisons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40" dirty="0"/>
              <a:t> </a:t>
            </a:r>
            <a:r>
              <a:rPr dirty="0"/>
              <a:t>Binary</a:t>
            </a:r>
            <a:r>
              <a:rPr spc="-125" dirty="0"/>
              <a:t> </a:t>
            </a:r>
            <a:r>
              <a:rPr dirty="0"/>
              <a:t>Search</a:t>
            </a:r>
            <a:r>
              <a:rPr spc="-140" dirty="0"/>
              <a:t> </a:t>
            </a:r>
            <a:r>
              <a:rPr dirty="0"/>
              <a:t>Works</a:t>
            </a:r>
            <a:r>
              <a:rPr spc="-130" dirty="0"/>
              <a:t> </a:t>
            </a:r>
            <a:r>
              <a:rPr spc="-10" dirty="0"/>
              <a:t>(Con...)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100" dirty="0"/>
              <a:t> </a:t>
            </a:r>
            <a:r>
              <a:rPr spc="-10" dirty="0"/>
              <a:t>Search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4463" y="1355852"/>
            <a:ext cx="10367645" cy="27692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Advantage</a:t>
            </a:r>
            <a:endParaRPr sz="2400">
              <a:latin typeface="Calibri"/>
              <a:cs typeface="Calibri"/>
            </a:endParaRPr>
          </a:p>
          <a:p>
            <a:pPr marL="812800" marR="5080" lvl="1" indent="-342900">
              <a:lnSpc>
                <a:spcPts val="4320"/>
              </a:lnSpc>
              <a:spcBef>
                <a:spcPts val="380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dirty="0">
                <a:latin typeface="Calibri"/>
                <a:cs typeface="Calibri"/>
              </a:rPr>
              <a:t>Much more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efficient than linear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 (for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 elements, performs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log2N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comparisons)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6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Disadvantage</a:t>
            </a:r>
            <a:endParaRPr sz="24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12165" algn="l"/>
              </a:tabLst>
            </a:pP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sorted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89842" y="6498335"/>
            <a:ext cx="2540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240537"/>
            <a:ext cx="6713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75" dirty="0"/>
              <a:t> </a:t>
            </a:r>
            <a:r>
              <a:rPr dirty="0"/>
              <a:t>Fast</a:t>
            </a:r>
            <a:r>
              <a:rPr spc="-6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Binary</a:t>
            </a:r>
            <a:r>
              <a:rPr spc="-55" dirty="0"/>
              <a:t> </a:t>
            </a:r>
            <a:r>
              <a:rPr spc="-10" dirty="0"/>
              <a:t>Search?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836" y="1322578"/>
            <a:ext cx="6604634" cy="4123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spc="-20" dirty="0">
                <a:latin typeface="Calibri"/>
                <a:cs typeface="Calibri"/>
              </a:rPr>
              <a:t>Worst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11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tries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32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020"/>
              </a:spcBef>
              <a:buFont typeface="Wingdings"/>
              <a:buChar char="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1st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16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items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2nd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items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3rd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items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020"/>
              </a:spcBef>
              <a:buFont typeface="Wingdings"/>
              <a:buChar char="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4th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items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5th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item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689842" y="6498335"/>
            <a:ext cx="2540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240537"/>
            <a:ext cx="4286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Runtime</a:t>
            </a:r>
            <a:r>
              <a:rPr spc="-170" dirty="0"/>
              <a:t> </a:t>
            </a:r>
            <a:r>
              <a:rPr spc="-10" dirty="0"/>
              <a:t>Examples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53489" y="1874773"/>
          <a:ext cx="10003790" cy="21431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0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759">
                <a:tc>
                  <a:txBody>
                    <a:bodyPr/>
                    <a:lstStyle/>
                    <a:p>
                      <a:pPr marL="170180" algn="ctr">
                        <a:lnSpc>
                          <a:spcPts val="3045"/>
                        </a:lnSpc>
                      </a:pPr>
                      <a:r>
                        <a:rPr sz="3200" spc="-50" dirty="0">
                          <a:solidFill>
                            <a:srgbClr val="7D1B68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4710">
                        <a:lnSpc>
                          <a:spcPts val="3045"/>
                        </a:lnSpc>
                      </a:pPr>
                      <a:r>
                        <a:rPr sz="3200" dirty="0">
                          <a:solidFill>
                            <a:srgbClr val="7D1B68"/>
                          </a:solidFill>
                          <a:latin typeface="Calibri"/>
                          <a:cs typeface="Calibri"/>
                        </a:rPr>
                        <a:t>Linear</a:t>
                      </a:r>
                      <a:r>
                        <a:rPr sz="3200" spc="-85" dirty="0">
                          <a:solidFill>
                            <a:srgbClr val="7D1B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solidFill>
                            <a:srgbClr val="7D1B68"/>
                          </a:solidFill>
                          <a:latin typeface="Calibri"/>
                          <a:cs typeface="Calibri"/>
                        </a:rPr>
                        <a:t>Search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065">
                        <a:lnSpc>
                          <a:spcPts val="3045"/>
                        </a:lnSpc>
                      </a:pPr>
                      <a:r>
                        <a:rPr sz="3200" dirty="0">
                          <a:solidFill>
                            <a:srgbClr val="7D1B68"/>
                          </a:solidFill>
                          <a:latin typeface="Calibri"/>
                          <a:cs typeface="Calibri"/>
                        </a:rPr>
                        <a:t>Binary</a:t>
                      </a:r>
                      <a:r>
                        <a:rPr sz="3200" spc="-65" dirty="0">
                          <a:solidFill>
                            <a:srgbClr val="7D1B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solidFill>
                            <a:srgbClr val="7D1B68"/>
                          </a:solidFill>
                          <a:latin typeface="Calibri"/>
                          <a:cs typeface="Calibri"/>
                        </a:rPr>
                        <a:t>Search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R="752475" algn="r">
                        <a:lnSpc>
                          <a:spcPts val="3720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thousand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93444" algn="r">
                        <a:lnSpc>
                          <a:spcPts val="3720"/>
                        </a:lnSpc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1,000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720"/>
                        </a:lnSpc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10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R="754380" algn="r">
                        <a:lnSpc>
                          <a:spcPts val="3720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million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93444" algn="r">
                        <a:lnSpc>
                          <a:spcPts val="3720"/>
                        </a:lnSpc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1,000,000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720"/>
                        </a:lnSpc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759">
                <a:tc>
                  <a:txBody>
                    <a:bodyPr/>
                    <a:lstStyle/>
                    <a:p>
                      <a:pPr marR="753745" algn="r">
                        <a:lnSpc>
                          <a:spcPts val="3720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billion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94715" algn="r">
                        <a:lnSpc>
                          <a:spcPts val="3720"/>
                        </a:lnSpc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1,000,000,000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720"/>
                        </a:lnSpc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30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1689842" y="6498335"/>
            <a:ext cx="2540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Efficiency</a:t>
            </a:r>
            <a:r>
              <a:rPr spc="-12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Binary</a:t>
            </a:r>
            <a:r>
              <a:rPr spc="-110" dirty="0"/>
              <a:t> </a:t>
            </a:r>
            <a:r>
              <a:rPr spc="-10" dirty="0"/>
              <a:t>Search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47754" y="6498335"/>
            <a:ext cx="1397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1437" rIns="0" bIns="0" rtlCol="0">
            <a:spAutoFit/>
          </a:bodyPr>
          <a:lstStyle/>
          <a:p>
            <a:pPr marL="742315" indent="-342265">
              <a:lnSpc>
                <a:spcPct val="100000"/>
              </a:lnSpc>
              <a:spcBef>
                <a:spcPts val="1545"/>
              </a:spcBef>
              <a:buFont typeface="Wingdings"/>
              <a:buChar char=""/>
              <a:tabLst>
                <a:tab pos="742315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binary</a:t>
            </a:r>
            <a:r>
              <a:rPr spc="-60" dirty="0"/>
              <a:t> </a:t>
            </a:r>
            <a:r>
              <a:rPr dirty="0"/>
              <a:t>search</a:t>
            </a:r>
            <a:r>
              <a:rPr spc="-50" dirty="0"/>
              <a:t> </a:t>
            </a:r>
            <a:r>
              <a:rPr dirty="0"/>
              <a:t>algorithm</a:t>
            </a:r>
            <a:r>
              <a:rPr spc="-7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10" dirty="0"/>
              <a:t>extremely</a:t>
            </a:r>
            <a:r>
              <a:rPr spc="-60" dirty="0"/>
              <a:t> </a:t>
            </a:r>
            <a:r>
              <a:rPr dirty="0"/>
              <a:t>fast</a:t>
            </a:r>
            <a:r>
              <a:rPr spc="-55" dirty="0"/>
              <a:t> </a:t>
            </a:r>
            <a:r>
              <a:rPr dirty="0"/>
              <a:t>compared</a:t>
            </a:r>
            <a:r>
              <a:rPr spc="-4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dirty="0"/>
              <a:t>algorithm</a:t>
            </a:r>
            <a:r>
              <a:rPr spc="-65" dirty="0"/>
              <a:t> 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tries</a:t>
            </a:r>
            <a:r>
              <a:rPr spc="-40" dirty="0"/>
              <a:t> </a:t>
            </a:r>
            <a:r>
              <a:rPr spc="-25" dirty="0"/>
              <a:t>all</a:t>
            </a:r>
          </a:p>
          <a:p>
            <a:pPr marL="742950">
              <a:lnSpc>
                <a:spcPct val="100000"/>
              </a:lnSpc>
              <a:spcBef>
                <a:spcPts val="1440"/>
              </a:spcBef>
            </a:pPr>
            <a:r>
              <a:rPr spc="-10" dirty="0"/>
              <a:t>array</a:t>
            </a:r>
            <a:r>
              <a:rPr spc="-85" dirty="0"/>
              <a:t> </a:t>
            </a:r>
            <a:r>
              <a:rPr dirty="0"/>
              <a:t>elements</a:t>
            </a:r>
            <a:r>
              <a:rPr spc="-90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spc="-10" dirty="0"/>
              <a:t>order</a:t>
            </a:r>
          </a:p>
          <a:p>
            <a:pPr marL="1143635" lvl="1" indent="-286385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1143635" algn="l"/>
              </a:tabLst>
            </a:pP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half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eliminated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consideration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start</a:t>
            </a:r>
            <a:endParaRPr sz="2400">
              <a:latin typeface="Calibri"/>
              <a:cs typeface="Calibri"/>
            </a:endParaRPr>
          </a:p>
          <a:p>
            <a:pPr marL="1143000" lvl="1" indent="-285750">
              <a:lnSpc>
                <a:spcPct val="100000"/>
              </a:lnSpc>
              <a:spcBef>
                <a:spcPts val="2020"/>
              </a:spcBef>
              <a:buFont typeface="Wingdings"/>
              <a:buChar char=""/>
              <a:tabLst>
                <a:tab pos="1143000" algn="l"/>
              </a:tabLst>
            </a:pPr>
            <a:r>
              <a:rPr sz="2400" dirty="0">
                <a:latin typeface="Calibri"/>
                <a:cs typeface="Calibri"/>
              </a:rPr>
              <a:t>Then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quarter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array,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eighth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array,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forth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6041" y="2025523"/>
            <a:ext cx="5747385" cy="262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What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Search?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How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search?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Search?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Binary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6794" y="1173937"/>
            <a:ext cx="73380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Summery</a:t>
            </a:r>
            <a:r>
              <a:rPr spc="-85" dirty="0"/>
              <a:t> </a:t>
            </a:r>
            <a:r>
              <a:rPr dirty="0"/>
              <a:t>&amp;</a:t>
            </a:r>
            <a:r>
              <a:rPr spc="-110" dirty="0"/>
              <a:t> </a:t>
            </a:r>
            <a:r>
              <a:rPr dirty="0"/>
              <a:t>Students</a:t>
            </a:r>
            <a:r>
              <a:rPr spc="-100" dirty="0"/>
              <a:t> </a:t>
            </a:r>
            <a:r>
              <a:rPr spc="-10" dirty="0"/>
              <a:t>Evaluation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8173" y="3034664"/>
            <a:ext cx="49523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latin typeface="Calibri"/>
                <a:cs typeface="Calibri"/>
              </a:rPr>
              <a:t>Any</a:t>
            </a:r>
            <a:r>
              <a:rPr sz="6000" b="1" spc="-185" dirty="0">
                <a:latin typeface="Calibri"/>
                <a:cs typeface="Calibri"/>
              </a:rPr>
              <a:t> </a:t>
            </a:r>
            <a:r>
              <a:rPr sz="6000" b="1" spc="-10" dirty="0">
                <a:latin typeface="Calibri"/>
                <a:cs typeface="Calibri"/>
              </a:rPr>
              <a:t>Questions?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148" y="1120139"/>
            <a:ext cx="925842" cy="1629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071" y="1412747"/>
            <a:ext cx="2170937" cy="11376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28531" y="1360932"/>
            <a:ext cx="2172970" cy="4629150"/>
            <a:chOff x="8828531" y="1360932"/>
            <a:chExt cx="2172970" cy="4629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571" y="3832860"/>
              <a:ext cx="1369314" cy="2157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531" y="1360932"/>
              <a:ext cx="2172462" cy="28613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7747" y="1054595"/>
            <a:ext cx="864882" cy="997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508" y="4379976"/>
            <a:ext cx="1546097" cy="17838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5715" y="4582655"/>
            <a:ext cx="489978" cy="6515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8852" y="4390644"/>
            <a:ext cx="735342" cy="1238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16329" cy="1308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0952" y="3691102"/>
            <a:ext cx="636295" cy="51894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"/>
                <a:cs typeface="Calibri"/>
              </a:rPr>
              <a:t>Next</a:t>
            </a:r>
            <a:r>
              <a:rPr sz="44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spc="-75" dirty="0">
                <a:solidFill>
                  <a:srgbClr val="000000"/>
                </a:solidFill>
                <a:latin typeface="Calibri"/>
                <a:cs typeface="Calibri"/>
              </a:rPr>
              <a:t>Topic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07002" y="2490596"/>
            <a:ext cx="26758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10" dirty="0">
                <a:solidFill>
                  <a:srgbClr val="7D1B68"/>
                </a:solidFill>
                <a:latin typeface="Calibri"/>
                <a:cs typeface="Calibri"/>
              </a:rPr>
              <a:t>Sorting</a:t>
            </a:r>
            <a:endParaRPr sz="7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3066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1081</Words>
  <Application>Microsoft Office PowerPoint</Application>
  <PresentationFormat>Widescreen</PresentationFormat>
  <Paragraphs>141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Arial MT</vt:lpstr>
      <vt:lpstr>Calibri</vt:lpstr>
      <vt:lpstr>Times New Roman</vt:lpstr>
      <vt:lpstr>Wingdings</vt:lpstr>
      <vt:lpstr>Office Theme</vt:lpstr>
      <vt:lpstr>Course:Data Structure and Algorithms      Lesson 4 Searching</vt:lpstr>
      <vt:lpstr>Contents</vt:lpstr>
      <vt:lpstr>Objectives</vt:lpstr>
      <vt:lpstr>Searching</vt:lpstr>
      <vt:lpstr>Linear Search</vt:lpstr>
      <vt:lpstr>Linear Search Algorithm</vt:lpstr>
      <vt:lpstr>Linear Search</vt:lpstr>
      <vt:lpstr>Binary Search</vt:lpstr>
      <vt:lpstr>Binary Search</vt:lpstr>
      <vt:lpstr>Binary Search</vt:lpstr>
      <vt:lpstr>How Binary Search Works</vt:lpstr>
      <vt:lpstr>How Binary Search Works (Cont...)</vt:lpstr>
      <vt:lpstr>How Binary Search Works (Cont...)</vt:lpstr>
      <vt:lpstr>How Binary Search Works (Con...)</vt:lpstr>
      <vt:lpstr>How Binary Search Works (Con...)</vt:lpstr>
      <vt:lpstr>How Binary Search Works (Con...)</vt:lpstr>
      <vt:lpstr>Binary Search</vt:lpstr>
      <vt:lpstr>How Fast is a Binary Search?</vt:lpstr>
      <vt:lpstr>Runtime Examples</vt:lpstr>
      <vt:lpstr>Efficiency of Binary Search</vt:lpstr>
      <vt:lpstr>Summery &amp; Students Evaluation</vt:lpstr>
      <vt:lpstr>Any Questions?</vt:lpstr>
      <vt:lpstr>Next Topic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zawt_ss</dc:creator>
  <cp:lastModifiedBy>HAMDARD</cp:lastModifiedBy>
  <cp:revision>9</cp:revision>
  <dcterms:created xsi:type="dcterms:W3CDTF">2024-04-22T08:04:28Z</dcterms:created>
  <dcterms:modified xsi:type="dcterms:W3CDTF">2026-03-05T18:11:25Z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  <property fmtid="{D5CDD505-2E9C-101B-9397-08002B2CF9AE}" pid="5" name="Producer">
    <vt:lpwstr>Microsoft® PowerPoint® 2019</vt:lpwstr>
  </property>
</Properties>
</file>