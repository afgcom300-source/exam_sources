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3963416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8921" y="3034664"/>
            <a:ext cx="5074157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7D1B6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74266" y="3196442"/>
            <a:ext cx="6684009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048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9709" y="5357876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3727" y="2406395"/>
            <a:ext cx="2070353" cy="8999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75917" y="2471750"/>
            <a:ext cx="7905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800" spc="-112" baseline="7812" dirty="0">
                <a:solidFill>
                  <a:srgbClr val="00AF50"/>
                </a:solidFill>
                <a:latin typeface="Arial"/>
                <a:cs typeface="Arial"/>
              </a:rPr>
              <a:t>Course:</a:t>
            </a:r>
            <a:r>
              <a:rPr sz="4000" spc="-75" dirty="0">
                <a:solidFill>
                  <a:srgbClr val="006FC0"/>
                </a:solidFill>
              </a:rPr>
              <a:t>Data</a:t>
            </a:r>
            <a:r>
              <a:rPr sz="4000" spc="20" dirty="0">
                <a:solidFill>
                  <a:srgbClr val="006FC0"/>
                </a:solidFill>
              </a:rPr>
              <a:t> </a:t>
            </a:r>
            <a:r>
              <a:rPr sz="4000" spc="-15" dirty="0">
                <a:solidFill>
                  <a:srgbClr val="006FC0"/>
                </a:solidFill>
              </a:rPr>
              <a:t>Structure</a:t>
            </a:r>
            <a:r>
              <a:rPr sz="4000" spc="50" dirty="0">
                <a:solidFill>
                  <a:srgbClr val="006FC0"/>
                </a:solidFill>
              </a:rPr>
              <a:t> </a:t>
            </a:r>
            <a:r>
              <a:rPr sz="4000" spc="-5" dirty="0">
                <a:solidFill>
                  <a:srgbClr val="006FC0"/>
                </a:solidFill>
              </a:rPr>
              <a:t>and</a:t>
            </a:r>
            <a:r>
              <a:rPr sz="4000" spc="3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Algorithms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48784" y="2907792"/>
            <a:ext cx="5588000" cy="2570480"/>
            <a:chOff x="4748784" y="2907792"/>
            <a:chExt cx="5588000" cy="25704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8784" y="4172712"/>
              <a:ext cx="4200906" cy="130530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0976" y="2907792"/>
              <a:ext cx="4174998" cy="219836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38288" y="4172712"/>
              <a:ext cx="2698242" cy="13053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52004" y="2907792"/>
              <a:ext cx="2670809" cy="219836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370703" y="3146882"/>
            <a:ext cx="430339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50" dirty="0">
                <a:solidFill>
                  <a:srgbClr val="7D1B68"/>
                </a:solidFill>
                <a:latin typeface="Calibri"/>
                <a:cs typeface="Calibri"/>
              </a:rPr>
              <a:t>Linked</a:t>
            </a:r>
            <a:r>
              <a:rPr sz="8000" spc="-7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8000" spc="-25" dirty="0">
                <a:solidFill>
                  <a:srgbClr val="7D1B68"/>
                </a:solidFill>
                <a:latin typeface="Calibri"/>
                <a:cs typeface="Calibri"/>
              </a:rPr>
              <a:t>List</a:t>
            </a:r>
            <a:endParaRPr sz="8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57400" y="3742359"/>
            <a:ext cx="316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7D1B68"/>
                </a:solidFill>
                <a:latin typeface="Arial"/>
                <a:cs typeface="Arial"/>
              </a:rPr>
              <a:t>Lesson </a:t>
            </a:r>
            <a:r>
              <a:rPr sz="2400" b="1" spc="-140" dirty="0">
                <a:solidFill>
                  <a:srgbClr val="7D1B68"/>
                </a:solidFill>
                <a:latin typeface="Arial"/>
                <a:cs typeface="Arial"/>
              </a:rPr>
              <a:t>1</a:t>
            </a:r>
            <a:r>
              <a:rPr lang="en-US" sz="2400" b="1" spc="-140" dirty="0">
                <a:solidFill>
                  <a:srgbClr val="7D1B68"/>
                </a:solidFill>
                <a:latin typeface="Arial"/>
                <a:cs typeface="Arial"/>
              </a:rPr>
              <a:t>0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7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8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7"/>
          <p:cNvSpPr txBox="1"/>
          <p:nvPr/>
        </p:nvSpPr>
        <p:spPr>
          <a:xfrm>
            <a:off x="1031238" y="5483453"/>
            <a:ext cx="372973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914" y="2052320"/>
            <a:ext cx="9280525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Understanding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one-way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(Simple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List)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68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Operations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one-way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(Simple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List)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15" dirty="0">
                <a:latin typeface="Calibri"/>
                <a:cs typeface="Calibri"/>
              </a:rPr>
              <a:t>Understanding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two-way </a:t>
            </a:r>
            <a:r>
              <a:rPr sz="3200" spc="-20" dirty="0">
                <a:latin typeface="Calibri"/>
                <a:cs typeface="Calibri"/>
              </a:rPr>
              <a:t>linked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(Doubly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Linked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List)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Arial MT"/>
                <a:cs typeface="Arial MT"/>
              </a:rPr>
              <a:t>Contents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30" y="1136345"/>
            <a:ext cx="8227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1F5F"/>
                </a:solidFill>
              </a:rPr>
              <a:t>Objective</a:t>
            </a:r>
            <a:r>
              <a:rPr lang="en-US" sz="4000" spc="-10" dirty="0">
                <a:solidFill>
                  <a:srgbClr val="001F5F"/>
                </a:solidFill>
              </a:rPr>
              <a:t>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145539" y="2223896"/>
            <a:ext cx="10312400" cy="408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Understand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one-way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linked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list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(Simple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Linked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List)</a:t>
            </a:r>
            <a:endParaRPr sz="3600">
              <a:latin typeface="Calibri"/>
              <a:cs typeface="Calibri"/>
            </a:endParaRPr>
          </a:p>
          <a:p>
            <a:pPr marL="355600" marR="172085" indent="-343535">
              <a:lnSpc>
                <a:spcPct val="150000"/>
              </a:lnSpc>
              <a:spcBef>
                <a:spcPts val="865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5" dirty="0">
                <a:latin typeface="Calibri"/>
                <a:cs typeface="Calibri"/>
              </a:rPr>
              <a:t> be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to</a:t>
            </a:r>
            <a:r>
              <a:rPr sz="3600" spc="-5" dirty="0">
                <a:latin typeface="Calibri"/>
                <a:cs typeface="Calibri"/>
              </a:rPr>
              <a:t> apply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Operations</a:t>
            </a:r>
            <a:r>
              <a:rPr sz="3600" spc="-5" dirty="0">
                <a:latin typeface="Calibri"/>
                <a:cs typeface="Calibri"/>
              </a:rPr>
              <a:t> on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one-way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linked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list </a:t>
            </a:r>
            <a:r>
              <a:rPr sz="3600" spc="-79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(Simple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Linked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List)</a:t>
            </a:r>
            <a:endParaRPr sz="3600">
              <a:latin typeface="Calibri"/>
              <a:cs typeface="Calibri"/>
            </a:endParaRPr>
          </a:p>
          <a:p>
            <a:pPr marL="355600" marR="5080" indent="-343535">
              <a:lnSpc>
                <a:spcPct val="150100"/>
              </a:lnSpc>
              <a:spcBef>
                <a:spcPts val="860"/>
              </a:spcBef>
              <a:buFont typeface="Arial MT"/>
              <a:buChar char="•"/>
              <a:tabLst>
                <a:tab pos="356235" algn="l"/>
              </a:tabLst>
            </a:pPr>
            <a:r>
              <a:rPr sz="3600" spc="-165" dirty="0">
                <a:latin typeface="Calibri"/>
                <a:cs typeface="Calibri"/>
              </a:rPr>
              <a:t>To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get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ability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of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Understanding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two-way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linked </a:t>
            </a:r>
            <a:r>
              <a:rPr sz="3600" spc="-10" dirty="0">
                <a:latin typeface="Calibri"/>
                <a:cs typeface="Calibri"/>
              </a:rPr>
              <a:t>list </a:t>
            </a:r>
            <a:r>
              <a:rPr sz="3600" spc="-80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(Doubly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Linked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List)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5539" y="400558"/>
            <a:ext cx="2454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Linked</a:t>
            </a:r>
            <a:r>
              <a:rPr sz="4000" b="0" spc="-5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List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74521" y="1451356"/>
            <a:ext cx="1066292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356235" algn="l"/>
                <a:tab pos="1410335" algn="l"/>
                <a:tab pos="1937385" algn="l"/>
                <a:tab pos="2310765" algn="l"/>
                <a:tab pos="2635250" algn="l"/>
                <a:tab pos="3536315" algn="l"/>
                <a:tab pos="4284980" algn="l"/>
                <a:tab pos="5624195" algn="l"/>
                <a:tab pos="6558915" algn="l"/>
                <a:tab pos="6932295" algn="l"/>
                <a:tab pos="7851140" algn="l"/>
                <a:tab pos="8258175" algn="l"/>
                <a:tab pos="9243060" algn="l"/>
              </a:tabLst>
            </a:pPr>
            <a:r>
              <a:rPr sz="2400" spc="-5" dirty="0">
                <a:latin typeface="Arial MT"/>
                <a:cs typeface="Arial MT"/>
              </a:rPr>
              <a:t>Link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l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st	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l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ne</a:t>
            </a:r>
            <a:r>
              <a:rPr sz="2400" dirty="0">
                <a:latin typeface="Arial MT"/>
                <a:cs typeface="Arial MT"/>
              </a:rPr>
              <a:t>ar	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5" dirty="0">
                <a:latin typeface="Arial MT"/>
                <a:cs typeface="Arial MT"/>
              </a:rPr>
              <a:t>r</a:t>
            </a:r>
            <a:r>
              <a:rPr sz="2400" spc="-20" dirty="0">
                <a:latin typeface="Arial MT"/>
                <a:cs typeface="Arial MT"/>
              </a:rPr>
              <a:t>u</a:t>
            </a:r>
            <a:r>
              <a:rPr sz="2400" dirty="0">
                <a:latin typeface="Arial MT"/>
                <a:cs typeface="Arial MT"/>
              </a:rPr>
              <a:t>ctur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w</a:t>
            </a:r>
            <a:r>
              <a:rPr sz="2400" spc="-15" dirty="0">
                <a:latin typeface="Arial MT"/>
                <a:cs typeface="Arial MT"/>
              </a:rPr>
              <a:t>h</a:t>
            </a:r>
            <a:r>
              <a:rPr sz="2400" spc="-5" dirty="0">
                <a:latin typeface="Arial MT"/>
                <a:cs typeface="Arial MT"/>
              </a:rPr>
              <a:t>ich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made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f	</a:t>
            </a:r>
            <a:r>
              <a:rPr sz="2400" spc="-10" dirty="0">
                <a:latin typeface="Arial MT"/>
                <a:cs typeface="Arial MT"/>
              </a:rPr>
              <a:t>node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connected  together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pointer.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6235" algn="l"/>
              </a:tabLst>
            </a:pP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parts:</a:t>
            </a:r>
            <a:endParaRPr sz="240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3435" algn="l"/>
              </a:tabLst>
            </a:pPr>
            <a:r>
              <a:rPr sz="2400" spc="-5" dirty="0">
                <a:solidFill>
                  <a:srgbClr val="A21D90"/>
                </a:solidFill>
                <a:latin typeface="Arial MT"/>
                <a:cs typeface="Arial MT"/>
              </a:rPr>
              <a:t>Data</a:t>
            </a:r>
            <a:r>
              <a:rPr sz="2400" spc="5" dirty="0">
                <a:solidFill>
                  <a:srgbClr val="A21D9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" dirty="0">
                <a:latin typeface="Arial MT"/>
                <a:cs typeface="Arial MT"/>
              </a:rPr>
              <a:t> Contains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data/value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stored.</a:t>
            </a:r>
            <a:endParaRPr sz="2400">
              <a:latin typeface="Arial MT"/>
              <a:cs typeface="Arial MT"/>
            </a:endParaRPr>
          </a:p>
          <a:p>
            <a:pPr marL="812800" lvl="1" indent="-34353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813435" algn="l"/>
              </a:tabLst>
            </a:pPr>
            <a:r>
              <a:rPr sz="2400" spc="-5" dirty="0">
                <a:solidFill>
                  <a:srgbClr val="A21D90"/>
                </a:solidFill>
                <a:latin typeface="Arial MT"/>
                <a:cs typeface="Arial MT"/>
              </a:rPr>
              <a:t>Link</a:t>
            </a:r>
            <a:r>
              <a:rPr sz="2400" spc="10" dirty="0">
                <a:solidFill>
                  <a:srgbClr val="A21D9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A21D90"/>
                </a:solidFill>
                <a:latin typeface="Arial MT"/>
                <a:cs typeface="Arial MT"/>
              </a:rPr>
              <a:t>(next)</a:t>
            </a:r>
            <a:r>
              <a:rPr sz="2400" spc="10" dirty="0">
                <a:solidFill>
                  <a:srgbClr val="A21D9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Contains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address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next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505190" y="4032250"/>
          <a:ext cx="2928620" cy="1530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26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A21D90"/>
                          </a:solidFill>
                          <a:latin typeface="Calibri"/>
                          <a:cs typeface="Calibri"/>
                        </a:rPr>
                        <a:t>NODE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08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2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2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8904" y="2929127"/>
            <a:ext cx="9541764" cy="17327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2044" y="781558"/>
            <a:ext cx="6035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Linked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List</a:t>
            </a:r>
            <a:r>
              <a:rPr sz="4000" b="0" spc="-2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Representation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98194" y="1556465"/>
            <a:ext cx="9669780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visualized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chain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nodes,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4703" y="1036066"/>
            <a:ext cx="4512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0" dirty="0">
                <a:latin typeface="Arial MT"/>
                <a:cs typeface="Arial MT"/>
              </a:rPr>
              <a:t>Types</a:t>
            </a:r>
            <a:r>
              <a:rPr sz="4000" b="0" spc="-1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of</a:t>
            </a:r>
            <a:r>
              <a:rPr sz="4000" b="0" spc="-2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Linked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List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21435" y="1836546"/>
            <a:ext cx="1020635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Following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10" dirty="0">
                <a:latin typeface="Calibri"/>
                <a:cs typeface="Calibri"/>
              </a:rPr>
              <a:t>various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linked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5" dirty="0">
                <a:solidFill>
                  <a:srgbClr val="A21D90"/>
                </a:solidFill>
                <a:latin typeface="Calibri"/>
                <a:cs typeface="Calibri"/>
              </a:rPr>
              <a:t>Simple</a:t>
            </a:r>
            <a:r>
              <a:rPr sz="2400" b="1" spc="-15" dirty="0">
                <a:solidFill>
                  <a:srgbClr val="A21D90"/>
                </a:solidFill>
                <a:latin typeface="Calibri"/>
                <a:cs typeface="Calibri"/>
              </a:rPr>
              <a:t> Linked </a:t>
            </a:r>
            <a:r>
              <a:rPr sz="2400" b="1" spc="-5" dirty="0">
                <a:solidFill>
                  <a:srgbClr val="A21D90"/>
                </a:solidFill>
                <a:latin typeface="Calibri"/>
                <a:cs typeface="Calibri"/>
              </a:rPr>
              <a:t>List </a:t>
            </a:r>
            <a:r>
              <a:rPr sz="2400" dirty="0">
                <a:latin typeface="Calibri"/>
                <a:cs typeface="Calibri"/>
              </a:rPr>
              <a:t>− </a:t>
            </a:r>
            <a:r>
              <a:rPr sz="2400" spc="-10" dirty="0">
                <a:latin typeface="Calibri"/>
                <a:cs typeface="Calibri"/>
              </a:rPr>
              <a:t>Item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navigation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forward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only.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21D90"/>
              </a:buClr>
              <a:buFont typeface="Arial MT"/>
              <a:buChar char="•"/>
            </a:pPr>
            <a:endParaRPr sz="235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5" dirty="0">
                <a:solidFill>
                  <a:srgbClr val="A21D90"/>
                </a:solidFill>
                <a:latin typeface="Calibri"/>
                <a:cs typeface="Calibri"/>
              </a:rPr>
              <a:t>Doubly</a:t>
            </a:r>
            <a:r>
              <a:rPr sz="2400" b="1" spc="-1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A21D90"/>
                </a:solidFill>
                <a:latin typeface="Calibri"/>
                <a:cs typeface="Calibri"/>
              </a:rPr>
              <a:t>Linked</a:t>
            </a:r>
            <a:r>
              <a:rPr sz="2400" b="1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21D90"/>
                </a:solidFill>
                <a:latin typeface="Calibri"/>
                <a:cs typeface="Calibri"/>
              </a:rPr>
              <a:t>List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 can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navigated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forward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backward.</a:t>
            </a:r>
            <a:endParaRPr sz="2400">
              <a:latin typeface="Calibri"/>
              <a:cs typeface="Calibri"/>
            </a:endParaRPr>
          </a:p>
          <a:p>
            <a:pPr marL="927100" marR="5080" indent="-457200">
              <a:lnSpc>
                <a:spcPct val="200100"/>
              </a:lnSpc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sz="2400" b="1" spc="-10" dirty="0">
                <a:solidFill>
                  <a:srgbClr val="A21D90"/>
                </a:solidFill>
                <a:latin typeface="Calibri"/>
                <a:cs typeface="Calibri"/>
              </a:rPr>
              <a:t>Circular</a:t>
            </a:r>
            <a:r>
              <a:rPr sz="2400" b="1" spc="30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A21D90"/>
                </a:solidFill>
                <a:latin typeface="Calibri"/>
                <a:cs typeface="Calibri"/>
              </a:rPr>
              <a:t>Linked</a:t>
            </a:r>
            <a:r>
              <a:rPr sz="2400" b="1" spc="295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A21D90"/>
                </a:solidFill>
                <a:latin typeface="Calibri"/>
                <a:cs typeface="Calibri"/>
              </a:rPr>
              <a:t>List</a:t>
            </a:r>
            <a:r>
              <a:rPr sz="2400" b="1" spc="29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Last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contains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first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last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previous.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41452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Simple</a:t>
            </a:r>
            <a:r>
              <a:rPr sz="4000" b="0" spc="-2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Linked</a:t>
            </a:r>
            <a:r>
              <a:rPr sz="4000" b="0" spc="-2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List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554226"/>
            <a:ext cx="1020381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Simple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(singly)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lists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contain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A21D90"/>
                </a:solidFill>
                <a:latin typeface="Calibri"/>
                <a:cs typeface="Calibri"/>
              </a:rPr>
              <a:t>data</a:t>
            </a:r>
            <a:r>
              <a:rPr sz="2400" spc="35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A21D90"/>
                </a:solidFill>
                <a:latin typeface="Calibri"/>
                <a:cs typeface="Calibri"/>
              </a:rPr>
              <a:t>part</a:t>
            </a:r>
            <a:r>
              <a:rPr sz="2400" spc="4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well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A21D90"/>
                </a:solidFill>
                <a:latin typeface="Calibri"/>
                <a:cs typeface="Calibri"/>
              </a:rPr>
              <a:t>address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A21D90"/>
                </a:solidFill>
                <a:latin typeface="Calibri"/>
                <a:cs typeface="Calibri"/>
              </a:rPr>
              <a:t>part</a:t>
            </a:r>
            <a:r>
              <a:rPr sz="2400" b="1" spc="-5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i.e.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next,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next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sequence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singly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A21D90"/>
                </a:solidFill>
                <a:latin typeface="Calibri"/>
                <a:cs typeface="Calibri"/>
              </a:rPr>
              <a:t>insertion</a:t>
            </a:r>
            <a:r>
              <a:rPr sz="2400" spc="-5" dirty="0">
                <a:latin typeface="Calibri"/>
                <a:cs typeface="Calibri"/>
              </a:rPr>
              <a:t>,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A21D90"/>
                </a:solidFill>
                <a:latin typeface="Calibri"/>
                <a:cs typeface="Calibri"/>
              </a:rPr>
              <a:t>deletion</a:t>
            </a:r>
            <a:r>
              <a:rPr sz="2400" b="1" spc="33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A21D90"/>
                </a:solidFill>
                <a:latin typeface="Calibri"/>
                <a:cs typeface="Calibri"/>
              </a:rPr>
              <a:t>traversal</a:t>
            </a:r>
            <a:r>
              <a:rPr sz="2400" spc="-1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6711" y="4582667"/>
            <a:ext cx="9540240" cy="173431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4345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Insertion</a:t>
            </a:r>
            <a:r>
              <a:rPr sz="4000" b="0" spc="-1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Operation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36953" y="1516252"/>
            <a:ext cx="982599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Adding a </a:t>
            </a:r>
            <a:r>
              <a:rPr sz="2400" spc="-5" dirty="0">
                <a:latin typeface="Calibri"/>
                <a:cs typeface="Calibri"/>
              </a:rPr>
              <a:t>new node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5" dirty="0">
                <a:latin typeface="Calibri"/>
                <a:cs typeface="Calibri"/>
              </a:rPr>
              <a:t>linked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spc="-5" dirty="0">
                <a:latin typeface="Calibri"/>
                <a:cs typeface="Calibri"/>
              </a:rPr>
              <a:t>than one </a:t>
            </a:r>
            <a:r>
              <a:rPr sz="2400" spc="-15" dirty="0">
                <a:latin typeface="Calibri"/>
                <a:cs typeface="Calibri"/>
              </a:rPr>
              <a:t>step </a:t>
            </a:r>
            <a:r>
              <a:rPr sz="2400" spc="-20" dirty="0">
                <a:latin typeface="Calibri"/>
                <a:cs typeface="Calibri"/>
              </a:rPr>
              <a:t>activity. </a:t>
            </a: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shall </a:t>
            </a:r>
            <a:r>
              <a:rPr sz="2400" dirty="0">
                <a:latin typeface="Calibri"/>
                <a:cs typeface="Calibri"/>
              </a:rPr>
              <a:t> learn this </a:t>
            </a:r>
            <a:r>
              <a:rPr sz="2400" spc="-5" dirty="0">
                <a:latin typeface="Calibri"/>
                <a:cs typeface="Calibri"/>
              </a:rPr>
              <a:t>with </a:t>
            </a:r>
            <a:r>
              <a:rPr sz="2400" spc="-10" dirty="0">
                <a:latin typeface="Calibri"/>
                <a:cs typeface="Calibri"/>
              </a:rPr>
              <a:t>diagrams here. </a:t>
            </a:r>
            <a:r>
              <a:rPr sz="2400" spc="-15" dirty="0">
                <a:latin typeface="Calibri"/>
                <a:cs typeface="Calibri"/>
              </a:rPr>
              <a:t>First, create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node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same </a:t>
            </a:r>
            <a:r>
              <a:rPr sz="2400" spc="-10" dirty="0">
                <a:latin typeface="Calibri"/>
                <a:cs typeface="Calibri"/>
              </a:rPr>
              <a:t>structure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location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inserted.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89915"/>
            <a:ext cx="1905" cy="277495"/>
          </a:xfrm>
          <a:custGeom>
            <a:avLst/>
            <a:gdLst/>
            <a:ahLst/>
            <a:cxnLst/>
            <a:rect l="l" t="t" r="r" b="b"/>
            <a:pathLst>
              <a:path w="1905" h="277495">
                <a:moveTo>
                  <a:pt x="1524" y="0"/>
                </a:moveTo>
                <a:lnTo>
                  <a:pt x="0" y="0"/>
                </a:lnTo>
                <a:lnTo>
                  <a:pt x="0" y="277367"/>
                </a:lnTo>
                <a:lnTo>
                  <a:pt x="1524" y="277367"/>
                </a:lnTo>
                <a:lnTo>
                  <a:pt x="15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504" y="3810000"/>
            <a:ext cx="8644128" cy="25069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3764279"/>
            <a:ext cx="9093708" cy="26365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74394" y="1464055"/>
            <a:ext cx="9633585" cy="20662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Imagine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inserting a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b="1" dirty="0">
                <a:latin typeface="Calibri"/>
                <a:cs typeface="Calibri"/>
              </a:rPr>
              <a:t>B </a:t>
            </a:r>
            <a:r>
              <a:rPr sz="2400" spc="-5" dirty="0">
                <a:latin typeface="Calibri"/>
                <a:cs typeface="Calibri"/>
              </a:rPr>
              <a:t>(NewNode), between </a:t>
            </a:r>
            <a:r>
              <a:rPr sz="2400" b="1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(LeftNode)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(RightNode).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B.next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"/>
            </a:pPr>
            <a:endParaRPr sz="235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NewNode.next</a:t>
            </a:r>
            <a:r>
              <a:rPr sz="2400" spc="-2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−&gt;</a:t>
            </a:r>
            <a:r>
              <a:rPr sz="2400" spc="-5" dirty="0">
                <a:solidFill>
                  <a:srgbClr val="303030"/>
                </a:solidFill>
                <a:latin typeface="Calibri"/>
                <a:cs typeface="Calibri"/>
              </a:rPr>
              <a:t> RightNode;</a:t>
            </a:r>
            <a:endParaRPr sz="2400">
              <a:latin typeface="Calibri"/>
              <a:cs typeface="Calibri"/>
            </a:endParaRPr>
          </a:p>
          <a:p>
            <a:pPr marL="312420" indent="-287020">
              <a:lnSpc>
                <a:spcPct val="100000"/>
              </a:lnSpc>
              <a:spcBef>
                <a:spcPts val="2390"/>
              </a:spcBef>
              <a:buFont typeface="Wingdings"/>
              <a:buChar char=""/>
              <a:tabLst>
                <a:tab pos="312420" algn="l"/>
              </a:tabLst>
            </a:pPr>
            <a:r>
              <a:rPr sz="1800" spc="-5" dirty="0">
                <a:latin typeface="Verdana"/>
                <a:cs typeface="Verdana"/>
              </a:rPr>
              <a:t>It </a:t>
            </a:r>
            <a:r>
              <a:rPr sz="1800" dirty="0">
                <a:latin typeface="Verdana"/>
                <a:cs typeface="Verdana"/>
              </a:rPr>
              <a:t>should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look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like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this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−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2044" y="664210"/>
            <a:ext cx="5701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Insertion Operation</a:t>
            </a:r>
            <a:r>
              <a:rPr sz="4000" b="0" spc="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Cont.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50594" y="1709165"/>
            <a:ext cx="78632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60" dirty="0">
                <a:latin typeface="Calibri"/>
                <a:cs typeface="Calibri"/>
              </a:rPr>
              <a:t>Now,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next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left </a:t>
            </a:r>
            <a:r>
              <a:rPr sz="2400" spc="-5" dirty="0">
                <a:latin typeface="Calibri"/>
                <a:cs typeface="Calibri"/>
              </a:rPr>
              <a:t>should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new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LeftNode.next </a:t>
            </a:r>
            <a:r>
              <a:rPr sz="2400" dirty="0">
                <a:latin typeface="Calibri"/>
                <a:cs typeface="Calibri"/>
              </a:rPr>
              <a:t>−&gt;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NewNode;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404" y="3505200"/>
            <a:ext cx="9768840" cy="283311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98194" y="751712"/>
            <a:ext cx="5701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Insertion Operation</a:t>
            </a:r>
            <a:r>
              <a:rPr sz="4000" b="0" spc="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Cont.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07972" y="1699386"/>
            <a:ext cx="9919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This </a:t>
            </a:r>
            <a:r>
              <a:rPr sz="1800" dirty="0">
                <a:latin typeface="Verdana"/>
                <a:cs typeface="Verdana"/>
              </a:rPr>
              <a:t>will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put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node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spc="-5" dirty="0">
                <a:latin typeface="Verdana"/>
                <a:cs typeface="Verdana"/>
              </a:rPr>
              <a:t> 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middle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 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two.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new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should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look like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this: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2286000"/>
            <a:ext cx="10282428" cy="18333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37817" y="4383003"/>
            <a:ext cx="9666605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Similar </a:t>
            </a:r>
            <a:r>
              <a:rPr sz="2400" spc="-15" dirty="0">
                <a:latin typeface="Calibri"/>
                <a:cs typeface="Calibri"/>
              </a:rPr>
              <a:t>steps </a:t>
            </a:r>
            <a:r>
              <a:rPr sz="2400" spc="-5" dirty="0">
                <a:latin typeface="Calibri"/>
                <a:cs typeface="Calibri"/>
              </a:rPr>
              <a:t>should be </a:t>
            </a:r>
            <a:r>
              <a:rPr sz="2400" spc="-20" dirty="0">
                <a:latin typeface="Calibri"/>
                <a:cs typeface="Calibri"/>
              </a:rPr>
              <a:t>taken </a:t>
            </a:r>
            <a:r>
              <a:rPr sz="2400" dirty="0">
                <a:latin typeface="Calibri"/>
                <a:cs typeface="Calibri"/>
              </a:rPr>
              <a:t>if the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being inserted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beginning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list. </a:t>
            </a:r>
            <a:r>
              <a:rPr sz="2400" dirty="0">
                <a:latin typeface="Calibri"/>
                <a:cs typeface="Calibri"/>
              </a:rPr>
              <a:t>While </a:t>
            </a:r>
            <a:r>
              <a:rPr sz="2400" spc="-5" dirty="0">
                <a:latin typeface="Calibri"/>
                <a:cs typeface="Calibri"/>
              </a:rPr>
              <a:t>inserting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the end, the </a:t>
            </a:r>
            <a:r>
              <a:rPr sz="2400" spc="-10" dirty="0">
                <a:latin typeface="Calibri"/>
                <a:cs typeface="Calibri"/>
              </a:rPr>
              <a:t>second last </a:t>
            </a:r>
            <a:r>
              <a:rPr sz="2400" spc="-5" dirty="0">
                <a:latin typeface="Calibri"/>
                <a:cs typeface="Calibri"/>
              </a:rPr>
              <a:t>node 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 should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new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new node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NULL.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07972" y="968121"/>
            <a:ext cx="5701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Insertion Operation</a:t>
            </a:r>
            <a:r>
              <a:rPr sz="4000" b="0" spc="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Cont.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4260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Deletion</a:t>
            </a:r>
            <a:r>
              <a:rPr sz="4000" b="0" spc="-3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Operation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21435" y="1443309"/>
            <a:ext cx="9556750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Deletion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also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more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step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spc="-5" dirty="0">
                <a:latin typeface="Calibri"/>
                <a:cs typeface="Calibri"/>
              </a:rPr>
              <a:t> shall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0" dirty="0">
                <a:latin typeface="Calibri"/>
                <a:cs typeface="Calibri"/>
              </a:rPr>
              <a:t> pictorial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representation. </a:t>
            </a:r>
            <a:r>
              <a:rPr sz="2400" spc="-15" dirty="0">
                <a:latin typeface="Calibri"/>
                <a:cs typeface="Calibri"/>
              </a:rPr>
              <a:t>First, locate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target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removed, by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searching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algorithms.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753611"/>
            <a:ext cx="9715500" cy="173278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74394" y="1557654"/>
            <a:ext cx="9638030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left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(previous)</a:t>
            </a:r>
            <a:r>
              <a:rPr sz="2400" spc="-5" dirty="0">
                <a:latin typeface="Calibri"/>
                <a:cs typeface="Calibri"/>
              </a:rPr>
              <a:t> node of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target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spc="-10" dirty="0">
                <a:latin typeface="Calibri"/>
                <a:cs typeface="Calibri"/>
              </a:rPr>
              <a:t>now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should </a:t>
            </a:r>
            <a:r>
              <a:rPr sz="2400" spc="-10" dirty="0">
                <a:latin typeface="Calibri"/>
                <a:cs typeface="Calibri"/>
              </a:rPr>
              <a:t>point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next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target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6420" y="3811523"/>
            <a:ext cx="9364980" cy="167030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615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Deletion Operation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Cont.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07972" y="1465813"/>
            <a:ext cx="925258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5" dirty="0">
                <a:latin typeface="Calibri"/>
                <a:cs typeface="Calibri"/>
              </a:rPr>
              <a:t>remove </a:t>
            </a:r>
            <a:r>
              <a:rPr sz="2400" dirty="0">
                <a:latin typeface="Calibri"/>
                <a:cs typeface="Calibri"/>
              </a:rPr>
              <a:t>the link </a:t>
            </a:r>
            <a:r>
              <a:rPr sz="2400" spc="-10" dirty="0">
                <a:latin typeface="Calibri"/>
                <a:cs typeface="Calibri"/>
              </a:rPr>
              <a:t>that was </a:t>
            </a:r>
            <a:r>
              <a:rPr sz="2400" spc="-5" dirty="0">
                <a:latin typeface="Calibri"/>
                <a:cs typeface="Calibri"/>
              </a:rPr>
              <a:t>pointing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target </a:t>
            </a:r>
            <a:r>
              <a:rPr sz="2400" spc="-5" dirty="0">
                <a:latin typeface="Calibri"/>
                <a:cs typeface="Calibri"/>
              </a:rPr>
              <a:t>node. </a:t>
            </a:r>
            <a:r>
              <a:rPr sz="2400" spc="-60" dirty="0">
                <a:latin typeface="Calibri"/>
                <a:cs typeface="Calibri"/>
              </a:rPr>
              <a:t>Now,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</a:t>
            </a:r>
            <a:r>
              <a:rPr sz="2400" spc="-5" dirty="0">
                <a:latin typeface="Calibri"/>
                <a:cs typeface="Calibri"/>
              </a:rPr>
              <a:t> what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20" dirty="0">
                <a:latin typeface="Calibri"/>
                <a:cs typeface="Calibri"/>
              </a:rPr>
              <a:t> target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pointing</a:t>
            </a:r>
            <a:r>
              <a:rPr sz="2400" spc="-10" dirty="0">
                <a:latin typeface="Calibri"/>
                <a:cs typeface="Calibri"/>
              </a:rPr>
              <a:t> at.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Calibri"/>
                <a:cs typeface="Calibri"/>
              </a:rPr>
              <a:t>TargetNode.next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−&gt;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NULL;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9032" y="3927347"/>
            <a:ext cx="10041636" cy="17907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615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Deletion Operation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Cont.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50594" y="1356105"/>
            <a:ext cx="9512935" cy="167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deleted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node. </a:t>
            </a: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keep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dirty="0">
                <a:latin typeface="Calibri"/>
                <a:cs typeface="Calibri"/>
              </a:rPr>
              <a:t> 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otherwise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simply </a:t>
            </a:r>
            <a:r>
              <a:rPr sz="2400" spc="-10" dirty="0">
                <a:latin typeface="Calibri"/>
                <a:cs typeface="Calibri"/>
              </a:rPr>
              <a:t>deallocate </a:t>
            </a:r>
            <a:r>
              <a:rPr sz="2400" dirty="0">
                <a:latin typeface="Calibri"/>
                <a:cs typeface="Calibri"/>
              </a:rPr>
              <a:t>memory and wipe </a:t>
            </a:r>
            <a:r>
              <a:rPr sz="2400" spc="-15" dirty="0">
                <a:latin typeface="Calibri"/>
                <a:cs typeface="Calibri"/>
              </a:rPr>
              <a:t>off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target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completely.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3649979"/>
            <a:ext cx="8787384" cy="208940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615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Deletion Operation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Cont.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4858" y="881329"/>
            <a:ext cx="10077450" cy="1791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Doubly</a:t>
            </a:r>
            <a:r>
              <a:rPr sz="4000" b="0" spc="-1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Linked</a:t>
            </a:r>
            <a:r>
              <a:rPr sz="4000" b="0" spc="-2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List</a:t>
            </a:r>
            <a:endParaRPr sz="4000">
              <a:latin typeface="Arial MT"/>
              <a:cs typeface="Arial MT"/>
            </a:endParaRPr>
          </a:p>
          <a:p>
            <a:pPr marL="25400" marR="5080">
              <a:lnSpc>
                <a:spcPct val="150000"/>
              </a:lnSpc>
              <a:spcBef>
                <a:spcPts val="465"/>
              </a:spcBef>
            </a:pP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400" b="0" spc="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doubly</a:t>
            </a:r>
            <a:r>
              <a:rPr sz="2400" b="0" spc="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linked</a:t>
            </a:r>
            <a:r>
              <a:rPr sz="2400" b="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list,</a:t>
            </a:r>
            <a:r>
              <a:rPr sz="2400" b="0" spc="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each</a:t>
            </a:r>
            <a:r>
              <a:rPr sz="2400" b="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node</a:t>
            </a:r>
            <a:r>
              <a:rPr sz="2400" b="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contains</a:t>
            </a:r>
            <a:r>
              <a:rPr sz="2400" b="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400" b="0" spc="1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20" dirty="0">
                <a:solidFill>
                  <a:srgbClr val="A21D90"/>
                </a:solidFill>
                <a:latin typeface="Calibri"/>
                <a:cs typeface="Calibri"/>
              </a:rPr>
              <a:t>data</a:t>
            </a:r>
            <a:r>
              <a:rPr sz="2400" b="0" spc="14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part</a:t>
            </a:r>
            <a:r>
              <a:rPr sz="2400" b="0" spc="1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400" b="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15" dirty="0">
                <a:solidFill>
                  <a:srgbClr val="000000"/>
                </a:solidFill>
                <a:latin typeface="Calibri"/>
                <a:cs typeface="Calibri"/>
              </a:rPr>
              <a:t>two</a:t>
            </a:r>
            <a:r>
              <a:rPr sz="2400" b="0" spc="1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addresses,</a:t>
            </a:r>
            <a:r>
              <a:rPr sz="2400" b="0" spc="1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one</a:t>
            </a:r>
            <a:r>
              <a:rPr sz="2400" b="0" spc="1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sz="2400" b="0" spc="-5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A21D90"/>
                </a:solidFill>
                <a:latin typeface="Calibri"/>
                <a:cs typeface="Calibri"/>
              </a:rPr>
              <a:t>pervious</a:t>
            </a:r>
            <a:r>
              <a:rPr sz="2400" b="0" spc="-5" dirty="0">
                <a:solidFill>
                  <a:srgbClr val="A21D90"/>
                </a:solidFill>
                <a:latin typeface="Calibri"/>
                <a:cs typeface="Calibri"/>
              </a:rPr>
              <a:t> node</a:t>
            </a:r>
            <a:r>
              <a:rPr sz="2400" b="0" spc="1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one </a:t>
            </a:r>
            <a:r>
              <a:rPr sz="2400" b="0" spc="-20" dirty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sz="2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b="0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400" b="0" spc="-10" dirty="0">
                <a:solidFill>
                  <a:srgbClr val="A21D90"/>
                </a:solidFill>
                <a:latin typeface="Calibri"/>
                <a:cs typeface="Calibri"/>
              </a:rPr>
              <a:t>next</a:t>
            </a:r>
            <a:r>
              <a:rPr sz="2400" b="0" spc="-25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sz="2400" b="0" spc="-5" dirty="0">
                <a:solidFill>
                  <a:srgbClr val="A21D90"/>
                </a:solidFill>
                <a:latin typeface="Calibri"/>
                <a:cs typeface="Calibri"/>
              </a:rPr>
              <a:t>node</a:t>
            </a:r>
            <a:r>
              <a:rPr sz="2400" b="0" spc="-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13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874266" y="3196442"/>
            <a:ext cx="6684009" cy="2033249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0520" indent="-338455">
              <a:lnSpc>
                <a:spcPct val="100000"/>
              </a:lnSpc>
              <a:spcBef>
                <a:spcPts val="1535"/>
              </a:spcBef>
              <a:buFont typeface="Arial MT"/>
              <a:buChar char="•"/>
              <a:tabLst>
                <a:tab pos="350520" algn="l"/>
                <a:tab pos="351155" algn="l"/>
              </a:tabLst>
            </a:pPr>
            <a:r>
              <a:rPr b="1" spc="-15" dirty="0">
                <a:solidFill>
                  <a:srgbClr val="A21D90"/>
                </a:solidFill>
                <a:latin typeface="Calibri"/>
                <a:cs typeface="Calibri"/>
              </a:rPr>
              <a:t>Data</a:t>
            </a:r>
            <a:r>
              <a:rPr b="1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dirty="0"/>
              <a:t>−</a:t>
            </a:r>
            <a:r>
              <a:rPr spc="-15" dirty="0"/>
              <a:t> </a:t>
            </a:r>
            <a:r>
              <a:rPr spc="-10" dirty="0"/>
              <a:t>Contains</a:t>
            </a:r>
            <a:r>
              <a:rPr spc="-20" dirty="0"/>
              <a:t> </a:t>
            </a:r>
            <a:r>
              <a:rPr spc="-10" dirty="0"/>
              <a:t>data/values </a:t>
            </a:r>
            <a:r>
              <a:rPr spc="-15" dirty="0"/>
              <a:t>to </a:t>
            </a:r>
            <a:r>
              <a:rPr spc="-5" dirty="0"/>
              <a:t>be</a:t>
            </a:r>
            <a:r>
              <a:rPr spc="-10" dirty="0"/>
              <a:t> </a:t>
            </a:r>
            <a:r>
              <a:rPr spc="-15" dirty="0"/>
              <a:t>stored.</a:t>
            </a:r>
          </a:p>
          <a:p>
            <a:pPr marL="350520" indent="-33845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0520" algn="l"/>
                <a:tab pos="351155" algn="l"/>
              </a:tabLst>
            </a:pPr>
            <a:r>
              <a:rPr b="1" spc="-10" dirty="0">
                <a:solidFill>
                  <a:srgbClr val="A21D90"/>
                </a:solidFill>
                <a:latin typeface="Calibri"/>
                <a:cs typeface="Calibri"/>
              </a:rPr>
              <a:t>Next</a:t>
            </a:r>
            <a:r>
              <a:rPr b="1" spc="-3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dirty="0"/>
              <a:t>− </a:t>
            </a:r>
            <a:r>
              <a:rPr spc="-10" dirty="0"/>
              <a:t>Contains</a:t>
            </a:r>
            <a:r>
              <a:rPr spc="-2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link</a:t>
            </a:r>
            <a:r>
              <a:rPr spc="-20" dirty="0"/>
              <a:t> </a:t>
            </a:r>
            <a:r>
              <a:rPr spc="-15" dirty="0"/>
              <a:t>to </a:t>
            </a:r>
            <a:r>
              <a:rPr spc="-5" dirty="0"/>
              <a:t>the</a:t>
            </a:r>
            <a:r>
              <a:rPr spc="-15" dirty="0"/>
              <a:t> </a:t>
            </a:r>
            <a:r>
              <a:rPr spc="-10" dirty="0"/>
              <a:t>next</a:t>
            </a:r>
            <a:r>
              <a:rPr spc="-15" dirty="0"/>
              <a:t> </a:t>
            </a:r>
            <a:r>
              <a:rPr spc="-5" dirty="0"/>
              <a:t>node</a:t>
            </a:r>
            <a:r>
              <a:rPr dirty="0"/>
              <a:t> </a:t>
            </a:r>
            <a:r>
              <a:rPr spc="-5" dirty="0"/>
              <a:t>called Next.</a:t>
            </a:r>
          </a:p>
          <a:p>
            <a:pPr marL="350520" indent="-33845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0520" algn="l"/>
                <a:tab pos="351155" algn="l"/>
              </a:tabLst>
            </a:pPr>
            <a:r>
              <a:rPr b="1" spc="-15" dirty="0">
                <a:solidFill>
                  <a:srgbClr val="A21D90"/>
                </a:solidFill>
                <a:latin typeface="Calibri"/>
                <a:cs typeface="Calibri"/>
              </a:rPr>
              <a:t>Prev</a:t>
            </a:r>
            <a:r>
              <a:rPr b="1" spc="-20" dirty="0">
                <a:solidFill>
                  <a:srgbClr val="A21D90"/>
                </a:solidFill>
                <a:latin typeface="Calibri"/>
                <a:cs typeface="Calibri"/>
              </a:rPr>
              <a:t> </a:t>
            </a:r>
            <a:r>
              <a:rPr dirty="0"/>
              <a:t>− </a:t>
            </a:r>
            <a:r>
              <a:rPr spc="-10" dirty="0"/>
              <a:t>Contains</a:t>
            </a:r>
            <a:r>
              <a:rPr spc="-2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link</a:t>
            </a:r>
            <a:r>
              <a:rPr spc="-25" dirty="0"/>
              <a:t> </a:t>
            </a:r>
            <a:r>
              <a:rPr spc="-15" dirty="0"/>
              <a:t>to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previous</a:t>
            </a:r>
            <a:r>
              <a:rPr spc="10" dirty="0"/>
              <a:t> </a:t>
            </a:r>
            <a:r>
              <a:rPr spc="-5" dirty="0"/>
              <a:t>node</a:t>
            </a:r>
            <a:r>
              <a:rPr spc="-10" dirty="0"/>
              <a:t> </a:t>
            </a:r>
            <a:r>
              <a:rPr spc="-5" dirty="0"/>
              <a:t>call</a:t>
            </a:r>
            <a:r>
              <a:rPr lang="en-US" spc="-5" dirty="0"/>
              <a:t>ed Prev</a:t>
            </a:r>
            <a:endParaRPr spc="-5" dirty="0"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964416"/>
              </p:ext>
            </p:extLst>
          </p:nvPr>
        </p:nvGraphicFramePr>
        <p:xfrm>
          <a:off x="9144000" y="3012174"/>
          <a:ext cx="2927982" cy="15304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267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2400" b="1" dirty="0">
                          <a:solidFill>
                            <a:srgbClr val="A21D90"/>
                          </a:solidFill>
                          <a:latin typeface="Calibri"/>
                          <a:cs typeface="Calibri"/>
                        </a:rPr>
                        <a:t>NODE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25425" marB="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46"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Prev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2DF"/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Data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2DF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Next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7D2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1351864"/>
            <a:ext cx="7787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Double</a:t>
            </a:r>
            <a:r>
              <a:rPr sz="4000" b="0" spc="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Linked List</a:t>
            </a:r>
            <a:r>
              <a:rPr sz="4000" b="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Representation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611" y="2322576"/>
            <a:ext cx="9256776" cy="19446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022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Advantage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of Link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List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593037"/>
            <a:ext cx="946912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They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dynamic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nature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10" dirty="0">
                <a:latin typeface="Calibri"/>
                <a:cs typeface="Calibri"/>
              </a:rPr>
              <a:t> allocates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10" dirty="0">
                <a:latin typeface="Calibri"/>
                <a:cs typeface="Calibri"/>
              </a:rPr>
              <a:t> required.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Insertion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deletion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</a:t>
            </a:r>
            <a:r>
              <a:rPr sz="2400" spc="-5" dirty="0">
                <a:latin typeface="Calibri"/>
                <a:cs typeface="Calibri"/>
              </a:rPr>
              <a:t> 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Stacks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queues</a:t>
            </a:r>
            <a:r>
              <a:rPr sz="2400" spc="-10" dirty="0">
                <a:latin typeface="Calibri"/>
                <a:cs typeface="Calibri"/>
              </a:rPr>
              <a:t> can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easily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executed.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Linked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reduces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699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Disadvantage</a:t>
            </a:r>
            <a:r>
              <a:rPr sz="4000" b="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of Link List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808479"/>
            <a:ext cx="1010729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  <a:tab pos="953769" algn="l"/>
              </a:tabLst>
            </a:pPr>
            <a:r>
              <a:rPr sz="2400" spc="-5" dirty="0">
                <a:latin typeface="Calibri"/>
                <a:cs typeface="Calibri"/>
              </a:rPr>
              <a:t>The	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wasted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pointers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extra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storage.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be accessed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randomly;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" dirty="0">
                <a:latin typeface="Calibri"/>
                <a:cs typeface="Calibri"/>
              </a:rPr>
              <a:t> has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sequentially.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Reverse </a:t>
            </a:r>
            <a:r>
              <a:rPr sz="2400" spc="-20" dirty="0">
                <a:latin typeface="Calibri"/>
                <a:cs typeface="Calibri"/>
              </a:rPr>
              <a:t>traversing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difficult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-10" dirty="0">
                <a:latin typeface="Calibri"/>
                <a:cs typeface="Calibri"/>
              </a:rPr>
              <a:t> list.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5079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latin typeface="Arial MT"/>
                <a:cs typeface="Arial MT"/>
              </a:rPr>
              <a:t>Application</a:t>
            </a:r>
            <a:r>
              <a:rPr sz="4000" b="0" spc="-10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of</a:t>
            </a:r>
            <a:r>
              <a:rPr sz="4000" b="0" spc="5" dirty="0">
                <a:latin typeface="Arial MT"/>
                <a:cs typeface="Arial MT"/>
              </a:rPr>
              <a:t> </a:t>
            </a:r>
            <a:r>
              <a:rPr sz="4000" b="0" spc="-5" dirty="0">
                <a:latin typeface="Arial MT"/>
                <a:cs typeface="Arial MT"/>
              </a:rPr>
              <a:t>Link List</a:t>
            </a:r>
            <a:endParaRPr sz="4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8194" y="1808479"/>
            <a:ext cx="848677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lists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stacks,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queues, </a:t>
            </a:r>
            <a:r>
              <a:rPr sz="2400" spc="-10" dirty="0">
                <a:latin typeface="Calibri"/>
                <a:cs typeface="Calibri"/>
              </a:rPr>
              <a:t>graphs,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Linked</a:t>
            </a:r>
            <a:r>
              <a:rPr sz="2400" spc="-5" dirty="0">
                <a:latin typeface="Calibri"/>
                <a:cs typeface="Calibri"/>
              </a:rPr>
              <a:t> lists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 </a:t>
            </a:r>
            <a:r>
              <a:rPr sz="2400" spc="-5" dirty="0">
                <a:latin typeface="Calibri"/>
                <a:cs typeface="Calibri"/>
              </a:rPr>
              <a:t>element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5" dirty="0">
                <a:latin typeface="Calibri"/>
                <a:cs typeface="Calibri"/>
              </a:rPr>
              <a:t>beginning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list.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"/>
            </a:pPr>
            <a:endParaRPr sz="23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Linked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don’t need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know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20" dirty="0">
                <a:latin typeface="Calibri"/>
                <a:cs typeface="Calibri"/>
              </a:rPr>
              <a:t> size</a:t>
            </a:r>
            <a:r>
              <a:rPr sz="2400" dirty="0">
                <a:latin typeface="Calibri"/>
                <a:cs typeface="Calibri"/>
              </a:rPr>
              <a:t> in</a:t>
            </a:r>
            <a:r>
              <a:rPr sz="2400" spc="-5" dirty="0">
                <a:latin typeface="Calibri"/>
                <a:cs typeface="Calibri"/>
              </a:rPr>
              <a:t> advance.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dirty="0"/>
              <a:t>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251710"/>
            <a:ext cx="8154670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Understanding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one-way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linked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(Simple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Linked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List)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Operations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one-way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linked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(Simple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Linked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List)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Understanding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two-way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linked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(Doubly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Linked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1303782"/>
            <a:ext cx="80778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 MT"/>
                <a:cs typeface="Arial MT"/>
              </a:rPr>
              <a:t>Summery</a:t>
            </a:r>
            <a:r>
              <a:rPr sz="4400" b="0" spc="-20" dirty="0">
                <a:latin typeface="Arial MT"/>
                <a:cs typeface="Arial MT"/>
              </a:rPr>
              <a:t> </a:t>
            </a:r>
            <a:r>
              <a:rPr sz="4400" b="0" dirty="0">
                <a:latin typeface="Arial MT"/>
                <a:cs typeface="Arial MT"/>
              </a:rPr>
              <a:t>&amp;</a:t>
            </a:r>
            <a:r>
              <a:rPr sz="4400" b="0" spc="-15" dirty="0">
                <a:latin typeface="Arial MT"/>
                <a:cs typeface="Arial MT"/>
              </a:rPr>
              <a:t> </a:t>
            </a:r>
            <a:r>
              <a:rPr sz="4400" b="0" dirty="0">
                <a:latin typeface="Arial MT"/>
                <a:cs typeface="Arial MT"/>
              </a:rPr>
              <a:t>Students</a:t>
            </a:r>
            <a:r>
              <a:rPr sz="4400" b="0" spc="-15" dirty="0">
                <a:latin typeface="Arial MT"/>
                <a:cs typeface="Arial MT"/>
              </a:rPr>
              <a:t> </a:t>
            </a:r>
            <a:r>
              <a:rPr sz="4400" b="0" dirty="0">
                <a:latin typeface="Arial MT"/>
                <a:cs typeface="Arial MT"/>
              </a:rPr>
              <a:t>Evaluation</a:t>
            </a:r>
            <a:endParaRPr sz="4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Any</a:t>
            </a:r>
            <a:r>
              <a:rPr spc="-80" dirty="0"/>
              <a:t> </a:t>
            </a:r>
            <a:r>
              <a:rPr spc="-10" dirty="0"/>
              <a:t>Questions?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291" y="1559178"/>
            <a:ext cx="2387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latin typeface="Calibri"/>
                <a:cs typeface="Calibri"/>
              </a:rPr>
              <a:t>Next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85" dirty="0"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0141" y="2490596"/>
            <a:ext cx="8641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985" algn="l"/>
              </a:tabLst>
            </a:pPr>
            <a:r>
              <a:rPr sz="7200" spc="-5" dirty="0">
                <a:solidFill>
                  <a:srgbClr val="7D1B68"/>
                </a:solidFill>
                <a:latin typeface="Calibri"/>
                <a:cs typeface="Calibri"/>
              </a:rPr>
              <a:t>Lin</a:t>
            </a:r>
            <a:r>
              <a:rPr sz="7200" spc="-235" dirty="0">
                <a:solidFill>
                  <a:srgbClr val="7D1B68"/>
                </a:solidFill>
                <a:latin typeface="Calibri"/>
                <a:cs typeface="Calibri"/>
              </a:rPr>
              <a:t>k</a:t>
            </a:r>
            <a:r>
              <a:rPr sz="7200" spc="5" dirty="0">
                <a:solidFill>
                  <a:srgbClr val="7D1B68"/>
                </a:solidFill>
                <a:latin typeface="Calibri"/>
                <a:cs typeface="Calibri"/>
              </a:rPr>
              <a:t>e</a:t>
            </a:r>
            <a:r>
              <a:rPr sz="7200" dirty="0">
                <a:solidFill>
                  <a:srgbClr val="7D1B68"/>
                </a:solidFill>
                <a:latin typeface="Calibri"/>
                <a:cs typeface="Calibri"/>
              </a:rPr>
              <a:t>d</a:t>
            </a:r>
            <a:r>
              <a:rPr sz="7200" spc="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7200" spc="-5" dirty="0">
                <a:solidFill>
                  <a:srgbClr val="7D1B68"/>
                </a:solidFill>
                <a:latin typeface="Calibri"/>
                <a:cs typeface="Calibri"/>
              </a:rPr>
              <a:t>Li</a:t>
            </a:r>
            <a:r>
              <a:rPr sz="7200" spc="-85" dirty="0">
                <a:solidFill>
                  <a:srgbClr val="7D1B68"/>
                </a:solidFill>
                <a:latin typeface="Calibri"/>
                <a:cs typeface="Calibri"/>
              </a:rPr>
              <a:t>s</a:t>
            </a:r>
            <a:r>
              <a:rPr sz="7200" dirty="0">
                <a:solidFill>
                  <a:srgbClr val="7D1B68"/>
                </a:solidFill>
                <a:latin typeface="Calibri"/>
                <a:cs typeface="Calibri"/>
              </a:rPr>
              <a:t>t	</a:t>
            </a:r>
            <a:r>
              <a:rPr sz="7200" spc="-5" dirty="0">
                <a:solidFill>
                  <a:srgbClr val="7D1B68"/>
                </a:solidFill>
                <a:latin typeface="Calibri"/>
                <a:cs typeface="Calibri"/>
              </a:rPr>
              <a:t>(Co</a:t>
            </a:r>
            <a:r>
              <a:rPr sz="7200" spc="-90" dirty="0">
                <a:solidFill>
                  <a:srgbClr val="7D1B68"/>
                </a:solidFill>
                <a:latin typeface="Calibri"/>
                <a:cs typeface="Calibri"/>
              </a:rPr>
              <a:t>n</a:t>
            </a:r>
            <a:r>
              <a:rPr sz="7200" dirty="0">
                <a:solidFill>
                  <a:srgbClr val="7D1B68"/>
                </a:solidFill>
                <a:latin typeface="Calibri"/>
                <a:cs typeface="Calibri"/>
              </a:rPr>
              <a:t>tinu</a:t>
            </a:r>
            <a:r>
              <a:rPr sz="7200" spc="10" dirty="0">
                <a:solidFill>
                  <a:srgbClr val="7D1B68"/>
                </a:solidFill>
                <a:latin typeface="Calibri"/>
                <a:cs typeface="Calibri"/>
              </a:rPr>
              <a:t>e</a:t>
            </a:r>
            <a:r>
              <a:rPr sz="7200" spc="-5" dirty="0">
                <a:solidFill>
                  <a:srgbClr val="7D1B68"/>
                </a:solidFill>
                <a:latin typeface="Calibri"/>
                <a:cs typeface="Calibri"/>
              </a:rPr>
              <a:t>…</a:t>
            </a:r>
            <a:r>
              <a:rPr sz="7200" dirty="0">
                <a:solidFill>
                  <a:srgbClr val="7D1B68"/>
                </a:solidFill>
                <a:latin typeface="Calibri"/>
                <a:cs typeface="Calibri"/>
              </a:rPr>
              <a:t>)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37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898</Words>
  <Application>Microsoft Office PowerPoint</Application>
  <PresentationFormat>Widescreen</PresentationFormat>
  <Paragraphs>126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MT</vt:lpstr>
      <vt:lpstr>Calibri</vt:lpstr>
      <vt:lpstr>Times New Roman</vt:lpstr>
      <vt:lpstr>Verdana</vt:lpstr>
      <vt:lpstr>Wingdings</vt:lpstr>
      <vt:lpstr>Office Theme</vt:lpstr>
      <vt:lpstr>Course:Data Structure and Algorithms</vt:lpstr>
      <vt:lpstr>Contents</vt:lpstr>
      <vt:lpstr>Objectives</vt:lpstr>
      <vt:lpstr>Linked List</vt:lpstr>
      <vt:lpstr>Linked List Representation</vt:lpstr>
      <vt:lpstr>Types of Linked List</vt:lpstr>
      <vt:lpstr>Simple Linked List</vt:lpstr>
      <vt:lpstr>Insertion Operation</vt:lpstr>
      <vt:lpstr>Insertion Operation Cont.</vt:lpstr>
      <vt:lpstr>Insertion Operation Cont.</vt:lpstr>
      <vt:lpstr>Insertion Operation Cont.</vt:lpstr>
      <vt:lpstr>Deletion Operation</vt:lpstr>
      <vt:lpstr>Deletion Operation Cont.</vt:lpstr>
      <vt:lpstr>Deletion Operation Cont.</vt:lpstr>
      <vt:lpstr>Deletion Operation Cont.</vt:lpstr>
      <vt:lpstr>Doubly Linked List In doubly linked list, each node contains a data part and two addresses, one for  the pervious node and one for the next node.</vt:lpstr>
      <vt:lpstr>Double Linked List Representation</vt:lpstr>
      <vt:lpstr>Advantage of Link List</vt:lpstr>
      <vt:lpstr>Disadvantage of Link List</vt:lpstr>
      <vt:lpstr>Application of Link List</vt:lpstr>
      <vt:lpstr>Summery &amp; Students Evaluation</vt:lpstr>
      <vt:lpstr>Any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9</cp:revision>
  <dcterms:created xsi:type="dcterms:W3CDTF">2024-04-22T08:21:48Z</dcterms:created>
  <dcterms:modified xsi:type="dcterms:W3CDTF">2026-05-02T17:01:01Z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