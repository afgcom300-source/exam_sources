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340" y="515238"/>
            <a:ext cx="1081531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87344" y="2537841"/>
            <a:ext cx="5418455" cy="1002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84554"/>
            <a:ext cx="10400665" cy="141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64442" y="6498335"/>
            <a:ext cx="3048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60646" y="4507229"/>
            <a:ext cx="3870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6235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Instructor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Ziaur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Rahman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9857" y="5065852"/>
            <a:ext cx="3814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Faculty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7996" y="5596534"/>
            <a:ext cx="30111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JAHAN</a:t>
            </a:r>
            <a:r>
              <a:rPr sz="3200" b="1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0516" y="738886"/>
            <a:ext cx="3262884" cy="13876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3200" b="1" spc="-415" dirty="0">
                <a:latin typeface="Calibri"/>
                <a:cs typeface="Calibri"/>
              </a:rPr>
              <a:t>Kabul </a:t>
            </a:r>
            <a:r>
              <a:rPr sz="3200" b="1" spc="-355" dirty="0">
                <a:latin typeface="Calibri"/>
                <a:cs typeface="Calibri"/>
              </a:rPr>
              <a:t>Univers</a:t>
            </a:r>
            <a:r>
              <a:rPr sz="3200" b="1" spc="-185" dirty="0">
                <a:latin typeface="Calibri"/>
                <a:cs typeface="Calibri"/>
              </a:rPr>
              <a:t>i</a:t>
            </a:r>
            <a:r>
              <a:rPr sz="3200" b="1" spc="-260" dirty="0">
                <a:latin typeface="Calibri"/>
                <a:cs typeface="Calibri"/>
              </a:rPr>
              <a:t>ty  </a:t>
            </a:r>
            <a:endParaRPr lang="en-US" sz="3200" b="1" spc="-260" dirty="0">
              <a:latin typeface="Calibri"/>
              <a:cs typeface="Calibri"/>
            </a:endParaRPr>
          </a:p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800" b="1" spc="-300" dirty="0">
                <a:latin typeface="Calibri"/>
                <a:cs typeface="Calibri"/>
              </a:rPr>
              <a:t>Faculty of Computer Science </a:t>
            </a:r>
            <a:r>
              <a:rPr lang="en-US" sz="2400" b="1" spc="-300" dirty="0">
                <a:latin typeface="Calibri"/>
                <a:cs typeface="Calibri"/>
              </a:rPr>
              <a:t>SE</a:t>
            </a:r>
            <a:r>
              <a:rPr lang="en-US" sz="2800" b="1" spc="-300" dirty="0">
                <a:latin typeface="Calibri"/>
                <a:cs typeface="Calibri"/>
              </a:rPr>
              <a:t> </a:t>
            </a:r>
            <a:r>
              <a:rPr sz="2400" b="1" spc="-315" dirty="0">
                <a:latin typeface="Calibri"/>
                <a:cs typeface="Calibri"/>
              </a:rPr>
              <a:t>Depart</a:t>
            </a:r>
            <a:r>
              <a:rPr sz="2400" b="1" spc="-535" dirty="0">
                <a:latin typeface="Calibri"/>
                <a:cs typeface="Calibri"/>
              </a:rPr>
              <a:t>m</a:t>
            </a:r>
            <a:r>
              <a:rPr sz="2400" b="1" spc="-375" dirty="0">
                <a:latin typeface="Calibri"/>
                <a:cs typeface="Calibri"/>
              </a:rPr>
              <a:t>e</a:t>
            </a:r>
            <a:r>
              <a:rPr sz="2400" b="1" spc="-395" dirty="0">
                <a:latin typeface="Calibri"/>
                <a:cs typeface="Calibri"/>
              </a:rPr>
              <a:t>n</a:t>
            </a:r>
            <a:r>
              <a:rPr sz="2400" b="1" spc="-265" dirty="0">
                <a:latin typeface="Calibri"/>
                <a:cs typeface="Calibri"/>
              </a:rPr>
              <a:t>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47329" y="5483453"/>
            <a:ext cx="114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year: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1402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31820" y="2430779"/>
            <a:ext cx="6036310" cy="1388110"/>
            <a:chOff x="3131820" y="2430779"/>
            <a:chExt cx="6036310" cy="138811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1820" y="2430779"/>
              <a:ext cx="2292858" cy="89992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0516" y="2430779"/>
              <a:ext cx="4277105" cy="89992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4880" y="2918459"/>
              <a:ext cx="2679954" cy="899921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5125" marR="5080" indent="-1623060">
              <a:lnSpc>
                <a:spcPct val="100000"/>
              </a:lnSpc>
              <a:spcBef>
                <a:spcPts val="105"/>
              </a:spcBef>
              <a:tabLst>
                <a:tab pos="1771014" algn="l"/>
              </a:tabLst>
            </a:pPr>
            <a:r>
              <a:rPr dirty="0"/>
              <a:t>Course:		Data</a:t>
            </a:r>
            <a:r>
              <a:rPr spc="-60" dirty="0"/>
              <a:t> </a:t>
            </a:r>
            <a:r>
              <a:rPr dirty="0"/>
              <a:t>Structure</a:t>
            </a:r>
            <a:r>
              <a:rPr spc="-60" dirty="0"/>
              <a:t> </a:t>
            </a:r>
            <a:r>
              <a:rPr dirty="0"/>
              <a:t>and </a:t>
            </a:r>
            <a:r>
              <a:rPr spc="-875" dirty="0"/>
              <a:t> </a:t>
            </a:r>
            <a:r>
              <a:rPr dirty="0"/>
              <a:t>Algorithms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141500" y="3586326"/>
            <a:ext cx="40170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7D1B68"/>
                </a:solidFill>
                <a:latin typeface="Arial"/>
                <a:cs typeface="Arial"/>
              </a:rPr>
              <a:t>Lesson</a:t>
            </a:r>
            <a:r>
              <a:rPr sz="3200" b="1" spc="-50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7D1B68"/>
                </a:solidFill>
                <a:latin typeface="Arial"/>
                <a:cs typeface="Arial"/>
              </a:rPr>
              <a:t>2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29528" y="4035551"/>
            <a:ext cx="4360926" cy="980694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6594729" y="3265423"/>
            <a:ext cx="33978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solidFill>
                  <a:srgbClr val="7D1B68"/>
                </a:solidFill>
                <a:latin typeface="Calibri"/>
                <a:cs typeface="Calibri"/>
              </a:rPr>
              <a:t>Algorithms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29" name="object 6"/>
          <p:cNvSpPr txBox="1"/>
          <p:nvPr/>
        </p:nvSpPr>
        <p:spPr>
          <a:xfrm>
            <a:off x="1005839" y="4523359"/>
            <a:ext cx="3142870" cy="8463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latin typeface="Arial"/>
                <a:cs typeface="Arial"/>
              </a:rPr>
              <a:t>Semester: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lang="en-US" sz="1800" b="1" spc="-20" dirty="0">
                <a:latin typeface="Arial"/>
                <a:cs typeface="Arial"/>
              </a:rPr>
              <a:t>4</a:t>
            </a:r>
            <a:r>
              <a:rPr sz="1800" b="1" spc="-7" baseline="25462" dirty="0">
                <a:latin typeface="Arial"/>
                <a:cs typeface="Arial"/>
              </a:rPr>
              <a:t>th</a:t>
            </a:r>
            <a:endParaRPr sz="1800" baseline="25462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Lecture</a:t>
            </a:r>
            <a:r>
              <a:rPr lang="en-US" sz="1800" b="1" spc="-5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0" name="object 7"/>
          <p:cNvSpPr txBox="1"/>
          <p:nvPr/>
        </p:nvSpPr>
        <p:spPr>
          <a:xfrm>
            <a:off x="1031238" y="5483453"/>
            <a:ext cx="351675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>
                <a:latin typeface="Arial"/>
                <a:cs typeface="Arial"/>
              </a:rPr>
              <a:t>Prepare</a:t>
            </a:r>
            <a:r>
              <a:rPr lang="en-US" sz="1800" b="1" spc="-5">
                <a:latin typeface="Arial"/>
                <a:cs typeface="Arial"/>
              </a:rPr>
              <a:t>d</a:t>
            </a:r>
            <a:r>
              <a:rPr sz="1800" b="1" spc="-15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by: </a:t>
            </a: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6041" y="2025523"/>
            <a:ext cx="5300345" cy="262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Algorithms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History</a:t>
            </a:r>
            <a:r>
              <a:rPr sz="2800" spc="-5" dirty="0">
                <a:latin typeface="Calibri"/>
                <a:cs typeface="Calibri"/>
              </a:rPr>
              <a:t> 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algorithms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Pseudo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Conventions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Algorithms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notations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9022" y="558241"/>
            <a:ext cx="30765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solidFill>
                  <a:srgbClr val="7D1B68"/>
                </a:solidFill>
                <a:latin typeface="Arial MT"/>
                <a:cs typeface="Arial MT"/>
              </a:rPr>
              <a:t>Contents</a:t>
            </a:r>
            <a:endParaRPr sz="60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6830" y="831849"/>
            <a:ext cx="82270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>
                <a:solidFill>
                  <a:srgbClr val="001F5F"/>
                </a:solidFill>
                <a:latin typeface="Calibri"/>
                <a:cs typeface="Calibri"/>
              </a:rPr>
              <a:t>Objective</a:t>
            </a:r>
            <a:r>
              <a:rPr lang="en-US" sz="4000" spc="-1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5539" y="1647948"/>
            <a:ext cx="8456295" cy="2015936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understand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Algorithms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its </a:t>
            </a:r>
            <a:r>
              <a:rPr sz="3600" spc="-10" dirty="0">
                <a:latin typeface="Calibri"/>
                <a:cs typeface="Calibri"/>
              </a:rPr>
              <a:t>usage.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overview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on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History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of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algorithms.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know </a:t>
            </a:r>
            <a:r>
              <a:rPr sz="3600" dirty="0">
                <a:latin typeface="Calibri"/>
                <a:cs typeface="Calibri"/>
              </a:rPr>
              <a:t>about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Algorithms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notations.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565861"/>
            <a:ext cx="24212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7D1B68"/>
                </a:solidFill>
                <a:latin typeface="Arial"/>
                <a:cs typeface="Arial"/>
              </a:rPr>
              <a:t>Alg</a:t>
            </a:r>
            <a:r>
              <a:rPr sz="4000" b="1" spc="-25" dirty="0">
                <a:solidFill>
                  <a:srgbClr val="7D1B68"/>
                </a:solidFill>
                <a:latin typeface="Arial"/>
                <a:cs typeface="Arial"/>
              </a:rPr>
              <a:t>o</a:t>
            </a:r>
            <a:r>
              <a:rPr sz="4000" b="1" spc="-5" dirty="0">
                <a:solidFill>
                  <a:srgbClr val="7D1B68"/>
                </a:solidFill>
                <a:latin typeface="Arial"/>
                <a:cs typeface="Arial"/>
              </a:rPr>
              <a:t>rithm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8194" y="1616709"/>
            <a:ext cx="94703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An </a:t>
            </a:r>
            <a:r>
              <a:rPr sz="2400" b="1" i="1" dirty="0">
                <a:latin typeface="Arial"/>
                <a:cs typeface="Arial"/>
              </a:rPr>
              <a:t>algorithm</a:t>
            </a:r>
            <a:r>
              <a:rPr sz="2400" b="1" i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series</a:t>
            </a:r>
            <a:r>
              <a:rPr sz="2400" b="1" dirty="0">
                <a:latin typeface="Arial"/>
                <a:cs typeface="Arial"/>
              </a:rPr>
              <a:t> of </a:t>
            </a:r>
            <a:r>
              <a:rPr sz="2400" b="1" spc="-5" dirty="0">
                <a:latin typeface="Arial"/>
                <a:cs typeface="Arial"/>
              </a:rPr>
              <a:t>specific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steps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5" dirty="0">
                <a:latin typeface="Arial"/>
                <a:cs typeface="Arial"/>
              </a:rPr>
              <a:t>which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solve </a:t>
            </a:r>
            <a:r>
              <a:rPr sz="2400" b="1" spc="-5" dirty="0">
                <a:latin typeface="Arial"/>
                <a:cs typeface="Arial"/>
              </a:rPr>
              <a:t>a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particular </a:t>
            </a:r>
            <a:r>
              <a:rPr sz="2400" b="1" spc="-6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problem.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2616" y="2880360"/>
            <a:ext cx="7110983" cy="31302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722354" y="6498335"/>
            <a:ext cx="1905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640" y="465581"/>
            <a:ext cx="49161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7D1B68"/>
                </a:solidFill>
              </a:rPr>
              <a:t>History of</a:t>
            </a:r>
            <a:r>
              <a:rPr sz="4000" spc="-170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Algorithm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6800" y="1519427"/>
            <a:ext cx="3276600" cy="45232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63676" y="1527428"/>
            <a:ext cx="7727950" cy="4210063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marR="621030" indent="-342900">
              <a:lnSpc>
                <a:spcPts val="2300"/>
              </a:lnSpc>
              <a:spcBef>
                <a:spcPts val="66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word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7D1B68"/>
                </a:solidFill>
                <a:latin typeface="Calibri"/>
                <a:cs typeface="Calibri"/>
              </a:rPr>
              <a:t>algorithm</a:t>
            </a:r>
            <a:r>
              <a:rPr sz="2400" i="1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name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Persian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mathematician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Abu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Ja’far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Mohammed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ibn-i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Musa al </a:t>
            </a:r>
            <a:r>
              <a:rPr sz="2400" spc="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Khowarizm</a:t>
            </a:r>
            <a:r>
              <a:rPr sz="2400" spc="-5" dirty="0">
                <a:latin typeface="Calibri"/>
                <a:cs typeface="Calibri"/>
              </a:rPr>
              <a:t>i.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libri"/>
              <a:buChar char="•"/>
            </a:pPr>
            <a:endParaRPr sz="2850" dirty="0">
              <a:latin typeface="Calibri"/>
              <a:cs typeface="Calibri"/>
            </a:endParaRPr>
          </a:p>
          <a:p>
            <a:pPr marL="355600" marR="292735" indent="-342900">
              <a:lnSpc>
                <a:spcPct val="8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computer </a:t>
            </a:r>
            <a:r>
              <a:rPr sz="2400" spc="-5" dirty="0">
                <a:latin typeface="Calibri"/>
                <a:cs typeface="Calibri"/>
              </a:rPr>
              <a:t>science, </a:t>
            </a:r>
            <a:r>
              <a:rPr sz="2400" dirty="0">
                <a:latin typeface="Calibri"/>
                <a:cs typeface="Calibri"/>
              </a:rPr>
              <a:t>this </a:t>
            </a:r>
            <a:r>
              <a:rPr sz="2400" spc="-20" dirty="0">
                <a:latin typeface="Calibri"/>
                <a:cs typeface="Calibri"/>
              </a:rPr>
              <a:t>word </a:t>
            </a:r>
            <a:r>
              <a:rPr sz="2400" spc="-30" dirty="0">
                <a:latin typeface="Calibri"/>
                <a:cs typeface="Calibri"/>
              </a:rPr>
              <a:t>refers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special method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useable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dirty="0">
                <a:latin typeface="Calibri"/>
                <a:cs typeface="Calibri"/>
              </a:rPr>
              <a:t> 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computer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solution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problem.</a:t>
            </a:r>
            <a:endParaRPr lang="en-US" sz="2400" spc="-10" dirty="0">
              <a:latin typeface="Calibri"/>
              <a:cs typeface="Calibri"/>
            </a:endParaRPr>
          </a:p>
          <a:p>
            <a:pPr marL="12700" marR="292735">
              <a:lnSpc>
                <a:spcPct val="80000"/>
              </a:lnSpc>
              <a:tabLst>
                <a:tab pos="354965" algn="l"/>
                <a:tab pos="355600" algn="l"/>
              </a:tabLst>
            </a:pPr>
            <a:endParaRPr lang="en-US" sz="2400" spc="-10" dirty="0">
              <a:latin typeface="Calibri"/>
              <a:cs typeface="Calibri"/>
            </a:endParaRPr>
          </a:p>
          <a:p>
            <a:pPr marL="355600" marR="292735" indent="-342900">
              <a:lnSpc>
                <a:spcPct val="8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statement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problem </a:t>
            </a:r>
            <a:r>
              <a:rPr sz="2400" spc="-5" dirty="0">
                <a:latin typeface="Calibri"/>
                <a:cs typeface="Calibri"/>
              </a:rPr>
              <a:t>specifies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general </a:t>
            </a:r>
            <a:r>
              <a:rPr sz="2400" spc="-5" dirty="0">
                <a:latin typeface="Calibri"/>
                <a:cs typeface="Calibri"/>
              </a:rPr>
              <a:t>terms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desired</a:t>
            </a:r>
            <a:r>
              <a:rPr sz="2400" spc="-5" dirty="0">
                <a:latin typeface="Calibri"/>
                <a:cs typeface="Calibri"/>
              </a:rPr>
              <a:t> input/output</a:t>
            </a:r>
            <a:r>
              <a:rPr sz="2400" spc="-10" dirty="0">
                <a:latin typeface="Calibri"/>
                <a:cs typeface="Calibri"/>
              </a:rPr>
              <a:t> relationship.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Calibri"/>
              <a:buChar char="•"/>
            </a:pPr>
            <a:endParaRPr sz="2800" dirty="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example, </a:t>
            </a:r>
            <a:r>
              <a:rPr sz="2400" spc="-5" dirty="0">
                <a:latin typeface="Calibri"/>
                <a:cs typeface="Calibri"/>
              </a:rPr>
              <a:t>sorting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given </a:t>
            </a:r>
            <a:r>
              <a:rPr sz="2400" spc="-5" dirty="0">
                <a:latin typeface="Calibri"/>
                <a:cs typeface="Calibri"/>
              </a:rPr>
              <a:t>sequence of </a:t>
            </a:r>
            <a:r>
              <a:rPr sz="2400" spc="-10" dirty="0">
                <a:latin typeface="Calibri"/>
                <a:cs typeface="Calibri"/>
              </a:rPr>
              <a:t>numbers </a:t>
            </a:r>
            <a:r>
              <a:rPr sz="2400" spc="-15" dirty="0">
                <a:latin typeface="Calibri"/>
                <a:cs typeface="Calibri"/>
              </a:rPr>
              <a:t>into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nondecreasing </a:t>
            </a:r>
            <a:r>
              <a:rPr sz="2400" spc="-15" dirty="0">
                <a:latin typeface="Calibri"/>
                <a:cs typeface="Calibri"/>
              </a:rPr>
              <a:t>order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fertile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ground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introducing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many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standard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design </a:t>
            </a:r>
            <a:r>
              <a:rPr sz="2400" spc="-10" dirty="0">
                <a:latin typeface="Calibri"/>
                <a:cs typeface="Calibri"/>
              </a:rPr>
              <a:t>techniques</a:t>
            </a:r>
            <a:r>
              <a:rPr sz="2400" dirty="0">
                <a:latin typeface="Calibri"/>
                <a:cs typeface="Calibri"/>
              </a:rPr>
              <a:t> and</a:t>
            </a:r>
            <a:r>
              <a:rPr sz="2400" spc="-5" dirty="0">
                <a:latin typeface="Calibri"/>
                <a:cs typeface="Calibri"/>
              </a:rPr>
              <a:t> analysis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tools.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22354" y="6498335"/>
            <a:ext cx="1905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150747"/>
            <a:ext cx="8405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7D1B68"/>
                </a:solidFill>
              </a:rPr>
              <a:t>ALGORITHMS</a:t>
            </a:r>
            <a:r>
              <a:rPr sz="4000" spc="-125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AND</a:t>
            </a:r>
            <a:r>
              <a:rPr sz="4000" spc="-15" dirty="0">
                <a:solidFill>
                  <a:srgbClr val="7D1B68"/>
                </a:solidFill>
              </a:rPr>
              <a:t> </a:t>
            </a:r>
            <a:r>
              <a:rPr sz="4000" spc="-10" dirty="0">
                <a:solidFill>
                  <a:srgbClr val="7D1B68"/>
                </a:solidFill>
              </a:rPr>
              <a:t>FLOWCHARTS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2197734"/>
            <a:ext cx="9712960" cy="350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typical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programming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task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divided </a:t>
            </a:r>
            <a:r>
              <a:rPr sz="2400" spc="-15" dirty="0">
                <a:latin typeface="Calibri"/>
                <a:cs typeface="Calibri"/>
              </a:rPr>
              <a:t>into </a:t>
            </a:r>
            <a:r>
              <a:rPr sz="2400" spc="-10" dirty="0">
                <a:latin typeface="Calibri"/>
                <a:cs typeface="Calibri"/>
              </a:rPr>
              <a:t>two </a:t>
            </a:r>
            <a:r>
              <a:rPr sz="2400" spc="-5" dirty="0">
                <a:latin typeface="Calibri"/>
                <a:cs typeface="Calibri"/>
              </a:rPr>
              <a:t>phases: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b="1" i="1" spc="-10" dirty="0">
                <a:latin typeface="Calibri"/>
                <a:cs typeface="Calibri"/>
              </a:rPr>
              <a:t>Problem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solving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phase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020"/>
              </a:spcBef>
              <a:buFont typeface="Wingdings"/>
              <a:buChar char="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produce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ordered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sequence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5" dirty="0">
                <a:latin typeface="Calibri"/>
                <a:cs typeface="Calibri"/>
              </a:rPr>
              <a:t>steps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describe solution of </a:t>
            </a:r>
            <a:r>
              <a:rPr sz="2400" spc="-10" dirty="0"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" dirty="0">
                <a:latin typeface="Calibri"/>
                <a:cs typeface="Calibri"/>
              </a:rPr>
              <a:t> sequence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steps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called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020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b="1" i="1" spc="-10" dirty="0">
                <a:latin typeface="Calibri"/>
                <a:cs typeface="Calibri"/>
              </a:rPr>
              <a:t>Implementation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phase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implement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program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 </a:t>
            </a:r>
            <a:r>
              <a:rPr sz="2400" spc="-10" dirty="0">
                <a:latin typeface="Calibri"/>
                <a:cs typeface="Calibri"/>
              </a:rPr>
              <a:t>programming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722354" y="6498335"/>
            <a:ext cx="1905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215009"/>
            <a:ext cx="61474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7D1B68"/>
                </a:solidFill>
              </a:rPr>
              <a:t>Steps</a:t>
            </a:r>
            <a:r>
              <a:rPr sz="4000" spc="-20" dirty="0">
                <a:solidFill>
                  <a:srgbClr val="7D1B68"/>
                </a:solidFill>
              </a:rPr>
              <a:t> </a:t>
            </a:r>
            <a:r>
              <a:rPr sz="4000" dirty="0">
                <a:solidFill>
                  <a:srgbClr val="7D1B68"/>
                </a:solidFill>
              </a:rPr>
              <a:t>in</a:t>
            </a:r>
            <a:r>
              <a:rPr sz="4000" spc="-20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Problem</a:t>
            </a:r>
            <a:r>
              <a:rPr sz="4000" spc="-10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Solving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94384" y="2091309"/>
            <a:ext cx="10634980" cy="273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First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produce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general </a:t>
            </a:r>
            <a:r>
              <a:rPr sz="2400" spc="-5" dirty="0">
                <a:latin typeface="Calibri"/>
                <a:cs typeface="Calibri"/>
              </a:rPr>
              <a:t>algorithm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(one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use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pseudocode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spcBef>
                <a:spcPts val="57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Refine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algorithm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successively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get</a:t>
            </a:r>
            <a:r>
              <a:rPr sz="2400" spc="-15" dirty="0">
                <a:latin typeface="Calibri"/>
                <a:cs typeface="Calibri"/>
              </a:rPr>
              <a:t> step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spc="-15" dirty="0">
                <a:latin typeface="Calibri"/>
                <a:cs typeface="Calibri"/>
              </a:rPr>
              <a:t>step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detailed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algorithm</a:t>
            </a:r>
            <a:r>
              <a:rPr sz="2400" b="1" i="1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very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2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i="1" spc="-10" dirty="0">
                <a:latin typeface="Calibri"/>
                <a:cs typeface="Calibri"/>
              </a:rPr>
              <a:t>Pseudocode</a:t>
            </a:r>
            <a:r>
              <a:rPr sz="2400" b="1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artificial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informal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helps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programmers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Calibri"/>
                <a:cs typeface="Calibri"/>
              </a:rPr>
              <a:t>algorithms.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Pseudocode</a:t>
            </a:r>
            <a:r>
              <a:rPr sz="2400" dirty="0">
                <a:latin typeface="Calibri"/>
                <a:cs typeface="Calibri"/>
              </a:rPr>
              <a:t> 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very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similar</a:t>
            </a:r>
            <a:r>
              <a:rPr sz="2400" spc="-15" dirty="0">
                <a:latin typeface="Calibri"/>
                <a:cs typeface="Calibri"/>
              </a:rPr>
              <a:t> 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everyday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English.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722354" y="6498335"/>
            <a:ext cx="1905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15238"/>
            <a:ext cx="89344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7D1B68"/>
                </a:solidFill>
              </a:rPr>
              <a:t>Rules</a:t>
            </a:r>
            <a:r>
              <a:rPr sz="4000" spc="-10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for</a:t>
            </a:r>
            <a:r>
              <a:rPr sz="4000" spc="15" dirty="0">
                <a:solidFill>
                  <a:srgbClr val="7D1B68"/>
                </a:solidFill>
              </a:rPr>
              <a:t> </a:t>
            </a:r>
            <a:r>
              <a:rPr sz="4000" spc="-10" dirty="0">
                <a:solidFill>
                  <a:srgbClr val="7D1B68"/>
                </a:solidFill>
              </a:rPr>
              <a:t>Pseudocode </a:t>
            </a:r>
            <a:r>
              <a:rPr sz="4000" spc="-5" dirty="0">
                <a:solidFill>
                  <a:srgbClr val="7D1B68"/>
                </a:solidFill>
              </a:rPr>
              <a:t>(Conventions)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22044" y="1361084"/>
            <a:ext cx="6407785" cy="3616960"/>
          </a:xfrm>
          <a:prstGeom prst="rect">
            <a:avLst/>
          </a:prstGeom>
        </p:spPr>
        <p:txBody>
          <a:bodyPr vert="horz" wrap="square" lIns="0" tIns="238125" rIns="0" bIns="0" rtlCol="0">
            <a:spAutoFit/>
          </a:bodyPr>
          <a:lstStyle/>
          <a:p>
            <a:pPr marL="544830" indent="-457200">
              <a:spcBef>
                <a:spcPts val="1875"/>
              </a:spcBef>
              <a:buFont typeface="Wingdings" panose="05000000000000000000" pitchFamily="2" charset="2"/>
              <a:buChar char="q"/>
              <a:tabLst>
                <a:tab pos="431800" algn="l"/>
              </a:tabLst>
            </a:pPr>
            <a:r>
              <a:rPr sz="2800" b="1" spc="-30" dirty="0">
                <a:latin typeface="Calibri"/>
                <a:cs typeface="Calibri"/>
              </a:rPr>
              <a:t>Write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only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one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statement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per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line</a:t>
            </a:r>
            <a:endParaRPr sz="2800" dirty="0">
              <a:latin typeface="Calibri"/>
              <a:cs typeface="Calibri"/>
            </a:endParaRPr>
          </a:p>
          <a:p>
            <a:pPr marL="469265" indent="-457200">
              <a:lnSpc>
                <a:spcPct val="100000"/>
              </a:lnSpc>
              <a:spcBef>
                <a:spcPts val="1775"/>
              </a:spcBef>
              <a:buFont typeface="Wingdings" panose="05000000000000000000" pitchFamily="2" charset="2"/>
              <a:buChar char="q"/>
              <a:tabLst>
                <a:tab pos="469265" algn="l"/>
                <a:tab pos="469900" algn="l"/>
              </a:tabLst>
            </a:pPr>
            <a:r>
              <a:rPr sz="2800" b="1" spc="-15" dirty="0">
                <a:latin typeface="Calibri"/>
                <a:cs typeface="Calibri"/>
              </a:rPr>
              <a:t>Capitalize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initial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keyword</a:t>
            </a:r>
            <a:endParaRPr sz="2800" dirty="0">
              <a:latin typeface="Calibri"/>
              <a:cs typeface="Calibri"/>
            </a:endParaRPr>
          </a:p>
          <a:p>
            <a:pPr marL="457200" indent="-457200">
              <a:spcBef>
                <a:spcPts val="2645"/>
              </a:spcBef>
              <a:buFont typeface="Wingdings" panose="05000000000000000000" pitchFamily="2" charset="2"/>
              <a:buChar char="q"/>
              <a:tabLst>
                <a:tab pos="545465" algn="l"/>
                <a:tab pos="546100" algn="l"/>
              </a:tabLst>
            </a:pPr>
            <a:r>
              <a:rPr sz="2800" b="1" spc="-10" dirty="0">
                <a:latin typeface="Calibri"/>
                <a:cs typeface="Calibri"/>
              </a:rPr>
              <a:t>Indent </a:t>
            </a:r>
            <a:r>
              <a:rPr sz="2800" b="1" spc="-15" dirty="0">
                <a:latin typeface="Calibri"/>
                <a:cs typeface="Calibri"/>
              </a:rPr>
              <a:t>to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show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hierarchy</a:t>
            </a:r>
            <a:endParaRPr sz="2800" dirty="0">
              <a:latin typeface="Calibri"/>
              <a:cs typeface="Calibri"/>
            </a:endParaRPr>
          </a:p>
          <a:p>
            <a:pPr lvl="1" indent="-457200">
              <a:spcBef>
                <a:spcPts val="2640"/>
              </a:spcBef>
              <a:buFont typeface="Wingdings" panose="05000000000000000000" pitchFamily="2" charset="2"/>
              <a:buChar char="q"/>
              <a:tabLst>
                <a:tab pos="621665" algn="l"/>
                <a:tab pos="622300" algn="l"/>
              </a:tabLst>
            </a:pPr>
            <a:r>
              <a:rPr sz="2800" b="1" spc="-5" dirty="0">
                <a:latin typeface="Calibri"/>
                <a:cs typeface="Calibri"/>
              </a:rPr>
              <a:t>End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multiline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structures</a:t>
            </a:r>
            <a:endParaRPr sz="2800" dirty="0">
              <a:latin typeface="Calibri"/>
              <a:cs typeface="Calibri"/>
            </a:endParaRPr>
          </a:p>
          <a:p>
            <a:pPr marL="457200" indent="-457200">
              <a:spcBef>
                <a:spcPts val="2640"/>
              </a:spcBef>
              <a:buFont typeface="Wingdings" panose="05000000000000000000" pitchFamily="2" charset="2"/>
              <a:buChar char="q"/>
              <a:tabLst>
                <a:tab pos="545465" algn="l"/>
                <a:tab pos="546100" algn="l"/>
              </a:tabLst>
            </a:pPr>
            <a:r>
              <a:rPr sz="2800" b="1" spc="-20" dirty="0">
                <a:latin typeface="Calibri"/>
                <a:cs typeface="Calibri"/>
              </a:rPr>
              <a:t>Keep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statements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language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independent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69379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0" y="0"/>
                </a:lnTo>
                <a:lnTo>
                  <a:pt x="0" y="384048"/>
                </a:lnTo>
                <a:lnTo>
                  <a:pt x="12192000" y="384048"/>
                </a:lnTo>
                <a:lnTo>
                  <a:pt x="12192000" y="0"/>
                </a:lnTo>
                <a:close/>
              </a:path>
            </a:pathLst>
          </a:custGeom>
          <a:solidFill>
            <a:srgbClr val="7D1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15238"/>
            <a:ext cx="57550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7D1B68"/>
                </a:solidFill>
              </a:rPr>
              <a:t>One</a:t>
            </a:r>
            <a:r>
              <a:rPr sz="4000" spc="-25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Statement</a:t>
            </a:r>
            <a:r>
              <a:rPr sz="4000" spc="20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Per</a:t>
            </a:r>
            <a:r>
              <a:rPr sz="4000" spc="-20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Line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031239" y="1693545"/>
            <a:ext cx="106197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954895" algn="l"/>
              </a:tabLst>
            </a:pPr>
            <a:r>
              <a:rPr sz="2400" spc="-10" dirty="0">
                <a:latin typeface="Calibri"/>
                <a:cs typeface="Calibri"/>
              </a:rPr>
              <a:t>Each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statement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pseudocode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should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express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just </a:t>
            </a:r>
            <a:r>
              <a:rPr sz="2400" spc="-5" dirty="0">
                <a:latin typeface="Calibri"/>
                <a:cs typeface="Calibri"/>
              </a:rPr>
              <a:t>one</a:t>
            </a:r>
            <a:r>
              <a:rPr sz="2400" dirty="0">
                <a:latin typeface="Calibri"/>
                <a:cs typeface="Calibri"/>
              </a:rPr>
              <a:t> action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computer.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task list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properly drawn, </a:t>
            </a:r>
            <a:r>
              <a:rPr sz="2400" dirty="0">
                <a:latin typeface="Calibri"/>
                <a:cs typeface="Calibri"/>
              </a:rPr>
              <a:t>then in </a:t>
            </a:r>
            <a:r>
              <a:rPr sz="2400" spc="-10" dirty="0">
                <a:latin typeface="Calibri"/>
                <a:cs typeface="Calibri"/>
              </a:rPr>
              <a:t>most </a:t>
            </a:r>
            <a:r>
              <a:rPr sz="2400" spc="-5" dirty="0">
                <a:latin typeface="Calibri"/>
                <a:cs typeface="Calibri"/>
              </a:rPr>
              <a:t>cases </a:t>
            </a:r>
            <a:r>
              <a:rPr sz="2400" dirty="0">
                <a:latin typeface="Calibri"/>
                <a:cs typeface="Calibri"/>
              </a:rPr>
              <a:t>each </a:t>
            </a:r>
            <a:r>
              <a:rPr sz="2400" spc="-10" dirty="0">
                <a:latin typeface="Calibri"/>
                <a:cs typeface="Calibri"/>
              </a:rPr>
              <a:t>task </a:t>
            </a:r>
            <a:r>
              <a:rPr lang="en-US" sz="2400" dirty="0">
                <a:latin typeface="Calibri"/>
                <a:cs typeface="Calibri"/>
              </a:rPr>
              <a:t>should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correspond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one </a:t>
            </a:r>
            <a:r>
              <a:rPr sz="2400" dirty="0">
                <a:latin typeface="Calibri"/>
                <a:cs typeface="Calibri"/>
              </a:rPr>
              <a:t>line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pseudocode.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3000" y="3674364"/>
            <a:ext cx="4495800" cy="2032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800" b="1" u="heavy" spc="-40" dirty="0">
                <a:solidFill>
                  <a:srgbClr val="7D1B68"/>
                </a:solidFill>
                <a:uFill>
                  <a:solidFill>
                    <a:srgbClr val="7D1B68"/>
                  </a:solidFill>
                </a:uFill>
                <a:latin typeface="Arial"/>
                <a:cs typeface="Arial"/>
              </a:rPr>
              <a:t>Task</a:t>
            </a:r>
            <a:r>
              <a:rPr sz="1800" b="1" u="heavy" spc="-35" dirty="0">
                <a:solidFill>
                  <a:srgbClr val="7D1B68"/>
                </a:solidFill>
                <a:uFill>
                  <a:solidFill>
                    <a:srgbClr val="7D1B68"/>
                  </a:solidFill>
                </a:uFill>
                <a:latin typeface="Arial"/>
                <a:cs typeface="Arial"/>
              </a:rPr>
              <a:t> </a:t>
            </a:r>
            <a:r>
              <a:rPr sz="1800" b="1" u="heavy" dirty="0">
                <a:solidFill>
                  <a:srgbClr val="7D1B68"/>
                </a:solidFill>
                <a:uFill>
                  <a:solidFill>
                    <a:srgbClr val="7D1B68"/>
                  </a:solidFill>
                </a:uFill>
                <a:latin typeface="Arial"/>
                <a:cs typeface="Arial"/>
              </a:rPr>
              <a:t>List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1085"/>
              </a:spcBef>
            </a:pPr>
            <a:r>
              <a:rPr sz="1800" b="1" spc="-5" dirty="0">
                <a:latin typeface="Arial"/>
                <a:cs typeface="Arial"/>
              </a:rPr>
              <a:t>Read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name, </a:t>
            </a:r>
            <a:r>
              <a:rPr sz="1800" b="1" dirty="0">
                <a:latin typeface="Arial"/>
                <a:cs typeface="Arial"/>
              </a:rPr>
              <a:t>hours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worked,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rate</a:t>
            </a:r>
            <a:r>
              <a:rPr sz="1800" b="1" dirty="0">
                <a:latin typeface="Arial"/>
                <a:cs typeface="Arial"/>
              </a:rPr>
              <a:t> of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pay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Perform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calculations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Arial"/>
                <a:cs typeface="Arial"/>
              </a:rPr>
              <a:t>gross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=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hours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worked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*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rate</a:t>
            </a:r>
            <a:r>
              <a:rPr sz="1800" b="1" dirty="0">
                <a:latin typeface="Arial"/>
                <a:cs typeface="Arial"/>
              </a:rPr>
              <a:t> of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pay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1080"/>
              </a:spcBef>
            </a:pPr>
            <a:r>
              <a:rPr sz="1800" b="1" spc="-10" dirty="0">
                <a:latin typeface="Arial"/>
                <a:cs typeface="Arial"/>
              </a:rPr>
              <a:t>Write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name, </a:t>
            </a:r>
            <a:r>
              <a:rPr sz="1800" b="1" dirty="0">
                <a:latin typeface="Arial"/>
                <a:cs typeface="Arial"/>
              </a:rPr>
              <a:t>hours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worked,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gross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05600" y="3791711"/>
            <a:ext cx="4114800" cy="1615440"/>
          </a:xfrm>
          <a:custGeom>
            <a:avLst/>
            <a:gdLst/>
            <a:ahLst/>
            <a:cxnLst/>
            <a:rect l="l" t="t" r="r" b="b"/>
            <a:pathLst>
              <a:path w="4114800" h="1615439">
                <a:moveTo>
                  <a:pt x="0" y="1615440"/>
                </a:moveTo>
                <a:lnTo>
                  <a:pt x="4114800" y="1615440"/>
                </a:lnTo>
                <a:lnTo>
                  <a:pt x="4114800" y="0"/>
                </a:lnTo>
                <a:lnTo>
                  <a:pt x="0" y="0"/>
                </a:lnTo>
                <a:lnTo>
                  <a:pt x="0" y="161544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85229" y="3681857"/>
            <a:ext cx="3942079" cy="167195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97305">
              <a:lnSpc>
                <a:spcPct val="100000"/>
              </a:lnSpc>
              <a:spcBef>
                <a:spcPts val="1180"/>
              </a:spcBef>
            </a:pPr>
            <a:r>
              <a:rPr sz="1800" b="1" u="heavy" spc="-5" dirty="0">
                <a:solidFill>
                  <a:srgbClr val="7D1B68"/>
                </a:solidFill>
                <a:uFill>
                  <a:solidFill>
                    <a:srgbClr val="7D1B68"/>
                  </a:solidFill>
                </a:uFill>
                <a:latin typeface="Arial"/>
                <a:cs typeface="Arial"/>
              </a:rPr>
              <a:t>Pseudocode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800" b="1" spc="-20" dirty="0">
                <a:latin typeface="Arial"/>
                <a:cs typeface="Arial"/>
              </a:rPr>
              <a:t>READ</a:t>
            </a:r>
            <a:r>
              <a:rPr sz="1800" b="1" spc="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name,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hoursWorked,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payRate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gross </a:t>
            </a:r>
            <a:r>
              <a:rPr sz="1800" b="1" spc="-5" dirty="0">
                <a:latin typeface="Arial"/>
                <a:cs typeface="Arial"/>
              </a:rPr>
              <a:t>= hoursWorked * payRate </a:t>
            </a:r>
            <a:r>
              <a:rPr sz="1800" b="1" dirty="0">
                <a:latin typeface="Arial"/>
                <a:cs typeface="Arial"/>
              </a:rPr>
              <a:t> WRITE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name, hoursWorked,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gross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6469379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0" y="0"/>
                </a:lnTo>
                <a:lnTo>
                  <a:pt x="0" y="384048"/>
                </a:lnTo>
                <a:lnTo>
                  <a:pt x="12192000" y="384048"/>
                </a:lnTo>
                <a:lnTo>
                  <a:pt x="12192000" y="0"/>
                </a:lnTo>
                <a:close/>
              </a:path>
            </a:pathLst>
          </a:custGeom>
          <a:solidFill>
            <a:srgbClr val="7D1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15238"/>
            <a:ext cx="61493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7D1B68"/>
                </a:solidFill>
              </a:rPr>
              <a:t>Capitalize</a:t>
            </a:r>
            <a:r>
              <a:rPr sz="4000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Initial Keyword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02640" y="1475689"/>
            <a:ext cx="10529570" cy="17754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marR="5080" indent="-342900">
              <a:lnSpc>
                <a:spcPts val="3030"/>
              </a:lnSpc>
              <a:spcBef>
                <a:spcPts val="475"/>
              </a:spcBef>
              <a:tabLst>
                <a:tab pos="8256905" algn="l"/>
              </a:tabLst>
            </a:pP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example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below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words: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WRITE.	Th</a:t>
            </a:r>
            <a:r>
              <a:rPr lang="en-US" sz="2800" spc="-5" dirty="0">
                <a:latin typeface="Calibri"/>
                <a:cs typeface="Calibri"/>
              </a:rPr>
              <a:t>ere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 just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few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keywords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others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are listed bellow</a:t>
            </a:r>
            <a:r>
              <a:rPr sz="2800" spc="-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5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800" spc="-25" dirty="0">
                <a:solidFill>
                  <a:srgbClr val="1F487C"/>
                </a:solidFill>
                <a:latin typeface="Calibri"/>
                <a:cs typeface="Calibri"/>
              </a:rPr>
              <a:t>READ,</a:t>
            </a:r>
            <a:r>
              <a:rPr sz="2800" spc="-5" dirty="0">
                <a:solidFill>
                  <a:srgbClr val="1F487C"/>
                </a:solidFill>
                <a:latin typeface="Calibri"/>
                <a:cs typeface="Calibri"/>
              </a:rPr>
              <a:t> WRITE,</a:t>
            </a:r>
            <a:r>
              <a:rPr sz="28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1F487C"/>
                </a:solidFill>
                <a:latin typeface="Calibri"/>
                <a:cs typeface="Calibri"/>
              </a:rPr>
              <a:t>IF,</a:t>
            </a:r>
            <a:r>
              <a:rPr sz="28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1F487C"/>
                </a:solidFill>
                <a:latin typeface="Calibri"/>
                <a:cs typeface="Calibri"/>
              </a:rPr>
              <a:t>ELSE, </a:t>
            </a:r>
            <a:r>
              <a:rPr sz="2800" spc="-55" dirty="0">
                <a:solidFill>
                  <a:srgbClr val="1F487C"/>
                </a:solidFill>
                <a:latin typeface="Calibri"/>
                <a:cs typeface="Calibri"/>
              </a:rPr>
              <a:t>ENDIF,</a:t>
            </a:r>
            <a:r>
              <a:rPr sz="280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1F487C"/>
                </a:solidFill>
                <a:latin typeface="Calibri"/>
                <a:cs typeface="Calibri"/>
              </a:rPr>
              <a:t>WHILE, </a:t>
            </a:r>
            <a:r>
              <a:rPr sz="2800" spc="-10" dirty="0">
                <a:solidFill>
                  <a:srgbClr val="1F487C"/>
                </a:solidFill>
                <a:latin typeface="Calibri"/>
                <a:cs typeface="Calibri"/>
              </a:rPr>
              <a:t>ENDWHILE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6200" y="4267200"/>
            <a:ext cx="5105400" cy="178498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842770">
              <a:lnSpc>
                <a:spcPct val="100000"/>
              </a:lnSpc>
              <a:spcBef>
                <a:spcPts val="310"/>
              </a:spcBef>
            </a:pPr>
            <a:r>
              <a:rPr sz="2000" u="heavy" dirty="0">
                <a:solidFill>
                  <a:srgbClr val="7D1B68"/>
                </a:solidFill>
                <a:uFill>
                  <a:solidFill>
                    <a:srgbClr val="7D1B68"/>
                  </a:solidFill>
                </a:uFill>
                <a:latin typeface="Arial MT"/>
                <a:cs typeface="Arial MT"/>
              </a:rPr>
              <a:t>Pseudocode</a:t>
            </a:r>
            <a:endParaRPr sz="2000">
              <a:latin typeface="Arial MT"/>
              <a:cs typeface="Arial MT"/>
            </a:endParaRPr>
          </a:p>
          <a:p>
            <a:pPr marL="92075" marR="860425">
              <a:lnSpc>
                <a:spcPct val="150000"/>
              </a:lnSpc>
            </a:pPr>
            <a:r>
              <a:rPr sz="2000" dirty="0">
                <a:latin typeface="Arial MT"/>
                <a:cs typeface="Arial MT"/>
              </a:rPr>
              <a:t>READ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name,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hoursWorked,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payRate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gross = </a:t>
            </a:r>
            <a:r>
              <a:rPr sz="2000" spc="-5" dirty="0">
                <a:latin typeface="Arial MT"/>
                <a:cs typeface="Arial MT"/>
              </a:rPr>
              <a:t>hoursWorked </a:t>
            </a:r>
            <a:r>
              <a:rPr sz="2000" dirty="0">
                <a:latin typeface="Arial MT"/>
                <a:cs typeface="Arial MT"/>
              </a:rPr>
              <a:t>* payRate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name,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hoursWorked,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gross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469379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0" y="0"/>
                </a:lnTo>
                <a:lnTo>
                  <a:pt x="0" y="384048"/>
                </a:lnTo>
                <a:lnTo>
                  <a:pt x="12192000" y="384048"/>
                </a:lnTo>
                <a:lnTo>
                  <a:pt x="12192000" y="0"/>
                </a:lnTo>
                <a:close/>
              </a:path>
            </a:pathLst>
          </a:custGeom>
          <a:solidFill>
            <a:srgbClr val="7D1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15238"/>
            <a:ext cx="6144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7D1B68"/>
                </a:solidFill>
              </a:rPr>
              <a:t>Indent to</a:t>
            </a:r>
            <a:r>
              <a:rPr sz="4000" spc="-20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Show</a:t>
            </a:r>
            <a:r>
              <a:rPr sz="4000" spc="-30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Hierarchy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2470886"/>
            <a:ext cx="7145020" cy="6965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Wingdings"/>
              <a:buChar char=""/>
              <a:tabLst>
                <a:tab pos="355600" algn="l"/>
              </a:tabLst>
            </a:pPr>
            <a:r>
              <a:rPr sz="20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Sequence: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Wingdings"/>
              <a:buChar char=""/>
              <a:tabLst>
                <a:tab pos="756920" algn="l"/>
              </a:tabLst>
            </a:pPr>
            <a:r>
              <a:rPr sz="2000" b="1" spc="-15" dirty="0">
                <a:latin typeface="Calibri"/>
                <a:cs typeface="Calibri"/>
              </a:rPr>
              <a:t>Keep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statements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sequence</a:t>
            </a:r>
            <a:r>
              <a:rPr sz="2000" b="1" spc="-5" dirty="0">
                <a:latin typeface="Calibri"/>
                <a:cs typeface="Calibri"/>
              </a:rPr>
              <a:t> all </a:t>
            </a:r>
            <a:r>
              <a:rPr sz="2000" b="1" spc="-10" dirty="0">
                <a:latin typeface="Calibri"/>
                <a:cs typeface="Calibri"/>
              </a:rPr>
              <a:t>starting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same </a:t>
            </a:r>
            <a:r>
              <a:rPr sz="2000" b="1" dirty="0">
                <a:latin typeface="Calibri"/>
                <a:cs typeface="Calibri"/>
              </a:rPr>
              <a:t>column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3438499"/>
            <a:ext cx="7235190" cy="22409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"/>
              <a:tabLst>
                <a:tab pos="355600" algn="l"/>
              </a:tabLst>
            </a:pPr>
            <a:r>
              <a:rPr sz="20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Selection:</a:t>
            </a:r>
            <a:endParaRPr sz="2000">
              <a:latin typeface="Calibri"/>
              <a:cs typeface="Calibri"/>
            </a:endParaRPr>
          </a:p>
          <a:p>
            <a:pPr marL="812800" marR="5080" lvl="1" indent="-343535">
              <a:lnSpc>
                <a:spcPct val="100000"/>
              </a:lnSpc>
              <a:spcBef>
                <a:spcPts val="480"/>
              </a:spcBef>
              <a:buFont typeface="Wingdings"/>
              <a:buChar char=""/>
              <a:tabLst>
                <a:tab pos="813435" algn="l"/>
              </a:tabLst>
            </a:pPr>
            <a:r>
              <a:rPr sz="2000" b="1" spc="-5" dirty="0">
                <a:latin typeface="Calibri"/>
                <a:cs typeface="Calibri"/>
              </a:rPr>
              <a:t>Indent </a:t>
            </a:r>
            <a:r>
              <a:rPr sz="2000" b="1" spc="-15" dirty="0">
                <a:latin typeface="Calibri"/>
                <a:cs typeface="Calibri"/>
              </a:rPr>
              <a:t>statements </a:t>
            </a:r>
            <a:r>
              <a:rPr sz="2000" b="1" spc="-10" dirty="0">
                <a:latin typeface="Calibri"/>
                <a:cs typeface="Calibri"/>
              </a:rPr>
              <a:t>that fall </a:t>
            </a:r>
            <a:r>
              <a:rPr sz="2000" b="1" dirty="0">
                <a:latin typeface="Calibri"/>
                <a:cs typeface="Calibri"/>
              </a:rPr>
              <a:t>inside selection </a:t>
            </a:r>
            <a:r>
              <a:rPr sz="2000" b="1" spc="-5" dirty="0">
                <a:latin typeface="Calibri"/>
                <a:cs typeface="Calibri"/>
              </a:rPr>
              <a:t>structure, </a:t>
            </a:r>
            <a:r>
              <a:rPr sz="2000" b="1" dirty="0">
                <a:latin typeface="Calibri"/>
                <a:cs typeface="Calibri"/>
              </a:rPr>
              <a:t>but not </a:t>
            </a:r>
            <a:r>
              <a:rPr sz="2000" b="1" spc="-4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keywords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that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form</a:t>
            </a:r>
            <a:r>
              <a:rPr sz="2000" b="1" dirty="0">
                <a:latin typeface="Calibri"/>
                <a:cs typeface="Calibri"/>
              </a:rPr>
              <a:t> the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selection</a:t>
            </a:r>
            <a:endParaRPr sz="2000">
              <a:latin typeface="Calibri"/>
              <a:cs typeface="Calibri"/>
            </a:endParaRPr>
          </a:p>
          <a:p>
            <a:pPr marL="431800" indent="-342900">
              <a:lnSpc>
                <a:spcPct val="100000"/>
              </a:lnSpc>
              <a:spcBef>
                <a:spcPts val="1595"/>
              </a:spcBef>
              <a:buFont typeface="Wingdings"/>
              <a:buChar char=""/>
              <a:tabLst>
                <a:tab pos="431800" algn="l"/>
              </a:tabLst>
            </a:pPr>
            <a:r>
              <a:rPr sz="20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Loop:</a:t>
            </a:r>
            <a:endParaRPr sz="2000">
              <a:latin typeface="Calibri"/>
              <a:cs typeface="Calibri"/>
            </a:endParaRPr>
          </a:p>
          <a:p>
            <a:pPr marL="889000" marR="10160" lvl="1" indent="-342900">
              <a:lnSpc>
                <a:spcPct val="100000"/>
              </a:lnSpc>
              <a:spcBef>
                <a:spcPts val="484"/>
              </a:spcBef>
              <a:buFont typeface="Wingdings"/>
              <a:buChar char=""/>
              <a:tabLst>
                <a:tab pos="889635" algn="l"/>
              </a:tabLst>
            </a:pPr>
            <a:r>
              <a:rPr sz="2000" b="1" spc="-5" dirty="0">
                <a:latin typeface="Calibri"/>
                <a:cs typeface="Calibri"/>
              </a:rPr>
              <a:t>Indent </a:t>
            </a:r>
            <a:r>
              <a:rPr sz="2000" b="1" spc="-15" dirty="0">
                <a:latin typeface="Calibri"/>
                <a:cs typeface="Calibri"/>
              </a:rPr>
              <a:t>statements </a:t>
            </a:r>
            <a:r>
              <a:rPr sz="2000" b="1" spc="-10" dirty="0">
                <a:latin typeface="Calibri"/>
                <a:cs typeface="Calibri"/>
              </a:rPr>
              <a:t>that fall </a:t>
            </a:r>
            <a:r>
              <a:rPr sz="2000" b="1" dirty="0">
                <a:latin typeface="Calibri"/>
                <a:cs typeface="Calibri"/>
              </a:rPr>
              <a:t>inside the loop but not </a:t>
            </a:r>
            <a:r>
              <a:rPr sz="2000" b="1" spc="-15" dirty="0">
                <a:latin typeface="Calibri"/>
                <a:cs typeface="Calibri"/>
              </a:rPr>
              <a:t>keywords </a:t>
            </a:r>
            <a:r>
              <a:rPr sz="2000" b="1" spc="-4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that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form</a:t>
            </a:r>
            <a:r>
              <a:rPr sz="2000" b="1" dirty="0">
                <a:latin typeface="Calibri"/>
                <a:cs typeface="Calibri"/>
              </a:rPr>
              <a:t> the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loop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739" y="1551559"/>
            <a:ext cx="7257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Each </a:t>
            </a:r>
            <a:r>
              <a:rPr sz="2400" spc="-5" dirty="0">
                <a:latin typeface="Calibri"/>
                <a:cs typeface="Calibri"/>
              </a:rPr>
              <a:t>design </a:t>
            </a:r>
            <a:r>
              <a:rPr sz="2400" spc="-10" dirty="0">
                <a:latin typeface="Calibri"/>
                <a:cs typeface="Calibri"/>
              </a:rPr>
              <a:t>structure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particular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indentation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pattern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01100" y="2270760"/>
            <a:ext cx="3009900" cy="27406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92075" marR="104139">
              <a:lnSpc>
                <a:spcPct val="125000"/>
              </a:lnSpc>
            </a:pPr>
            <a:r>
              <a:rPr sz="1600" b="1" spc="-15" dirty="0">
                <a:latin typeface="Arial"/>
                <a:cs typeface="Arial"/>
              </a:rPr>
              <a:t>READ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name,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grossPay,</a:t>
            </a:r>
            <a:r>
              <a:rPr sz="1600" b="1" spc="3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taxes </a:t>
            </a:r>
            <a:r>
              <a:rPr sz="1600" b="1" spc="-43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IF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taxes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&gt;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  <a:p>
            <a:pPr marL="549275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net =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grossPay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–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taxes</a:t>
            </a:r>
            <a:endParaRPr sz="16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ELSE</a:t>
            </a:r>
            <a:endParaRPr sz="1600">
              <a:latin typeface="Arial"/>
              <a:cs typeface="Arial"/>
            </a:endParaRPr>
          </a:p>
          <a:p>
            <a:pPr marL="92075" marR="1002665" indent="457200">
              <a:lnSpc>
                <a:spcPct val="125000"/>
              </a:lnSpc>
            </a:pPr>
            <a:r>
              <a:rPr sz="1600" b="1" spc="-5" dirty="0">
                <a:latin typeface="Arial"/>
                <a:cs typeface="Arial"/>
              </a:rPr>
              <a:t>net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=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grossPay </a:t>
            </a:r>
            <a:r>
              <a:rPr sz="1600" b="1" spc="-43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ENDIF</a:t>
            </a:r>
            <a:endParaRPr sz="16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WRITE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name,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net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6469379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0" y="0"/>
                </a:lnTo>
                <a:lnTo>
                  <a:pt x="0" y="384048"/>
                </a:lnTo>
                <a:lnTo>
                  <a:pt x="12192000" y="384048"/>
                </a:lnTo>
                <a:lnTo>
                  <a:pt x="12192000" y="0"/>
                </a:lnTo>
                <a:close/>
              </a:path>
            </a:pathLst>
          </a:custGeom>
          <a:solidFill>
            <a:srgbClr val="7D1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15238"/>
            <a:ext cx="58642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7D1B68"/>
                </a:solidFill>
              </a:rPr>
              <a:t>End</a:t>
            </a:r>
            <a:r>
              <a:rPr sz="4000" spc="-25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Multiline</a:t>
            </a:r>
            <a:r>
              <a:rPr sz="4000" spc="-10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Structures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36294" y="4905603"/>
            <a:ext cx="9357995" cy="831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5080" indent="-114300">
              <a:lnSpc>
                <a:spcPct val="1101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See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IF/ELSE/ENDIF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10" dirty="0">
                <a:latin typeface="Calibri"/>
                <a:cs typeface="Calibri"/>
              </a:rPr>
              <a:t>constructed above,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ENDIF </a:t>
            </a:r>
            <a:r>
              <a:rPr sz="2400" dirty="0">
                <a:latin typeface="Calibri"/>
                <a:cs typeface="Calibri"/>
              </a:rPr>
              <a:t>is in line with the </a:t>
            </a:r>
            <a:r>
              <a:rPr sz="2400" spc="-80" dirty="0">
                <a:latin typeface="Calibri"/>
                <a:cs typeface="Calibri"/>
              </a:rPr>
              <a:t>IF.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5" dirty="0">
                <a:latin typeface="Calibri"/>
                <a:cs typeface="Calibri"/>
              </a:rPr>
              <a:t> WHILE/ENDWHILE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0400" y="1577339"/>
            <a:ext cx="5791200" cy="27254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Times New Roman"/>
              <a:cs typeface="Times New Roman"/>
            </a:endParaRPr>
          </a:p>
          <a:p>
            <a:pPr marL="1006475">
              <a:lnSpc>
                <a:spcPct val="100000"/>
              </a:lnSpc>
            </a:pPr>
            <a:r>
              <a:rPr sz="1800" b="1" spc="-15" dirty="0">
                <a:latin typeface="Arial"/>
                <a:cs typeface="Arial"/>
              </a:rPr>
              <a:t>READ</a:t>
            </a:r>
            <a:r>
              <a:rPr sz="1800" b="1" spc="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name,</a:t>
            </a:r>
            <a:r>
              <a:rPr sz="1800" b="1" spc="-20" dirty="0">
                <a:latin typeface="Arial"/>
                <a:cs typeface="Arial"/>
              </a:rPr>
              <a:t> grossPay,</a:t>
            </a:r>
            <a:r>
              <a:rPr sz="1800" b="1" spc="-5" dirty="0">
                <a:latin typeface="Arial"/>
                <a:cs typeface="Arial"/>
              </a:rPr>
              <a:t> taxes</a:t>
            </a:r>
            <a:endParaRPr sz="1800">
              <a:latin typeface="Arial"/>
              <a:cs typeface="Arial"/>
            </a:endParaRPr>
          </a:p>
          <a:p>
            <a:pPr marL="1006475">
              <a:lnSpc>
                <a:spcPct val="100000"/>
              </a:lnSpc>
              <a:spcBef>
                <a:spcPts val="545"/>
              </a:spcBef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taxes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&gt;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1920875">
              <a:lnSpc>
                <a:spcPct val="100000"/>
              </a:lnSpc>
              <a:spcBef>
                <a:spcPts val="540"/>
              </a:spcBef>
            </a:pPr>
            <a:r>
              <a:rPr sz="1800" b="1" dirty="0">
                <a:latin typeface="Arial"/>
                <a:cs typeface="Arial"/>
              </a:rPr>
              <a:t>net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grossPay</a:t>
            </a:r>
            <a:r>
              <a:rPr sz="1800" b="1" dirty="0">
                <a:latin typeface="Arial"/>
                <a:cs typeface="Arial"/>
              </a:rPr>
              <a:t> –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taxes</a:t>
            </a:r>
            <a:endParaRPr sz="1800">
              <a:latin typeface="Arial"/>
              <a:cs typeface="Arial"/>
            </a:endParaRPr>
          </a:p>
          <a:p>
            <a:pPr marL="1006475">
              <a:lnSpc>
                <a:spcPct val="100000"/>
              </a:lnSpc>
              <a:spcBef>
                <a:spcPts val="540"/>
              </a:spcBef>
            </a:pPr>
            <a:r>
              <a:rPr sz="1800" b="1" dirty="0">
                <a:latin typeface="Arial"/>
                <a:cs typeface="Arial"/>
              </a:rPr>
              <a:t>ELSE</a:t>
            </a:r>
            <a:endParaRPr sz="1800">
              <a:latin typeface="Arial"/>
              <a:cs typeface="Arial"/>
            </a:endParaRPr>
          </a:p>
          <a:p>
            <a:pPr marL="1920875">
              <a:lnSpc>
                <a:spcPct val="100000"/>
              </a:lnSpc>
              <a:spcBef>
                <a:spcPts val="540"/>
              </a:spcBef>
            </a:pPr>
            <a:r>
              <a:rPr sz="1800" b="1" dirty="0">
                <a:latin typeface="Arial"/>
                <a:cs typeface="Arial"/>
              </a:rPr>
              <a:t>net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grossPay</a:t>
            </a:r>
            <a:endParaRPr sz="1800">
              <a:latin typeface="Arial"/>
              <a:cs typeface="Arial"/>
            </a:endParaRPr>
          </a:p>
          <a:p>
            <a:pPr marL="1006475">
              <a:lnSpc>
                <a:spcPct val="100000"/>
              </a:lnSpc>
              <a:spcBef>
                <a:spcPts val="540"/>
              </a:spcBef>
            </a:pPr>
            <a:r>
              <a:rPr sz="1800" b="1" spc="-5" dirty="0">
                <a:latin typeface="Arial"/>
                <a:cs typeface="Arial"/>
              </a:rPr>
              <a:t>ENDIF</a:t>
            </a:r>
            <a:endParaRPr sz="1800">
              <a:latin typeface="Arial"/>
              <a:cs typeface="Arial"/>
            </a:endParaRPr>
          </a:p>
          <a:p>
            <a:pPr marL="1006475">
              <a:lnSpc>
                <a:spcPct val="100000"/>
              </a:lnSpc>
              <a:spcBef>
                <a:spcPts val="540"/>
              </a:spcBef>
            </a:pPr>
            <a:r>
              <a:rPr sz="1800" b="1" dirty="0">
                <a:latin typeface="Arial"/>
                <a:cs typeface="Arial"/>
              </a:rPr>
              <a:t>WRITE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469379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0" y="0"/>
                </a:lnTo>
                <a:lnTo>
                  <a:pt x="0" y="384048"/>
                </a:lnTo>
                <a:lnTo>
                  <a:pt x="12192000" y="384048"/>
                </a:lnTo>
                <a:lnTo>
                  <a:pt x="12192000" y="0"/>
                </a:lnTo>
                <a:close/>
              </a:path>
            </a:pathLst>
          </a:custGeom>
          <a:solidFill>
            <a:srgbClr val="7D1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515238"/>
            <a:ext cx="59721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7D1B68"/>
                </a:solidFill>
                <a:latin typeface="Arial"/>
                <a:cs typeface="Arial"/>
              </a:rPr>
              <a:t>Language</a:t>
            </a:r>
            <a:r>
              <a:rPr sz="4000" b="1" spc="-50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sz="4000" b="1" spc="-5" dirty="0">
                <a:solidFill>
                  <a:srgbClr val="7D1B68"/>
                </a:solidFill>
                <a:latin typeface="Arial"/>
                <a:cs typeface="Arial"/>
              </a:rPr>
              <a:t>Independence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5319" y="1545341"/>
            <a:ext cx="10417175" cy="19456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95"/>
              </a:spcBef>
            </a:pPr>
            <a:r>
              <a:rPr lang="en-US" sz="2800" spc="-10" dirty="0">
                <a:latin typeface="Calibri"/>
                <a:cs typeface="Calibri"/>
              </a:rPr>
              <a:t>W</a:t>
            </a:r>
            <a:r>
              <a:rPr sz="2800" spc="-10" dirty="0">
                <a:latin typeface="Calibri"/>
                <a:cs typeface="Calibri"/>
              </a:rPr>
              <a:t>rite </a:t>
            </a:r>
            <a:r>
              <a:rPr sz="2800" spc="-15" dirty="0">
                <a:latin typeface="Calibri"/>
                <a:cs typeface="Calibri"/>
              </a:rPr>
              <a:t>in </a:t>
            </a:r>
            <a:r>
              <a:rPr sz="2800" spc="-5" dirty="0">
                <a:latin typeface="Calibri"/>
                <a:cs typeface="Calibri"/>
              </a:rPr>
              <a:t>language </a:t>
            </a:r>
            <a:r>
              <a:rPr lang="en-US" sz="2800" spc="-5" dirty="0">
                <a:latin typeface="Calibri"/>
                <a:cs typeface="Calibri"/>
              </a:rPr>
              <a:t>in which </a:t>
            </a:r>
            <a:r>
              <a:rPr sz="2800" spc="-20" dirty="0">
                <a:latin typeface="Calibri"/>
                <a:cs typeface="Calibri"/>
              </a:rPr>
              <a:t>you are most comfortable </a:t>
            </a:r>
            <a:r>
              <a:rPr sz="2800" spc="-5" dirty="0">
                <a:latin typeface="Calibri"/>
                <a:cs typeface="Calibri"/>
              </a:rPr>
              <a:t>with, in the long </a:t>
            </a:r>
            <a:r>
              <a:rPr sz="2800" spc="-10" dirty="0">
                <a:latin typeface="Calibri"/>
                <a:cs typeface="Calibri"/>
              </a:rPr>
              <a:t>run </a:t>
            </a:r>
            <a:r>
              <a:rPr sz="2800" spc="-20" dirty="0">
                <a:latin typeface="Calibri"/>
                <a:cs typeface="Calibri"/>
              </a:rPr>
              <a:t>you </a:t>
            </a:r>
            <a:r>
              <a:rPr sz="2800" spc="-5" dirty="0">
                <a:latin typeface="Calibri"/>
                <a:cs typeface="Calibri"/>
              </a:rPr>
              <a:t>will </a:t>
            </a:r>
            <a:r>
              <a:rPr sz="2800" spc="-20" dirty="0">
                <a:latin typeface="Calibri"/>
                <a:cs typeface="Calibri"/>
              </a:rPr>
              <a:t>save </a:t>
            </a:r>
            <a:r>
              <a:rPr sz="2800" spc="-5" dirty="0">
                <a:latin typeface="Calibri"/>
                <a:cs typeface="Calibri"/>
              </a:rPr>
              <a:t>time.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Remember </a:t>
            </a:r>
            <a:r>
              <a:rPr sz="2800" spc="-20" dirty="0">
                <a:latin typeface="Calibri"/>
                <a:cs typeface="Calibri"/>
              </a:rPr>
              <a:t>you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describing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program,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you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programming!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69379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0" y="0"/>
                </a:lnTo>
                <a:lnTo>
                  <a:pt x="0" y="384048"/>
                </a:lnTo>
                <a:lnTo>
                  <a:pt x="12192000" y="384048"/>
                </a:lnTo>
                <a:lnTo>
                  <a:pt x="12192000" y="0"/>
                </a:lnTo>
                <a:close/>
              </a:path>
            </a:pathLst>
          </a:custGeom>
          <a:solidFill>
            <a:srgbClr val="7D1B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3" y="753236"/>
            <a:ext cx="713168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7D1B68"/>
                </a:solidFill>
              </a:rPr>
              <a:t>Advantages</a:t>
            </a:r>
            <a:r>
              <a:rPr sz="4000" spc="5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&amp;</a:t>
            </a:r>
            <a:r>
              <a:rPr sz="4000" spc="-20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Disadvantages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05992" y="1948434"/>
            <a:ext cx="4779645" cy="225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Pseudocode</a:t>
            </a:r>
            <a:r>
              <a:rPr sz="2400" spc="-2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Advantages</a:t>
            </a:r>
            <a:endParaRPr sz="2400" dirty="0">
              <a:latin typeface="Calibri"/>
              <a:cs typeface="Calibri"/>
            </a:endParaRPr>
          </a:p>
          <a:p>
            <a:pPr marL="756285" indent="-287655">
              <a:lnSpc>
                <a:spcPct val="100000"/>
              </a:lnSpc>
              <a:spcBef>
                <a:spcPts val="2014"/>
              </a:spcBef>
              <a:buFont typeface="Wingdings"/>
              <a:buChar char="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Easily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modified</a:t>
            </a:r>
          </a:p>
          <a:p>
            <a:pPr marL="756285" indent="-287655">
              <a:lnSpc>
                <a:spcPct val="100000"/>
              </a:lnSpc>
              <a:spcBef>
                <a:spcPts val="2014"/>
              </a:spcBef>
              <a:buFont typeface="Wingdings"/>
              <a:buChar char="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Implements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structured concepts</a:t>
            </a:r>
            <a:endParaRPr sz="2400" dirty="0">
              <a:latin typeface="Calibri"/>
              <a:cs typeface="Calibri"/>
            </a:endParaRPr>
          </a:p>
          <a:p>
            <a:pPr marL="756285" indent="-287655">
              <a:lnSpc>
                <a:spcPct val="100000"/>
              </a:lnSpc>
              <a:spcBef>
                <a:spcPts val="2020"/>
              </a:spcBef>
              <a:buFont typeface="Wingdings"/>
              <a:buChar char="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Done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Word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Processor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3568" y="1969134"/>
            <a:ext cx="4936490" cy="2183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7D1B68"/>
                </a:solidFill>
                <a:latin typeface="+mj-lt"/>
                <a:cs typeface="Times New Roman"/>
              </a:rPr>
              <a:t>Pseudocode</a:t>
            </a:r>
            <a:r>
              <a:rPr sz="2400" spc="5" dirty="0">
                <a:solidFill>
                  <a:srgbClr val="7D1B68"/>
                </a:solidFill>
                <a:latin typeface="+mj-lt"/>
                <a:cs typeface="Times New Roman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+mj-lt"/>
                <a:cs typeface="Times New Roman"/>
              </a:rPr>
              <a:t>Disadvantages:</a:t>
            </a:r>
            <a:endParaRPr sz="2400" dirty="0">
              <a:latin typeface="+mj-lt"/>
              <a:cs typeface="Times New Roman"/>
            </a:endParaRPr>
          </a:p>
          <a:p>
            <a:pPr marL="756285" indent="-287020">
              <a:lnSpc>
                <a:spcPct val="100000"/>
              </a:lnSpc>
              <a:spcBef>
                <a:spcPts val="2014"/>
              </a:spcBef>
              <a:buFont typeface="Wingdings"/>
              <a:buChar char=""/>
              <a:tabLst>
                <a:tab pos="756920" algn="l"/>
              </a:tabLst>
            </a:pPr>
            <a:r>
              <a:rPr sz="2400" spc="-5" dirty="0">
                <a:latin typeface="+mj-lt"/>
                <a:cs typeface="Times New Roman"/>
              </a:rPr>
              <a:t>Not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visual</a:t>
            </a:r>
          </a:p>
          <a:p>
            <a:pPr marL="756285" marR="5080" indent="-287020">
              <a:lnSpc>
                <a:spcPct val="150000"/>
              </a:lnSpc>
              <a:spcBef>
                <a:spcPts val="580"/>
              </a:spcBef>
              <a:buFont typeface="Wingdings"/>
              <a:buChar char=""/>
              <a:tabLst>
                <a:tab pos="756920" algn="l"/>
              </a:tabLst>
            </a:pPr>
            <a:r>
              <a:rPr sz="2400" spc="-5" dirty="0">
                <a:latin typeface="+mj-lt"/>
                <a:cs typeface="Times New Roman"/>
              </a:rPr>
              <a:t>No</a:t>
            </a:r>
            <a:r>
              <a:rPr sz="2400" spc="-1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accepted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standard,</a:t>
            </a:r>
            <a:r>
              <a:rPr sz="2400" spc="-35" dirty="0">
                <a:latin typeface="+mj-lt"/>
                <a:cs typeface="Times New Roman"/>
              </a:rPr>
              <a:t> </a:t>
            </a:r>
            <a:r>
              <a:rPr sz="2400" spc="-5" dirty="0">
                <a:latin typeface="+mj-lt"/>
                <a:cs typeface="Times New Roman"/>
              </a:rPr>
              <a:t>varies</a:t>
            </a:r>
            <a:r>
              <a:rPr sz="2400" spc="-3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from </a:t>
            </a:r>
            <a:r>
              <a:rPr sz="2400" spc="-585" dirty="0">
                <a:latin typeface="+mj-lt"/>
                <a:cs typeface="Times New Roman"/>
              </a:rPr>
              <a:t> </a:t>
            </a:r>
            <a:r>
              <a:rPr sz="2400" spc="-5" dirty="0">
                <a:latin typeface="+mj-lt"/>
                <a:cs typeface="Times New Roman"/>
              </a:rPr>
              <a:t>company </a:t>
            </a:r>
            <a:r>
              <a:rPr sz="2400" dirty="0">
                <a:latin typeface="+mj-lt"/>
                <a:cs typeface="Times New Roman"/>
              </a:rPr>
              <a:t>to</a:t>
            </a:r>
            <a:r>
              <a:rPr sz="2400" spc="-20" dirty="0">
                <a:latin typeface="+mj-lt"/>
                <a:cs typeface="Times New Roman"/>
              </a:rPr>
              <a:t> </a:t>
            </a:r>
            <a:r>
              <a:rPr sz="2400" spc="-5" dirty="0">
                <a:latin typeface="+mj-lt"/>
                <a:cs typeface="Times New Roman"/>
              </a:rPr>
              <a:t>company</a:t>
            </a:r>
            <a:endParaRPr sz="2400" dirty="0">
              <a:latin typeface="+mj-lt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6" name="object 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15238"/>
            <a:ext cx="6070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7D1B68"/>
                </a:solidFill>
              </a:rPr>
              <a:t>Pseudocode</a:t>
            </a:r>
            <a:r>
              <a:rPr sz="4000" spc="5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&amp;</a:t>
            </a:r>
            <a:r>
              <a:rPr sz="4000" spc="-155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Algorithm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545341"/>
            <a:ext cx="10641330" cy="19456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Calibri"/>
                <a:cs typeface="Calibri"/>
              </a:rPr>
              <a:t>Example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1: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Write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determine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student’s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final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grade</a:t>
            </a:r>
            <a:r>
              <a:rPr sz="2800" spc="-5" dirty="0">
                <a:latin typeface="Calibri"/>
                <a:cs typeface="Calibri"/>
              </a:rPr>
              <a:t> and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indicate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whether it 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passing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failing.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final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grade</a:t>
            </a:r>
            <a:r>
              <a:rPr sz="2800" spc="-5" dirty="0">
                <a:latin typeface="Calibri"/>
                <a:cs typeface="Calibri"/>
              </a:rPr>
              <a:t> 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calculated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average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20" dirty="0">
                <a:latin typeface="Calibri"/>
                <a:cs typeface="Calibri"/>
              </a:rPr>
              <a:t>four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marks.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15238"/>
            <a:ext cx="6070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7D1B68"/>
                </a:solidFill>
              </a:rPr>
              <a:t>Pseudocode</a:t>
            </a:r>
            <a:r>
              <a:rPr sz="4000" spc="5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&amp;</a:t>
            </a:r>
            <a:r>
              <a:rPr sz="4000" spc="-155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Algorithm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069339" y="1625725"/>
            <a:ext cx="8051165" cy="33127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800" b="1" spc="-10" dirty="0">
                <a:latin typeface="Calibri"/>
                <a:cs typeface="Calibri"/>
              </a:rPr>
              <a:t>Pseudocode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i="1" spc="-5" dirty="0">
                <a:latin typeface="Calibri"/>
                <a:cs typeface="Calibri"/>
              </a:rPr>
              <a:t>Input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a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set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of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4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marks</a:t>
            </a:r>
            <a:endParaRPr sz="2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i="1" spc="-10" dirty="0">
                <a:latin typeface="Calibri"/>
                <a:cs typeface="Calibri"/>
              </a:rPr>
              <a:t>Calculate</a:t>
            </a:r>
            <a:r>
              <a:rPr sz="2800" i="1" spc="-5" dirty="0">
                <a:latin typeface="Calibri"/>
                <a:cs typeface="Calibri"/>
              </a:rPr>
              <a:t> their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average</a:t>
            </a:r>
            <a:r>
              <a:rPr sz="2800" i="1" spc="1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by</a:t>
            </a:r>
            <a:r>
              <a:rPr sz="2800" i="1" spc="-5" dirty="0">
                <a:latin typeface="Calibri"/>
                <a:cs typeface="Calibri"/>
              </a:rPr>
              <a:t> summing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and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dividing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by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i="1" spc="-5" dirty="0">
                <a:latin typeface="Calibri"/>
                <a:cs typeface="Calibri"/>
              </a:rPr>
              <a:t>if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average is</a:t>
            </a:r>
            <a:r>
              <a:rPr sz="2800" i="1" spc="-10" dirty="0">
                <a:latin typeface="Calibri"/>
                <a:cs typeface="Calibri"/>
              </a:rPr>
              <a:t> below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50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sz="2800" i="1" spc="-10" dirty="0">
                <a:latin typeface="Calibri"/>
                <a:cs typeface="Calibri"/>
              </a:rPr>
              <a:t>Print</a:t>
            </a:r>
            <a:r>
              <a:rPr sz="2800" i="1" spc="-30" dirty="0">
                <a:latin typeface="Calibri"/>
                <a:cs typeface="Calibri"/>
              </a:rPr>
              <a:t> </a:t>
            </a:r>
            <a:r>
              <a:rPr sz="2800" i="1" spc="-60" dirty="0">
                <a:latin typeface="Calibri"/>
                <a:cs typeface="Calibri"/>
              </a:rPr>
              <a:t>“FAIL”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335"/>
              </a:spcBef>
            </a:pPr>
            <a:r>
              <a:rPr sz="2800" i="1" spc="-10" dirty="0">
                <a:latin typeface="Calibri"/>
                <a:cs typeface="Calibri"/>
              </a:rPr>
              <a:t>else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sz="2800" i="1" spc="-10" dirty="0">
                <a:latin typeface="Calibri"/>
                <a:cs typeface="Calibri"/>
              </a:rPr>
              <a:t>Print</a:t>
            </a:r>
            <a:r>
              <a:rPr sz="2800" i="1" spc="-30" dirty="0">
                <a:latin typeface="Calibri"/>
                <a:cs typeface="Calibri"/>
              </a:rPr>
              <a:t> </a:t>
            </a:r>
            <a:r>
              <a:rPr sz="2800" i="1" spc="-40" dirty="0">
                <a:latin typeface="Calibri"/>
                <a:cs typeface="Calibri"/>
              </a:rPr>
              <a:t>“PASS”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15238"/>
            <a:ext cx="6070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7D1B68"/>
                </a:solidFill>
              </a:rPr>
              <a:t>Pseudocode</a:t>
            </a:r>
            <a:r>
              <a:rPr sz="4000" spc="5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&amp;</a:t>
            </a:r>
            <a:r>
              <a:rPr sz="4000" spc="-155" dirty="0">
                <a:solidFill>
                  <a:srgbClr val="7D1B68"/>
                </a:solidFill>
              </a:rPr>
              <a:t> </a:t>
            </a:r>
            <a:r>
              <a:rPr sz="4000" spc="-5" dirty="0">
                <a:solidFill>
                  <a:srgbClr val="7D1B68"/>
                </a:solidFill>
              </a:rPr>
              <a:t>Algorithm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525041"/>
            <a:ext cx="3083560" cy="9645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Detailed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spc="-5" dirty="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2994" y="1990207"/>
            <a:ext cx="1024255" cy="14382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800" spc="-15" dirty="0">
                <a:latin typeface="Calibri"/>
                <a:cs typeface="Calibri"/>
              </a:rPr>
              <a:t>Step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800" spc="-10" dirty="0">
                <a:latin typeface="Calibri"/>
                <a:cs typeface="Calibri"/>
              </a:rPr>
              <a:t>Step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800" spc="-15" dirty="0">
                <a:latin typeface="Calibri"/>
                <a:cs typeface="Calibri"/>
              </a:rPr>
              <a:t>Step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3: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1794" y="1990207"/>
            <a:ext cx="4559300" cy="331660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800" spc="-5" dirty="0">
                <a:latin typeface="Calibri"/>
                <a:cs typeface="Calibri"/>
              </a:rPr>
              <a:t>Input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M1,M2,M3,M4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800" spc="-5" dirty="0">
                <a:latin typeface="Calibri"/>
                <a:cs typeface="Calibri"/>
              </a:rPr>
              <a:t>GRADE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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(M1+M2+M3+M4)/4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10" dirty="0">
                <a:latin typeface="Calibri"/>
                <a:cs typeface="Calibri"/>
              </a:rPr>
              <a:t> (GRADE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&lt;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50)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2800" spc="-15" dirty="0">
                <a:latin typeface="Calibri"/>
                <a:cs typeface="Calibri"/>
              </a:rPr>
              <a:t>Print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65" dirty="0">
                <a:latin typeface="Calibri"/>
                <a:cs typeface="Calibri"/>
              </a:rPr>
              <a:t>“FAIL”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spc="-10" dirty="0">
                <a:latin typeface="Calibri"/>
                <a:cs typeface="Calibri"/>
              </a:rPr>
              <a:t>else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sz="2800" spc="-15" dirty="0">
                <a:latin typeface="Calibri"/>
                <a:cs typeface="Calibri"/>
              </a:rPr>
              <a:t>Print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“PASS”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spc="-5" dirty="0">
                <a:latin typeface="Calibri"/>
                <a:cs typeface="Calibri"/>
              </a:rPr>
              <a:t>endif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7" name="object 7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61899"/>
            <a:ext cx="24066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7D1B68"/>
                </a:solidFill>
                <a:latin typeface="Calibri"/>
                <a:cs typeface="Calibri"/>
              </a:rPr>
              <a:t>Example</a:t>
            </a:r>
            <a:r>
              <a:rPr sz="4400" spc="-10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7D1B68"/>
                </a:solidFill>
                <a:latin typeface="Calibri"/>
                <a:cs typeface="Calibri"/>
              </a:rPr>
              <a:t>2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760600"/>
            <a:ext cx="9302115" cy="3354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30" dirty="0">
                <a:latin typeface="Calibri"/>
                <a:cs typeface="Calibri"/>
              </a:rPr>
              <a:t>Write</a:t>
            </a:r>
            <a:r>
              <a:rPr sz="2800" dirty="0">
                <a:latin typeface="Calibri"/>
                <a:cs typeface="Calibri"/>
              </a:rPr>
              <a:t> 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convert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length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feet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centimeter.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5"/>
              </a:spcBef>
            </a:pPr>
            <a:r>
              <a:rPr sz="2800" b="1" spc="-10" dirty="0">
                <a:latin typeface="Calibri"/>
                <a:cs typeface="Calibri"/>
              </a:rPr>
              <a:t>Pseudocode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436245" indent="-424180">
              <a:lnSpc>
                <a:spcPct val="100000"/>
              </a:lnSpc>
              <a:spcBef>
                <a:spcPts val="2350"/>
              </a:spcBef>
              <a:buFont typeface="Arial MT"/>
              <a:buChar char="•"/>
              <a:tabLst>
                <a:tab pos="436245" algn="l"/>
                <a:tab pos="436880" algn="l"/>
              </a:tabLst>
            </a:pPr>
            <a:r>
              <a:rPr sz="2800" i="1" spc="-5" dirty="0">
                <a:latin typeface="Calibri"/>
                <a:cs typeface="Calibri"/>
              </a:rPr>
              <a:t>Input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the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length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in </a:t>
            </a:r>
            <a:r>
              <a:rPr sz="2800" i="1" spc="-20" dirty="0">
                <a:latin typeface="Calibri"/>
                <a:cs typeface="Calibri"/>
              </a:rPr>
              <a:t>feet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(Lft)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i="1" spc="-10" dirty="0">
                <a:latin typeface="Calibri"/>
                <a:cs typeface="Calibri"/>
              </a:rPr>
              <a:t>Calculate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the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length</a:t>
            </a:r>
            <a:r>
              <a:rPr sz="2800" i="1" spc="1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in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cm</a:t>
            </a:r>
            <a:r>
              <a:rPr sz="2800" i="1" spc="1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(Lcm)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by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multiplying</a:t>
            </a:r>
            <a:r>
              <a:rPr sz="2800" i="1" spc="1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LFT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with</a:t>
            </a:r>
            <a:r>
              <a:rPr sz="2800" i="1" spc="4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30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i="1" spc="-10" dirty="0">
                <a:latin typeface="Calibri"/>
                <a:cs typeface="Calibri"/>
              </a:rPr>
              <a:t>Print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length </a:t>
            </a:r>
            <a:r>
              <a:rPr sz="2800" i="1" spc="-5" dirty="0">
                <a:latin typeface="Calibri"/>
                <a:cs typeface="Calibri"/>
              </a:rPr>
              <a:t>in cm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(LCM)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689842" y="6498335"/>
            <a:ext cx="2540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285953"/>
            <a:ext cx="24085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7D1B68"/>
                </a:solidFill>
                <a:latin typeface="Calibri"/>
                <a:cs typeface="Calibri"/>
              </a:rPr>
              <a:t>Example</a:t>
            </a:r>
            <a:r>
              <a:rPr sz="4400" spc="-8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7D1B68"/>
                </a:solidFill>
                <a:latin typeface="Calibri"/>
                <a:cs typeface="Calibri"/>
              </a:rPr>
              <a:t>3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595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20" dirty="0"/>
              <a:t>Write</a:t>
            </a:r>
            <a:r>
              <a:rPr spc="-10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spc="-5" dirty="0"/>
              <a:t>algorithm</a:t>
            </a:r>
            <a:r>
              <a:rPr spc="-30" dirty="0"/>
              <a:t> </a:t>
            </a:r>
            <a:r>
              <a:rPr spc="-10" dirty="0"/>
              <a:t>that</a:t>
            </a:r>
            <a:r>
              <a:rPr spc="-20" dirty="0"/>
              <a:t> </a:t>
            </a:r>
            <a:r>
              <a:rPr spc="-10" dirty="0"/>
              <a:t>reads</a:t>
            </a:r>
            <a:r>
              <a:rPr spc="5" dirty="0"/>
              <a:t> </a:t>
            </a:r>
            <a:r>
              <a:rPr spc="-10" dirty="0"/>
              <a:t>two </a:t>
            </a:r>
            <a:r>
              <a:rPr spc="-5" dirty="0"/>
              <a:t>values,</a:t>
            </a:r>
            <a:r>
              <a:rPr dirty="0"/>
              <a:t> </a:t>
            </a:r>
            <a:r>
              <a:rPr spc="-5" dirty="0"/>
              <a:t>determines</a:t>
            </a:r>
            <a:r>
              <a:rPr spc="-1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15" dirty="0"/>
              <a:t>largest</a:t>
            </a:r>
            <a:r>
              <a:rPr spc="-20" dirty="0"/>
              <a:t> </a:t>
            </a:r>
            <a:r>
              <a:rPr spc="-10" dirty="0"/>
              <a:t>value</a:t>
            </a:r>
            <a:r>
              <a:rPr spc="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prints</a:t>
            </a:r>
          </a:p>
          <a:p>
            <a:pPr marL="355600">
              <a:lnSpc>
                <a:spcPts val="2595"/>
              </a:lnSpc>
            </a:pPr>
            <a:r>
              <a:rPr dirty="0"/>
              <a:t>the</a:t>
            </a:r>
            <a:r>
              <a:rPr spc="-5" dirty="0"/>
              <a:t> </a:t>
            </a:r>
            <a:r>
              <a:rPr spc="-15" dirty="0"/>
              <a:t>largest</a:t>
            </a:r>
            <a:r>
              <a:rPr spc="-20" dirty="0"/>
              <a:t> </a:t>
            </a:r>
            <a:r>
              <a:rPr spc="-10" dirty="0"/>
              <a:t>value </a:t>
            </a:r>
            <a:r>
              <a:rPr dirty="0"/>
              <a:t>with</a:t>
            </a:r>
            <a:r>
              <a:rPr spc="-15" dirty="0"/>
              <a:t> </a:t>
            </a:r>
            <a:r>
              <a:rPr dirty="0"/>
              <a:t>an</a:t>
            </a:r>
            <a:r>
              <a:rPr spc="-5" dirty="0"/>
              <a:t> identifying message.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 dirty="0"/>
          </a:p>
          <a:p>
            <a:pPr marL="469900">
              <a:lnSpc>
                <a:spcPct val="100000"/>
              </a:lnSpc>
            </a:pPr>
            <a:r>
              <a:rPr b="1" spc="-10" dirty="0">
                <a:latin typeface="Calibri"/>
                <a:cs typeface="Calibri"/>
              </a:rPr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5539" y="2675382"/>
            <a:ext cx="8801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539" y="4869891"/>
            <a:ext cx="8801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7394" y="2675382"/>
            <a:ext cx="402526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Calibri"/>
                <a:cs typeface="Calibri"/>
              </a:rPr>
              <a:t>Input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VALUE1, </a:t>
            </a:r>
            <a:r>
              <a:rPr sz="2400" spc="-30" dirty="0">
                <a:latin typeface="Calibri"/>
                <a:cs typeface="Calibri"/>
              </a:rPr>
              <a:t>VALUE2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Calibri"/>
                <a:cs typeface="Calibri"/>
              </a:rPr>
              <a:t>if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(</a:t>
            </a:r>
            <a:r>
              <a:rPr sz="2400" spc="-25" dirty="0">
                <a:latin typeface="Calibri"/>
                <a:cs typeface="Calibri"/>
              </a:rPr>
              <a:t>VALUE1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VALUE2)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then</a:t>
            </a:r>
            <a:endParaRPr sz="24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MAX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VALUE1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i="1" dirty="0">
                <a:latin typeface="Calibri"/>
                <a:cs typeface="Calibri"/>
              </a:rPr>
              <a:t>else</a:t>
            </a:r>
            <a:endParaRPr sz="24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MAX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VALUE2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i="1" spc="-5" dirty="0">
                <a:latin typeface="Calibri"/>
                <a:cs typeface="Calibri"/>
              </a:rPr>
              <a:t>endif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i="1" spc="-10" dirty="0">
                <a:latin typeface="Calibri"/>
                <a:cs typeface="Calibri"/>
              </a:rPr>
              <a:t>Print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spc="25" dirty="0">
                <a:latin typeface="Calibri"/>
                <a:cs typeface="Calibri"/>
              </a:rPr>
              <a:t>“The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largest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value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i="1" spc="-60" dirty="0">
                <a:latin typeface="Calibri"/>
                <a:cs typeface="Calibri"/>
              </a:rPr>
              <a:t>is”,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MAX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8" name="object 8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689842" y="6498335"/>
            <a:ext cx="2540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594" y="1617979"/>
            <a:ext cx="5299710" cy="262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Algorithms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History</a:t>
            </a:r>
            <a:r>
              <a:rPr sz="2800" spc="-5" dirty="0">
                <a:latin typeface="Calibri"/>
                <a:cs typeface="Calibri"/>
              </a:rPr>
              <a:t> 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algorithms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Calibri"/>
                <a:cs typeface="Calibri"/>
              </a:rPr>
              <a:t>Pseudo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language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-15" dirty="0">
                <a:latin typeface="Calibri"/>
                <a:cs typeface="Calibri"/>
              </a:rPr>
              <a:t> Conventions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Algorithms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notations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139" y="972388"/>
            <a:ext cx="7339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7D1B68"/>
                </a:solidFill>
                <a:latin typeface="Arial MT"/>
                <a:cs typeface="Arial MT"/>
              </a:rPr>
              <a:t>Summery</a:t>
            </a:r>
            <a:r>
              <a:rPr sz="4000" b="0" spc="3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4000" b="0" spc="-5" dirty="0">
                <a:solidFill>
                  <a:srgbClr val="7D1B68"/>
                </a:solidFill>
                <a:latin typeface="Arial MT"/>
                <a:cs typeface="Arial MT"/>
              </a:rPr>
              <a:t>&amp;</a:t>
            </a:r>
            <a:r>
              <a:rPr sz="4000" b="0" spc="-1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4000" b="0" spc="-5" dirty="0">
                <a:solidFill>
                  <a:srgbClr val="7D1B68"/>
                </a:solidFill>
                <a:latin typeface="Arial MT"/>
                <a:cs typeface="Arial MT"/>
              </a:rPr>
              <a:t>Students</a:t>
            </a:r>
            <a:r>
              <a:rPr sz="4000" b="0" spc="1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4000" b="0" spc="-5" dirty="0">
                <a:solidFill>
                  <a:srgbClr val="7D1B68"/>
                </a:solidFill>
                <a:latin typeface="Arial MT"/>
                <a:cs typeface="Arial MT"/>
              </a:rPr>
              <a:t>Evaluation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8173" y="3034664"/>
            <a:ext cx="49549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0" dirty="0">
                <a:solidFill>
                  <a:srgbClr val="7D1B68"/>
                </a:solidFill>
                <a:latin typeface="Calibri"/>
                <a:cs typeface="Calibri"/>
              </a:rPr>
              <a:t>Any</a:t>
            </a:r>
            <a:r>
              <a:rPr sz="6000" spc="-8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6000" spc="-10" dirty="0">
                <a:solidFill>
                  <a:srgbClr val="7D1B68"/>
                </a:solidFill>
                <a:latin typeface="Calibri"/>
                <a:cs typeface="Calibri"/>
              </a:rPr>
              <a:t>Questions?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148" y="1120139"/>
            <a:ext cx="925842" cy="16299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1071" y="1412747"/>
            <a:ext cx="2170937" cy="11376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28531" y="1360932"/>
            <a:ext cx="2172970" cy="4629150"/>
            <a:chOff x="8828531" y="1360932"/>
            <a:chExt cx="2172970" cy="46291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8571" y="3832860"/>
              <a:ext cx="1369314" cy="21572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531" y="1360932"/>
              <a:ext cx="2172462" cy="286131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7747" y="1054595"/>
            <a:ext cx="864882" cy="9974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508" y="4379976"/>
            <a:ext cx="1546097" cy="17838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5715" y="4582655"/>
            <a:ext cx="489978" cy="6515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8852" y="4390644"/>
            <a:ext cx="735342" cy="1238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2103" y="1603247"/>
            <a:ext cx="1116329" cy="13083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0952" y="3691102"/>
            <a:ext cx="636295" cy="51894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4283964"/>
            <a:ext cx="12192000" cy="2574290"/>
            <a:chOff x="0" y="4283964"/>
            <a:chExt cx="12192000" cy="257429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4583" y="4283964"/>
              <a:ext cx="2035302" cy="21617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4291" y="1559178"/>
            <a:ext cx="23876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20" dirty="0">
                <a:solidFill>
                  <a:srgbClr val="000000"/>
                </a:solidFill>
                <a:latin typeface="Calibri"/>
                <a:cs typeface="Calibri"/>
              </a:rPr>
              <a:t>Next</a:t>
            </a:r>
            <a:r>
              <a:rPr sz="4400" b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spc="-85" dirty="0">
                <a:solidFill>
                  <a:srgbClr val="000000"/>
                </a:solidFill>
                <a:latin typeface="Calibri"/>
                <a:cs typeface="Calibri"/>
              </a:rPr>
              <a:t>Topic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63748" y="2490596"/>
            <a:ext cx="59645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lang="en-US" sz="7200" spc="-20" dirty="0">
                <a:solidFill>
                  <a:srgbClr val="7D1B68"/>
                </a:solidFill>
                <a:latin typeface="Calibri"/>
                <a:cs typeface="Calibri"/>
              </a:rPr>
              <a:t>Array</a:t>
            </a:r>
            <a:endParaRPr sz="7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3066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928</Words>
  <Application>Microsoft Office PowerPoint</Application>
  <PresentationFormat>Widescreen</PresentationFormat>
  <Paragraphs>167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MT</vt:lpstr>
      <vt:lpstr>Calibri</vt:lpstr>
      <vt:lpstr>Symbol</vt:lpstr>
      <vt:lpstr>Times New Roman</vt:lpstr>
      <vt:lpstr>Wingdings</vt:lpstr>
      <vt:lpstr>Office Theme</vt:lpstr>
      <vt:lpstr>Course:  Data Structure and  Algorithms</vt:lpstr>
      <vt:lpstr>Contents</vt:lpstr>
      <vt:lpstr>Objectives</vt:lpstr>
      <vt:lpstr>PowerPoint Presentation</vt:lpstr>
      <vt:lpstr>History of Algorithm</vt:lpstr>
      <vt:lpstr>ALGORITHMS AND FLOWCHARTS</vt:lpstr>
      <vt:lpstr>Steps in Problem Solving</vt:lpstr>
      <vt:lpstr>Rules for Pseudocode (Conventions)</vt:lpstr>
      <vt:lpstr>One Statement Per Line</vt:lpstr>
      <vt:lpstr>Capitalize Initial Keyword</vt:lpstr>
      <vt:lpstr>Indent to Show Hierarchy</vt:lpstr>
      <vt:lpstr>End Multiline Structures</vt:lpstr>
      <vt:lpstr>PowerPoint Presentation</vt:lpstr>
      <vt:lpstr>Advantages &amp; Disadvantages</vt:lpstr>
      <vt:lpstr>Pseudocode &amp; Algorithm</vt:lpstr>
      <vt:lpstr>Pseudocode &amp; Algorithm</vt:lpstr>
      <vt:lpstr>Pseudocode &amp; Algorithm</vt:lpstr>
      <vt:lpstr>Example 2</vt:lpstr>
      <vt:lpstr>Example 3</vt:lpstr>
      <vt:lpstr>Summery &amp; Students Evaluation</vt:lpstr>
      <vt:lpstr>Any Questions?</vt:lpstr>
      <vt:lpstr>Next Topic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zawt_ss</dc:creator>
  <cp:lastModifiedBy>HAMDARD</cp:lastModifiedBy>
  <cp:revision>15</cp:revision>
  <dcterms:created xsi:type="dcterms:W3CDTF">2024-04-22T07:40:00Z</dcterms:created>
  <dcterms:modified xsi:type="dcterms:W3CDTF">2026-03-05T18:07:47Z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2023-03-15T00:00:00Z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2024-04-22T00:00:00Z</vt:filetime>
  </property>
</Properties>
</file>