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114291" y="1559178"/>
            <a:ext cx="3963416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rgbClr val="7D1B6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rgbClr val="7D1B6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rgbClr val="7D1B6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58921" y="3034664"/>
            <a:ext cx="5074157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rgbClr val="7D1B6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72972" y="1875281"/>
            <a:ext cx="9846055" cy="3317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22354" y="6498335"/>
            <a:ext cx="190500" cy="278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60646" y="4507229"/>
            <a:ext cx="38709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26235" algn="l"/>
              </a:tabLst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Instructor	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8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Ziaur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Rahman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09709" y="5357876"/>
            <a:ext cx="1142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year: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1402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8111" y="2447544"/>
            <a:ext cx="2070354" cy="89992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13382" y="2471750"/>
            <a:ext cx="785558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800" spc="-135" baseline="2604" dirty="0">
                <a:solidFill>
                  <a:srgbClr val="00AF50"/>
                </a:solidFill>
                <a:latin typeface="Arial"/>
                <a:cs typeface="Arial"/>
              </a:rPr>
              <a:t>Course:</a:t>
            </a:r>
            <a:r>
              <a:rPr sz="4000" spc="-90" dirty="0">
                <a:solidFill>
                  <a:srgbClr val="006FC0"/>
                </a:solidFill>
              </a:rPr>
              <a:t>Data</a:t>
            </a:r>
            <a:r>
              <a:rPr sz="4000" spc="10" dirty="0">
                <a:solidFill>
                  <a:srgbClr val="006FC0"/>
                </a:solidFill>
              </a:rPr>
              <a:t> </a:t>
            </a:r>
            <a:r>
              <a:rPr sz="4000" spc="-15" dirty="0">
                <a:solidFill>
                  <a:srgbClr val="006FC0"/>
                </a:solidFill>
              </a:rPr>
              <a:t>Structure</a:t>
            </a:r>
            <a:r>
              <a:rPr sz="4000" spc="40" dirty="0">
                <a:solidFill>
                  <a:srgbClr val="006FC0"/>
                </a:solidFill>
              </a:rPr>
              <a:t> </a:t>
            </a:r>
            <a:r>
              <a:rPr sz="4000" spc="-5" dirty="0">
                <a:solidFill>
                  <a:srgbClr val="006FC0"/>
                </a:solidFill>
              </a:rPr>
              <a:t>and</a:t>
            </a:r>
            <a:r>
              <a:rPr sz="4000" spc="25" dirty="0">
                <a:solidFill>
                  <a:srgbClr val="006FC0"/>
                </a:solidFill>
              </a:rPr>
              <a:t> </a:t>
            </a:r>
            <a:r>
              <a:rPr sz="4000" spc="-10" dirty="0">
                <a:solidFill>
                  <a:srgbClr val="006FC0"/>
                </a:solidFill>
              </a:rPr>
              <a:t>Algorithms</a:t>
            </a:r>
            <a:endParaRPr sz="4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99045" y="3432821"/>
            <a:ext cx="40163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7D1B68"/>
                </a:solidFill>
                <a:latin typeface="Arial"/>
                <a:cs typeface="Arial"/>
              </a:rPr>
              <a:t>Lesson</a:t>
            </a:r>
            <a:r>
              <a:rPr sz="3200" b="1" spc="-50" dirty="0">
                <a:solidFill>
                  <a:srgbClr val="7D1B68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7D1B68"/>
                </a:solidFill>
                <a:latin typeface="Arial"/>
                <a:cs typeface="Arial"/>
              </a:rPr>
              <a:t>8</a:t>
            </a:r>
            <a:endParaRPr sz="3200" dirty="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754368" y="2976372"/>
            <a:ext cx="2616200" cy="1929130"/>
            <a:chOff x="6754368" y="2976372"/>
            <a:chExt cx="2616200" cy="1929130"/>
          </a:xfrm>
        </p:grpSpPr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54368" y="3924300"/>
              <a:ext cx="2615946" cy="98069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65036" y="2976372"/>
              <a:ext cx="2596133" cy="1652777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7219568" y="3153867"/>
            <a:ext cx="165544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5" dirty="0">
                <a:solidFill>
                  <a:srgbClr val="7D1B68"/>
                </a:solidFill>
                <a:latin typeface="Calibri"/>
                <a:cs typeface="Calibri"/>
              </a:rPr>
              <a:t>S</a:t>
            </a:r>
            <a:r>
              <a:rPr sz="6000" spc="-75" dirty="0">
                <a:solidFill>
                  <a:srgbClr val="7D1B68"/>
                </a:solidFill>
                <a:latin typeface="Calibri"/>
                <a:cs typeface="Calibri"/>
              </a:rPr>
              <a:t>t</a:t>
            </a:r>
            <a:r>
              <a:rPr sz="6000" dirty="0">
                <a:solidFill>
                  <a:srgbClr val="7D1B68"/>
                </a:solidFill>
                <a:latin typeface="Calibri"/>
                <a:cs typeface="Calibri"/>
              </a:rPr>
              <a:t>ack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25" name="object 6"/>
          <p:cNvSpPr txBox="1"/>
          <p:nvPr/>
        </p:nvSpPr>
        <p:spPr>
          <a:xfrm>
            <a:off x="4890516" y="738886"/>
            <a:ext cx="3262884" cy="138762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-2540" algn="ctr">
              <a:lnSpc>
                <a:spcPct val="101299"/>
              </a:lnSpc>
              <a:spcBef>
                <a:spcPts val="55"/>
              </a:spcBef>
            </a:pPr>
            <a:r>
              <a:rPr lang="en-US" sz="3200" b="1" spc="-415" dirty="0">
                <a:latin typeface="Calibri"/>
                <a:cs typeface="Calibri"/>
              </a:rPr>
              <a:t>Kabul </a:t>
            </a:r>
            <a:r>
              <a:rPr sz="3200" b="1" spc="-355" dirty="0">
                <a:latin typeface="Calibri"/>
                <a:cs typeface="Calibri"/>
              </a:rPr>
              <a:t>Univers</a:t>
            </a:r>
            <a:r>
              <a:rPr sz="3200" b="1" spc="-185" dirty="0">
                <a:latin typeface="Calibri"/>
                <a:cs typeface="Calibri"/>
              </a:rPr>
              <a:t>i</a:t>
            </a:r>
            <a:r>
              <a:rPr sz="3200" b="1" spc="-260" dirty="0">
                <a:latin typeface="Calibri"/>
                <a:cs typeface="Calibri"/>
              </a:rPr>
              <a:t>ty  </a:t>
            </a:r>
            <a:endParaRPr lang="en-US" sz="3200" b="1" spc="-260" dirty="0">
              <a:latin typeface="Calibri"/>
              <a:cs typeface="Calibri"/>
            </a:endParaRPr>
          </a:p>
          <a:p>
            <a:pPr marL="12700" marR="5080" indent="-2540" algn="ctr">
              <a:lnSpc>
                <a:spcPct val="101299"/>
              </a:lnSpc>
              <a:spcBef>
                <a:spcPts val="55"/>
              </a:spcBef>
            </a:pPr>
            <a:r>
              <a:rPr lang="en-US" sz="2800" b="1" spc="-300" dirty="0">
                <a:latin typeface="Calibri"/>
                <a:cs typeface="Calibri"/>
              </a:rPr>
              <a:t>Faculty of Computer Science </a:t>
            </a:r>
            <a:r>
              <a:rPr lang="en-US" sz="2400" b="1" spc="-300" dirty="0">
                <a:latin typeface="Calibri"/>
                <a:cs typeface="Calibri"/>
              </a:rPr>
              <a:t>SE</a:t>
            </a:r>
            <a:r>
              <a:rPr lang="en-US" sz="2800" b="1" spc="-300" dirty="0">
                <a:latin typeface="Calibri"/>
                <a:cs typeface="Calibri"/>
              </a:rPr>
              <a:t> </a:t>
            </a:r>
            <a:r>
              <a:rPr sz="2400" b="1" spc="-315" dirty="0">
                <a:latin typeface="Calibri"/>
                <a:cs typeface="Calibri"/>
              </a:rPr>
              <a:t>Depart</a:t>
            </a:r>
            <a:r>
              <a:rPr sz="2400" b="1" spc="-535" dirty="0">
                <a:latin typeface="Calibri"/>
                <a:cs typeface="Calibri"/>
              </a:rPr>
              <a:t>m</a:t>
            </a:r>
            <a:r>
              <a:rPr sz="2400" b="1" spc="-375" dirty="0">
                <a:latin typeface="Calibri"/>
                <a:cs typeface="Calibri"/>
              </a:rPr>
              <a:t>e</a:t>
            </a:r>
            <a:r>
              <a:rPr sz="2400" b="1" spc="-395" dirty="0">
                <a:latin typeface="Calibri"/>
                <a:cs typeface="Calibri"/>
              </a:rPr>
              <a:t>n</a:t>
            </a:r>
            <a:r>
              <a:rPr sz="2400" b="1" spc="-265" dirty="0">
                <a:latin typeface="Calibri"/>
                <a:cs typeface="Calibri"/>
              </a:rPr>
              <a:t>t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6" name="object 6"/>
          <p:cNvSpPr txBox="1"/>
          <p:nvPr/>
        </p:nvSpPr>
        <p:spPr>
          <a:xfrm>
            <a:off x="1005839" y="4523359"/>
            <a:ext cx="3142870" cy="846386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80"/>
              </a:spcBef>
            </a:pPr>
            <a:r>
              <a:rPr sz="1800" b="1" spc="-5" dirty="0">
                <a:latin typeface="Arial"/>
                <a:cs typeface="Arial"/>
              </a:rPr>
              <a:t>Semester: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lang="en-US" sz="1800" b="1" spc="-20" dirty="0">
                <a:latin typeface="Arial"/>
                <a:cs typeface="Arial"/>
              </a:rPr>
              <a:t>4</a:t>
            </a:r>
            <a:r>
              <a:rPr sz="1800" b="1" spc="-7" baseline="25462" dirty="0">
                <a:latin typeface="Arial"/>
                <a:cs typeface="Arial"/>
              </a:rPr>
              <a:t>th</a:t>
            </a:r>
            <a:endParaRPr sz="1800" baseline="25462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080"/>
              </a:spcBef>
            </a:pPr>
            <a:r>
              <a:rPr sz="1800" b="1" spc="-5" dirty="0">
                <a:latin typeface="Arial"/>
                <a:cs typeface="Arial"/>
              </a:rPr>
              <a:t>Lecture</a:t>
            </a:r>
            <a:r>
              <a:rPr lang="en-US" sz="1800" b="1" spc="-5" dirty="0">
                <a:latin typeface="Arial"/>
                <a:cs typeface="Arial"/>
              </a:rPr>
              <a:t>r</a:t>
            </a:r>
            <a:r>
              <a:rPr sz="1800" b="1" spc="-5" dirty="0">
                <a:latin typeface="Arial"/>
                <a:cs typeface="Arial"/>
              </a:rPr>
              <a:t>: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M. Salim Hamdard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7" name="object 7"/>
          <p:cNvSpPr txBox="1"/>
          <p:nvPr/>
        </p:nvSpPr>
        <p:spPr>
          <a:xfrm>
            <a:off x="1031238" y="5483453"/>
            <a:ext cx="354076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Prepare</a:t>
            </a:r>
            <a:r>
              <a:rPr lang="en-US" sz="1800" b="1" spc="-5" dirty="0">
                <a:latin typeface="Arial"/>
                <a:cs typeface="Arial"/>
              </a:rPr>
              <a:t>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by: </a:t>
            </a:r>
            <a:r>
              <a:rPr lang="en-US" b="1" dirty="0">
                <a:solidFill>
                  <a:srgbClr val="001F5F"/>
                </a:solidFill>
                <a:latin typeface="Arial"/>
                <a:cs typeface="Arial"/>
              </a:rPr>
              <a:t>M. Salim Hamdard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9689" y="2060270"/>
            <a:ext cx="7585075" cy="2440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10" dirty="0">
                <a:latin typeface="Calibri"/>
                <a:cs typeface="Calibri"/>
              </a:rPr>
              <a:t>Introduction</a:t>
            </a:r>
            <a:r>
              <a:rPr sz="3600" spc="-75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to</a:t>
            </a:r>
            <a:r>
              <a:rPr sz="3600" spc="-45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Stack</a:t>
            </a:r>
            <a:endParaRPr sz="36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3025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15" dirty="0">
                <a:latin typeface="Calibri"/>
                <a:cs typeface="Calibri"/>
              </a:rPr>
              <a:t>Stack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applications</a:t>
            </a:r>
            <a:endParaRPr sz="36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3030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dirty="0">
                <a:latin typeface="Calibri"/>
                <a:cs typeface="Calibri"/>
              </a:rPr>
              <a:t>Push</a:t>
            </a:r>
            <a:r>
              <a:rPr sz="3600" spc="-10" dirty="0">
                <a:latin typeface="Calibri"/>
                <a:cs typeface="Calibri"/>
              </a:rPr>
              <a:t> algorithm</a:t>
            </a:r>
            <a:r>
              <a:rPr sz="3600" spc="-3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and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its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implementation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710641"/>
            <a:ext cx="307657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Arial MT"/>
                <a:cs typeface="Arial MT"/>
              </a:rPr>
              <a:t>Contents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6830" y="1136345"/>
            <a:ext cx="822705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001F5F"/>
                </a:solidFill>
              </a:rPr>
              <a:t>Objective</a:t>
            </a:r>
            <a:r>
              <a:rPr lang="en-US" sz="4000" spc="-10" dirty="0">
                <a:solidFill>
                  <a:srgbClr val="001F5F"/>
                </a:solidFill>
              </a:rPr>
              <a:t>s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1145539" y="2223896"/>
            <a:ext cx="10423525" cy="2440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165" dirty="0">
                <a:latin typeface="Calibri"/>
                <a:cs typeface="Calibri"/>
              </a:rPr>
              <a:t>To</a:t>
            </a:r>
            <a:r>
              <a:rPr sz="3600" spc="-15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be</a:t>
            </a:r>
            <a:r>
              <a:rPr sz="3600" spc="-1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able</a:t>
            </a:r>
            <a:r>
              <a:rPr sz="3600" spc="-25" dirty="0">
                <a:latin typeface="Calibri"/>
                <a:cs typeface="Calibri"/>
              </a:rPr>
              <a:t> to</a:t>
            </a:r>
            <a:r>
              <a:rPr sz="3600" spc="-1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define</a:t>
            </a:r>
            <a:r>
              <a:rPr sz="3600" spc="-35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Stack</a:t>
            </a:r>
            <a:endParaRPr sz="36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3025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165" dirty="0">
                <a:latin typeface="Calibri"/>
                <a:cs typeface="Calibri"/>
              </a:rPr>
              <a:t>To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be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able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to</a:t>
            </a:r>
            <a:r>
              <a:rPr sz="3600" spc="-5" dirty="0">
                <a:latin typeface="Calibri"/>
                <a:cs typeface="Calibri"/>
              </a:rPr>
              <a:t> use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Stack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in </a:t>
            </a:r>
            <a:r>
              <a:rPr sz="3600" spc="-15" dirty="0">
                <a:latin typeface="Calibri"/>
                <a:cs typeface="Calibri"/>
              </a:rPr>
              <a:t>programming.</a:t>
            </a:r>
            <a:endParaRPr sz="36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3025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165" dirty="0">
                <a:latin typeface="Calibri"/>
                <a:cs typeface="Calibri"/>
              </a:rPr>
              <a:t>To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know</a:t>
            </a:r>
            <a:r>
              <a:rPr sz="3600" dirty="0">
                <a:latin typeface="Calibri"/>
                <a:cs typeface="Calibri"/>
              </a:rPr>
              <a:t> about</a:t>
            </a:r>
            <a:r>
              <a:rPr sz="3600" spc="-1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Push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algorithm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and</a:t>
            </a:r>
            <a:r>
              <a:rPr sz="3600" spc="-1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its</a:t>
            </a:r>
            <a:r>
              <a:rPr sz="3600" spc="-10" dirty="0">
                <a:latin typeface="Calibri"/>
                <a:cs typeface="Calibri"/>
              </a:rPr>
              <a:t> implementation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6500" y="530479"/>
            <a:ext cx="17348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Arial"/>
                <a:cs typeface="Arial"/>
              </a:rPr>
              <a:t>S</a:t>
            </a:r>
            <a:r>
              <a:rPr sz="4000" spc="-310" dirty="0">
                <a:latin typeface="Arial"/>
                <a:cs typeface="Arial"/>
              </a:rPr>
              <a:t>T</a:t>
            </a:r>
            <a:r>
              <a:rPr sz="4000" spc="-5" dirty="0">
                <a:latin typeface="Arial"/>
                <a:cs typeface="Arial"/>
              </a:rPr>
              <a:t>ACK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98194" y="1649984"/>
            <a:ext cx="9493885" cy="405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stack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Abstract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Data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Type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(ADT)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"/>
            </a:pPr>
            <a:endParaRPr sz="23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stack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ordered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collection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same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data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5" dirty="0">
                <a:latin typeface="Calibri"/>
                <a:cs typeface="Calibri"/>
              </a:rPr>
              <a:t> items</a:t>
            </a:r>
            <a:r>
              <a:rPr sz="2400" spc="-10" dirty="0">
                <a:latin typeface="Calibri"/>
                <a:cs typeface="Calibri"/>
              </a:rPr>
              <a:t> that</a:t>
            </a:r>
            <a:r>
              <a:rPr sz="2400" spc="-20" dirty="0">
                <a:latin typeface="Calibri"/>
                <a:cs typeface="Calibri"/>
              </a:rPr>
              <a:t> follows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</a:t>
            </a:r>
            <a:endParaRPr sz="240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400" b="1" spc="-5" dirty="0">
                <a:latin typeface="Calibri"/>
                <a:cs typeface="Calibri"/>
              </a:rPr>
              <a:t>LIFO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(Last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10" dirty="0">
                <a:latin typeface="Calibri"/>
                <a:cs typeface="Calibri"/>
              </a:rPr>
              <a:t> First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Out)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principle.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50" dirty="0">
              <a:latin typeface="Calibri"/>
              <a:cs typeface="Calibri"/>
            </a:endParaRPr>
          </a:p>
          <a:p>
            <a:pPr marL="355600" marR="116205" indent="-3429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b="1" spc="-5" dirty="0">
                <a:latin typeface="Calibri"/>
                <a:cs typeface="Calibri"/>
              </a:rPr>
              <a:t>addition </a:t>
            </a:r>
            <a:r>
              <a:rPr sz="2400" spc="-5" dirty="0">
                <a:latin typeface="Calibri"/>
                <a:cs typeface="Calibri"/>
              </a:rPr>
              <a:t>of new </a:t>
            </a:r>
            <a:r>
              <a:rPr sz="2400" spc="-10" dirty="0">
                <a:latin typeface="Calibri"/>
                <a:cs typeface="Calibri"/>
              </a:rPr>
              <a:t>items 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b="1" spc="-15" dirty="0">
                <a:latin typeface="Calibri"/>
                <a:cs typeface="Calibri"/>
              </a:rPr>
              <a:t>removal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existing </a:t>
            </a:r>
            <a:r>
              <a:rPr sz="2400" spc="-5" dirty="0">
                <a:latin typeface="Calibri"/>
                <a:cs typeface="Calibri"/>
              </a:rPr>
              <a:t>items </a:t>
            </a:r>
            <a:r>
              <a:rPr sz="2400" spc="-20" dirty="0">
                <a:latin typeface="Calibri"/>
                <a:cs typeface="Calibri"/>
              </a:rPr>
              <a:t>takes </a:t>
            </a:r>
            <a:r>
              <a:rPr sz="2400" spc="-5" dirty="0">
                <a:latin typeface="Calibri"/>
                <a:cs typeface="Calibri"/>
              </a:rPr>
              <a:t>place </a:t>
            </a:r>
            <a:r>
              <a:rPr sz="2400" spc="-15" dirty="0">
                <a:latin typeface="Calibri"/>
                <a:cs typeface="Calibri"/>
              </a:rPr>
              <a:t>at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same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end.</a:t>
            </a: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"/>
            </a:pPr>
            <a:endParaRPr sz="2350" dirty="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end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stack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known </a:t>
            </a:r>
            <a:r>
              <a:rPr sz="2400" dirty="0">
                <a:latin typeface="Calibri"/>
                <a:cs typeface="Calibri"/>
              </a:rPr>
              <a:t>as the </a:t>
            </a:r>
            <a:r>
              <a:rPr sz="2400" b="1" spc="-10" dirty="0">
                <a:latin typeface="Calibri"/>
                <a:cs typeface="Calibri"/>
              </a:rPr>
              <a:t>top </a:t>
            </a:r>
            <a:r>
              <a:rPr sz="2400" dirty="0">
                <a:latin typeface="Calibri"/>
                <a:cs typeface="Calibri"/>
              </a:rPr>
              <a:t>and the </a:t>
            </a:r>
            <a:r>
              <a:rPr sz="2400" spc="-10" dirty="0">
                <a:latin typeface="Calibri"/>
                <a:cs typeface="Calibri"/>
              </a:rPr>
              <a:t>opposite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known </a:t>
            </a:r>
            <a:r>
              <a:rPr sz="2400" dirty="0">
                <a:latin typeface="Calibri"/>
                <a:cs typeface="Calibri"/>
              </a:rPr>
              <a:t>as the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bottom</a:t>
            </a:r>
            <a:r>
              <a:rPr sz="2400" spc="-10" dirty="0">
                <a:latin typeface="Calibri"/>
                <a:cs typeface="Calibri"/>
              </a:rPr>
              <a:t>.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newest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elements</a:t>
            </a:r>
            <a:r>
              <a:rPr sz="2400" spc="-15" dirty="0">
                <a:latin typeface="Calibri"/>
                <a:cs typeface="Calibri"/>
              </a:rPr>
              <a:t> are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near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top,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oldest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elements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spc="-5" dirty="0">
                <a:latin typeface="Calibri"/>
                <a:cs typeface="Calibri"/>
              </a:rPr>
              <a:t> near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base.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0228" y="1034796"/>
            <a:ext cx="3666744" cy="9525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8062" y="1350086"/>
            <a:ext cx="9925685" cy="331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stack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implemented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by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means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Array</a:t>
            </a:r>
            <a:r>
              <a:rPr sz="2400" spc="-10" dirty="0">
                <a:latin typeface="Calibri"/>
                <a:cs typeface="Calibri"/>
              </a:rPr>
              <a:t>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Pointer,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Linked</a:t>
            </a:r>
            <a:endParaRPr sz="2400" dirty="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Calibri"/>
                <a:cs typeface="Calibri"/>
              </a:rPr>
              <a:t>List.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50" dirty="0">
              <a:latin typeface="Calibri"/>
              <a:cs typeface="Calibri"/>
            </a:endParaRPr>
          </a:p>
          <a:p>
            <a:pPr marL="354965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Stack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</a:t>
            </a:r>
            <a:r>
              <a:rPr sz="2400" dirty="0">
                <a:latin typeface="Calibri"/>
                <a:cs typeface="Calibri"/>
              </a:rPr>
              <a:t> either</a:t>
            </a:r>
            <a:r>
              <a:rPr sz="2400" spc="-5" dirty="0">
                <a:latin typeface="Calibri"/>
                <a:cs typeface="Calibri"/>
              </a:rPr>
              <a:t> be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fixed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size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(Array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implementation)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may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have</a:t>
            </a:r>
            <a:endParaRPr sz="2400" dirty="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dynamic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resizing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(Link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list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implementation).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350" dirty="0">
              <a:latin typeface="Calibri"/>
              <a:cs typeface="Calibri"/>
            </a:endParaRPr>
          </a:p>
          <a:p>
            <a:pPr marL="353695" marR="4710430" indent="-341630" algn="just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Here, </a:t>
            </a:r>
            <a:r>
              <a:rPr sz="2400" spc="-15" dirty="0">
                <a:latin typeface="Calibri"/>
                <a:cs typeface="Calibri"/>
              </a:rPr>
              <a:t>we </a:t>
            </a:r>
            <a:r>
              <a:rPr sz="2400" spc="-10" dirty="0">
                <a:latin typeface="Calibri"/>
                <a:cs typeface="Calibri"/>
              </a:rPr>
              <a:t>are going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implement </a:t>
            </a:r>
            <a:r>
              <a:rPr sz="2400" spc="-15" dirty="0">
                <a:latin typeface="Calibri"/>
                <a:cs typeface="Calibri"/>
              </a:rPr>
              <a:t>stack 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using </a:t>
            </a:r>
            <a:r>
              <a:rPr sz="2400" spc="-20" dirty="0">
                <a:latin typeface="Calibri"/>
                <a:cs typeface="Calibri"/>
              </a:rPr>
              <a:t>arrays, </a:t>
            </a:r>
            <a:r>
              <a:rPr sz="2400" dirty="0">
                <a:latin typeface="Calibri"/>
                <a:cs typeface="Calibri"/>
              </a:rPr>
              <a:t>which </a:t>
            </a:r>
            <a:r>
              <a:rPr sz="2400" spc="-15" dirty="0">
                <a:latin typeface="Calibri"/>
                <a:cs typeface="Calibri"/>
              </a:rPr>
              <a:t>makes </a:t>
            </a:r>
            <a:r>
              <a:rPr sz="2400" dirty="0">
                <a:latin typeface="Calibri"/>
                <a:cs typeface="Calibri"/>
              </a:rPr>
              <a:t>it a </a:t>
            </a:r>
            <a:r>
              <a:rPr sz="2400" spc="-15" dirty="0">
                <a:latin typeface="Calibri"/>
                <a:cs typeface="Calibri"/>
              </a:rPr>
              <a:t>fixed size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stack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implementation.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73023" y="569467"/>
            <a:ext cx="17348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Arial"/>
                <a:cs typeface="Arial"/>
              </a:rPr>
              <a:t>S</a:t>
            </a:r>
            <a:r>
              <a:rPr sz="4000" spc="-310" dirty="0">
                <a:latin typeface="Arial"/>
                <a:cs typeface="Arial"/>
              </a:rPr>
              <a:t>T</a:t>
            </a:r>
            <a:r>
              <a:rPr sz="4000" spc="-5" dirty="0">
                <a:latin typeface="Arial"/>
                <a:cs typeface="Arial"/>
              </a:rPr>
              <a:t>ACK</a:t>
            </a:r>
            <a:endParaRPr sz="40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62800" y="2979420"/>
            <a:ext cx="4483608" cy="34290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7439" y="1495171"/>
            <a:ext cx="74333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6235" algn="l"/>
              </a:tabLst>
            </a:pP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following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diagram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depicts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stack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operations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3927" y="2247900"/>
            <a:ext cx="5780532" cy="398678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73023" y="569467"/>
            <a:ext cx="55702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65" dirty="0">
                <a:latin typeface="Arial"/>
                <a:cs typeface="Arial"/>
              </a:rPr>
              <a:t>STACK</a:t>
            </a:r>
            <a:r>
              <a:rPr sz="4000" spc="-55" dirty="0">
                <a:latin typeface="Arial"/>
                <a:cs typeface="Arial"/>
              </a:rPr>
              <a:t> </a:t>
            </a:r>
            <a:r>
              <a:rPr sz="4000" spc="-5" dirty="0">
                <a:latin typeface="Arial"/>
                <a:cs typeface="Arial"/>
              </a:rPr>
              <a:t>Representation</a:t>
            </a:r>
            <a:endParaRPr sz="40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0300" y="945896"/>
            <a:ext cx="51904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Arial"/>
                <a:cs typeface="Arial"/>
              </a:rPr>
              <a:t>Applications</a:t>
            </a:r>
            <a:r>
              <a:rPr sz="4000" spc="5" dirty="0">
                <a:latin typeface="Arial"/>
                <a:cs typeface="Arial"/>
              </a:rPr>
              <a:t> </a:t>
            </a:r>
            <a:r>
              <a:rPr sz="4000" spc="-5" dirty="0">
                <a:latin typeface="Arial"/>
                <a:cs typeface="Arial"/>
              </a:rPr>
              <a:t>of</a:t>
            </a:r>
            <a:r>
              <a:rPr sz="4000" spc="-25" dirty="0">
                <a:latin typeface="Arial"/>
                <a:cs typeface="Arial"/>
              </a:rPr>
              <a:t> </a:t>
            </a:r>
            <a:r>
              <a:rPr sz="4000" spc="-5" dirty="0">
                <a:latin typeface="Arial"/>
                <a:cs typeface="Arial"/>
              </a:rPr>
              <a:t>Stack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22044" y="1995297"/>
            <a:ext cx="9281795" cy="276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simplest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application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stack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reverse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word.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70" dirty="0">
                <a:latin typeface="Calibri"/>
                <a:cs typeface="Calibri"/>
              </a:rPr>
              <a:t>You</a:t>
            </a:r>
            <a:r>
              <a:rPr sz="2400" spc="-5" dirty="0">
                <a:latin typeface="Calibri"/>
                <a:cs typeface="Calibri"/>
              </a:rPr>
              <a:t> push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given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word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stack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letter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by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letter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then </a:t>
            </a:r>
            <a:r>
              <a:rPr sz="2400" spc="-5" dirty="0">
                <a:latin typeface="Calibri"/>
                <a:cs typeface="Calibri"/>
              </a:rPr>
              <a:t>pop </a:t>
            </a:r>
            <a:r>
              <a:rPr sz="2400" spc="-20" dirty="0">
                <a:latin typeface="Calibri"/>
                <a:cs typeface="Calibri"/>
              </a:rPr>
              <a:t>letters</a:t>
            </a:r>
            <a:r>
              <a:rPr sz="2400" spc="-15" dirty="0">
                <a:latin typeface="Calibri"/>
                <a:cs typeface="Calibri"/>
              </a:rPr>
              <a:t> from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stack.</a:t>
            </a:r>
            <a:endParaRPr sz="2400">
              <a:latin typeface="Calibri"/>
              <a:cs typeface="Calibri"/>
            </a:endParaRPr>
          </a:p>
          <a:p>
            <a:pPr marL="354965" indent="-342900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There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other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like:</a:t>
            </a:r>
            <a:endParaRPr sz="2400">
              <a:latin typeface="Calibri"/>
              <a:cs typeface="Calibri"/>
            </a:endParaRPr>
          </a:p>
          <a:p>
            <a:pPr marL="812165" lvl="1" indent="-343535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812800" algn="l"/>
              </a:tabLst>
            </a:pPr>
            <a:r>
              <a:rPr sz="2400" spc="-20" dirty="0">
                <a:latin typeface="Calibri"/>
                <a:cs typeface="Calibri"/>
              </a:rPr>
              <a:t>Parsing</a:t>
            </a:r>
            <a:endParaRPr sz="2400">
              <a:latin typeface="Calibri"/>
              <a:cs typeface="Calibri"/>
            </a:endParaRPr>
          </a:p>
          <a:p>
            <a:pPr marL="812165" lvl="1" indent="-343535">
              <a:lnSpc>
                <a:spcPct val="100000"/>
              </a:lnSpc>
              <a:spcBef>
                <a:spcPts val="1445"/>
              </a:spcBef>
              <a:buFont typeface="Wingdings"/>
              <a:buChar char=""/>
              <a:tabLst>
                <a:tab pos="812800" algn="l"/>
              </a:tabLst>
            </a:pPr>
            <a:r>
              <a:rPr sz="2400" spc="-5" dirty="0">
                <a:latin typeface="Calibri"/>
                <a:cs typeface="Calibri"/>
              </a:rPr>
              <a:t>Expression </a:t>
            </a:r>
            <a:r>
              <a:rPr sz="2400" spc="-15" dirty="0">
                <a:latin typeface="Calibri"/>
                <a:cs typeface="Calibri"/>
              </a:rPr>
              <a:t>Conversion(Infix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Postfix,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Postfix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Prefix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etc)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2252" y="562736"/>
            <a:ext cx="45808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 dirty="0">
                <a:latin typeface="Arial"/>
                <a:cs typeface="Arial"/>
              </a:rPr>
              <a:t>STACK-Operations</a:t>
            </a:r>
            <a:endParaRPr sz="40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7200" y="2301239"/>
            <a:ext cx="5867400" cy="40995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74394" y="1390903"/>
            <a:ext cx="639318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b="1" spc="-5" dirty="0">
                <a:latin typeface="Calibri"/>
                <a:cs typeface="Calibri"/>
              </a:rPr>
              <a:t>Push </a:t>
            </a:r>
            <a:r>
              <a:rPr sz="2400" spc="-10" dirty="0">
                <a:latin typeface="Calibri"/>
                <a:cs typeface="Calibri"/>
              </a:rPr>
              <a:t>operation </a:t>
            </a:r>
            <a:r>
              <a:rPr sz="2400" b="1" spc="-5" dirty="0">
                <a:latin typeface="Calibri"/>
                <a:cs typeface="Calibri"/>
              </a:rPr>
              <a:t>adds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top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b="1" spc="-15" dirty="0">
                <a:latin typeface="Calibri"/>
                <a:cs typeface="Calibri"/>
              </a:rPr>
              <a:t>Pop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removes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" dirty="0">
                <a:latin typeface="Calibri"/>
                <a:cs typeface="Calibri"/>
              </a:rPr>
              <a:t> element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from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top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6" name="object 6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7414" y="1086053"/>
            <a:ext cx="733170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Arial"/>
                <a:cs typeface="Arial"/>
              </a:rPr>
              <a:t>Algorithm</a:t>
            </a:r>
            <a:r>
              <a:rPr sz="4000" spc="5" dirty="0">
                <a:latin typeface="Arial"/>
                <a:cs typeface="Arial"/>
              </a:rPr>
              <a:t> </a:t>
            </a:r>
            <a:r>
              <a:rPr sz="4000" spc="-5" dirty="0">
                <a:latin typeface="Arial"/>
                <a:cs typeface="Arial"/>
              </a:rPr>
              <a:t>for</a:t>
            </a:r>
            <a:r>
              <a:rPr sz="4000" spc="-10" dirty="0">
                <a:latin typeface="Arial"/>
                <a:cs typeface="Arial"/>
              </a:rPr>
              <a:t> </a:t>
            </a:r>
            <a:r>
              <a:rPr sz="4000" spc="-5" dirty="0">
                <a:latin typeface="Arial"/>
                <a:cs typeface="Arial"/>
              </a:rPr>
              <a:t>PUSH</a:t>
            </a:r>
            <a:r>
              <a:rPr sz="4000" spc="-15" dirty="0">
                <a:latin typeface="Arial"/>
                <a:cs typeface="Arial"/>
              </a:rPr>
              <a:t> </a:t>
            </a:r>
            <a:r>
              <a:rPr sz="4000" spc="-5" dirty="0">
                <a:latin typeface="Arial"/>
                <a:cs typeface="Arial"/>
              </a:rPr>
              <a:t>Operation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125" marR="5080">
              <a:lnSpc>
                <a:spcPct val="150000"/>
              </a:lnSpc>
              <a:spcBef>
                <a:spcPts val="100"/>
              </a:spcBef>
            </a:pPr>
            <a:r>
              <a:rPr spc="-5" dirty="0"/>
              <a:t>The</a:t>
            </a:r>
            <a:r>
              <a:rPr spc="400" dirty="0"/>
              <a:t> </a:t>
            </a:r>
            <a:r>
              <a:rPr spc="-10" dirty="0"/>
              <a:t>process</a:t>
            </a:r>
            <a:r>
              <a:rPr spc="425" dirty="0"/>
              <a:t> </a:t>
            </a:r>
            <a:r>
              <a:rPr spc="-5" dirty="0"/>
              <a:t>of</a:t>
            </a:r>
            <a:r>
              <a:rPr spc="400" dirty="0"/>
              <a:t> </a:t>
            </a:r>
            <a:r>
              <a:rPr spc="-10" dirty="0"/>
              <a:t>putting</a:t>
            </a:r>
            <a:r>
              <a:rPr spc="405" dirty="0"/>
              <a:t> </a:t>
            </a:r>
            <a:r>
              <a:rPr dirty="0"/>
              <a:t>a</a:t>
            </a:r>
            <a:r>
              <a:rPr spc="405" dirty="0"/>
              <a:t> </a:t>
            </a:r>
            <a:r>
              <a:rPr spc="-5" dirty="0"/>
              <a:t>new</a:t>
            </a:r>
            <a:r>
              <a:rPr spc="409" dirty="0"/>
              <a:t> </a:t>
            </a:r>
            <a:r>
              <a:rPr spc="-15" dirty="0"/>
              <a:t>data</a:t>
            </a:r>
            <a:r>
              <a:rPr spc="395" dirty="0"/>
              <a:t> </a:t>
            </a:r>
            <a:r>
              <a:rPr spc="-5" dirty="0"/>
              <a:t>element</a:t>
            </a:r>
            <a:r>
              <a:rPr spc="405" dirty="0"/>
              <a:t> </a:t>
            </a:r>
            <a:r>
              <a:rPr spc="-20" dirty="0"/>
              <a:t>onto</a:t>
            </a:r>
            <a:r>
              <a:rPr spc="400" dirty="0"/>
              <a:t> </a:t>
            </a:r>
            <a:r>
              <a:rPr spc="-15" dirty="0"/>
              <a:t>stack</a:t>
            </a:r>
            <a:r>
              <a:rPr spc="395" dirty="0"/>
              <a:t> </a:t>
            </a:r>
            <a:r>
              <a:rPr dirty="0"/>
              <a:t>is</a:t>
            </a:r>
            <a:r>
              <a:rPr spc="390" dirty="0"/>
              <a:t> </a:t>
            </a:r>
            <a:r>
              <a:rPr spc="-5" dirty="0"/>
              <a:t>known</a:t>
            </a:r>
            <a:r>
              <a:rPr spc="405" dirty="0"/>
              <a:t> </a:t>
            </a:r>
            <a:r>
              <a:rPr dirty="0"/>
              <a:t>as</a:t>
            </a:r>
            <a:r>
              <a:rPr spc="400" dirty="0"/>
              <a:t> </a:t>
            </a:r>
            <a:r>
              <a:rPr dirty="0"/>
              <a:t>a</a:t>
            </a:r>
            <a:r>
              <a:rPr spc="409" dirty="0"/>
              <a:t> </a:t>
            </a:r>
            <a:r>
              <a:rPr spc="-5" dirty="0"/>
              <a:t>Push </a:t>
            </a:r>
            <a:r>
              <a:rPr spc="-530" dirty="0"/>
              <a:t> </a:t>
            </a:r>
            <a:r>
              <a:rPr spc="-10" dirty="0"/>
              <a:t>Operation.</a:t>
            </a:r>
            <a:r>
              <a:rPr spc="-15" dirty="0"/>
              <a:t> </a:t>
            </a:r>
            <a:r>
              <a:rPr spc="-5" dirty="0"/>
              <a:t>Push</a:t>
            </a:r>
            <a:r>
              <a:rPr spc="-10" dirty="0"/>
              <a:t> operation</a:t>
            </a:r>
            <a:r>
              <a:rPr spc="-5" dirty="0"/>
              <a:t> </a:t>
            </a:r>
            <a:r>
              <a:rPr spc="-15" dirty="0"/>
              <a:t>involves</a:t>
            </a:r>
            <a:r>
              <a:rPr spc="10" dirty="0"/>
              <a:t> </a:t>
            </a:r>
            <a:r>
              <a:rPr dirty="0"/>
              <a:t>a</a:t>
            </a:r>
            <a:r>
              <a:rPr spc="-5" dirty="0"/>
              <a:t> series of </a:t>
            </a:r>
            <a:r>
              <a:rPr spc="-15" dirty="0"/>
              <a:t>steps</a:t>
            </a:r>
            <a:r>
              <a:rPr spc="-10" dirty="0"/>
              <a:t> </a:t>
            </a:r>
            <a:r>
              <a:rPr dirty="0"/>
              <a:t>−</a:t>
            </a:r>
          </a:p>
          <a:p>
            <a:pPr marL="98425">
              <a:lnSpc>
                <a:spcPct val="100000"/>
              </a:lnSpc>
            </a:pPr>
            <a:endParaRPr dirty="0"/>
          </a:p>
          <a:p>
            <a:pPr marL="98425">
              <a:lnSpc>
                <a:spcPct val="100000"/>
              </a:lnSpc>
              <a:spcBef>
                <a:spcPts val="20"/>
              </a:spcBef>
            </a:pPr>
            <a:endParaRPr sz="2300" dirty="0"/>
          </a:p>
          <a:p>
            <a:pPr marL="111125">
              <a:lnSpc>
                <a:spcPct val="100000"/>
              </a:lnSpc>
              <a:spcBef>
                <a:spcPts val="5"/>
              </a:spcBef>
            </a:pPr>
            <a:r>
              <a:rPr b="1" spc="-10" dirty="0">
                <a:latin typeface="Calibri"/>
                <a:cs typeface="Calibri"/>
              </a:rPr>
              <a:t>Step </a:t>
            </a:r>
            <a:r>
              <a:rPr b="1" dirty="0">
                <a:latin typeface="Calibri"/>
                <a:cs typeface="Calibri"/>
              </a:rPr>
              <a:t>1</a:t>
            </a:r>
            <a:r>
              <a:rPr b="1" spc="-15" dirty="0">
                <a:latin typeface="Calibri"/>
                <a:cs typeface="Calibri"/>
              </a:rPr>
              <a:t> </a:t>
            </a:r>
            <a:r>
              <a:rPr dirty="0"/>
              <a:t>−</a:t>
            </a:r>
            <a:r>
              <a:rPr spc="-5" dirty="0"/>
              <a:t> Check</a:t>
            </a:r>
            <a:r>
              <a:rPr spc="-20" dirty="0"/>
              <a:t> </a:t>
            </a:r>
            <a:r>
              <a:rPr dirty="0"/>
              <a:t>if</a:t>
            </a:r>
            <a:r>
              <a:rPr spc="-10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15" dirty="0"/>
              <a:t>stack</a:t>
            </a:r>
            <a:r>
              <a:rPr spc="-2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spc="-5" dirty="0"/>
              <a:t>full</a:t>
            </a:r>
            <a:r>
              <a:rPr spc="-10" dirty="0"/>
              <a:t> </a:t>
            </a:r>
            <a:r>
              <a:rPr spc="-5" dirty="0"/>
              <a:t>or</a:t>
            </a:r>
            <a:r>
              <a:rPr dirty="0"/>
              <a:t> </a:t>
            </a:r>
            <a:r>
              <a:rPr spc="-5" dirty="0"/>
              <a:t>not.</a:t>
            </a:r>
          </a:p>
          <a:p>
            <a:pPr marL="111125">
              <a:lnSpc>
                <a:spcPct val="100000"/>
              </a:lnSpc>
              <a:spcBef>
                <a:spcPts val="1440"/>
              </a:spcBef>
            </a:pPr>
            <a:r>
              <a:rPr b="1" spc="-10" dirty="0">
                <a:latin typeface="Calibri"/>
                <a:cs typeface="Calibri"/>
              </a:rPr>
              <a:t>Step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2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dirty="0"/>
              <a:t>−</a:t>
            </a:r>
            <a:r>
              <a:rPr spc="5" dirty="0"/>
              <a:t> </a:t>
            </a:r>
            <a:r>
              <a:rPr spc="-5" dirty="0"/>
              <a:t>If the</a:t>
            </a:r>
            <a:r>
              <a:rPr dirty="0"/>
              <a:t> </a:t>
            </a:r>
            <a:r>
              <a:rPr spc="-10" dirty="0"/>
              <a:t>stack</a:t>
            </a:r>
            <a:r>
              <a:rPr spc="-25" dirty="0"/>
              <a:t> </a:t>
            </a:r>
            <a:r>
              <a:rPr dirty="0"/>
              <a:t>is</a:t>
            </a:r>
            <a:r>
              <a:rPr spc="-15" dirty="0"/>
              <a:t> </a:t>
            </a:r>
            <a:r>
              <a:rPr spc="-5" dirty="0"/>
              <a:t>full,</a:t>
            </a:r>
            <a:r>
              <a:rPr dirty="0"/>
              <a:t> then</a:t>
            </a:r>
            <a:r>
              <a:rPr spc="-5" dirty="0"/>
              <a:t> </a:t>
            </a:r>
            <a:r>
              <a:rPr spc="-10" dirty="0"/>
              <a:t>produces</a:t>
            </a:r>
            <a:r>
              <a:rPr spc="10" dirty="0"/>
              <a:t> </a:t>
            </a:r>
            <a:r>
              <a:rPr dirty="0"/>
              <a:t>an</a:t>
            </a:r>
            <a:r>
              <a:rPr spc="-5" dirty="0"/>
              <a:t> </a:t>
            </a:r>
            <a:r>
              <a:rPr spc="-10" dirty="0"/>
              <a:t>error</a:t>
            </a:r>
            <a:r>
              <a:rPr spc="-20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spc="-15" dirty="0"/>
              <a:t>exit </a:t>
            </a:r>
            <a:r>
              <a:rPr spc="-5" dirty="0"/>
              <a:t>the</a:t>
            </a:r>
            <a:r>
              <a:rPr spc="-10" dirty="0"/>
              <a:t> </a:t>
            </a:r>
            <a:r>
              <a:rPr spc="-15" dirty="0"/>
              <a:t>program.</a:t>
            </a:r>
          </a:p>
          <a:p>
            <a:pPr marL="111125">
              <a:lnSpc>
                <a:spcPct val="100000"/>
              </a:lnSpc>
              <a:spcBef>
                <a:spcPts val="1440"/>
              </a:spcBef>
            </a:pPr>
            <a:r>
              <a:rPr b="1" spc="-10" dirty="0">
                <a:latin typeface="Calibri"/>
                <a:cs typeface="Calibri"/>
              </a:rPr>
              <a:t>Step </a:t>
            </a:r>
            <a:r>
              <a:rPr b="1" dirty="0">
                <a:latin typeface="Calibri"/>
                <a:cs typeface="Calibri"/>
              </a:rPr>
              <a:t>3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dirty="0"/>
              <a:t>−</a:t>
            </a:r>
            <a:r>
              <a:rPr spc="-5" dirty="0"/>
              <a:t> If </a:t>
            </a:r>
            <a:r>
              <a:rPr dirty="0"/>
              <a:t>the </a:t>
            </a:r>
            <a:r>
              <a:rPr spc="-15" dirty="0"/>
              <a:t>stack</a:t>
            </a:r>
            <a:r>
              <a:rPr spc="-25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spc="-5" dirty="0"/>
              <a:t>not</a:t>
            </a:r>
            <a:r>
              <a:rPr spc="-10" dirty="0"/>
              <a:t> </a:t>
            </a:r>
            <a:r>
              <a:rPr spc="-5" dirty="0"/>
              <a:t>full, </a:t>
            </a:r>
            <a:r>
              <a:rPr dirty="0"/>
              <a:t>then </a:t>
            </a:r>
            <a:r>
              <a:rPr spc="-5" dirty="0"/>
              <a:t>increment</a:t>
            </a:r>
            <a:r>
              <a:rPr spc="-1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10" dirty="0"/>
              <a:t>top</a:t>
            </a:r>
            <a:r>
              <a:rPr spc="-25" dirty="0"/>
              <a:t> </a:t>
            </a:r>
            <a:r>
              <a:rPr dirty="0"/>
              <a:t>and</a:t>
            </a:r>
            <a:r>
              <a:rPr spc="10" dirty="0"/>
              <a:t> </a:t>
            </a:r>
            <a:r>
              <a:rPr dirty="0"/>
              <a:t>add</a:t>
            </a:r>
            <a:r>
              <a:rPr spc="-5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spc="-5" dirty="0"/>
              <a:t>element.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3477" y="431037"/>
            <a:ext cx="41148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Arial"/>
                <a:cs typeface="Arial"/>
              </a:rPr>
              <a:t>Push-Operations</a:t>
            </a:r>
            <a:endParaRPr sz="40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5600" y="1578864"/>
            <a:ext cx="7467600" cy="459333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9689" y="2374214"/>
            <a:ext cx="5979795" cy="1903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latin typeface="Calibri"/>
                <a:cs typeface="Calibri"/>
              </a:rPr>
              <a:t>Introduction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Stack</a:t>
            </a:r>
            <a:endParaRPr sz="28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235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latin typeface="Calibri"/>
                <a:cs typeface="Calibri"/>
              </a:rPr>
              <a:t>Stack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applications</a:t>
            </a:r>
            <a:endParaRPr sz="28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235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latin typeface="Calibri"/>
                <a:cs typeface="Calibri"/>
              </a:rPr>
              <a:t>Push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algorithm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implementation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1363166"/>
            <a:ext cx="88080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dirty="0">
                <a:latin typeface="Arial MT"/>
                <a:cs typeface="Arial MT"/>
              </a:rPr>
              <a:t>Summery</a:t>
            </a:r>
            <a:r>
              <a:rPr sz="4800" b="0" spc="5" dirty="0">
                <a:latin typeface="Arial MT"/>
                <a:cs typeface="Arial MT"/>
              </a:rPr>
              <a:t> </a:t>
            </a:r>
            <a:r>
              <a:rPr sz="4800" b="0" dirty="0">
                <a:latin typeface="Arial MT"/>
                <a:cs typeface="Arial MT"/>
              </a:rPr>
              <a:t>&amp;</a:t>
            </a:r>
            <a:r>
              <a:rPr sz="4800" b="0" spc="-5" dirty="0">
                <a:latin typeface="Arial MT"/>
                <a:cs typeface="Arial MT"/>
              </a:rPr>
              <a:t> Students</a:t>
            </a:r>
            <a:r>
              <a:rPr sz="4800" b="0" spc="35" dirty="0">
                <a:latin typeface="Arial MT"/>
                <a:cs typeface="Arial MT"/>
              </a:rPr>
              <a:t> </a:t>
            </a:r>
            <a:r>
              <a:rPr sz="4800" b="0" spc="-5" dirty="0">
                <a:latin typeface="Arial MT"/>
                <a:cs typeface="Arial MT"/>
              </a:rPr>
              <a:t>Evaluation</a:t>
            </a:r>
            <a:endParaRPr sz="4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1445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Any</a:t>
            </a:r>
            <a:r>
              <a:rPr spc="-80" dirty="0"/>
              <a:t> </a:t>
            </a:r>
            <a:r>
              <a:rPr spc="-10" dirty="0"/>
              <a:t>Questions?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6148" y="1120139"/>
            <a:ext cx="925842" cy="162991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91071" y="1412747"/>
            <a:ext cx="2170937" cy="113766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828531" y="1360932"/>
            <a:ext cx="2172970" cy="4629150"/>
            <a:chOff x="8828531" y="1360932"/>
            <a:chExt cx="2172970" cy="462915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48571" y="3832860"/>
              <a:ext cx="1369314" cy="215722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28531" y="1360932"/>
              <a:ext cx="2172462" cy="286131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17747" y="1054595"/>
            <a:ext cx="864882" cy="99747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88508" y="4379976"/>
            <a:ext cx="1546097" cy="178384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85715" y="4582655"/>
            <a:ext cx="489978" cy="65152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578852" y="4390644"/>
            <a:ext cx="735342" cy="123825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42103" y="1603247"/>
            <a:ext cx="1116329" cy="130835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20952" y="3691102"/>
            <a:ext cx="636295" cy="518947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0" y="4283964"/>
            <a:ext cx="12192000" cy="2574290"/>
            <a:chOff x="0" y="4283964"/>
            <a:chExt cx="12192000" cy="2574290"/>
          </a:xfrm>
        </p:grpSpPr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24583" y="4283964"/>
              <a:ext cx="2035302" cy="216179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14291" y="1559178"/>
            <a:ext cx="23876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0" dirty="0">
                <a:latin typeface="Calibri"/>
                <a:cs typeface="Calibri"/>
              </a:rPr>
              <a:t>Next</a:t>
            </a:r>
            <a:r>
              <a:rPr sz="4400" spc="-80" dirty="0">
                <a:latin typeface="Calibri"/>
                <a:cs typeface="Calibri"/>
              </a:rPr>
              <a:t> </a:t>
            </a:r>
            <a:r>
              <a:rPr sz="4400" spc="-85" dirty="0">
                <a:latin typeface="Calibri"/>
                <a:cs typeface="Calibri"/>
              </a:rPr>
              <a:t>Topic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37841" y="2490596"/>
            <a:ext cx="600837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-20" dirty="0">
                <a:solidFill>
                  <a:srgbClr val="7D1B68"/>
                </a:solidFill>
                <a:latin typeface="Calibri"/>
                <a:cs typeface="Calibri"/>
              </a:rPr>
              <a:t>Stack</a:t>
            </a:r>
            <a:r>
              <a:rPr sz="7200" spc="-7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7200" spc="-15" dirty="0">
                <a:solidFill>
                  <a:srgbClr val="7D1B68"/>
                </a:solidFill>
                <a:latin typeface="Calibri"/>
                <a:cs typeface="Calibri"/>
              </a:rPr>
              <a:t>(continue)</a:t>
            </a:r>
            <a:endParaRPr sz="7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23066" y="6426809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15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421</Words>
  <Application>Microsoft Office PowerPoint</Application>
  <PresentationFormat>Widescreen</PresentationFormat>
  <Paragraphs>68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MT</vt:lpstr>
      <vt:lpstr>Calibri</vt:lpstr>
      <vt:lpstr>Times New Roman</vt:lpstr>
      <vt:lpstr>Wingdings</vt:lpstr>
      <vt:lpstr>Office Theme</vt:lpstr>
      <vt:lpstr>Course:Data Structure and Algorithms</vt:lpstr>
      <vt:lpstr>Contents</vt:lpstr>
      <vt:lpstr>Objectives</vt:lpstr>
      <vt:lpstr>STACK</vt:lpstr>
      <vt:lpstr>STACK</vt:lpstr>
      <vt:lpstr>STACK Representation</vt:lpstr>
      <vt:lpstr>Applications of Stack</vt:lpstr>
      <vt:lpstr>STACK-Operations</vt:lpstr>
      <vt:lpstr>Algorithm for PUSH Operation</vt:lpstr>
      <vt:lpstr>Push-Operations</vt:lpstr>
      <vt:lpstr>Summery &amp; Students Evaluation</vt:lpstr>
      <vt:lpstr>Any Questions?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Slajd 1</dc:title>
  <dc:creator>zawt_ss</dc:creator>
  <cp:lastModifiedBy>HAMDARD</cp:lastModifiedBy>
  <cp:revision>6</cp:revision>
  <dcterms:created xsi:type="dcterms:W3CDTF">2024-04-22T08:12:59Z</dcterms:created>
  <dcterms:modified xsi:type="dcterms:W3CDTF">2026-03-05T18:16:22Z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2023-03-27T00:00:00Z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2024-04-22T00:00:00Z</vt:filetime>
  </property>
</Properties>
</file>