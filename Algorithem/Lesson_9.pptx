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9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3" d="100"/>
          <a:sy n="73" d="100"/>
        </p:scale>
        <p:origin x="380" y="3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511296" y="4070553"/>
            <a:ext cx="8470392" cy="140258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556254" y="4115561"/>
            <a:ext cx="8331200" cy="0"/>
          </a:xfrm>
          <a:custGeom>
            <a:avLst/>
            <a:gdLst/>
            <a:ahLst/>
            <a:cxnLst/>
            <a:rect l="l" t="t" r="r" b="b"/>
            <a:pathLst>
              <a:path w="8331200">
                <a:moveTo>
                  <a:pt x="0" y="0"/>
                </a:moveTo>
                <a:lnTo>
                  <a:pt x="8331200" y="0"/>
                </a:lnTo>
              </a:path>
            </a:pathLst>
          </a:custGeom>
          <a:ln w="38100">
            <a:solidFill>
              <a:srgbClr val="DBEDF4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3819" y="1231404"/>
            <a:ext cx="2519934" cy="538721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8391" y="711708"/>
            <a:ext cx="2509266" cy="890777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066543" y="1231404"/>
            <a:ext cx="672845" cy="53872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072640" y="711708"/>
            <a:ext cx="660654" cy="890777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2314955" y="1231404"/>
            <a:ext cx="2068830" cy="538721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321052" y="711708"/>
            <a:ext cx="2056638" cy="890777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46575" y="1231404"/>
            <a:ext cx="986789" cy="538721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852672" y="711708"/>
            <a:ext cx="976122" cy="890777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7152" y="816051"/>
            <a:ext cx="424180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7D1B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7D1B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7D1B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1" i="0">
                <a:solidFill>
                  <a:srgbClr val="7D1B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88340" y="316737"/>
            <a:ext cx="10815319" cy="6350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1" i="0">
                <a:solidFill>
                  <a:srgbClr val="7D1B68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41500" y="1588876"/>
            <a:ext cx="9508998" cy="16713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4/24/2026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64442" y="6498335"/>
            <a:ext cx="317500" cy="2787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2065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12" Type="http://schemas.openxmlformats.org/officeDocument/2006/relationships/image" Target="../media/image35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9.png"/><Relationship Id="rId11" Type="http://schemas.openxmlformats.org/officeDocument/2006/relationships/image" Target="../media/image34.png"/><Relationship Id="rId5" Type="http://schemas.openxmlformats.org/officeDocument/2006/relationships/image" Target="../media/image28.png"/><Relationship Id="rId10" Type="http://schemas.openxmlformats.org/officeDocument/2006/relationships/image" Target="../media/image33.png"/><Relationship Id="rId4" Type="http://schemas.openxmlformats.org/officeDocument/2006/relationships/image" Target="../media/image27.png"/><Relationship Id="rId9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0646" y="4507229"/>
            <a:ext cx="3870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6235" algn="l"/>
              </a:tabLst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Instructor	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:</a:t>
            </a:r>
            <a:r>
              <a:rPr sz="2800" b="1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Ziaur</a:t>
            </a:r>
            <a:r>
              <a:rPr sz="2800" b="1" spc="-5" dirty="0">
                <a:solidFill>
                  <a:srgbClr val="FFFFFF"/>
                </a:solidFill>
                <a:latin typeface="Calibri"/>
                <a:cs typeface="Calibri"/>
              </a:rPr>
              <a:t> Rahman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109709" y="5357876"/>
            <a:ext cx="1142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10" dirty="0">
                <a:latin typeface="Arial"/>
                <a:cs typeface="Arial"/>
              </a:rPr>
              <a:t>year:</a:t>
            </a:r>
            <a:r>
              <a:rPr sz="1800" b="1" spc="-4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1402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111" y="2447544"/>
            <a:ext cx="2070354" cy="899922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913382" y="2471750"/>
            <a:ext cx="7855584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00" spc="-135" baseline="2604" dirty="0">
                <a:solidFill>
                  <a:srgbClr val="00AF50"/>
                </a:solidFill>
                <a:latin typeface="Arial"/>
                <a:cs typeface="Arial"/>
              </a:rPr>
              <a:t>Course:</a:t>
            </a:r>
            <a:r>
              <a:rPr sz="4000" spc="-90" dirty="0">
                <a:solidFill>
                  <a:srgbClr val="006FC0"/>
                </a:solidFill>
              </a:rPr>
              <a:t>Data</a:t>
            </a:r>
            <a:r>
              <a:rPr sz="4000" spc="10" dirty="0">
                <a:solidFill>
                  <a:srgbClr val="006FC0"/>
                </a:solidFill>
              </a:rPr>
              <a:t> </a:t>
            </a:r>
            <a:r>
              <a:rPr sz="4000" spc="-15" dirty="0">
                <a:solidFill>
                  <a:srgbClr val="006FC0"/>
                </a:solidFill>
              </a:rPr>
              <a:t>Structure</a:t>
            </a:r>
            <a:r>
              <a:rPr sz="4000" spc="40" dirty="0">
                <a:solidFill>
                  <a:srgbClr val="006FC0"/>
                </a:solidFill>
              </a:rPr>
              <a:t> </a:t>
            </a:r>
            <a:r>
              <a:rPr sz="4000" spc="-5" dirty="0">
                <a:solidFill>
                  <a:srgbClr val="006FC0"/>
                </a:solidFill>
              </a:rPr>
              <a:t>and</a:t>
            </a:r>
            <a:r>
              <a:rPr sz="4000" spc="25" dirty="0">
                <a:solidFill>
                  <a:srgbClr val="006FC0"/>
                </a:solidFill>
              </a:rPr>
              <a:t> </a:t>
            </a:r>
            <a:r>
              <a:rPr sz="4000" spc="-10" dirty="0">
                <a:solidFill>
                  <a:srgbClr val="006FC0"/>
                </a:solidFill>
              </a:rPr>
              <a:t>Algorithms</a:t>
            </a:r>
            <a:endParaRPr sz="40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577274" y="3798913"/>
            <a:ext cx="40163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spc="-5" dirty="0">
                <a:solidFill>
                  <a:srgbClr val="7D1B68"/>
                </a:solidFill>
                <a:latin typeface="Arial"/>
                <a:cs typeface="Arial"/>
              </a:rPr>
              <a:t>Lesson</a:t>
            </a:r>
            <a:r>
              <a:rPr sz="3200" b="1" spc="-50" dirty="0">
                <a:solidFill>
                  <a:srgbClr val="7D1B68"/>
                </a:solidFill>
                <a:latin typeface="Arial"/>
                <a:cs typeface="Arial"/>
              </a:rPr>
              <a:t> </a:t>
            </a:r>
            <a:r>
              <a:rPr lang="en-US" sz="3200" b="1" spc="-50" dirty="0">
                <a:solidFill>
                  <a:srgbClr val="7D1B68"/>
                </a:solidFill>
                <a:latin typeface="Arial"/>
                <a:cs typeface="Arial"/>
              </a:rPr>
              <a:t>9</a:t>
            </a:r>
            <a:endParaRPr sz="3200" dirty="0">
              <a:latin typeface="Arial"/>
              <a:cs typeface="Arial"/>
            </a:endParaRPr>
          </a:p>
        </p:txBody>
      </p:sp>
      <p:sp>
        <p:nvSpPr>
          <p:cNvPr id="29" name="object 6"/>
          <p:cNvSpPr txBox="1"/>
          <p:nvPr/>
        </p:nvSpPr>
        <p:spPr>
          <a:xfrm>
            <a:off x="4890516" y="738886"/>
            <a:ext cx="3262884" cy="138762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3200" b="1" spc="-415" dirty="0">
                <a:latin typeface="Calibri"/>
                <a:cs typeface="Calibri"/>
              </a:rPr>
              <a:t>Kabul </a:t>
            </a:r>
            <a:r>
              <a:rPr sz="3200" b="1" spc="-355" dirty="0">
                <a:latin typeface="Calibri"/>
                <a:cs typeface="Calibri"/>
              </a:rPr>
              <a:t>Univers</a:t>
            </a:r>
            <a:r>
              <a:rPr sz="3200" b="1" spc="-185" dirty="0">
                <a:latin typeface="Calibri"/>
                <a:cs typeface="Calibri"/>
              </a:rPr>
              <a:t>i</a:t>
            </a:r>
            <a:r>
              <a:rPr sz="3200" b="1" spc="-260" dirty="0">
                <a:latin typeface="Calibri"/>
                <a:cs typeface="Calibri"/>
              </a:rPr>
              <a:t>ty  </a:t>
            </a:r>
            <a:endParaRPr lang="en-US" sz="3200" b="1" spc="-260" dirty="0">
              <a:latin typeface="Calibri"/>
              <a:cs typeface="Calibri"/>
            </a:endParaRPr>
          </a:p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2800" b="1" spc="-300" dirty="0">
                <a:latin typeface="Calibri"/>
                <a:cs typeface="Calibri"/>
              </a:rPr>
              <a:t>Faculty of Computer Science </a:t>
            </a:r>
            <a:r>
              <a:rPr lang="en-US" sz="2400" b="1" spc="-300" dirty="0">
                <a:latin typeface="Calibri"/>
                <a:cs typeface="Calibri"/>
              </a:rPr>
              <a:t>SE</a:t>
            </a:r>
            <a:r>
              <a:rPr lang="en-US" sz="2800" b="1" spc="-300" dirty="0">
                <a:latin typeface="Calibri"/>
                <a:cs typeface="Calibri"/>
              </a:rPr>
              <a:t> </a:t>
            </a:r>
            <a:r>
              <a:rPr sz="2400" b="1" spc="-315" dirty="0">
                <a:latin typeface="Calibri"/>
                <a:cs typeface="Calibri"/>
              </a:rPr>
              <a:t>Depart</a:t>
            </a:r>
            <a:r>
              <a:rPr sz="2400" b="1" spc="-535" dirty="0">
                <a:latin typeface="Calibri"/>
                <a:cs typeface="Calibri"/>
              </a:rPr>
              <a:t>m</a:t>
            </a:r>
            <a:r>
              <a:rPr sz="2400" b="1" spc="-375" dirty="0">
                <a:latin typeface="Calibri"/>
                <a:cs typeface="Calibri"/>
              </a:rPr>
              <a:t>e</a:t>
            </a:r>
            <a:r>
              <a:rPr sz="2400" b="1" spc="-395" dirty="0">
                <a:latin typeface="Calibri"/>
                <a:cs typeface="Calibri"/>
              </a:rPr>
              <a:t>n</a:t>
            </a:r>
            <a:r>
              <a:rPr sz="2400" b="1" spc="-265" dirty="0">
                <a:latin typeface="Calibri"/>
                <a:cs typeface="Calibri"/>
              </a:rPr>
              <a:t>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30" name="object 6"/>
          <p:cNvSpPr txBox="1"/>
          <p:nvPr/>
        </p:nvSpPr>
        <p:spPr>
          <a:xfrm>
            <a:off x="1005839" y="4523359"/>
            <a:ext cx="3142870" cy="84638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0"/>
              </a:spcBef>
            </a:pPr>
            <a:r>
              <a:rPr sz="1800" b="1" spc="-5" dirty="0">
                <a:latin typeface="Arial"/>
                <a:cs typeface="Arial"/>
              </a:rPr>
              <a:t>Semester: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lang="en-US" sz="1800" b="1" spc="-20" dirty="0">
                <a:latin typeface="Arial"/>
                <a:cs typeface="Arial"/>
              </a:rPr>
              <a:t>4</a:t>
            </a:r>
            <a:r>
              <a:rPr sz="1800" b="1" spc="-7" baseline="25462" dirty="0">
                <a:latin typeface="Arial"/>
                <a:cs typeface="Arial"/>
              </a:rPr>
              <a:t>th</a:t>
            </a:r>
            <a:endParaRPr sz="1800" baseline="25462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Arial"/>
                <a:cs typeface="Arial"/>
              </a:rPr>
              <a:t>Lecture: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1" name="object 7"/>
          <p:cNvSpPr txBox="1"/>
          <p:nvPr/>
        </p:nvSpPr>
        <p:spPr>
          <a:xfrm>
            <a:off x="1031238" y="5483453"/>
            <a:ext cx="3540762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Prepare</a:t>
            </a:r>
            <a:r>
              <a:rPr lang="en-US" sz="1800" b="1" spc="-5" dirty="0">
                <a:latin typeface="Arial"/>
                <a:cs typeface="Arial"/>
              </a:rPr>
              <a:t>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by: </a:t>
            </a: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3" name="object 6">
            <a:extLst>
              <a:ext uri="{FF2B5EF4-FFF2-40B4-BE49-F238E27FC236}">
                <a16:creationId xmlns:a16="http://schemas.microsoft.com/office/drawing/2014/main" id="{F505C664-D819-02F5-4826-F1B4CF5CA2CA}"/>
              </a:ext>
            </a:extLst>
          </p:cNvPr>
          <p:cNvSpPr txBox="1"/>
          <p:nvPr/>
        </p:nvSpPr>
        <p:spPr>
          <a:xfrm>
            <a:off x="8009835" y="3566794"/>
            <a:ext cx="209994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spc="-10" dirty="0">
                <a:solidFill>
                  <a:srgbClr val="7D1B68"/>
                </a:solidFill>
                <a:latin typeface="Calibri"/>
                <a:cs typeface="Calibri"/>
              </a:rPr>
              <a:t>Queue</a:t>
            </a:r>
            <a:endParaRPr sz="6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19022" y="558241"/>
            <a:ext cx="307657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spc="-10" dirty="0">
                <a:latin typeface="Arial MT"/>
                <a:cs typeface="Arial MT"/>
              </a:rPr>
              <a:t>Contents</a:t>
            </a:r>
            <a:endParaRPr sz="6000">
              <a:latin typeface="Arial MT"/>
              <a:cs typeface="Arial MT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606041" y="2025523"/>
            <a:ext cx="8570595" cy="192039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Introduction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Queue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Queue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Enqueue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Dequeue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algorithm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implementation</a:t>
            </a:r>
            <a:endParaRPr sz="2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13490" y="6477685"/>
            <a:ext cx="77470" cy="153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140"/>
              </a:lnSpc>
            </a:pPr>
            <a:r>
              <a:rPr sz="1200" spc="-60" dirty="0">
                <a:solidFill>
                  <a:srgbClr val="888888"/>
                </a:solidFill>
                <a:latin typeface="Calibri"/>
                <a:cs typeface="Calibri"/>
              </a:rPr>
              <a:t>3</a:t>
            </a:r>
            <a:endParaRPr sz="12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88340" y="515238"/>
            <a:ext cx="48818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Arial MT"/>
                <a:cs typeface="Arial MT"/>
              </a:rPr>
              <a:t>Problem</a:t>
            </a:r>
            <a:r>
              <a:rPr b="0" spc="-6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to</a:t>
            </a:r>
            <a:r>
              <a:rPr b="0" spc="-85" dirty="0">
                <a:latin typeface="Arial MT"/>
                <a:cs typeface="Arial MT"/>
              </a:rPr>
              <a:t> </a:t>
            </a:r>
            <a:r>
              <a:rPr b="0" dirty="0">
                <a:latin typeface="Arial MT"/>
                <a:cs typeface="Arial MT"/>
              </a:rPr>
              <a:t>be</a:t>
            </a:r>
            <a:r>
              <a:rPr b="0" spc="-6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Solved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069339" y="1473453"/>
            <a:ext cx="9448165" cy="45091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100" dirty="0">
                <a:latin typeface="Calibri"/>
                <a:cs typeface="Calibri"/>
              </a:rPr>
              <a:t>It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so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often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necessary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35" dirty="0"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7D1B68"/>
                </a:solidFill>
                <a:latin typeface="Calibri"/>
                <a:cs typeface="Calibri"/>
              </a:rPr>
              <a:t>wait</a:t>
            </a:r>
            <a:r>
              <a:rPr sz="2100" b="1" spc="-4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7D1B68"/>
                </a:solidFill>
                <a:latin typeface="Calibri"/>
                <a:cs typeface="Calibri"/>
              </a:rPr>
              <a:t>one’s</a:t>
            </a:r>
            <a:r>
              <a:rPr sz="2100" b="1" spc="-5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100" b="1" dirty="0">
                <a:solidFill>
                  <a:srgbClr val="7D1B68"/>
                </a:solidFill>
                <a:latin typeface="Calibri"/>
                <a:cs typeface="Calibri"/>
              </a:rPr>
              <a:t>turn</a:t>
            </a:r>
            <a:r>
              <a:rPr sz="2100" b="1" spc="-5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before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having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access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something</a:t>
            </a:r>
            <a:endParaRPr sz="21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764"/>
              </a:spcBef>
              <a:buFont typeface="Wingdings"/>
              <a:buChar char=""/>
              <a:tabLst>
                <a:tab pos="355600" algn="l"/>
              </a:tabLst>
            </a:pPr>
            <a:r>
              <a:rPr sz="2100" dirty="0">
                <a:latin typeface="Calibri"/>
                <a:cs typeface="Calibri"/>
              </a:rPr>
              <a:t>We</a:t>
            </a:r>
            <a:r>
              <a:rPr sz="2100" spc="-6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may</a:t>
            </a:r>
            <a:r>
              <a:rPr sz="2100" spc="-7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want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simulate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real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life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situation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waiting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line,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spc="-20" dirty="0">
                <a:latin typeface="Calibri"/>
                <a:cs typeface="Calibri"/>
              </a:rPr>
              <a:t>like</a:t>
            </a:r>
            <a:endParaRPr sz="21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710"/>
              </a:spcBef>
              <a:buFont typeface="Wingdings"/>
              <a:buChar char="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line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people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waiting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purchase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tickets,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7D1B68"/>
                </a:solidFill>
                <a:latin typeface="Calibri"/>
                <a:cs typeface="Calibri"/>
              </a:rPr>
              <a:t>first</a:t>
            </a:r>
            <a:r>
              <a:rPr sz="2000" b="1" spc="-4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7D1B68"/>
                </a:solidFill>
                <a:latin typeface="Calibri"/>
                <a:cs typeface="Calibri"/>
              </a:rPr>
              <a:t>person</a:t>
            </a:r>
            <a:r>
              <a:rPr sz="2000" b="1" spc="-5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7D1B68"/>
                </a:solidFill>
                <a:latin typeface="Calibri"/>
                <a:cs typeface="Calibri"/>
              </a:rPr>
              <a:t>in</a:t>
            </a:r>
            <a:r>
              <a:rPr sz="2000" b="1" spc="-3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7D1B68"/>
                </a:solidFill>
                <a:latin typeface="Calibri"/>
                <a:cs typeface="Calibri"/>
              </a:rPr>
              <a:t>line</a:t>
            </a:r>
            <a:r>
              <a:rPr sz="2000" b="1" spc="-4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7D1B68"/>
                </a:solidFill>
                <a:latin typeface="Calibri"/>
                <a:cs typeface="Calibri"/>
              </a:rPr>
              <a:t>is</a:t>
            </a:r>
            <a:r>
              <a:rPr sz="2000" b="1" spc="-2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7D1B68"/>
                </a:solidFill>
                <a:latin typeface="Calibri"/>
                <a:cs typeface="Calibri"/>
              </a:rPr>
              <a:t>the</a:t>
            </a:r>
            <a:r>
              <a:rPr sz="2000" b="1" spc="-4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7D1B68"/>
                </a:solidFill>
                <a:latin typeface="Calibri"/>
                <a:cs typeface="Calibri"/>
              </a:rPr>
              <a:t>first</a:t>
            </a:r>
            <a:endParaRPr sz="2000">
              <a:latin typeface="Calibri"/>
              <a:cs typeface="Calibri"/>
            </a:endParaRPr>
          </a:p>
          <a:p>
            <a:pPr marL="756285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solidFill>
                  <a:srgbClr val="7D1B68"/>
                </a:solidFill>
                <a:latin typeface="Calibri"/>
                <a:cs typeface="Calibri"/>
              </a:rPr>
              <a:t>person</a:t>
            </a:r>
            <a:r>
              <a:rPr sz="2000" b="1" spc="-7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7D1B68"/>
                </a:solidFill>
                <a:latin typeface="Calibri"/>
                <a:cs typeface="Calibri"/>
              </a:rPr>
              <a:t>served</a:t>
            </a:r>
            <a:endParaRPr sz="20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1735"/>
              </a:spcBef>
              <a:buFont typeface="Wingdings"/>
              <a:buChar char=""/>
              <a:tabLst>
                <a:tab pos="355600" algn="l"/>
              </a:tabLst>
            </a:pPr>
            <a:r>
              <a:rPr sz="2100" dirty="0">
                <a:latin typeface="Calibri"/>
                <a:cs typeface="Calibri"/>
              </a:rPr>
              <a:t>With</a:t>
            </a:r>
            <a:r>
              <a:rPr sz="2100" spc="-5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in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a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computer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system</a:t>
            </a:r>
            <a:r>
              <a:rPr sz="2100" spc="-3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there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may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be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lines</a:t>
            </a:r>
            <a:r>
              <a:rPr sz="2100" spc="-2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spc="-10" dirty="0">
                <a:latin typeface="Calibri"/>
                <a:cs typeface="Calibri"/>
              </a:rPr>
              <a:t>tasks</a:t>
            </a:r>
            <a:endParaRPr sz="21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710"/>
              </a:spcBef>
              <a:buFont typeface="Wingdings"/>
              <a:buChar char="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Waiting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printer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685"/>
              </a:spcBef>
              <a:buFont typeface="Wingdings"/>
              <a:buChar char="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Waiting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disk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storage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680"/>
              </a:spcBef>
              <a:buFont typeface="Wingdings"/>
              <a:buChar char="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Or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sharing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system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CPU</a:t>
            </a: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735"/>
              </a:spcBef>
              <a:buFont typeface="Wingdings"/>
              <a:buChar char=""/>
              <a:tabLst>
                <a:tab pos="354965" algn="l"/>
              </a:tabLst>
            </a:pPr>
            <a:r>
              <a:rPr sz="2100" dirty="0">
                <a:latin typeface="Calibri"/>
                <a:cs typeface="Calibri"/>
              </a:rPr>
              <a:t>The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data</a:t>
            </a:r>
            <a:r>
              <a:rPr sz="2100" spc="-6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structures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used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to</a:t>
            </a:r>
            <a:r>
              <a:rPr sz="2100" spc="-4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solve</a:t>
            </a:r>
            <a:r>
              <a:rPr sz="2100" spc="-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this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type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of</a:t>
            </a:r>
            <a:r>
              <a:rPr sz="2100" spc="-5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problems</a:t>
            </a:r>
            <a:r>
              <a:rPr sz="2100" spc="-25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is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dirty="0">
                <a:latin typeface="Calibri"/>
                <a:cs typeface="Calibri"/>
              </a:rPr>
              <a:t>called</a:t>
            </a:r>
            <a:r>
              <a:rPr sz="2100" spc="-40" dirty="0">
                <a:latin typeface="Calibri"/>
                <a:cs typeface="Calibri"/>
              </a:rPr>
              <a:t> </a:t>
            </a:r>
            <a:r>
              <a:rPr sz="2100" b="1" spc="-10" dirty="0">
                <a:solidFill>
                  <a:srgbClr val="7D1B68"/>
                </a:solidFill>
                <a:latin typeface="Calibri"/>
                <a:cs typeface="Calibri"/>
              </a:rPr>
              <a:t>Queue</a:t>
            </a:r>
            <a:endParaRPr sz="21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6" name="object 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240537"/>
            <a:ext cx="25647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Arial MT"/>
                <a:cs typeface="Arial MT"/>
              </a:rPr>
              <a:t>The</a:t>
            </a:r>
            <a:r>
              <a:rPr b="0" spc="-8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Queue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40739" y="841120"/>
            <a:ext cx="10092055" cy="4635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916940" indent="-342900">
              <a:lnSpc>
                <a:spcPct val="1501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linear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FIFO</a:t>
            </a:r>
            <a:r>
              <a:rPr sz="2400" spc="-5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i.e.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7D1B68"/>
                </a:solidFill>
                <a:latin typeface="Calibri"/>
                <a:cs typeface="Calibri"/>
              </a:rPr>
              <a:t>First-in-First-</a:t>
            </a:r>
            <a:r>
              <a:rPr sz="2400" spc="-25" dirty="0">
                <a:solidFill>
                  <a:srgbClr val="7D1B68"/>
                </a:solidFill>
                <a:latin typeface="Calibri"/>
                <a:cs typeface="Calibri"/>
              </a:rPr>
              <a:t>Out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method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55600" marR="546735" indent="-342900">
              <a:lnSpc>
                <a:spcPct val="150100"/>
              </a:lnSpc>
              <a:spcBef>
                <a:spcPts val="57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deletion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performed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different</a:t>
            </a:r>
            <a:r>
              <a:rPr sz="2400" spc="-20" dirty="0">
                <a:latin typeface="Calibri"/>
                <a:cs typeface="Calibri"/>
              </a:rPr>
              <a:t> ends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Front</a:t>
            </a:r>
            <a:r>
              <a:rPr sz="2400" spc="-5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Rear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  <a:p>
            <a:pPr marL="355600" marR="775970" indent="-342900">
              <a:lnSpc>
                <a:spcPct val="150000"/>
              </a:lnSpc>
              <a:spcBef>
                <a:spcPts val="57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One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always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enqueue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other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to </a:t>
            </a:r>
            <a:r>
              <a:rPr sz="2400" dirty="0">
                <a:latin typeface="Calibri"/>
                <a:cs typeface="Calibri"/>
              </a:rPr>
              <a:t>remove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</a:t>
            </a:r>
            <a:r>
              <a:rPr sz="2400" spc="-10" dirty="0">
                <a:solidFill>
                  <a:srgbClr val="7D1B68"/>
                </a:solidFill>
                <a:latin typeface="Calibri"/>
                <a:cs typeface="Calibri"/>
              </a:rPr>
              <a:t>dequeue</a:t>
            </a:r>
            <a:r>
              <a:rPr sz="2400" spc="-10" dirty="0">
                <a:latin typeface="Calibri"/>
                <a:cs typeface="Calibri"/>
              </a:rPr>
              <a:t>).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spcBef>
                <a:spcPts val="58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Insertion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take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place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Rear</a:t>
            </a:r>
            <a:r>
              <a:rPr sz="2400" b="1" spc="-8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(tail)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removed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D1B68"/>
                </a:solidFill>
                <a:latin typeface="Calibri"/>
                <a:cs typeface="Calibri"/>
              </a:rPr>
              <a:t>Front (head)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40" y="240537"/>
            <a:ext cx="25647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Arial MT"/>
                <a:cs typeface="Arial MT"/>
              </a:rPr>
              <a:t>The</a:t>
            </a:r>
            <a:r>
              <a:rPr b="0" spc="-8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Queue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2976" y="1213103"/>
            <a:ext cx="8766048" cy="302361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34055" y="4675632"/>
            <a:ext cx="6723888" cy="1641348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9339" y="1190625"/>
            <a:ext cx="10289540" cy="8191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3535">
              <a:lnSpc>
                <a:spcPct val="100000"/>
              </a:lnSpc>
              <a:spcBef>
                <a:spcPts val="105"/>
              </a:spcBef>
              <a:buFont typeface="Wingdings"/>
              <a:buChar char=""/>
              <a:tabLst>
                <a:tab pos="355600" algn="l"/>
              </a:tabLst>
            </a:pPr>
            <a:r>
              <a:rPr sz="2600" dirty="0">
                <a:latin typeface="Calibri"/>
                <a:cs typeface="Calibri"/>
              </a:rPr>
              <a:t>Assume</a:t>
            </a:r>
            <a:r>
              <a:rPr sz="2600" spc="-9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initially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empty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queue</a:t>
            </a:r>
            <a:r>
              <a:rPr sz="2600" spc="-7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and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following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sequence</a:t>
            </a:r>
            <a:r>
              <a:rPr sz="2600" spc="-8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insertions</a:t>
            </a:r>
            <a:r>
              <a:rPr sz="2600" spc="-60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and </a:t>
            </a:r>
            <a:r>
              <a:rPr sz="2600" spc="-10" dirty="0">
                <a:latin typeface="Calibri"/>
                <a:cs typeface="Calibri"/>
              </a:rPr>
              <a:t>deletions:</a:t>
            </a:r>
            <a:endParaRPr sz="26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400" y="2514600"/>
            <a:ext cx="1981200" cy="68580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572000" y="2514600"/>
            <a:ext cx="2667000" cy="685800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924800" y="2438400"/>
            <a:ext cx="2514600" cy="838200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676400" y="3505200"/>
            <a:ext cx="2590800" cy="68580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4648200" y="3581400"/>
            <a:ext cx="2133600" cy="6858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7924800" y="3429000"/>
            <a:ext cx="1676400" cy="32613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752600" y="4648200"/>
            <a:ext cx="2209800" cy="6858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4648200" y="4648200"/>
            <a:ext cx="2743200" cy="609600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8001000" y="4518659"/>
            <a:ext cx="3352800" cy="990599"/>
          </a:xfrm>
          <a:prstGeom prst="rect">
            <a:avLst/>
          </a:prstGeom>
        </p:spPr>
      </p:pic>
      <p:grpSp>
        <p:nvGrpSpPr>
          <p:cNvPr id="12" name="object 1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13" name="object 1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0" dirty="0">
                <a:latin typeface="Arial MT"/>
                <a:cs typeface="Arial MT"/>
              </a:rPr>
              <a:t>The</a:t>
            </a:r>
            <a:r>
              <a:rPr b="0" spc="-85" dirty="0">
                <a:latin typeface="Arial MT"/>
                <a:cs typeface="Arial MT"/>
              </a:rPr>
              <a:t> </a:t>
            </a:r>
            <a:r>
              <a:rPr b="0" spc="-10" dirty="0">
                <a:latin typeface="Arial MT"/>
                <a:cs typeface="Arial MT"/>
              </a:rPr>
              <a:t>Queue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225">
              <a:lnSpc>
                <a:spcPct val="100000"/>
              </a:lnSpc>
              <a:spcBef>
                <a:spcPts val="95"/>
              </a:spcBef>
            </a:pPr>
            <a:r>
              <a:rPr dirty="0"/>
              <a:t>Application</a:t>
            </a:r>
            <a:r>
              <a:rPr spc="-7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10" dirty="0"/>
              <a:t>Queues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1447" y="1404950"/>
            <a:ext cx="9510395" cy="45510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common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application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client-</a:t>
            </a:r>
            <a:r>
              <a:rPr sz="2400" dirty="0">
                <a:latin typeface="Calibri"/>
                <a:cs typeface="Calibri"/>
              </a:rPr>
              <a:t>server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models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020"/>
              </a:spcBef>
              <a:buFont typeface="Wingdings"/>
              <a:buChar char="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clients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requesting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servers.</a:t>
            </a: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2014"/>
              </a:spcBef>
              <a:buFont typeface="Wingdings"/>
              <a:buChar char=""/>
              <a:tabLst>
                <a:tab pos="756285" algn="l"/>
              </a:tabLst>
            </a:pPr>
            <a:r>
              <a:rPr sz="2400" dirty="0">
                <a:latin typeface="Calibri"/>
                <a:cs typeface="Calibri"/>
              </a:rPr>
              <a:t>Some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clients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wait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servers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busy.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2020"/>
              </a:spcBef>
              <a:buFont typeface="Wingdings"/>
              <a:buChar char=""/>
              <a:tabLst>
                <a:tab pos="755650" algn="l"/>
              </a:tabLst>
            </a:pPr>
            <a:r>
              <a:rPr sz="2400" dirty="0">
                <a:latin typeface="Calibri"/>
                <a:cs typeface="Calibri"/>
              </a:rPr>
              <a:t>Those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clients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placed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serviced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arrival.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14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Grocery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stores,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banks,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airport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security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queues.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2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Queues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mostly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systems.</a:t>
            </a:r>
            <a:endParaRPr sz="2400">
              <a:latin typeface="Calibri"/>
              <a:cs typeface="Calibri"/>
            </a:endParaRPr>
          </a:p>
          <a:p>
            <a:pPr marL="755650" lvl="1" indent="-285750">
              <a:lnSpc>
                <a:spcPct val="100000"/>
              </a:lnSpc>
              <a:spcBef>
                <a:spcPts val="1780"/>
              </a:spcBef>
              <a:buFont typeface="Wingdings"/>
              <a:buChar char=""/>
              <a:tabLst>
                <a:tab pos="755650" algn="l"/>
              </a:tabLst>
            </a:pPr>
            <a:r>
              <a:rPr sz="2000" dirty="0">
                <a:latin typeface="Calibri"/>
                <a:cs typeface="Calibri"/>
              </a:rPr>
              <a:t>Waiting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particular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occur.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1680"/>
              </a:spcBef>
              <a:buFont typeface="Wingdings"/>
              <a:buChar char=""/>
              <a:tabLst>
                <a:tab pos="756285" algn="l"/>
              </a:tabLst>
            </a:pPr>
            <a:r>
              <a:rPr sz="2000" dirty="0">
                <a:latin typeface="Calibri"/>
                <a:cs typeface="Calibri"/>
              </a:rPr>
              <a:t>Scheduling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processes.</a:t>
            </a:r>
            <a:endParaRPr sz="20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06500" y="368630"/>
            <a:ext cx="54984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Queue</a:t>
            </a:r>
            <a:r>
              <a:rPr spc="-25" dirty="0"/>
              <a:t> </a:t>
            </a:r>
            <a:r>
              <a:rPr spc="-10" dirty="0"/>
              <a:t>Implementation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298194" y="1322578"/>
            <a:ext cx="9864090" cy="39039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structure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implemented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ways.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follows...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9"/>
              </a:spcBef>
              <a:buFont typeface="Wingdings"/>
              <a:buChar char=""/>
            </a:pPr>
            <a:endParaRPr sz="24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buFont typeface="Wingdings"/>
              <a:buChar char=""/>
              <a:tabLst>
                <a:tab pos="756285" algn="l"/>
              </a:tabLst>
            </a:pPr>
            <a:r>
              <a:rPr sz="2000" b="1" dirty="0">
                <a:solidFill>
                  <a:srgbClr val="7D1B68"/>
                </a:solidFill>
                <a:latin typeface="Calibri"/>
                <a:cs typeface="Calibri"/>
              </a:rPr>
              <a:t>Using</a:t>
            </a:r>
            <a:r>
              <a:rPr sz="2000" b="1" spc="-3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7D1B68"/>
                </a:solidFill>
                <a:latin typeface="Calibri"/>
                <a:cs typeface="Calibri"/>
              </a:rPr>
              <a:t>Array</a:t>
            </a:r>
            <a:endParaRPr sz="2000">
              <a:latin typeface="Calibri"/>
              <a:cs typeface="Calibri"/>
            </a:endParaRPr>
          </a:p>
          <a:p>
            <a:pPr marL="756285" lvl="1" indent="-286385">
              <a:lnSpc>
                <a:spcPct val="100000"/>
              </a:lnSpc>
              <a:spcBef>
                <a:spcPts val="480"/>
              </a:spcBef>
              <a:buFont typeface="Wingdings"/>
              <a:buChar char=""/>
              <a:tabLst>
                <a:tab pos="756285" algn="l"/>
              </a:tabLst>
            </a:pPr>
            <a:r>
              <a:rPr sz="2000" b="1" dirty="0">
                <a:solidFill>
                  <a:srgbClr val="7D1B68"/>
                </a:solidFill>
                <a:latin typeface="Calibri"/>
                <a:cs typeface="Calibri"/>
              </a:rPr>
              <a:t>Using</a:t>
            </a:r>
            <a:r>
              <a:rPr sz="2000" b="1" spc="-7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7D1B68"/>
                </a:solidFill>
                <a:latin typeface="Calibri"/>
                <a:cs typeface="Calibri"/>
              </a:rPr>
              <a:t>Linked</a:t>
            </a:r>
            <a:r>
              <a:rPr sz="2000" b="1" spc="-5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7D1B68"/>
                </a:solidFill>
                <a:latin typeface="Calibri"/>
                <a:cs typeface="Calibri"/>
              </a:rPr>
              <a:t>List</a:t>
            </a:r>
            <a:endParaRPr sz="200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spcBef>
                <a:spcPts val="985"/>
              </a:spcBef>
              <a:buClr>
                <a:srgbClr val="7D1B68"/>
              </a:buClr>
              <a:buFont typeface="Wingdings"/>
              <a:buChar char=""/>
            </a:pPr>
            <a:endParaRPr sz="20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implemented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7D1B68"/>
                </a:solidFill>
                <a:latin typeface="Calibri"/>
                <a:cs typeface="Calibri"/>
              </a:rPr>
              <a:t>array</a:t>
            </a:r>
            <a:r>
              <a:rPr sz="2400" spc="-10" dirty="0">
                <a:latin typeface="Calibri"/>
                <a:cs typeface="Calibri"/>
              </a:rPr>
              <a:t>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only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limited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elements.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When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implemented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linked</a:t>
            </a:r>
            <a:r>
              <a:rPr sz="2400" b="1" spc="-6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list</a:t>
            </a:r>
            <a:r>
              <a:rPr sz="2400" dirty="0">
                <a:solidFill>
                  <a:srgbClr val="7D1B68"/>
                </a:solidFill>
                <a:latin typeface="Calibri"/>
                <a:cs typeface="Calibri"/>
              </a:rPr>
              <a:t>,</a:t>
            </a:r>
            <a:r>
              <a:rPr sz="2400" spc="-4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organize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unlimited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elements.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424053"/>
            <a:ext cx="56089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Operations</a:t>
            </a:r>
            <a:r>
              <a:rPr spc="-85" dirty="0"/>
              <a:t> </a:t>
            </a:r>
            <a:r>
              <a:rPr dirty="0"/>
              <a:t>on</a:t>
            </a:r>
            <a:r>
              <a:rPr spc="-95" dirty="0"/>
              <a:t> </a:t>
            </a:r>
            <a:r>
              <a:rPr dirty="0"/>
              <a:t>a</a:t>
            </a:r>
            <a:r>
              <a:rPr spc="-95" dirty="0"/>
              <a:t> </a:t>
            </a:r>
            <a:r>
              <a:rPr spc="-10" dirty="0"/>
              <a:t>Queue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62303" y="1450085"/>
            <a:ext cx="8456295" cy="30251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performed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structure...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</a:pP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265" algn="l"/>
              </a:tabLst>
            </a:pPr>
            <a:r>
              <a:rPr sz="2400" b="1" spc="-10" dirty="0">
                <a:latin typeface="Calibri"/>
                <a:cs typeface="Calibri"/>
              </a:rPr>
              <a:t>enqueue(value)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-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45" dirty="0">
                <a:latin typeface="Calibri"/>
                <a:cs typeface="Calibri"/>
              </a:rPr>
              <a:t>(To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insert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element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into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queue)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0"/>
              </a:spcBef>
              <a:buFont typeface="Calibri"/>
              <a:buAutoNum type="arabicPeriod"/>
            </a:pP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dequeue()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-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45" dirty="0">
                <a:latin typeface="Calibri"/>
                <a:cs typeface="Calibri"/>
              </a:rPr>
              <a:t>(To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delete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element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from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queue)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05"/>
              </a:spcBef>
              <a:buFont typeface="Calibri"/>
              <a:buAutoNum type="arabicPeriod"/>
            </a:pPr>
            <a:endParaRPr sz="24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buAutoNum type="arabicPeriod"/>
              <a:tabLst>
                <a:tab pos="469265" algn="l"/>
              </a:tabLst>
            </a:pPr>
            <a:r>
              <a:rPr sz="2400" b="1" dirty="0">
                <a:latin typeface="Calibri"/>
                <a:cs typeface="Calibri"/>
              </a:rPr>
              <a:t>display()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-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spc="-50" dirty="0">
                <a:latin typeface="Calibri"/>
                <a:cs typeface="Calibri"/>
              </a:rPr>
              <a:t>(To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display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elements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queue)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410336"/>
            <a:ext cx="80638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Algorithm</a:t>
            </a:r>
            <a:r>
              <a:rPr spc="-95" dirty="0"/>
              <a:t> </a:t>
            </a:r>
            <a:r>
              <a:rPr dirty="0"/>
              <a:t>for</a:t>
            </a:r>
            <a:r>
              <a:rPr spc="-114" dirty="0"/>
              <a:t> </a:t>
            </a:r>
            <a:r>
              <a:rPr dirty="0"/>
              <a:t>Enqueue</a:t>
            </a:r>
            <a:r>
              <a:rPr spc="-100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45539" y="1321435"/>
            <a:ext cx="10282555" cy="41598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indent="-342265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Queues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maintain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pointers,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front</a:t>
            </a:r>
            <a:r>
              <a:rPr sz="2400" b="1" spc="-7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rear</a:t>
            </a:r>
            <a:r>
              <a:rPr sz="2400" dirty="0">
                <a:latin typeface="Calibri"/>
                <a:cs typeface="Calibri"/>
              </a:rPr>
              <a:t>.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Therefore,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are 	</a:t>
            </a:r>
            <a:r>
              <a:rPr sz="2400" spc="-10" dirty="0">
                <a:latin typeface="Calibri"/>
                <a:cs typeface="Calibri"/>
              </a:rPr>
              <a:t>comparatively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difficult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implement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stacks.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14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taken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enqueue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(insert)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−</a:t>
            </a:r>
            <a:endParaRPr sz="2400">
              <a:latin typeface="Calibri"/>
              <a:cs typeface="Calibri"/>
            </a:endParaRPr>
          </a:p>
          <a:p>
            <a:pPr marL="927100" algn="just">
              <a:lnSpc>
                <a:spcPct val="100000"/>
              </a:lnSpc>
              <a:spcBef>
                <a:spcPts val="2014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Check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full.</a:t>
            </a:r>
            <a:endParaRPr sz="2400">
              <a:latin typeface="Calibri"/>
              <a:cs typeface="Calibri"/>
            </a:endParaRPr>
          </a:p>
          <a:p>
            <a:pPr marL="927100" marR="53340" algn="just">
              <a:lnSpc>
                <a:spcPct val="160000"/>
              </a:lnSpc>
              <a:spcBef>
                <a:spcPts val="295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2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full,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overflow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program. </a:t>
            </a: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full,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increment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rear</a:t>
            </a:r>
            <a:r>
              <a:rPr sz="2400" b="1" spc="-6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element,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pointing.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410336"/>
            <a:ext cx="62306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Algorithm</a:t>
            </a:r>
            <a:r>
              <a:rPr spc="-150" dirty="0"/>
              <a:t> </a:t>
            </a:r>
            <a:r>
              <a:rPr dirty="0"/>
              <a:t>Enqueue</a:t>
            </a:r>
            <a:r>
              <a:rPr spc="-165" dirty="0"/>
              <a:t> </a:t>
            </a:r>
            <a:r>
              <a:rPr spc="-10" dirty="0"/>
              <a:t>(item)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3472" y="1360932"/>
            <a:ext cx="7776972" cy="4384548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052" y="249173"/>
            <a:ext cx="806386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Algorithm</a:t>
            </a:r>
            <a:r>
              <a:rPr spc="-100" dirty="0"/>
              <a:t> </a:t>
            </a:r>
            <a:r>
              <a:rPr dirty="0"/>
              <a:t>for</a:t>
            </a:r>
            <a:r>
              <a:rPr spc="-114" dirty="0"/>
              <a:t> </a:t>
            </a:r>
            <a:r>
              <a:rPr dirty="0"/>
              <a:t>Dequeue</a:t>
            </a:r>
            <a:r>
              <a:rPr spc="-100" dirty="0"/>
              <a:t> </a:t>
            </a:r>
            <a:r>
              <a:rPr spc="-10" dirty="0"/>
              <a:t>Operation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52245" y="987679"/>
            <a:ext cx="10670540" cy="415988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Accessing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tasks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</a:t>
            </a:r>
            <a:endParaRPr sz="2400" dirty="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front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pointing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remove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access.</a:t>
            </a:r>
            <a:endParaRPr sz="24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14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steps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taken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perform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dequeue</a:t>
            </a:r>
            <a:r>
              <a:rPr sz="2400" b="1" spc="-5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operation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−</a:t>
            </a:r>
            <a:endParaRPr sz="2400" dirty="0">
              <a:latin typeface="Calibri"/>
              <a:cs typeface="Calibri"/>
            </a:endParaRPr>
          </a:p>
          <a:p>
            <a:pPr marL="866140">
              <a:lnSpc>
                <a:spcPct val="100000"/>
              </a:lnSpc>
              <a:spcBef>
                <a:spcPts val="2014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Check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empty.</a:t>
            </a:r>
            <a:endParaRPr sz="2400" dirty="0">
              <a:latin typeface="Calibri"/>
              <a:cs typeface="Calibri"/>
            </a:endParaRPr>
          </a:p>
          <a:p>
            <a:pPr marL="866140">
              <a:lnSpc>
                <a:spcPct val="100000"/>
              </a:lnSpc>
              <a:spcBef>
                <a:spcPts val="2020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2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empty,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produce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underflow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error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exit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program.</a:t>
            </a:r>
            <a:endParaRPr sz="2400" dirty="0">
              <a:latin typeface="Calibri"/>
              <a:cs typeface="Calibri"/>
            </a:endParaRPr>
          </a:p>
          <a:p>
            <a:pPr marL="1323340" marR="1398270" indent="-457200">
              <a:lnSpc>
                <a:spcPct val="150100"/>
              </a:lnSpc>
              <a:spcBef>
                <a:spcPts val="575"/>
              </a:spcBef>
            </a:pPr>
            <a:r>
              <a:rPr sz="2400" b="1" dirty="0">
                <a:latin typeface="Calibri"/>
                <a:cs typeface="Calibri"/>
              </a:rPr>
              <a:t>Step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3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empty,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access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front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and </a:t>
            </a:r>
            <a:r>
              <a:rPr sz="2400" dirty="0">
                <a:latin typeface="Calibri"/>
                <a:cs typeface="Calibri"/>
              </a:rPr>
              <a:t>increment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front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available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element.</a:t>
            </a:r>
            <a:endParaRPr sz="24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4100" y="410336"/>
            <a:ext cx="470725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Dequeue</a:t>
            </a:r>
            <a:r>
              <a:rPr spc="-90" dirty="0"/>
              <a:t> </a:t>
            </a:r>
            <a:r>
              <a:rPr spc="-10" dirty="0"/>
              <a:t>Operation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357627" y="1453896"/>
            <a:ext cx="7554468" cy="4753356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82953" y="418337"/>
            <a:ext cx="35242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Priority</a:t>
            </a:r>
            <a:r>
              <a:rPr spc="-145" dirty="0"/>
              <a:t> </a:t>
            </a:r>
            <a:r>
              <a:rPr spc="-20" dirty="0"/>
              <a:t>Queue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7985" marR="5080" indent="-342900">
              <a:lnSpc>
                <a:spcPct val="150000"/>
              </a:lnSpc>
              <a:spcBef>
                <a:spcPts val="95"/>
              </a:spcBef>
              <a:buFont typeface="Wingdings"/>
              <a:buChar char=""/>
              <a:tabLst>
                <a:tab pos="388620" algn="l"/>
              </a:tabLst>
            </a:pPr>
            <a:r>
              <a:rPr dirty="0"/>
              <a:t>In</a:t>
            </a:r>
            <a:r>
              <a:rPr spc="-50" dirty="0"/>
              <a:t> </a:t>
            </a:r>
            <a:r>
              <a:rPr dirty="0"/>
              <a:t>normal</a:t>
            </a:r>
            <a:r>
              <a:rPr spc="-60" dirty="0"/>
              <a:t> </a:t>
            </a:r>
            <a:r>
              <a:rPr dirty="0"/>
              <a:t>queue</a:t>
            </a:r>
            <a:r>
              <a:rPr spc="-40" dirty="0"/>
              <a:t> </a:t>
            </a:r>
            <a:r>
              <a:rPr dirty="0"/>
              <a:t>data</a:t>
            </a:r>
            <a:r>
              <a:rPr spc="-60" dirty="0"/>
              <a:t> </a:t>
            </a:r>
            <a:r>
              <a:rPr dirty="0"/>
              <a:t>structure,</a:t>
            </a:r>
            <a:r>
              <a:rPr spc="-55" dirty="0"/>
              <a:t> </a:t>
            </a:r>
            <a:r>
              <a:rPr dirty="0"/>
              <a:t>insertion</a:t>
            </a:r>
            <a:r>
              <a:rPr spc="-50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spc="-10" dirty="0"/>
              <a:t>performed</a:t>
            </a:r>
            <a:r>
              <a:rPr spc="-65" dirty="0"/>
              <a:t> </a:t>
            </a:r>
            <a:r>
              <a:rPr dirty="0"/>
              <a:t>at</a:t>
            </a:r>
            <a:r>
              <a:rPr spc="-50" dirty="0"/>
              <a:t> </a:t>
            </a:r>
            <a:r>
              <a:rPr dirty="0"/>
              <a:t>the</a:t>
            </a:r>
            <a:r>
              <a:rPr spc="-60" dirty="0"/>
              <a:t> </a:t>
            </a:r>
            <a:r>
              <a:rPr dirty="0"/>
              <a:t>end</a:t>
            </a:r>
            <a:r>
              <a:rPr spc="-3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25" dirty="0"/>
              <a:t>the </a:t>
            </a:r>
            <a:r>
              <a:rPr dirty="0"/>
              <a:t>queue</a:t>
            </a:r>
            <a:r>
              <a:rPr spc="-45" dirty="0"/>
              <a:t> </a:t>
            </a:r>
            <a:r>
              <a:rPr dirty="0"/>
              <a:t>and</a:t>
            </a:r>
            <a:r>
              <a:rPr spc="-50" dirty="0"/>
              <a:t> </a:t>
            </a:r>
            <a:r>
              <a:rPr dirty="0"/>
              <a:t>deletion</a:t>
            </a:r>
            <a:r>
              <a:rPr spc="-50" dirty="0"/>
              <a:t> </a:t>
            </a:r>
            <a:r>
              <a:rPr dirty="0"/>
              <a:t>is</a:t>
            </a:r>
            <a:r>
              <a:rPr spc="-55" dirty="0"/>
              <a:t> </a:t>
            </a:r>
            <a:r>
              <a:rPr dirty="0"/>
              <a:t>performed</a:t>
            </a:r>
            <a:r>
              <a:rPr spc="-50" dirty="0"/>
              <a:t> </a:t>
            </a:r>
            <a:r>
              <a:rPr dirty="0"/>
              <a:t>at</a:t>
            </a:r>
            <a:r>
              <a:rPr spc="-6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dirty="0"/>
              <a:t>front</a:t>
            </a:r>
            <a:r>
              <a:rPr spc="-45" dirty="0"/>
              <a:t> </a:t>
            </a:r>
            <a:r>
              <a:rPr dirty="0"/>
              <a:t>based</a:t>
            </a:r>
            <a:r>
              <a:rPr spc="-55" dirty="0"/>
              <a:t> </a:t>
            </a:r>
            <a:r>
              <a:rPr dirty="0"/>
              <a:t>on</a:t>
            </a:r>
            <a:r>
              <a:rPr spc="-50" dirty="0"/>
              <a:t> </a:t>
            </a:r>
            <a:r>
              <a:rPr dirty="0"/>
              <a:t>the</a:t>
            </a:r>
            <a:r>
              <a:rPr spc="-45" dirty="0"/>
              <a:t> </a:t>
            </a:r>
            <a:r>
              <a:rPr b="1" dirty="0">
                <a:latin typeface="Calibri"/>
                <a:cs typeface="Calibri"/>
              </a:rPr>
              <a:t>FIFO</a:t>
            </a:r>
            <a:r>
              <a:rPr b="1" spc="-65" dirty="0">
                <a:latin typeface="Calibri"/>
                <a:cs typeface="Calibri"/>
              </a:rPr>
              <a:t> </a:t>
            </a:r>
            <a:r>
              <a:rPr b="1" spc="-10" dirty="0">
                <a:latin typeface="Calibri"/>
                <a:cs typeface="Calibri"/>
              </a:rPr>
              <a:t>principle</a:t>
            </a:r>
            <a:r>
              <a:rPr spc="-10" dirty="0"/>
              <a:t>.</a:t>
            </a:r>
          </a:p>
          <a:p>
            <a:pPr marL="387350" indent="-342265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387985" algn="l"/>
              </a:tabLst>
            </a:pPr>
            <a:r>
              <a:rPr dirty="0"/>
              <a:t>This</a:t>
            </a:r>
            <a:r>
              <a:rPr spc="-40" dirty="0"/>
              <a:t> </a:t>
            </a:r>
            <a:r>
              <a:rPr dirty="0"/>
              <a:t>queue</a:t>
            </a:r>
            <a:r>
              <a:rPr spc="-30" dirty="0"/>
              <a:t> </a:t>
            </a:r>
            <a:r>
              <a:rPr spc="-10" dirty="0"/>
              <a:t>implementation</a:t>
            </a:r>
            <a:r>
              <a:rPr spc="-70" dirty="0"/>
              <a:t> </a:t>
            </a:r>
            <a:r>
              <a:rPr dirty="0"/>
              <a:t>may</a:t>
            </a:r>
            <a:r>
              <a:rPr spc="-45" dirty="0"/>
              <a:t> </a:t>
            </a:r>
            <a:r>
              <a:rPr dirty="0"/>
              <a:t>not</a:t>
            </a:r>
            <a:r>
              <a:rPr spc="-40" dirty="0"/>
              <a:t> </a:t>
            </a:r>
            <a:r>
              <a:rPr dirty="0"/>
              <a:t>be</a:t>
            </a:r>
            <a:r>
              <a:rPr spc="-35" dirty="0"/>
              <a:t> </a:t>
            </a:r>
            <a:r>
              <a:rPr dirty="0"/>
              <a:t>suitable</a:t>
            </a:r>
            <a:r>
              <a:rPr spc="-45" dirty="0"/>
              <a:t> </a:t>
            </a:r>
            <a:r>
              <a:rPr dirty="0"/>
              <a:t>for</a:t>
            </a:r>
            <a:r>
              <a:rPr spc="-35" dirty="0"/>
              <a:t> </a:t>
            </a:r>
            <a:r>
              <a:rPr dirty="0"/>
              <a:t>all</a:t>
            </a:r>
            <a:r>
              <a:rPr spc="-55" dirty="0"/>
              <a:t> </a:t>
            </a:r>
            <a:r>
              <a:rPr spc="-10" dirty="0"/>
              <a:t>situations.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12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5539" y="1229944"/>
            <a:ext cx="9396730" cy="29527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Consider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networking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application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respond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requests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from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multiple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clients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structure.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2880"/>
              </a:spcBef>
            </a:pPr>
            <a:r>
              <a:rPr sz="2400" dirty="0">
                <a:latin typeface="Calibri"/>
                <a:cs typeface="Calibri"/>
              </a:rPr>
              <a:t>Assume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four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requests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arrived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R1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20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time,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R2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time,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buAutoNum type="arabicPeriod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R3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  <a:p>
            <a:pPr marL="469900" indent="-457200">
              <a:lnSpc>
                <a:spcPct val="100000"/>
              </a:lnSpc>
              <a:spcBef>
                <a:spcPts val="5"/>
              </a:spcBef>
              <a:buAutoNum type="arabicPeriod"/>
              <a:tabLst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R4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5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time.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follows...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541520"/>
            <a:ext cx="12192000" cy="2316480"/>
            <a:chOff x="0" y="4541520"/>
            <a:chExt cx="12192000" cy="231648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86000" y="4541520"/>
              <a:ext cx="7620000" cy="19050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95"/>
              </a:spcBef>
            </a:pPr>
            <a:r>
              <a:rPr dirty="0"/>
              <a:t>Priority</a:t>
            </a:r>
            <a:r>
              <a:rPr spc="-145" dirty="0"/>
              <a:t> </a:t>
            </a:r>
            <a:r>
              <a:rPr spc="-20" dirty="0"/>
              <a:t>Queue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5539" y="1208659"/>
            <a:ext cx="8115300" cy="4781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35" dirty="0">
                <a:latin typeface="Calibri"/>
                <a:cs typeface="Calibri"/>
              </a:rPr>
              <a:t>Now,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check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waiting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request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complete.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390"/>
              </a:spcBef>
            </a:pPr>
            <a:endParaRPr sz="2400">
              <a:latin typeface="Calibri"/>
              <a:cs typeface="Calibri"/>
            </a:endParaRPr>
          </a:p>
          <a:p>
            <a:pPr marL="1384300" marR="4239260" algn="just">
              <a:lnSpc>
                <a:spcPct val="150000"/>
              </a:lnSpc>
            </a:pPr>
            <a:r>
              <a:rPr sz="2400" dirty="0">
                <a:latin typeface="Calibri"/>
                <a:cs typeface="Calibri"/>
              </a:rPr>
              <a:t>R1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20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 </a:t>
            </a:r>
            <a:r>
              <a:rPr sz="2400" dirty="0">
                <a:latin typeface="Calibri"/>
                <a:cs typeface="Calibri"/>
              </a:rPr>
              <a:t>R2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22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 </a:t>
            </a:r>
            <a:r>
              <a:rPr sz="2400" dirty="0">
                <a:latin typeface="Calibri"/>
                <a:cs typeface="Calibri"/>
              </a:rPr>
              <a:t>R3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32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 </a:t>
            </a:r>
            <a:r>
              <a:rPr sz="2400" dirty="0">
                <a:latin typeface="Calibri"/>
                <a:cs typeface="Calibri"/>
              </a:rPr>
              <a:t>R4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37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units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3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b="1" dirty="0">
                <a:latin typeface="Calibri"/>
                <a:cs typeface="Calibri"/>
              </a:rPr>
              <a:t>Here,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average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waiting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time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requests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(R1,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R2,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R3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R4)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80645">
              <a:lnSpc>
                <a:spcPct val="100000"/>
              </a:lnSpc>
              <a:spcBef>
                <a:spcPts val="1440"/>
              </a:spcBef>
            </a:pPr>
            <a:r>
              <a:rPr sz="2400" b="1" dirty="0">
                <a:latin typeface="Calibri"/>
                <a:cs typeface="Calibri"/>
              </a:rPr>
              <a:t>(20+22+32+37)/4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≈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27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units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95"/>
              </a:spcBef>
            </a:pPr>
            <a:r>
              <a:rPr dirty="0"/>
              <a:t>Priority</a:t>
            </a:r>
            <a:r>
              <a:rPr spc="-145" dirty="0"/>
              <a:t> </a:t>
            </a:r>
            <a:r>
              <a:rPr spc="-20" dirty="0"/>
              <a:t>Queue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35786" y="1254231"/>
            <a:ext cx="8724900" cy="2769235"/>
          </a:xfrm>
          <a:prstGeom prst="rect">
            <a:avLst/>
          </a:prstGeom>
        </p:spPr>
        <p:txBody>
          <a:bodyPr vert="horz" wrap="square" lIns="0" tIns="19494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35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according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amount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That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means,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R2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minimum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(2)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R4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minimum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required</a:t>
            </a:r>
            <a:r>
              <a:rPr sz="2400" spc="-25" dirty="0">
                <a:latin typeface="Calibri"/>
                <a:cs typeface="Calibri"/>
              </a:rPr>
              <a:t> (5)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serve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R3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third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minimum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(10)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finally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R1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maximum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required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(20).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95"/>
              </a:spcBef>
            </a:pPr>
            <a:r>
              <a:rPr dirty="0"/>
              <a:t>Priority</a:t>
            </a:r>
            <a:r>
              <a:rPr spc="-145" dirty="0"/>
              <a:t> </a:t>
            </a:r>
            <a:r>
              <a:rPr spc="-20" dirty="0"/>
              <a:t>Queue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5539" y="1091565"/>
            <a:ext cx="8117205" cy="441579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540"/>
              </a:spcBef>
            </a:pPr>
            <a:r>
              <a:rPr sz="2400" spc="-35" dirty="0">
                <a:latin typeface="Calibri"/>
                <a:cs typeface="Calibri"/>
              </a:rPr>
              <a:t>Now,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check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waiting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request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complete.</a:t>
            </a:r>
            <a:endParaRPr sz="2400">
              <a:latin typeface="Calibri"/>
              <a:cs typeface="Calibri"/>
            </a:endParaRPr>
          </a:p>
          <a:p>
            <a:pPr marL="927100">
              <a:lnSpc>
                <a:spcPct val="100000"/>
              </a:lnSpc>
              <a:spcBef>
                <a:spcPts val="1440"/>
              </a:spcBef>
            </a:pP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R2</a:t>
            </a:r>
            <a:r>
              <a:rPr sz="2400" b="1" spc="-3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:</a:t>
            </a:r>
            <a:r>
              <a:rPr sz="2400" b="1" spc="-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2</a:t>
            </a:r>
            <a:r>
              <a:rPr sz="2400" b="1" spc="-2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units</a:t>
            </a:r>
            <a:r>
              <a:rPr sz="2400" b="1" spc="-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of</a:t>
            </a:r>
            <a:r>
              <a:rPr sz="2400" b="1" spc="-1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7D1B68"/>
                </a:solidFill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  <a:p>
            <a:pPr marL="927100" marR="4652010">
              <a:lnSpc>
                <a:spcPct val="150000"/>
              </a:lnSpc>
            </a:pP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R4</a:t>
            </a:r>
            <a:r>
              <a:rPr sz="2400" b="1" spc="-3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:</a:t>
            </a:r>
            <a:r>
              <a:rPr sz="2400" b="1" spc="-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7</a:t>
            </a:r>
            <a:r>
              <a:rPr sz="2400" b="1" spc="-2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units</a:t>
            </a:r>
            <a:r>
              <a:rPr sz="2400" b="1" spc="-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of</a:t>
            </a:r>
            <a:r>
              <a:rPr sz="2400" b="1" spc="-1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7D1B68"/>
                </a:solidFill>
                <a:latin typeface="Calibri"/>
                <a:cs typeface="Calibri"/>
              </a:rPr>
              <a:t>time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R3</a:t>
            </a:r>
            <a:r>
              <a:rPr sz="2400" b="1" spc="-3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:</a:t>
            </a:r>
            <a:r>
              <a:rPr sz="2400" b="1" spc="-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17</a:t>
            </a:r>
            <a:r>
              <a:rPr sz="2400" b="1" spc="-3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units</a:t>
            </a:r>
            <a:r>
              <a:rPr sz="2400" b="1" spc="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of</a:t>
            </a:r>
            <a:r>
              <a:rPr sz="2400" b="1" spc="-3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7D1B68"/>
                </a:solidFill>
                <a:latin typeface="Calibri"/>
                <a:cs typeface="Calibri"/>
              </a:rPr>
              <a:t>time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R1</a:t>
            </a:r>
            <a:r>
              <a:rPr sz="2400" b="1" spc="-3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:</a:t>
            </a:r>
            <a:r>
              <a:rPr sz="2400" b="1" spc="-1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37</a:t>
            </a:r>
            <a:r>
              <a:rPr sz="2400" b="1" spc="-3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units</a:t>
            </a:r>
            <a:r>
              <a:rPr sz="2400" b="1" spc="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7D1B68"/>
                </a:solidFill>
                <a:latin typeface="Calibri"/>
                <a:cs typeface="Calibri"/>
              </a:rPr>
              <a:t>of</a:t>
            </a:r>
            <a:r>
              <a:rPr sz="2400" b="1" spc="-3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7D1B68"/>
                </a:solidFill>
                <a:latin typeface="Calibri"/>
                <a:cs typeface="Calibri"/>
              </a:rPr>
              <a:t>time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830"/>
              </a:spcBef>
            </a:pP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latin typeface="Calibri"/>
                <a:cs typeface="Calibri"/>
              </a:rPr>
              <a:t>Here,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average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waiting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time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for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all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requests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(R1,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R2,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R3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R4)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is</a:t>
            </a:r>
            <a:endParaRPr sz="24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445"/>
              </a:spcBef>
            </a:pPr>
            <a:r>
              <a:rPr sz="2400" b="1" dirty="0">
                <a:latin typeface="Calibri"/>
                <a:cs typeface="Calibri"/>
              </a:rPr>
              <a:t>(2+7+17+37)/4</a:t>
            </a:r>
            <a:r>
              <a:rPr sz="2400" b="1" spc="-2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≈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15</a:t>
            </a:r>
            <a:r>
              <a:rPr sz="2400" b="1" spc="-3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units</a:t>
            </a:r>
            <a:r>
              <a:rPr sz="2400" b="1" spc="-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time.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95"/>
              </a:spcBef>
            </a:pPr>
            <a:r>
              <a:rPr dirty="0"/>
              <a:t>Priority</a:t>
            </a:r>
            <a:r>
              <a:rPr spc="-145" dirty="0"/>
              <a:t> </a:t>
            </a:r>
            <a:r>
              <a:rPr spc="-20" dirty="0"/>
              <a:t>Queue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5539" y="1314069"/>
            <a:ext cx="9942195" cy="3190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situations,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clear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using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method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server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complete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four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requests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less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method.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exactly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done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priority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queue.</a:t>
            </a:r>
            <a:endParaRPr sz="2400">
              <a:latin typeface="Calibri"/>
              <a:cs typeface="Calibri"/>
            </a:endParaRPr>
          </a:p>
          <a:p>
            <a:pPr marL="12700" marR="45720">
              <a:lnSpc>
                <a:spcPts val="2690"/>
              </a:lnSpc>
              <a:spcBef>
                <a:spcPts val="2925"/>
              </a:spcBef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(regular)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queue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first-</a:t>
            </a:r>
            <a:r>
              <a:rPr sz="2400" dirty="0">
                <a:latin typeface="Calibri"/>
                <a:cs typeface="Calibri"/>
              </a:rPr>
              <a:t>in,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first-</a:t>
            </a:r>
            <a:r>
              <a:rPr sz="2400" dirty="0">
                <a:latin typeface="Calibri"/>
                <a:cs typeface="Calibri"/>
              </a:rPr>
              <a:t>out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(FIFO)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30" dirty="0">
                <a:latin typeface="Calibri"/>
                <a:cs typeface="Calibri"/>
              </a:rPr>
              <a:t>behaviour,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items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must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enter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leave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from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front.</a:t>
            </a:r>
            <a:endParaRPr sz="2400">
              <a:latin typeface="Calibri"/>
              <a:cs typeface="Calibri"/>
            </a:endParaRPr>
          </a:p>
          <a:p>
            <a:pPr marL="12700" marR="672465">
              <a:lnSpc>
                <a:spcPts val="2680"/>
              </a:lnSpc>
              <a:spcBef>
                <a:spcPts val="2670"/>
              </a:spcBef>
              <a:tabLst>
                <a:tab pos="3864610" algn="l"/>
              </a:tabLst>
            </a:pPr>
            <a:r>
              <a:rPr sz="2400" b="1" dirty="0">
                <a:latin typeface="Calibri"/>
                <a:cs typeface="Calibri"/>
              </a:rPr>
              <a:t>In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priority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queue</a:t>
            </a:r>
            <a:r>
              <a:rPr sz="2400" b="1" i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items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must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leave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from</a:t>
            </a:r>
            <a:r>
              <a:rPr sz="2400" b="1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front,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but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they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enter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on</a:t>
            </a:r>
            <a:r>
              <a:rPr sz="2400" b="1" spc="-70" dirty="0">
                <a:latin typeface="Calibri"/>
                <a:cs typeface="Calibri"/>
              </a:rPr>
              <a:t> </a:t>
            </a:r>
            <a:r>
              <a:rPr sz="2400" b="1" spc="-25" dirty="0">
                <a:latin typeface="Calibri"/>
                <a:cs typeface="Calibri"/>
              </a:rPr>
              <a:t>the </a:t>
            </a:r>
            <a:r>
              <a:rPr sz="2400" b="1" dirty="0">
                <a:latin typeface="Calibri"/>
                <a:cs typeface="Calibri"/>
              </a:rPr>
              <a:t>basis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of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priority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(key)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value.</a:t>
            </a:r>
            <a:r>
              <a:rPr sz="2400" b="1" dirty="0">
                <a:latin typeface="Calibri"/>
                <a:cs typeface="Calibri"/>
              </a:rPr>
              <a:t>	The</a:t>
            </a:r>
            <a:r>
              <a:rPr sz="2400" b="1" spc="-6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queue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is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kept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i="1" dirty="0">
                <a:latin typeface="Calibri"/>
                <a:cs typeface="Calibri"/>
              </a:rPr>
              <a:t>sorted</a:t>
            </a:r>
            <a:r>
              <a:rPr sz="2400" b="1" i="1" spc="-5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by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this</a:t>
            </a:r>
            <a:r>
              <a:rPr sz="2400" b="1" spc="-5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value</a:t>
            </a:r>
            <a:r>
              <a:rPr sz="2400" spc="-10" dirty="0">
                <a:latin typeface="Calibri"/>
                <a:cs typeface="Calibri"/>
              </a:rPr>
              <a:t>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95"/>
              </a:spcBef>
            </a:pPr>
            <a:r>
              <a:rPr dirty="0"/>
              <a:t>Priority</a:t>
            </a:r>
            <a:r>
              <a:rPr spc="-145" dirty="0"/>
              <a:t> </a:t>
            </a:r>
            <a:r>
              <a:rPr spc="-20" dirty="0"/>
              <a:t>Queue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17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45539" y="1270254"/>
            <a:ext cx="6160770" cy="265906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SzPct val="44642"/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CPU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process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queues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0"/>
              </a:spcBef>
              <a:buSzPct val="44642"/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Print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queues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5"/>
              </a:spcBef>
              <a:buSzPct val="44642"/>
              <a:buFont typeface="Wingdings"/>
              <a:buChar char=""/>
              <a:tabLst>
                <a:tab pos="355600" algn="l"/>
              </a:tabLst>
            </a:pPr>
            <a:r>
              <a:rPr sz="2800" spc="-35" dirty="0">
                <a:latin typeface="Calibri"/>
                <a:cs typeface="Calibri"/>
              </a:rPr>
              <a:t>Event-</a:t>
            </a:r>
            <a:r>
              <a:rPr sz="2800" dirty="0">
                <a:latin typeface="Calibri"/>
                <a:cs typeface="Calibri"/>
              </a:rPr>
              <a:t>driven</a:t>
            </a:r>
            <a:r>
              <a:rPr sz="2800" spc="-1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simulation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(traffic</a:t>
            </a:r>
            <a:r>
              <a:rPr sz="2800" spc="-1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flows</a:t>
            </a:r>
            <a:r>
              <a:rPr lang="en-US" sz="2800" spc="-10" dirty="0">
                <a:latin typeface="Calibri"/>
                <a:cs typeface="Calibri"/>
              </a:rPr>
              <a:t>)</a:t>
            </a:r>
            <a:endParaRPr lang="en-US"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350"/>
              </a:spcBef>
              <a:buSzPct val="44642"/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Artificial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intelligence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search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algorithms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77825">
              <a:lnSpc>
                <a:spcPct val="100000"/>
              </a:lnSpc>
              <a:spcBef>
                <a:spcPts val="95"/>
              </a:spcBef>
            </a:pPr>
            <a:r>
              <a:rPr dirty="0"/>
              <a:t>Examples</a:t>
            </a:r>
            <a:r>
              <a:rPr spc="-125" dirty="0"/>
              <a:t> </a:t>
            </a:r>
            <a:r>
              <a:rPr dirty="0"/>
              <a:t>of</a:t>
            </a:r>
            <a:r>
              <a:rPr spc="-140" dirty="0"/>
              <a:t> </a:t>
            </a:r>
            <a:r>
              <a:rPr dirty="0"/>
              <a:t>Priority</a:t>
            </a:r>
            <a:r>
              <a:rPr spc="-110" dirty="0"/>
              <a:t> </a:t>
            </a:r>
            <a:r>
              <a:rPr spc="-10" dirty="0"/>
              <a:t>Queue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4891" y="1646301"/>
            <a:ext cx="9030335" cy="28790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SzPct val="43750"/>
              <a:buFont typeface="Wingdings"/>
              <a:buChar char=""/>
              <a:tabLst>
                <a:tab pos="354965" algn="l"/>
              </a:tabLst>
            </a:pPr>
            <a:r>
              <a:rPr sz="2400" b="1" spc="-10" dirty="0">
                <a:latin typeface="Calibri"/>
                <a:cs typeface="Calibri"/>
              </a:rPr>
              <a:t>Create:</a:t>
            </a:r>
            <a:r>
              <a:rPr sz="2400" b="1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Create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PQ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given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maximum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size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14"/>
              </a:spcBef>
              <a:buSzPct val="43750"/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Calibri"/>
                <a:cs typeface="Calibri"/>
              </a:rPr>
              <a:t>Add:</a:t>
            </a:r>
            <a:r>
              <a:rPr sz="2400" b="1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PQ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priority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(key)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20"/>
              </a:spcBef>
              <a:buSzPct val="43750"/>
              <a:buFont typeface="Wingdings"/>
              <a:buChar char=""/>
              <a:tabLst>
                <a:tab pos="354965" algn="l"/>
              </a:tabLst>
            </a:pPr>
            <a:r>
              <a:rPr sz="2400" b="1" spc="-10" dirty="0">
                <a:latin typeface="Calibri"/>
                <a:cs typeface="Calibri"/>
              </a:rPr>
              <a:t>Remove:</a:t>
            </a:r>
            <a:r>
              <a:rPr sz="2400" b="1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Remove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return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PQ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highest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priority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14"/>
              </a:spcBef>
              <a:buSzPct val="43750"/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Calibri"/>
                <a:cs typeface="Calibri"/>
              </a:rPr>
              <a:t>Full: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Return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PQ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full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14"/>
              </a:spcBef>
              <a:buSzPct val="43750"/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Calibri"/>
                <a:cs typeface="Calibri"/>
              </a:rPr>
              <a:t>Empty:</a:t>
            </a:r>
            <a:r>
              <a:rPr sz="2400" b="1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Return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whether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PQ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empty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977900" y="456641"/>
            <a:ext cx="73888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Operations</a:t>
            </a:r>
            <a:r>
              <a:rPr spc="-120" dirty="0"/>
              <a:t> </a:t>
            </a:r>
            <a:r>
              <a:rPr dirty="0"/>
              <a:t>on</a:t>
            </a:r>
            <a:r>
              <a:rPr spc="-145" dirty="0"/>
              <a:t> </a:t>
            </a:r>
            <a:r>
              <a:rPr dirty="0"/>
              <a:t>Priority</a:t>
            </a:r>
            <a:r>
              <a:rPr spc="-135" dirty="0"/>
              <a:t> </a:t>
            </a:r>
            <a:r>
              <a:rPr spc="-10" dirty="0"/>
              <a:t>Queues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2065"/>
              </a:lnSpc>
            </a:pPr>
            <a:r>
              <a:rPr spc="-25" dirty="0"/>
              <a:t>19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6041" y="2025523"/>
            <a:ext cx="8569325" cy="1903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spc="-10" dirty="0">
                <a:latin typeface="Calibri"/>
                <a:cs typeface="Calibri"/>
              </a:rPr>
              <a:t>Introduction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Queue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Queue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Application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350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Enqueue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Dequeue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algorithm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and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its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implementation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19022" y="558241"/>
            <a:ext cx="3287395" cy="940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0" spc="-10" dirty="0">
                <a:latin typeface="Arial MT"/>
                <a:cs typeface="Arial MT"/>
              </a:rPr>
              <a:t>Summary</a:t>
            </a:r>
            <a:endParaRPr sz="6000">
              <a:latin typeface="Arial MT"/>
              <a:cs typeface="Arial M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8173" y="3034664"/>
            <a:ext cx="49523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dirty="0">
                <a:latin typeface="Calibri"/>
                <a:cs typeface="Calibri"/>
              </a:rPr>
              <a:t>Any</a:t>
            </a:r>
            <a:r>
              <a:rPr sz="6000" spc="-185" dirty="0">
                <a:latin typeface="Calibri"/>
                <a:cs typeface="Calibri"/>
              </a:rPr>
              <a:t> </a:t>
            </a:r>
            <a:r>
              <a:rPr sz="6000" spc="-10" dirty="0">
                <a:latin typeface="Calibri"/>
                <a:cs typeface="Calibri"/>
              </a:rPr>
              <a:t>Questions?</a:t>
            </a:r>
            <a:endParaRPr sz="6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6148" y="1120139"/>
            <a:ext cx="925842" cy="16299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1071" y="1412747"/>
            <a:ext cx="2170937" cy="11376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828531" y="1360932"/>
            <a:ext cx="2172970" cy="4629150"/>
            <a:chOff x="8828531" y="1360932"/>
            <a:chExt cx="2172970" cy="46291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8571" y="3832860"/>
              <a:ext cx="1369314" cy="21572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8531" y="1360932"/>
              <a:ext cx="2172462" cy="286131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17747" y="1054595"/>
            <a:ext cx="864882" cy="9974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88508" y="4379976"/>
            <a:ext cx="1546097" cy="17838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85715" y="4582655"/>
            <a:ext cx="489978" cy="65152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78852" y="4390644"/>
            <a:ext cx="735342" cy="1238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42103" y="1603247"/>
            <a:ext cx="1116329" cy="13083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0952" y="3691102"/>
            <a:ext cx="636295" cy="518947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4283964"/>
            <a:ext cx="12192000" cy="2574290"/>
            <a:chOff x="0" y="4283964"/>
            <a:chExt cx="12192000" cy="257429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24583" y="4283964"/>
              <a:ext cx="2035302" cy="21617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Words>1161</Words>
  <Application>Microsoft Office PowerPoint</Application>
  <PresentationFormat>Widescreen</PresentationFormat>
  <Paragraphs>145</Paragraphs>
  <Slides>23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9" baseType="lpstr">
      <vt:lpstr>Arial</vt:lpstr>
      <vt:lpstr>Arial MT</vt:lpstr>
      <vt:lpstr>Calibri</vt:lpstr>
      <vt:lpstr>Times New Roman</vt:lpstr>
      <vt:lpstr>Wingdings</vt:lpstr>
      <vt:lpstr>Office Theme</vt:lpstr>
      <vt:lpstr>Course:Data Structure and Algorithms</vt:lpstr>
      <vt:lpstr>Contents</vt:lpstr>
      <vt:lpstr>Problem to be Solved</vt:lpstr>
      <vt:lpstr>The Queue</vt:lpstr>
      <vt:lpstr>The Queue</vt:lpstr>
      <vt:lpstr>The Queue</vt:lpstr>
      <vt:lpstr>Application of Queues</vt:lpstr>
      <vt:lpstr>Queue Implementation</vt:lpstr>
      <vt:lpstr>Operations on a Queue</vt:lpstr>
      <vt:lpstr>Algorithm for Enqueue Operation</vt:lpstr>
      <vt:lpstr>Algorithm Enqueue (item)</vt:lpstr>
      <vt:lpstr>Algorithm for Dequeue Operation</vt:lpstr>
      <vt:lpstr>Dequeue Operation</vt:lpstr>
      <vt:lpstr>Priority Queue</vt:lpstr>
      <vt:lpstr>Priority Queue</vt:lpstr>
      <vt:lpstr>Priority Queue</vt:lpstr>
      <vt:lpstr>Priority Queue</vt:lpstr>
      <vt:lpstr>Priority Queue</vt:lpstr>
      <vt:lpstr>Priority Queue</vt:lpstr>
      <vt:lpstr>Examples of Priority Queue</vt:lpstr>
      <vt:lpstr>Operations on Priority Queues</vt:lpstr>
      <vt:lpstr>Summary</vt:lpstr>
      <vt:lpstr>Any Questions?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zawt_ss</dc:creator>
  <cp:lastModifiedBy>HAMDARD</cp:lastModifiedBy>
  <cp:revision>7</cp:revision>
  <dcterms:created xsi:type="dcterms:W3CDTF">2024-04-22T08:19:03Z</dcterms:created>
  <dcterms:modified xsi:type="dcterms:W3CDTF">2026-04-24T01:56:44Z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2024-04-22T00:00:00Z</vt:filetime>
  </property>
  <property fmtid="{D5CDD505-2E9C-101B-9397-08002B2CF9AE}" pid="5" name="Producer">
    <vt:lpwstr>Microsoft® PowerPoint® 2019</vt:lpwstr>
  </property>
</Properties>
</file>