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279" r:id="rId23"/>
    <p:sldId id="280" r:id="rId24"/>
    <p:sldId id="281" r:id="rId25"/>
    <p:sldId id="282" r:id="rId26"/>
    <p:sldId id="283" r:id="rId27"/>
    <p:sldId id="284" r:id="rId28"/>
    <p:sldId id="285" r:id="rId29"/>
    <p:sldId id="288" r:id="rId30"/>
    <p:sldId id="289" r:id="rId31"/>
    <p:sldId id="290" r:id="rId32"/>
    <p:sldId id="299" r:id="rId33"/>
    <p:sldId id="300" r:id="rId34"/>
    <p:sldId id="301" r:id="rId35"/>
    <p:sldId id="302" r:id="rId3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380"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14291" y="1559178"/>
            <a:ext cx="3963416" cy="6965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D1B68"/>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D1B68"/>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7" name="Holder 7"/>
          <p:cNvSpPr>
            <a:spLocks noGrp="1"/>
          </p:cNvSpPr>
          <p:nvPr>
            <p:ph type="sldNum" sz="quarter" idx="7"/>
          </p:nvPr>
        </p:nvSpPr>
        <p:spPr/>
        <p:txBody>
          <a:bodyPr lIns="0" tIns="0" rIns="0" bIns="0"/>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7D1B68"/>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5" name="Holder 5"/>
          <p:cNvSpPr>
            <a:spLocks noGrp="1"/>
          </p:cNvSpPr>
          <p:nvPr>
            <p:ph type="sldNum" sz="quarter" idx="7"/>
          </p:nvPr>
        </p:nvSpPr>
        <p:spPr/>
        <p:txBody>
          <a:bodyPr lIns="0" tIns="0" rIns="0" bIns="0"/>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4" name="Holder 4"/>
          <p:cNvSpPr>
            <a:spLocks noGrp="1"/>
          </p:cNvSpPr>
          <p:nvPr>
            <p:ph type="sldNum" sz="quarter" idx="7"/>
          </p:nvPr>
        </p:nvSpPr>
        <p:spPr/>
        <p:txBody>
          <a:bodyPr lIns="0" tIns="0" rIns="0" bIns="0"/>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45539" y="400558"/>
            <a:ext cx="1379855" cy="635000"/>
          </a:xfrm>
          <a:prstGeom prst="rect">
            <a:avLst/>
          </a:prstGeom>
        </p:spPr>
        <p:txBody>
          <a:bodyPr wrap="square" lIns="0" tIns="0" rIns="0" bIns="0">
            <a:spAutoFit/>
          </a:bodyPr>
          <a:lstStyle>
            <a:lvl1pPr>
              <a:defRPr sz="4000" b="0" i="0">
                <a:solidFill>
                  <a:srgbClr val="7D1B68"/>
                </a:solidFill>
                <a:latin typeface="Arial MT"/>
                <a:cs typeface="Arial MT"/>
              </a:defRPr>
            </a:lvl1pPr>
          </a:lstStyle>
          <a:p>
            <a:endParaRPr/>
          </a:p>
        </p:txBody>
      </p:sp>
      <p:sp>
        <p:nvSpPr>
          <p:cNvPr id="3" name="Holder 3"/>
          <p:cNvSpPr>
            <a:spLocks noGrp="1"/>
          </p:cNvSpPr>
          <p:nvPr>
            <p:ph type="body" idx="1"/>
          </p:nvPr>
        </p:nvSpPr>
        <p:spPr>
          <a:xfrm>
            <a:off x="1288795" y="1496547"/>
            <a:ext cx="9614408" cy="386651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1747754" y="6498335"/>
            <a:ext cx="139700" cy="278765"/>
          </a:xfrm>
          <a:prstGeom prst="rect">
            <a:avLst/>
          </a:prstGeom>
        </p:spPr>
        <p:txBody>
          <a:bodyPr wrap="square" lIns="0" tIns="0" rIns="0" bIns="0">
            <a:spAutoFit/>
          </a:bodyPr>
          <a:lstStyle>
            <a:lvl1pPr>
              <a:defRPr sz="1800" b="0" i="0">
                <a:solidFill>
                  <a:schemeClr val="bg1"/>
                </a:solidFill>
                <a:latin typeface="Times New Roman"/>
                <a:cs typeface="Times New Roman"/>
              </a:defRPr>
            </a:lvl1pPr>
          </a:lstStyle>
          <a:p>
            <a:pPr marL="12700">
              <a:lnSpc>
                <a:spcPts val="2065"/>
              </a:lnSpc>
            </a:pPr>
            <a:r>
              <a:rPr dirty="0"/>
              <a:t>1</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5/18/2026</a:t>
            </a:fld>
            <a:endParaRPr lang="en-US"/>
          </a:p>
        </p:txBody>
      </p:sp>
      <p:sp>
        <p:nvSpPr>
          <p:cNvPr id="6" name="Holder 6"/>
          <p:cNvSpPr>
            <a:spLocks noGrp="1"/>
          </p:cNvSpPr>
          <p:nvPr>
            <p:ph type="sldNum" sz="quarter" idx="7"/>
          </p:nvPr>
        </p:nvSpPr>
        <p:spPr>
          <a:xfrm>
            <a:off x="11722354" y="6498335"/>
            <a:ext cx="190500" cy="278765"/>
          </a:xfrm>
          <a:prstGeom prst="rect">
            <a:avLst/>
          </a:prstGeom>
        </p:spPr>
        <p:txBody>
          <a:bodyPr wrap="square" lIns="0" tIns="0" rIns="0" bIns="0">
            <a:spAutoFit/>
          </a:bodyPr>
          <a:lstStyle>
            <a:lvl1pPr>
              <a:defRPr sz="1800" b="0" i="0">
                <a:solidFill>
                  <a:schemeClr val="bg1"/>
                </a:solidFill>
                <a:latin typeface="Times New Roman"/>
                <a:cs typeface="Times New Roman"/>
              </a:defRPr>
            </a:lvl1pPr>
          </a:lstStyle>
          <a:p>
            <a:pPr marL="38100">
              <a:lnSpc>
                <a:spcPts val="2065"/>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0646" y="4507229"/>
            <a:ext cx="3870960" cy="452120"/>
          </a:xfrm>
          <a:prstGeom prst="rect">
            <a:avLst/>
          </a:prstGeom>
        </p:spPr>
        <p:txBody>
          <a:bodyPr vert="horz" wrap="square" lIns="0" tIns="12065" rIns="0" bIns="0" rtlCol="0">
            <a:spAutoFit/>
          </a:bodyPr>
          <a:lstStyle/>
          <a:p>
            <a:pPr marL="12700">
              <a:lnSpc>
                <a:spcPct val="100000"/>
              </a:lnSpc>
              <a:spcBef>
                <a:spcPts val="95"/>
              </a:spcBef>
              <a:tabLst>
                <a:tab pos="1626235" algn="l"/>
              </a:tabLst>
            </a:pPr>
            <a:r>
              <a:rPr sz="2800" b="1" spc="-10" dirty="0">
                <a:solidFill>
                  <a:srgbClr val="FFFFFF"/>
                </a:solidFill>
                <a:latin typeface="Calibri"/>
                <a:cs typeface="Calibri"/>
              </a:rPr>
              <a:t>Instructor	</a:t>
            </a:r>
            <a:r>
              <a:rPr sz="2800" b="1" spc="-5" dirty="0">
                <a:solidFill>
                  <a:srgbClr val="FFFFFF"/>
                </a:solidFill>
                <a:latin typeface="Calibri"/>
                <a:cs typeface="Calibri"/>
              </a:rPr>
              <a:t>:</a:t>
            </a:r>
            <a:r>
              <a:rPr sz="2800" b="1" spc="-35" dirty="0">
                <a:solidFill>
                  <a:srgbClr val="FFFFFF"/>
                </a:solidFill>
                <a:latin typeface="Calibri"/>
                <a:cs typeface="Calibri"/>
              </a:rPr>
              <a:t> </a:t>
            </a:r>
            <a:r>
              <a:rPr sz="2800" b="1" spc="-10" dirty="0">
                <a:solidFill>
                  <a:srgbClr val="FFFFFF"/>
                </a:solidFill>
                <a:latin typeface="Calibri"/>
                <a:cs typeface="Calibri"/>
              </a:rPr>
              <a:t>Ziaur</a:t>
            </a:r>
            <a:r>
              <a:rPr sz="2800" b="1" spc="-5" dirty="0">
                <a:solidFill>
                  <a:srgbClr val="FFFFFF"/>
                </a:solidFill>
                <a:latin typeface="Calibri"/>
                <a:cs typeface="Calibri"/>
              </a:rPr>
              <a:t> Rahman</a:t>
            </a:r>
            <a:endParaRPr sz="2800">
              <a:latin typeface="Calibri"/>
              <a:cs typeface="Calibri"/>
            </a:endParaRPr>
          </a:p>
        </p:txBody>
      </p:sp>
      <p:sp>
        <p:nvSpPr>
          <p:cNvPr id="6" name="object 6"/>
          <p:cNvSpPr txBox="1"/>
          <p:nvPr/>
        </p:nvSpPr>
        <p:spPr>
          <a:xfrm>
            <a:off x="9109709" y="5357876"/>
            <a:ext cx="114236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year:</a:t>
            </a:r>
            <a:r>
              <a:rPr sz="1800" b="1" spc="-45" dirty="0">
                <a:latin typeface="Arial"/>
                <a:cs typeface="Arial"/>
              </a:rPr>
              <a:t> </a:t>
            </a:r>
            <a:r>
              <a:rPr sz="1800" b="1" spc="-5" dirty="0">
                <a:latin typeface="Arial"/>
                <a:cs typeface="Arial"/>
              </a:rPr>
              <a:t>1402</a:t>
            </a:r>
            <a:endParaRPr sz="1800">
              <a:latin typeface="Arial"/>
              <a:cs typeface="Arial"/>
            </a:endParaRPr>
          </a:p>
        </p:txBody>
      </p:sp>
      <p:pic>
        <p:nvPicPr>
          <p:cNvPr id="7" name="object 7"/>
          <p:cNvPicPr/>
          <p:nvPr/>
        </p:nvPicPr>
        <p:blipFill>
          <a:blip r:embed="rId2" cstate="print"/>
          <a:stretch>
            <a:fillRect/>
          </a:stretch>
        </p:blipFill>
        <p:spPr>
          <a:xfrm>
            <a:off x="1633727" y="2406395"/>
            <a:ext cx="2070353" cy="899922"/>
          </a:xfrm>
          <a:prstGeom prst="rect">
            <a:avLst/>
          </a:prstGeom>
        </p:spPr>
      </p:pic>
      <p:sp>
        <p:nvSpPr>
          <p:cNvPr id="8" name="object 8"/>
          <p:cNvSpPr txBox="1">
            <a:spLocks noGrp="1"/>
          </p:cNvSpPr>
          <p:nvPr>
            <p:ph type="title"/>
          </p:nvPr>
        </p:nvSpPr>
        <p:spPr>
          <a:xfrm>
            <a:off x="1875917" y="2471750"/>
            <a:ext cx="7905750" cy="635000"/>
          </a:xfrm>
          <a:prstGeom prst="rect">
            <a:avLst/>
          </a:prstGeom>
        </p:spPr>
        <p:txBody>
          <a:bodyPr vert="horz" wrap="square" lIns="0" tIns="12065" rIns="0" bIns="0" rtlCol="0">
            <a:spAutoFit/>
          </a:bodyPr>
          <a:lstStyle/>
          <a:p>
            <a:pPr marL="25400">
              <a:lnSpc>
                <a:spcPct val="100000"/>
              </a:lnSpc>
              <a:spcBef>
                <a:spcPts val="95"/>
              </a:spcBef>
            </a:pPr>
            <a:r>
              <a:rPr sz="4800" b="1" spc="-112" baseline="7812" dirty="0">
                <a:solidFill>
                  <a:srgbClr val="00AF50"/>
                </a:solidFill>
                <a:latin typeface="Arial"/>
                <a:cs typeface="Arial"/>
              </a:rPr>
              <a:t>Course:</a:t>
            </a:r>
            <a:r>
              <a:rPr sz="4000" b="1" spc="-75" dirty="0">
                <a:solidFill>
                  <a:srgbClr val="006FC0"/>
                </a:solidFill>
                <a:latin typeface="Calibri"/>
                <a:cs typeface="Calibri"/>
              </a:rPr>
              <a:t>Data</a:t>
            </a:r>
            <a:r>
              <a:rPr sz="4000" b="1" spc="20" dirty="0">
                <a:solidFill>
                  <a:srgbClr val="006FC0"/>
                </a:solidFill>
                <a:latin typeface="Calibri"/>
                <a:cs typeface="Calibri"/>
              </a:rPr>
              <a:t> </a:t>
            </a:r>
            <a:r>
              <a:rPr sz="4000" b="1" spc="-15" dirty="0">
                <a:solidFill>
                  <a:srgbClr val="006FC0"/>
                </a:solidFill>
                <a:latin typeface="Calibri"/>
                <a:cs typeface="Calibri"/>
              </a:rPr>
              <a:t>Structure</a:t>
            </a:r>
            <a:r>
              <a:rPr sz="4000" b="1" spc="50" dirty="0">
                <a:solidFill>
                  <a:srgbClr val="006FC0"/>
                </a:solidFill>
                <a:latin typeface="Calibri"/>
                <a:cs typeface="Calibri"/>
              </a:rPr>
              <a:t> </a:t>
            </a:r>
            <a:r>
              <a:rPr sz="4000" b="1" spc="-5" dirty="0">
                <a:solidFill>
                  <a:srgbClr val="006FC0"/>
                </a:solidFill>
                <a:latin typeface="Calibri"/>
                <a:cs typeface="Calibri"/>
              </a:rPr>
              <a:t>and</a:t>
            </a:r>
            <a:r>
              <a:rPr sz="4000" b="1" spc="35" dirty="0">
                <a:solidFill>
                  <a:srgbClr val="006FC0"/>
                </a:solidFill>
                <a:latin typeface="Calibri"/>
                <a:cs typeface="Calibri"/>
              </a:rPr>
              <a:t> </a:t>
            </a:r>
            <a:r>
              <a:rPr sz="4000" b="1" spc="-10" dirty="0">
                <a:solidFill>
                  <a:srgbClr val="006FC0"/>
                </a:solidFill>
                <a:latin typeface="Calibri"/>
                <a:cs typeface="Calibri"/>
              </a:rPr>
              <a:t>Algorithms</a:t>
            </a:r>
            <a:endParaRPr sz="4000">
              <a:latin typeface="Calibri"/>
              <a:cs typeface="Calibri"/>
            </a:endParaRPr>
          </a:p>
        </p:txBody>
      </p:sp>
      <p:grpSp>
        <p:nvGrpSpPr>
          <p:cNvPr id="9" name="object 9"/>
          <p:cNvGrpSpPr/>
          <p:nvPr/>
        </p:nvGrpSpPr>
        <p:grpSpPr>
          <a:xfrm>
            <a:off x="6842759" y="2907792"/>
            <a:ext cx="3719829" cy="2570480"/>
            <a:chOff x="6842759" y="2907792"/>
            <a:chExt cx="3719829" cy="2570480"/>
          </a:xfrm>
        </p:grpSpPr>
        <p:pic>
          <p:nvPicPr>
            <p:cNvPr id="10" name="object 10"/>
            <p:cNvPicPr/>
            <p:nvPr/>
          </p:nvPicPr>
          <p:blipFill>
            <a:blip r:embed="rId3" cstate="print"/>
            <a:stretch>
              <a:fillRect/>
            </a:stretch>
          </p:blipFill>
          <p:spPr>
            <a:xfrm>
              <a:off x="6842759" y="4172712"/>
              <a:ext cx="3719322" cy="1305306"/>
            </a:xfrm>
            <a:prstGeom prst="rect">
              <a:avLst/>
            </a:prstGeom>
          </p:spPr>
        </p:pic>
        <p:pic>
          <p:nvPicPr>
            <p:cNvPr id="11" name="object 11"/>
            <p:cNvPicPr/>
            <p:nvPr/>
          </p:nvPicPr>
          <p:blipFill>
            <a:blip r:embed="rId4" cstate="print"/>
            <a:stretch>
              <a:fillRect/>
            </a:stretch>
          </p:blipFill>
          <p:spPr>
            <a:xfrm>
              <a:off x="6854951" y="2907792"/>
              <a:ext cx="3693413" cy="2198369"/>
            </a:xfrm>
            <a:prstGeom prst="rect">
              <a:avLst/>
            </a:prstGeom>
          </p:spPr>
        </p:pic>
      </p:grpSp>
      <p:sp>
        <p:nvSpPr>
          <p:cNvPr id="12" name="object 12"/>
          <p:cNvSpPr txBox="1"/>
          <p:nvPr/>
        </p:nvSpPr>
        <p:spPr>
          <a:xfrm>
            <a:off x="7464932" y="3146882"/>
            <a:ext cx="2212975" cy="1245870"/>
          </a:xfrm>
          <a:prstGeom prst="rect">
            <a:avLst/>
          </a:prstGeom>
        </p:spPr>
        <p:txBody>
          <a:bodyPr vert="horz" wrap="square" lIns="0" tIns="13335" rIns="0" bIns="0" rtlCol="0">
            <a:spAutoFit/>
          </a:bodyPr>
          <a:lstStyle/>
          <a:p>
            <a:pPr marL="12700">
              <a:lnSpc>
                <a:spcPct val="100000"/>
              </a:lnSpc>
              <a:spcBef>
                <a:spcPts val="105"/>
              </a:spcBef>
            </a:pPr>
            <a:r>
              <a:rPr sz="8000" spc="-495" dirty="0">
                <a:solidFill>
                  <a:srgbClr val="7D1B68"/>
                </a:solidFill>
                <a:latin typeface="Calibri"/>
                <a:cs typeface="Calibri"/>
              </a:rPr>
              <a:t>T</a:t>
            </a:r>
            <a:r>
              <a:rPr sz="8000" spc="-105" dirty="0">
                <a:solidFill>
                  <a:srgbClr val="7D1B68"/>
                </a:solidFill>
                <a:latin typeface="Calibri"/>
                <a:cs typeface="Calibri"/>
              </a:rPr>
              <a:t>r</a:t>
            </a:r>
            <a:r>
              <a:rPr sz="8000" spc="5" dirty="0">
                <a:solidFill>
                  <a:srgbClr val="7D1B68"/>
                </a:solidFill>
                <a:latin typeface="Calibri"/>
                <a:cs typeface="Calibri"/>
              </a:rPr>
              <a:t>ees</a:t>
            </a:r>
            <a:endParaRPr sz="8000">
              <a:latin typeface="Calibri"/>
              <a:cs typeface="Calibri"/>
            </a:endParaRPr>
          </a:p>
        </p:txBody>
      </p:sp>
      <p:sp>
        <p:nvSpPr>
          <p:cNvPr id="20" name="object 20"/>
          <p:cNvSpPr txBox="1"/>
          <p:nvPr/>
        </p:nvSpPr>
        <p:spPr>
          <a:xfrm>
            <a:off x="2514093" y="3692018"/>
            <a:ext cx="319087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7D1B68"/>
                </a:solidFill>
                <a:latin typeface="Arial"/>
                <a:cs typeface="Arial"/>
              </a:rPr>
              <a:t>Lesson</a:t>
            </a:r>
            <a:r>
              <a:rPr sz="2400" b="1" spc="-20" dirty="0">
                <a:solidFill>
                  <a:srgbClr val="7D1B68"/>
                </a:solidFill>
                <a:latin typeface="Arial"/>
                <a:cs typeface="Arial"/>
              </a:rPr>
              <a:t> </a:t>
            </a:r>
            <a:r>
              <a:rPr sz="2400" b="1" spc="-5" dirty="0">
                <a:solidFill>
                  <a:srgbClr val="7D1B68"/>
                </a:solidFill>
                <a:latin typeface="Arial"/>
                <a:cs typeface="Arial"/>
              </a:rPr>
              <a:t>13</a:t>
            </a:r>
            <a:endParaRPr sz="2400" dirty="0">
              <a:latin typeface="Arial"/>
              <a:cs typeface="Arial"/>
            </a:endParaRPr>
          </a:p>
        </p:txBody>
      </p:sp>
      <p:sp>
        <p:nvSpPr>
          <p:cNvPr id="21" name="object 6"/>
          <p:cNvSpPr txBox="1"/>
          <p:nvPr/>
        </p:nvSpPr>
        <p:spPr>
          <a:xfrm>
            <a:off x="4890516" y="738886"/>
            <a:ext cx="3262884" cy="1387624"/>
          </a:xfrm>
          <a:prstGeom prst="rect">
            <a:avLst/>
          </a:prstGeom>
        </p:spPr>
        <p:txBody>
          <a:bodyPr vert="horz" wrap="square" lIns="0" tIns="6985" rIns="0" bIns="0" rtlCol="0">
            <a:spAutoFit/>
          </a:bodyPr>
          <a:lstStyle/>
          <a:p>
            <a:pPr marL="12700" marR="5080" indent="-2540" algn="ctr">
              <a:lnSpc>
                <a:spcPct val="101299"/>
              </a:lnSpc>
              <a:spcBef>
                <a:spcPts val="55"/>
              </a:spcBef>
            </a:pPr>
            <a:r>
              <a:rPr lang="en-US" sz="3200" b="1" spc="-415" dirty="0">
                <a:latin typeface="Calibri"/>
                <a:cs typeface="Calibri"/>
              </a:rPr>
              <a:t>Kabul </a:t>
            </a:r>
            <a:r>
              <a:rPr sz="3200" b="1" spc="-355" dirty="0">
                <a:latin typeface="Calibri"/>
                <a:cs typeface="Calibri"/>
              </a:rPr>
              <a:t>Univers</a:t>
            </a:r>
            <a:r>
              <a:rPr sz="3200" b="1" spc="-185" dirty="0">
                <a:latin typeface="Calibri"/>
                <a:cs typeface="Calibri"/>
              </a:rPr>
              <a:t>i</a:t>
            </a:r>
            <a:r>
              <a:rPr sz="3200" b="1" spc="-260" dirty="0">
                <a:latin typeface="Calibri"/>
                <a:cs typeface="Calibri"/>
              </a:rPr>
              <a:t>ty  </a:t>
            </a:r>
            <a:endParaRPr lang="en-US" sz="3200" b="1" spc="-260" dirty="0">
              <a:latin typeface="Calibri"/>
              <a:cs typeface="Calibri"/>
            </a:endParaRPr>
          </a:p>
          <a:p>
            <a:pPr marL="12700" marR="5080" indent="-2540" algn="ctr">
              <a:lnSpc>
                <a:spcPct val="101299"/>
              </a:lnSpc>
              <a:spcBef>
                <a:spcPts val="55"/>
              </a:spcBef>
            </a:pPr>
            <a:r>
              <a:rPr lang="en-US" sz="2800" b="1" spc="-300" dirty="0">
                <a:latin typeface="Calibri"/>
                <a:cs typeface="Calibri"/>
              </a:rPr>
              <a:t>Faculty of Computer Science </a:t>
            </a:r>
            <a:r>
              <a:rPr lang="en-US" sz="2400" b="1" spc="-300" dirty="0">
                <a:latin typeface="Calibri"/>
                <a:cs typeface="Calibri"/>
              </a:rPr>
              <a:t>SE</a:t>
            </a:r>
            <a:r>
              <a:rPr lang="en-US" sz="2800" b="1" spc="-300" dirty="0">
                <a:latin typeface="Calibri"/>
                <a:cs typeface="Calibri"/>
              </a:rPr>
              <a:t> </a:t>
            </a:r>
            <a:r>
              <a:rPr sz="2400" b="1" spc="-315" dirty="0">
                <a:latin typeface="Calibri"/>
                <a:cs typeface="Calibri"/>
              </a:rPr>
              <a:t>Depart</a:t>
            </a:r>
            <a:r>
              <a:rPr sz="2400" b="1" spc="-535" dirty="0">
                <a:latin typeface="Calibri"/>
                <a:cs typeface="Calibri"/>
              </a:rPr>
              <a:t>m</a:t>
            </a:r>
            <a:r>
              <a:rPr sz="2400" b="1" spc="-375" dirty="0">
                <a:latin typeface="Calibri"/>
                <a:cs typeface="Calibri"/>
              </a:rPr>
              <a:t>e</a:t>
            </a:r>
            <a:r>
              <a:rPr sz="2400" b="1" spc="-395" dirty="0">
                <a:latin typeface="Calibri"/>
                <a:cs typeface="Calibri"/>
              </a:rPr>
              <a:t>n</a:t>
            </a:r>
            <a:r>
              <a:rPr sz="2400" b="1" spc="-265" dirty="0">
                <a:latin typeface="Calibri"/>
                <a:cs typeface="Calibri"/>
              </a:rPr>
              <a:t>t</a:t>
            </a:r>
            <a:endParaRPr sz="2400" dirty="0">
              <a:latin typeface="Calibri"/>
              <a:cs typeface="Calibri"/>
            </a:endParaRPr>
          </a:p>
        </p:txBody>
      </p:sp>
      <p:sp>
        <p:nvSpPr>
          <p:cNvPr id="22" name="object 6"/>
          <p:cNvSpPr txBox="1"/>
          <p:nvPr/>
        </p:nvSpPr>
        <p:spPr>
          <a:xfrm>
            <a:off x="1005839" y="4523359"/>
            <a:ext cx="3142870" cy="846386"/>
          </a:xfrm>
          <a:prstGeom prst="rect">
            <a:avLst/>
          </a:prstGeom>
        </p:spPr>
        <p:txBody>
          <a:bodyPr vert="horz" wrap="square" lIns="0" tIns="149860" rIns="0" bIns="0" rtlCol="0">
            <a:spAutoFit/>
          </a:bodyPr>
          <a:lstStyle/>
          <a:p>
            <a:pPr marL="38100">
              <a:lnSpc>
                <a:spcPct val="100000"/>
              </a:lnSpc>
              <a:spcBef>
                <a:spcPts val="1180"/>
              </a:spcBef>
            </a:pPr>
            <a:r>
              <a:rPr sz="1800" b="1" spc="-5" dirty="0">
                <a:latin typeface="Arial"/>
                <a:cs typeface="Arial"/>
              </a:rPr>
              <a:t>Semester:</a:t>
            </a:r>
            <a:r>
              <a:rPr sz="1800" b="1" spc="-20" dirty="0">
                <a:latin typeface="Arial"/>
                <a:cs typeface="Arial"/>
              </a:rPr>
              <a:t> </a:t>
            </a:r>
            <a:r>
              <a:rPr lang="en-US" sz="1800" b="1" spc="-20" dirty="0">
                <a:latin typeface="Arial"/>
                <a:cs typeface="Arial"/>
              </a:rPr>
              <a:t>4</a:t>
            </a:r>
            <a:r>
              <a:rPr sz="1800" b="1" spc="-7" baseline="25462" dirty="0">
                <a:latin typeface="Arial"/>
                <a:cs typeface="Arial"/>
              </a:rPr>
              <a:t>th</a:t>
            </a:r>
            <a:endParaRPr sz="1800" baseline="25462" dirty="0">
              <a:latin typeface="Arial"/>
              <a:cs typeface="Arial"/>
            </a:endParaRPr>
          </a:p>
          <a:p>
            <a:pPr marL="38100">
              <a:lnSpc>
                <a:spcPct val="100000"/>
              </a:lnSpc>
              <a:spcBef>
                <a:spcPts val="1080"/>
              </a:spcBef>
            </a:pPr>
            <a:r>
              <a:rPr sz="1800" b="1" spc="-5" dirty="0">
                <a:latin typeface="Arial"/>
                <a:cs typeface="Arial"/>
              </a:rPr>
              <a:t>Lecture</a:t>
            </a:r>
            <a:r>
              <a:rPr lang="en-US" sz="1800" b="1" spc="-5" dirty="0">
                <a:latin typeface="Arial"/>
                <a:cs typeface="Arial"/>
              </a:rPr>
              <a:t>r</a:t>
            </a:r>
            <a:r>
              <a:rPr sz="1800" b="1" spc="-5" dirty="0">
                <a:latin typeface="Arial"/>
                <a:cs typeface="Arial"/>
              </a:rPr>
              <a:t>:</a:t>
            </a:r>
            <a:r>
              <a:rPr sz="1800" b="1" spc="-25" dirty="0">
                <a:latin typeface="Arial"/>
                <a:cs typeface="Arial"/>
              </a:rPr>
              <a:t> </a:t>
            </a:r>
            <a:r>
              <a:rPr lang="en-US" b="1" dirty="0">
                <a:latin typeface="Arial"/>
                <a:cs typeface="Arial"/>
              </a:rPr>
              <a:t>M. Salim Hamdard</a:t>
            </a:r>
            <a:endParaRPr sz="1800" dirty="0">
              <a:latin typeface="Arial"/>
              <a:cs typeface="Arial"/>
            </a:endParaRPr>
          </a:p>
        </p:txBody>
      </p:sp>
      <p:sp>
        <p:nvSpPr>
          <p:cNvPr id="23" name="object 7"/>
          <p:cNvSpPr txBox="1"/>
          <p:nvPr/>
        </p:nvSpPr>
        <p:spPr>
          <a:xfrm>
            <a:off x="1031238" y="5483453"/>
            <a:ext cx="3540762" cy="289823"/>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Prepare</a:t>
            </a:r>
            <a:r>
              <a:rPr lang="en-US" sz="1800" b="1" spc="-5" dirty="0">
                <a:latin typeface="Arial"/>
                <a:cs typeface="Arial"/>
              </a:rPr>
              <a:t>d</a:t>
            </a:r>
            <a:r>
              <a:rPr sz="1800" b="1" spc="-15" dirty="0">
                <a:latin typeface="Arial"/>
                <a:cs typeface="Arial"/>
              </a:rPr>
              <a:t> </a:t>
            </a:r>
            <a:r>
              <a:rPr sz="1800" b="1" spc="-5" dirty="0">
                <a:latin typeface="Arial"/>
                <a:cs typeface="Arial"/>
              </a:rPr>
              <a:t>by: </a:t>
            </a:r>
            <a:r>
              <a:rPr lang="en-US" b="1" dirty="0">
                <a:solidFill>
                  <a:srgbClr val="001F5F"/>
                </a:solidFill>
                <a:latin typeface="Arial"/>
                <a:cs typeface="Arial"/>
              </a:rPr>
              <a:t>M. Salim Hamdard</a:t>
            </a:r>
            <a:endParaRPr sz="18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6041" y="1835023"/>
            <a:ext cx="3944620" cy="2659061"/>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800" spc="-15" dirty="0">
                <a:latin typeface="Calibri"/>
                <a:cs typeface="Calibri"/>
              </a:rPr>
              <a:t>Introduction</a:t>
            </a:r>
            <a:r>
              <a:rPr sz="2800" spc="15" dirty="0">
                <a:latin typeface="Calibri"/>
                <a:cs typeface="Calibri"/>
              </a:rPr>
              <a:t> </a:t>
            </a:r>
            <a:r>
              <a:rPr sz="2800" spc="-20" dirty="0">
                <a:latin typeface="Calibri"/>
                <a:cs typeface="Calibri"/>
              </a:rPr>
              <a:t>to </a:t>
            </a:r>
            <a:r>
              <a:rPr sz="2800" spc="-55" dirty="0">
                <a:latin typeface="Calibri"/>
                <a:cs typeface="Calibri"/>
              </a:rPr>
              <a:t>Tree</a:t>
            </a:r>
            <a:endParaRPr sz="2800" dirty="0">
              <a:latin typeface="Calibri"/>
              <a:cs typeface="Calibri"/>
            </a:endParaRPr>
          </a:p>
          <a:p>
            <a:pPr marL="355600" indent="-342900">
              <a:lnSpc>
                <a:spcPct val="100000"/>
              </a:lnSpc>
              <a:spcBef>
                <a:spcPts val="2350"/>
              </a:spcBef>
              <a:buFont typeface="Arial MT"/>
              <a:buChar char="•"/>
              <a:tabLst>
                <a:tab pos="354965" algn="l"/>
                <a:tab pos="355600" algn="l"/>
              </a:tabLst>
            </a:pPr>
            <a:r>
              <a:rPr sz="2800" spc="-5" dirty="0">
                <a:latin typeface="Calibri"/>
                <a:cs typeface="Calibri"/>
              </a:rPr>
              <a:t>Binary </a:t>
            </a:r>
            <a:r>
              <a:rPr sz="2800" spc="-55" dirty="0">
                <a:latin typeface="Calibri"/>
                <a:cs typeface="Calibri"/>
              </a:rPr>
              <a:t>Tree</a:t>
            </a:r>
            <a:r>
              <a:rPr sz="2800" spc="-20" dirty="0">
                <a:latin typeface="Calibri"/>
                <a:cs typeface="Calibri"/>
              </a:rPr>
              <a:t> </a:t>
            </a:r>
            <a:r>
              <a:rPr sz="2800" spc="-5" dirty="0">
                <a:latin typeface="Calibri"/>
                <a:cs typeface="Calibri"/>
              </a:rPr>
              <a:t>and</a:t>
            </a:r>
            <a:r>
              <a:rPr sz="2800" spc="-10" dirty="0">
                <a:latin typeface="Calibri"/>
                <a:cs typeface="Calibri"/>
              </a:rPr>
              <a:t> </a:t>
            </a:r>
            <a:r>
              <a:rPr sz="2800" spc="-5" dirty="0">
                <a:latin typeface="Calibri"/>
                <a:cs typeface="Calibri"/>
              </a:rPr>
              <a:t>Its</a:t>
            </a:r>
            <a:r>
              <a:rPr sz="2800" dirty="0">
                <a:latin typeface="Calibri"/>
                <a:cs typeface="Calibri"/>
              </a:rPr>
              <a:t> </a:t>
            </a:r>
            <a:r>
              <a:rPr sz="2800" spc="-30" dirty="0">
                <a:latin typeface="Calibri"/>
                <a:cs typeface="Calibri"/>
              </a:rPr>
              <a:t>Types</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5" dirty="0">
                <a:latin typeface="Calibri"/>
                <a:cs typeface="Calibri"/>
              </a:rPr>
              <a:t>Binary </a:t>
            </a:r>
            <a:r>
              <a:rPr sz="2800" spc="-15" dirty="0">
                <a:latin typeface="Calibri"/>
                <a:cs typeface="Calibri"/>
              </a:rPr>
              <a:t>Search</a:t>
            </a:r>
            <a:r>
              <a:rPr sz="2800" spc="-5" dirty="0">
                <a:latin typeface="Calibri"/>
                <a:cs typeface="Calibri"/>
              </a:rPr>
              <a:t> </a:t>
            </a:r>
            <a:r>
              <a:rPr sz="2800" spc="-55" dirty="0">
                <a:latin typeface="Calibri"/>
                <a:cs typeface="Calibri"/>
              </a:rPr>
              <a:t>Tree</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15" dirty="0">
                <a:latin typeface="Calibri"/>
                <a:cs typeface="Calibri"/>
              </a:rPr>
              <a:t>General</a:t>
            </a:r>
            <a:r>
              <a:rPr sz="2800" spc="-35" dirty="0">
                <a:latin typeface="Calibri"/>
                <a:cs typeface="Calibri"/>
              </a:rPr>
              <a:t> </a:t>
            </a:r>
            <a:r>
              <a:rPr sz="2800" spc="-55" dirty="0">
                <a:latin typeface="Calibri"/>
                <a:cs typeface="Calibri"/>
              </a:rPr>
              <a:t>Tree</a:t>
            </a:r>
            <a:endParaRPr sz="2800" dirty="0">
              <a:latin typeface="Calibri"/>
              <a:cs typeface="Calibri"/>
            </a:endParaRPr>
          </a:p>
        </p:txBody>
      </p:sp>
      <p:sp>
        <p:nvSpPr>
          <p:cNvPr id="3" name="object 3"/>
          <p:cNvSpPr txBox="1">
            <a:spLocks noGrp="1"/>
          </p:cNvSpPr>
          <p:nvPr>
            <p:ph type="title"/>
          </p:nvPr>
        </p:nvSpPr>
        <p:spPr>
          <a:xfrm>
            <a:off x="1374394" y="988314"/>
            <a:ext cx="5360670" cy="848360"/>
          </a:xfrm>
          <a:prstGeom prst="rect">
            <a:avLst/>
          </a:prstGeom>
        </p:spPr>
        <p:txBody>
          <a:bodyPr vert="horz" wrap="square" lIns="0" tIns="12700" rIns="0" bIns="0" rtlCol="0">
            <a:spAutoFit/>
          </a:bodyPr>
          <a:lstStyle/>
          <a:p>
            <a:pPr marL="12700">
              <a:lnSpc>
                <a:spcPct val="100000"/>
              </a:lnSpc>
              <a:spcBef>
                <a:spcPts val="100"/>
              </a:spcBef>
            </a:pPr>
            <a:r>
              <a:rPr sz="5400" spc="-125" dirty="0"/>
              <a:t>Table</a:t>
            </a:r>
            <a:r>
              <a:rPr sz="5400" spc="-30" dirty="0"/>
              <a:t> </a:t>
            </a:r>
            <a:r>
              <a:rPr sz="5400" dirty="0"/>
              <a:t>of</a:t>
            </a:r>
            <a:r>
              <a:rPr sz="5400" spc="-30" dirty="0"/>
              <a:t> </a:t>
            </a:r>
            <a:r>
              <a:rPr sz="5400" spc="-5" dirty="0"/>
              <a:t>Contents</a:t>
            </a:r>
            <a:endParaRPr sz="5400"/>
          </a:p>
        </p:txBody>
      </p:sp>
      <p:grpSp>
        <p:nvGrpSpPr>
          <p:cNvPr id="4" name="object 4"/>
          <p:cNvGrpSpPr/>
          <p:nvPr/>
        </p:nvGrpSpPr>
        <p:grpSpPr>
          <a:xfrm>
            <a:off x="0" y="6469379"/>
            <a:ext cx="12192000" cy="388620"/>
            <a:chOff x="0" y="6469379"/>
            <a:chExt cx="12192000" cy="388620"/>
          </a:xfrm>
        </p:grpSpPr>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6" name="object 6"/>
            <p:cNvSpPr/>
            <p:nvPr/>
          </p:nvSpPr>
          <p:spPr>
            <a:xfrm>
              <a:off x="0" y="6774179"/>
              <a:ext cx="12192000" cy="83820"/>
            </a:xfrm>
            <a:custGeom>
              <a:avLst/>
              <a:gdLst/>
              <a:ahLst/>
              <a:cxnLst/>
              <a:rect l="l" t="t" r="r" b="b"/>
              <a:pathLst>
                <a:path w="12192000" h="83820">
                  <a:moveTo>
                    <a:pt x="12192000" y="0"/>
                  </a:moveTo>
                  <a:lnTo>
                    <a:pt x="0" y="0"/>
                  </a:lnTo>
                  <a:lnTo>
                    <a:pt x="0" y="83819"/>
                  </a:lnTo>
                  <a:lnTo>
                    <a:pt x="12192000" y="83819"/>
                  </a:lnTo>
                  <a:lnTo>
                    <a:pt x="12192000" y="0"/>
                  </a:lnTo>
                  <a:close/>
                </a:path>
              </a:pathLst>
            </a:custGeom>
            <a:solidFill>
              <a:srgbClr val="B873B8"/>
            </a:solidFill>
          </p:spPr>
          <p:txBody>
            <a:bodyPr wrap="square" lIns="0" tIns="0" rIns="0" bIns="0" rtlCol="0"/>
            <a:lstStyle/>
            <a:p>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80717" y="1699082"/>
            <a:ext cx="7101840" cy="2659061"/>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800" spc="-130" dirty="0">
                <a:latin typeface="Calibri"/>
                <a:cs typeface="Calibri"/>
              </a:rPr>
              <a:t>To</a:t>
            </a:r>
            <a:r>
              <a:rPr sz="2800" spc="-10" dirty="0">
                <a:latin typeface="Calibri"/>
                <a:cs typeface="Calibri"/>
              </a:rPr>
              <a:t> </a:t>
            </a:r>
            <a:r>
              <a:rPr sz="2800" spc="-5" dirty="0">
                <a:latin typeface="Calibri"/>
                <a:cs typeface="Calibri"/>
              </a:rPr>
              <a:t>be able</a:t>
            </a:r>
            <a:r>
              <a:rPr sz="2800" dirty="0">
                <a:latin typeface="Calibri"/>
                <a:cs typeface="Calibri"/>
              </a:rPr>
              <a:t> </a:t>
            </a:r>
            <a:r>
              <a:rPr sz="2800" spc="-20" dirty="0">
                <a:latin typeface="Calibri"/>
                <a:cs typeface="Calibri"/>
              </a:rPr>
              <a:t>to</a:t>
            </a:r>
            <a:r>
              <a:rPr sz="2800" spc="-5" dirty="0">
                <a:latin typeface="Calibri"/>
                <a:cs typeface="Calibri"/>
              </a:rPr>
              <a:t> </a:t>
            </a:r>
            <a:r>
              <a:rPr sz="2800" spc="-15" dirty="0">
                <a:latin typeface="Calibri"/>
                <a:cs typeface="Calibri"/>
              </a:rPr>
              <a:t>introduce</a:t>
            </a:r>
            <a:r>
              <a:rPr sz="2800" spc="30" dirty="0">
                <a:latin typeface="Calibri"/>
                <a:cs typeface="Calibri"/>
              </a:rPr>
              <a:t> </a:t>
            </a:r>
            <a:r>
              <a:rPr sz="2800" spc="-45" dirty="0">
                <a:latin typeface="Calibri"/>
                <a:cs typeface="Calibri"/>
              </a:rPr>
              <a:t>Trees</a:t>
            </a:r>
            <a:r>
              <a:rPr sz="2800" spc="-20" dirty="0">
                <a:latin typeface="Calibri"/>
                <a:cs typeface="Calibri"/>
              </a:rPr>
              <a:t> </a:t>
            </a:r>
            <a:r>
              <a:rPr sz="2800" spc="-5" dirty="0">
                <a:latin typeface="Calibri"/>
                <a:cs typeface="Calibri"/>
              </a:rPr>
              <a:t>in</a:t>
            </a:r>
            <a:r>
              <a:rPr sz="2800" dirty="0">
                <a:latin typeface="Calibri"/>
                <a:cs typeface="Calibri"/>
              </a:rPr>
              <a:t> </a:t>
            </a:r>
            <a:r>
              <a:rPr sz="2800" spc="-15" dirty="0">
                <a:latin typeface="Calibri"/>
                <a:cs typeface="Calibri"/>
              </a:rPr>
              <a:t>programming.</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130" dirty="0">
                <a:latin typeface="Calibri"/>
                <a:cs typeface="Calibri"/>
              </a:rPr>
              <a:t>To</a:t>
            </a:r>
            <a:r>
              <a:rPr sz="2800" spc="-10" dirty="0">
                <a:latin typeface="Calibri"/>
                <a:cs typeface="Calibri"/>
              </a:rPr>
              <a:t> </a:t>
            </a:r>
            <a:r>
              <a:rPr sz="2800" spc="-5" dirty="0">
                <a:latin typeface="Calibri"/>
                <a:cs typeface="Calibri"/>
              </a:rPr>
              <a:t>know</a:t>
            </a:r>
            <a:r>
              <a:rPr sz="2800" spc="5" dirty="0">
                <a:latin typeface="Calibri"/>
                <a:cs typeface="Calibri"/>
              </a:rPr>
              <a:t> </a:t>
            </a:r>
            <a:r>
              <a:rPr sz="2800" spc="-5" dirty="0">
                <a:latin typeface="Calibri"/>
                <a:cs typeface="Calibri"/>
              </a:rPr>
              <a:t>Binary</a:t>
            </a:r>
            <a:r>
              <a:rPr sz="2800" spc="5" dirty="0">
                <a:latin typeface="Calibri"/>
                <a:cs typeface="Calibri"/>
              </a:rPr>
              <a:t> </a:t>
            </a:r>
            <a:r>
              <a:rPr sz="2800" spc="-55" dirty="0">
                <a:latin typeface="Calibri"/>
                <a:cs typeface="Calibri"/>
              </a:rPr>
              <a:t>Tree</a:t>
            </a:r>
            <a:r>
              <a:rPr sz="2800" spc="-15" dirty="0">
                <a:latin typeface="Calibri"/>
                <a:cs typeface="Calibri"/>
              </a:rPr>
              <a:t> </a:t>
            </a:r>
            <a:r>
              <a:rPr sz="2800" spc="-5" dirty="0">
                <a:latin typeface="Calibri"/>
                <a:cs typeface="Calibri"/>
              </a:rPr>
              <a:t>and</a:t>
            </a:r>
            <a:r>
              <a:rPr sz="2800" spc="5" dirty="0">
                <a:latin typeface="Calibri"/>
                <a:cs typeface="Calibri"/>
              </a:rPr>
              <a:t> </a:t>
            </a:r>
            <a:r>
              <a:rPr sz="2800" spc="-5" dirty="0">
                <a:latin typeface="Calibri"/>
                <a:cs typeface="Calibri"/>
              </a:rPr>
              <a:t>Its</a:t>
            </a:r>
            <a:r>
              <a:rPr sz="2800" spc="-10" dirty="0">
                <a:latin typeface="Calibri"/>
                <a:cs typeface="Calibri"/>
              </a:rPr>
              <a:t> </a:t>
            </a:r>
            <a:r>
              <a:rPr sz="2800" spc="-30" dirty="0">
                <a:latin typeface="Calibri"/>
                <a:cs typeface="Calibri"/>
              </a:rPr>
              <a:t>Types</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130" dirty="0">
                <a:latin typeface="Calibri"/>
                <a:cs typeface="Calibri"/>
              </a:rPr>
              <a:t>To</a:t>
            </a:r>
            <a:r>
              <a:rPr sz="2800" spc="-5" dirty="0">
                <a:latin typeface="Calibri"/>
                <a:cs typeface="Calibri"/>
              </a:rPr>
              <a:t> be </a:t>
            </a:r>
            <a:r>
              <a:rPr sz="2800" spc="-10" dirty="0">
                <a:latin typeface="Calibri"/>
                <a:cs typeface="Calibri"/>
              </a:rPr>
              <a:t>able</a:t>
            </a:r>
            <a:r>
              <a:rPr sz="2800" spc="15"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use</a:t>
            </a:r>
            <a:r>
              <a:rPr sz="2800" spc="10" dirty="0">
                <a:latin typeface="Calibri"/>
                <a:cs typeface="Calibri"/>
              </a:rPr>
              <a:t> </a:t>
            </a:r>
            <a:r>
              <a:rPr sz="2800" spc="-5" dirty="0">
                <a:latin typeface="Calibri"/>
                <a:cs typeface="Calibri"/>
              </a:rPr>
              <a:t>Binary</a:t>
            </a:r>
            <a:r>
              <a:rPr sz="2800" spc="45" dirty="0">
                <a:latin typeface="Calibri"/>
                <a:cs typeface="Calibri"/>
              </a:rPr>
              <a:t> </a:t>
            </a:r>
            <a:r>
              <a:rPr sz="2800" spc="-15" dirty="0">
                <a:latin typeface="Calibri"/>
                <a:cs typeface="Calibri"/>
              </a:rPr>
              <a:t>Search</a:t>
            </a:r>
            <a:r>
              <a:rPr sz="2800" spc="-5" dirty="0">
                <a:latin typeface="Calibri"/>
                <a:cs typeface="Calibri"/>
              </a:rPr>
              <a:t> </a:t>
            </a:r>
            <a:r>
              <a:rPr sz="2800" spc="-55" dirty="0">
                <a:latin typeface="Calibri"/>
                <a:cs typeface="Calibri"/>
              </a:rPr>
              <a:t>Tree</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130" dirty="0">
                <a:latin typeface="Calibri"/>
                <a:cs typeface="Calibri"/>
              </a:rPr>
              <a:t>To</a:t>
            </a:r>
            <a:r>
              <a:rPr sz="2800" spc="-10" dirty="0">
                <a:latin typeface="Calibri"/>
                <a:cs typeface="Calibri"/>
              </a:rPr>
              <a:t> </a:t>
            </a:r>
            <a:r>
              <a:rPr sz="2800" spc="-5" dirty="0">
                <a:latin typeface="Calibri"/>
                <a:cs typeface="Calibri"/>
              </a:rPr>
              <a:t>be</a:t>
            </a:r>
            <a:r>
              <a:rPr sz="2800" spc="-10" dirty="0">
                <a:latin typeface="Calibri"/>
                <a:cs typeface="Calibri"/>
              </a:rPr>
              <a:t> able</a:t>
            </a:r>
            <a:r>
              <a:rPr sz="2800" spc="15" dirty="0">
                <a:latin typeface="Calibri"/>
                <a:cs typeface="Calibri"/>
              </a:rPr>
              <a:t> </a:t>
            </a:r>
            <a:r>
              <a:rPr sz="2800" spc="-20" dirty="0">
                <a:latin typeface="Calibri"/>
                <a:cs typeface="Calibri"/>
              </a:rPr>
              <a:t>to</a:t>
            </a:r>
            <a:r>
              <a:rPr sz="2800" spc="-10" dirty="0">
                <a:latin typeface="Calibri"/>
                <a:cs typeface="Calibri"/>
              </a:rPr>
              <a:t> use</a:t>
            </a:r>
            <a:r>
              <a:rPr sz="2800" spc="10" dirty="0">
                <a:latin typeface="Calibri"/>
                <a:cs typeface="Calibri"/>
              </a:rPr>
              <a:t> </a:t>
            </a:r>
            <a:r>
              <a:rPr sz="2800" spc="-15" dirty="0">
                <a:latin typeface="Calibri"/>
                <a:cs typeface="Calibri"/>
              </a:rPr>
              <a:t>General</a:t>
            </a:r>
            <a:r>
              <a:rPr sz="2800" spc="-10" dirty="0">
                <a:latin typeface="Calibri"/>
                <a:cs typeface="Calibri"/>
              </a:rPr>
              <a:t> </a:t>
            </a:r>
            <a:r>
              <a:rPr sz="2800" spc="-45" dirty="0">
                <a:latin typeface="Calibri"/>
                <a:cs typeface="Calibri"/>
              </a:rPr>
              <a:t>Tree.</a:t>
            </a:r>
            <a:endParaRPr sz="2800" dirty="0">
              <a:latin typeface="Calibri"/>
              <a:cs typeface="Calibri"/>
            </a:endParaRPr>
          </a:p>
        </p:txBody>
      </p:sp>
      <p:sp>
        <p:nvSpPr>
          <p:cNvPr id="3" name="object 3"/>
          <p:cNvSpPr txBox="1">
            <a:spLocks noGrp="1"/>
          </p:cNvSpPr>
          <p:nvPr>
            <p:ph type="title"/>
          </p:nvPr>
        </p:nvSpPr>
        <p:spPr>
          <a:xfrm>
            <a:off x="1374394" y="835913"/>
            <a:ext cx="7675880" cy="63500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06FC0"/>
                </a:solidFill>
              </a:rPr>
              <a:t>Objectives</a:t>
            </a:r>
          </a:p>
        </p:txBody>
      </p:sp>
      <p:grpSp>
        <p:nvGrpSpPr>
          <p:cNvPr id="4" name="object 4"/>
          <p:cNvGrpSpPr/>
          <p:nvPr/>
        </p:nvGrpSpPr>
        <p:grpSpPr>
          <a:xfrm>
            <a:off x="0" y="6469379"/>
            <a:ext cx="12192000" cy="388620"/>
            <a:chOff x="0" y="6469379"/>
            <a:chExt cx="12192000" cy="388620"/>
          </a:xfrm>
        </p:grpSpPr>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6" name="object 6"/>
            <p:cNvSpPr/>
            <p:nvPr/>
          </p:nvSpPr>
          <p:spPr>
            <a:xfrm>
              <a:off x="0" y="6774179"/>
              <a:ext cx="12192000" cy="83820"/>
            </a:xfrm>
            <a:custGeom>
              <a:avLst/>
              <a:gdLst/>
              <a:ahLst/>
              <a:cxnLst/>
              <a:rect l="l" t="t" r="r" b="b"/>
              <a:pathLst>
                <a:path w="12192000" h="83820">
                  <a:moveTo>
                    <a:pt x="12192000" y="0"/>
                  </a:moveTo>
                  <a:lnTo>
                    <a:pt x="0" y="0"/>
                  </a:lnTo>
                  <a:lnTo>
                    <a:pt x="0" y="83819"/>
                  </a:lnTo>
                  <a:lnTo>
                    <a:pt x="12192000" y="83819"/>
                  </a:lnTo>
                  <a:lnTo>
                    <a:pt x="12192000" y="0"/>
                  </a:lnTo>
                  <a:close/>
                </a:path>
              </a:pathLst>
            </a:custGeom>
            <a:solidFill>
              <a:srgbClr val="B873B8"/>
            </a:solidFill>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8194" y="1362582"/>
            <a:ext cx="10021570" cy="2220595"/>
          </a:xfrm>
          <a:prstGeom prst="rect">
            <a:avLst/>
          </a:prstGeom>
        </p:spPr>
        <p:txBody>
          <a:bodyPr vert="horz" wrap="square" lIns="0" tIns="12700" rIns="0" bIns="0" rtlCol="0">
            <a:spAutoFit/>
          </a:bodyPr>
          <a:lstStyle/>
          <a:p>
            <a:pPr marL="355600" marR="1036955" indent="-342900">
              <a:lnSpc>
                <a:spcPct val="150000"/>
              </a:lnSpc>
              <a:spcBef>
                <a:spcPts val="100"/>
              </a:spcBef>
              <a:buFont typeface="Wingdings"/>
              <a:buChar char=""/>
              <a:tabLst>
                <a:tab pos="355600" algn="l"/>
              </a:tabLst>
            </a:pPr>
            <a:r>
              <a:rPr sz="2400" spc="-50" dirty="0">
                <a:latin typeface="Calibri"/>
                <a:cs typeface="Calibri"/>
              </a:rPr>
              <a:t>Tree</a:t>
            </a:r>
            <a:r>
              <a:rPr sz="2400" spc="5" dirty="0">
                <a:latin typeface="Calibri"/>
                <a:cs typeface="Calibri"/>
              </a:rPr>
              <a:t> </a:t>
            </a:r>
            <a:r>
              <a:rPr sz="2400" dirty="0">
                <a:latin typeface="Calibri"/>
                <a:cs typeface="Calibri"/>
              </a:rPr>
              <a:t>is a </a:t>
            </a:r>
            <a:r>
              <a:rPr sz="2400" spc="-5" dirty="0">
                <a:latin typeface="Calibri"/>
                <a:cs typeface="Calibri"/>
              </a:rPr>
              <a:t>non-linear</a:t>
            </a:r>
            <a:r>
              <a:rPr sz="2400" dirty="0">
                <a:latin typeface="Calibri"/>
                <a:cs typeface="Calibri"/>
              </a:rPr>
              <a:t> </a:t>
            </a:r>
            <a:r>
              <a:rPr sz="2400" spc="-15" dirty="0">
                <a:latin typeface="Calibri"/>
                <a:cs typeface="Calibri"/>
              </a:rPr>
              <a:t>data </a:t>
            </a:r>
            <a:r>
              <a:rPr sz="2400" spc="-10" dirty="0">
                <a:latin typeface="Calibri"/>
                <a:cs typeface="Calibri"/>
              </a:rPr>
              <a:t>structure</a:t>
            </a:r>
            <a:r>
              <a:rPr sz="2400" spc="-5" dirty="0">
                <a:latin typeface="Calibri"/>
                <a:cs typeface="Calibri"/>
              </a:rPr>
              <a:t> </a:t>
            </a:r>
            <a:r>
              <a:rPr sz="2400" dirty="0">
                <a:latin typeface="Calibri"/>
                <a:cs typeface="Calibri"/>
              </a:rPr>
              <a:t>which</a:t>
            </a:r>
            <a:r>
              <a:rPr sz="2400" spc="-10" dirty="0">
                <a:latin typeface="Calibri"/>
                <a:cs typeface="Calibri"/>
              </a:rPr>
              <a:t> </a:t>
            </a:r>
            <a:r>
              <a:rPr sz="2400" spc="-20" dirty="0">
                <a:latin typeface="Calibri"/>
                <a:cs typeface="Calibri"/>
              </a:rPr>
              <a:t>organizes</a:t>
            </a:r>
            <a:r>
              <a:rPr sz="2400" spc="5" dirty="0">
                <a:latin typeface="Calibri"/>
                <a:cs typeface="Calibri"/>
              </a:rPr>
              <a:t> </a:t>
            </a:r>
            <a:r>
              <a:rPr sz="2400" spc="-15" dirty="0">
                <a:latin typeface="Calibri"/>
                <a:cs typeface="Calibri"/>
              </a:rPr>
              <a:t>data </a:t>
            </a:r>
            <a:r>
              <a:rPr sz="2400" dirty="0">
                <a:latin typeface="Calibri"/>
                <a:cs typeface="Calibri"/>
              </a:rPr>
              <a:t>in </a:t>
            </a:r>
            <a:r>
              <a:rPr sz="2400" spc="-10" dirty="0">
                <a:latin typeface="Calibri"/>
                <a:cs typeface="Calibri"/>
              </a:rPr>
              <a:t>hierarchical </a:t>
            </a:r>
            <a:r>
              <a:rPr sz="2400" spc="-525" dirty="0">
                <a:latin typeface="Calibri"/>
                <a:cs typeface="Calibri"/>
              </a:rPr>
              <a:t> </a:t>
            </a:r>
            <a:r>
              <a:rPr sz="2400" spc="-10" dirty="0">
                <a:latin typeface="Calibri"/>
                <a:cs typeface="Calibri"/>
              </a:rPr>
              <a:t>structure.</a:t>
            </a:r>
            <a:endParaRPr sz="2400">
              <a:latin typeface="Calibri"/>
              <a:cs typeface="Calibri"/>
            </a:endParaRPr>
          </a:p>
          <a:p>
            <a:pPr marL="355600" indent="-342900">
              <a:lnSpc>
                <a:spcPct val="100000"/>
              </a:lnSpc>
              <a:spcBef>
                <a:spcPts val="1440"/>
              </a:spcBef>
              <a:buFont typeface="Wingdings"/>
              <a:buChar char=""/>
              <a:tabLst>
                <a:tab pos="355600" algn="l"/>
              </a:tabLst>
            </a:pPr>
            <a:r>
              <a:rPr sz="2400" dirty="0">
                <a:latin typeface="Calibri"/>
                <a:cs typeface="Calibri"/>
              </a:rPr>
              <a:t>In</a:t>
            </a:r>
            <a:r>
              <a:rPr sz="2400" spc="-15" dirty="0">
                <a:latin typeface="Calibri"/>
                <a:cs typeface="Calibri"/>
              </a:rPr>
              <a:t> </a:t>
            </a:r>
            <a:r>
              <a:rPr sz="2400" spc="-10" dirty="0">
                <a:latin typeface="Calibri"/>
                <a:cs typeface="Calibri"/>
              </a:rPr>
              <a:t>tree</a:t>
            </a:r>
            <a:r>
              <a:rPr sz="2400" spc="5" dirty="0">
                <a:latin typeface="Calibri"/>
                <a:cs typeface="Calibri"/>
              </a:rPr>
              <a:t> </a:t>
            </a:r>
            <a:r>
              <a:rPr sz="2400" spc="-15" dirty="0">
                <a:latin typeface="Calibri"/>
                <a:cs typeface="Calibri"/>
              </a:rPr>
              <a:t>data </a:t>
            </a:r>
            <a:r>
              <a:rPr sz="2400" spc="-10" dirty="0">
                <a:latin typeface="Calibri"/>
                <a:cs typeface="Calibri"/>
              </a:rPr>
              <a:t>structure,</a:t>
            </a:r>
            <a:r>
              <a:rPr sz="2400" spc="-25" dirty="0">
                <a:latin typeface="Calibri"/>
                <a:cs typeface="Calibri"/>
              </a:rPr>
              <a:t> </a:t>
            </a:r>
            <a:r>
              <a:rPr sz="2400" spc="-5" dirty="0">
                <a:latin typeface="Calibri"/>
                <a:cs typeface="Calibri"/>
              </a:rPr>
              <a:t>every</a:t>
            </a:r>
            <a:r>
              <a:rPr sz="2400" dirty="0">
                <a:latin typeface="Calibri"/>
                <a:cs typeface="Calibri"/>
              </a:rPr>
              <a:t> individual</a:t>
            </a:r>
            <a:r>
              <a:rPr sz="2400" spc="5" dirty="0">
                <a:latin typeface="Calibri"/>
                <a:cs typeface="Calibri"/>
              </a:rPr>
              <a:t> </a:t>
            </a:r>
            <a:r>
              <a:rPr sz="2400" spc="-5" dirty="0">
                <a:latin typeface="Calibri"/>
                <a:cs typeface="Calibri"/>
              </a:rPr>
              <a:t>element</a:t>
            </a:r>
            <a:r>
              <a:rPr sz="2400" spc="-15" dirty="0">
                <a:latin typeface="Calibri"/>
                <a:cs typeface="Calibri"/>
              </a:rPr>
              <a:t> </a:t>
            </a:r>
            <a:r>
              <a:rPr sz="2400" dirty="0">
                <a:latin typeface="Calibri"/>
                <a:cs typeface="Calibri"/>
              </a:rPr>
              <a:t>is</a:t>
            </a:r>
            <a:r>
              <a:rPr sz="2400" spc="-20" dirty="0">
                <a:latin typeface="Calibri"/>
                <a:cs typeface="Calibri"/>
              </a:rPr>
              <a:t> </a:t>
            </a:r>
            <a:r>
              <a:rPr sz="2400" spc="-5" dirty="0">
                <a:latin typeface="Calibri"/>
                <a:cs typeface="Calibri"/>
              </a:rPr>
              <a:t>called </a:t>
            </a:r>
            <a:r>
              <a:rPr sz="2400" dirty="0">
                <a:latin typeface="Calibri"/>
                <a:cs typeface="Calibri"/>
              </a:rPr>
              <a:t>as</a:t>
            </a:r>
            <a:r>
              <a:rPr sz="2400" spc="-25" dirty="0">
                <a:latin typeface="Calibri"/>
                <a:cs typeface="Calibri"/>
              </a:rPr>
              <a:t> </a:t>
            </a:r>
            <a:r>
              <a:rPr sz="2400" b="1" dirty="0">
                <a:solidFill>
                  <a:srgbClr val="7D1B68"/>
                </a:solidFill>
                <a:latin typeface="Calibri"/>
                <a:cs typeface="Calibri"/>
              </a:rPr>
              <a:t>Node</a:t>
            </a:r>
            <a:r>
              <a:rPr sz="2400" dirty="0">
                <a:latin typeface="Calibri"/>
                <a:cs typeface="Calibri"/>
              </a:rPr>
              <a:t>.</a:t>
            </a:r>
            <a:endParaRPr sz="2400">
              <a:latin typeface="Calibri"/>
              <a:cs typeface="Calibri"/>
            </a:endParaRPr>
          </a:p>
          <a:p>
            <a:pPr marL="355600" indent="-342900">
              <a:lnSpc>
                <a:spcPct val="100000"/>
              </a:lnSpc>
              <a:spcBef>
                <a:spcPts val="1440"/>
              </a:spcBef>
              <a:buFont typeface="Wingdings"/>
              <a:buChar char=""/>
              <a:tabLst>
                <a:tab pos="355600" algn="l"/>
              </a:tabLst>
            </a:pPr>
            <a:r>
              <a:rPr sz="2400" b="1" dirty="0">
                <a:solidFill>
                  <a:srgbClr val="7D1B68"/>
                </a:solidFill>
                <a:latin typeface="Calibri"/>
                <a:cs typeface="Calibri"/>
              </a:rPr>
              <a:t>Node</a:t>
            </a:r>
            <a:r>
              <a:rPr sz="2400" b="1" spc="-15" dirty="0">
                <a:solidFill>
                  <a:srgbClr val="7D1B68"/>
                </a:solidFill>
                <a:latin typeface="Calibri"/>
                <a:cs typeface="Calibri"/>
              </a:rPr>
              <a:t> </a:t>
            </a:r>
            <a:r>
              <a:rPr sz="2400" dirty="0">
                <a:latin typeface="Calibri"/>
                <a:cs typeface="Calibri"/>
              </a:rPr>
              <a:t>in</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tree</a:t>
            </a:r>
            <a:r>
              <a:rPr sz="2400" spc="10" dirty="0">
                <a:latin typeface="Calibri"/>
                <a:cs typeface="Calibri"/>
              </a:rPr>
              <a:t> </a:t>
            </a:r>
            <a:r>
              <a:rPr sz="2400" spc="-15" dirty="0">
                <a:latin typeface="Calibri"/>
                <a:cs typeface="Calibri"/>
              </a:rPr>
              <a:t>data </a:t>
            </a:r>
            <a:r>
              <a:rPr sz="2400" spc="-10" dirty="0">
                <a:latin typeface="Calibri"/>
                <a:cs typeface="Calibri"/>
              </a:rPr>
              <a:t>structure,</a:t>
            </a:r>
            <a:r>
              <a:rPr sz="2400" spc="-5" dirty="0">
                <a:latin typeface="Calibri"/>
                <a:cs typeface="Calibri"/>
              </a:rPr>
              <a:t> </a:t>
            </a:r>
            <a:r>
              <a:rPr sz="2400" spc="-20" dirty="0">
                <a:latin typeface="Calibri"/>
                <a:cs typeface="Calibri"/>
              </a:rPr>
              <a:t>stores</a:t>
            </a:r>
            <a:r>
              <a:rPr sz="2400" spc="-15"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actual</a:t>
            </a:r>
            <a:r>
              <a:rPr sz="2400" spc="-15" dirty="0">
                <a:latin typeface="Calibri"/>
                <a:cs typeface="Calibri"/>
              </a:rPr>
              <a:t> data</a:t>
            </a:r>
            <a:r>
              <a:rPr sz="2400" spc="-10" dirty="0">
                <a:latin typeface="Calibri"/>
                <a:cs typeface="Calibri"/>
              </a:rPr>
              <a:t> </a:t>
            </a:r>
            <a:r>
              <a:rPr sz="2400" spc="-5" dirty="0">
                <a:latin typeface="Calibri"/>
                <a:cs typeface="Calibri"/>
              </a:rPr>
              <a:t>of</a:t>
            </a:r>
            <a:r>
              <a:rPr sz="2400" spc="-10" dirty="0">
                <a:latin typeface="Calibri"/>
                <a:cs typeface="Calibri"/>
              </a:rPr>
              <a:t> that </a:t>
            </a:r>
            <a:r>
              <a:rPr sz="2400" spc="-5" dirty="0">
                <a:latin typeface="Calibri"/>
                <a:cs typeface="Calibri"/>
              </a:rPr>
              <a:t>particular</a:t>
            </a:r>
            <a:r>
              <a:rPr sz="2400" spc="-15" dirty="0">
                <a:latin typeface="Calibri"/>
                <a:cs typeface="Calibri"/>
              </a:rPr>
              <a:t> </a:t>
            </a:r>
            <a:r>
              <a:rPr sz="2400" spc="-5" dirty="0">
                <a:latin typeface="Calibri"/>
                <a:cs typeface="Calibri"/>
              </a:rPr>
              <a:t>element</a:t>
            </a:r>
            <a:endParaRPr sz="2400">
              <a:latin typeface="Calibri"/>
              <a:cs typeface="Calibri"/>
            </a:endParaRPr>
          </a:p>
        </p:txBody>
      </p:sp>
      <p:sp>
        <p:nvSpPr>
          <p:cNvPr id="3" name="object 3"/>
          <p:cNvSpPr txBox="1"/>
          <p:nvPr/>
        </p:nvSpPr>
        <p:spPr>
          <a:xfrm>
            <a:off x="1641094" y="3739972"/>
            <a:ext cx="610743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and</a:t>
            </a:r>
            <a:r>
              <a:rPr sz="2400" spc="-5" dirty="0">
                <a:latin typeface="Calibri"/>
                <a:cs typeface="Calibri"/>
              </a:rPr>
              <a:t> </a:t>
            </a:r>
            <a:r>
              <a:rPr sz="2400" dirty="0">
                <a:latin typeface="Calibri"/>
                <a:cs typeface="Calibri"/>
              </a:rPr>
              <a:t>link</a:t>
            </a:r>
            <a:r>
              <a:rPr sz="2400" spc="-20" dirty="0">
                <a:latin typeface="Calibri"/>
                <a:cs typeface="Calibri"/>
              </a:rPr>
              <a:t> </a:t>
            </a:r>
            <a:r>
              <a:rPr sz="2400" spc="-15" dirty="0">
                <a:latin typeface="Calibri"/>
                <a:cs typeface="Calibri"/>
              </a:rPr>
              <a:t>to </a:t>
            </a:r>
            <a:r>
              <a:rPr sz="2400" spc="-10" dirty="0">
                <a:latin typeface="Calibri"/>
                <a:cs typeface="Calibri"/>
              </a:rPr>
              <a:t>next</a:t>
            </a:r>
            <a:r>
              <a:rPr sz="2400" spc="-20" dirty="0">
                <a:latin typeface="Calibri"/>
                <a:cs typeface="Calibri"/>
              </a:rPr>
              <a:t> </a:t>
            </a:r>
            <a:r>
              <a:rPr sz="2400" spc="-5" dirty="0">
                <a:latin typeface="Calibri"/>
                <a:cs typeface="Calibri"/>
              </a:rPr>
              <a:t>element</a:t>
            </a:r>
            <a:r>
              <a:rPr sz="2400" spc="-20" dirty="0">
                <a:latin typeface="Calibri"/>
                <a:cs typeface="Calibri"/>
              </a:rPr>
              <a:t> </a:t>
            </a:r>
            <a:r>
              <a:rPr sz="2400" dirty="0">
                <a:latin typeface="Calibri"/>
                <a:cs typeface="Calibri"/>
              </a:rPr>
              <a:t>in </a:t>
            </a:r>
            <a:r>
              <a:rPr sz="2400" spc="-10" dirty="0">
                <a:latin typeface="Calibri"/>
                <a:cs typeface="Calibri"/>
              </a:rPr>
              <a:t>hierarchical</a:t>
            </a:r>
            <a:r>
              <a:rPr sz="2400" spc="-30" dirty="0">
                <a:latin typeface="Calibri"/>
                <a:cs typeface="Calibri"/>
              </a:rPr>
              <a:t> </a:t>
            </a:r>
            <a:r>
              <a:rPr sz="2400" spc="-10" dirty="0">
                <a:latin typeface="Calibri"/>
                <a:cs typeface="Calibri"/>
              </a:rPr>
              <a:t>structure.</a:t>
            </a:r>
            <a:endParaRPr sz="2400">
              <a:latin typeface="Calibri"/>
              <a:cs typeface="Calibri"/>
            </a:endParaRPr>
          </a:p>
        </p:txBody>
      </p:sp>
      <p:sp>
        <p:nvSpPr>
          <p:cNvPr id="4" name="object 4"/>
          <p:cNvSpPr txBox="1">
            <a:spLocks noGrp="1"/>
          </p:cNvSpPr>
          <p:nvPr>
            <p:ph type="title"/>
          </p:nvPr>
        </p:nvSpPr>
        <p:spPr>
          <a:xfrm>
            <a:off x="1298194" y="565861"/>
            <a:ext cx="1050290" cy="635000"/>
          </a:xfrm>
          <a:prstGeom prst="rect">
            <a:avLst/>
          </a:prstGeom>
        </p:spPr>
        <p:txBody>
          <a:bodyPr vert="horz" wrap="square" lIns="0" tIns="12065" rIns="0" bIns="0" rtlCol="0">
            <a:spAutoFit/>
          </a:bodyPr>
          <a:lstStyle/>
          <a:p>
            <a:pPr marL="12700">
              <a:lnSpc>
                <a:spcPct val="100000"/>
              </a:lnSpc>
              <a:spcBef>
                <a:spcPts val="95"/>
              </a:spcBef>
            </a:pPr>
            <a:r>
              <a:rPr spc="-160" dirty="0"/>
              <a:t>T</a:t>
            </a:r>
            <a:r>
              <a:rPr spc="-5" dirty="0"/>
              <a:t>ree</a:t>
            </a:r>
          </a:p>
        </p:txBody>
      </p:sp>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6" name="object 6"/>
          <p:cNvSpPr/>
          <p:nvPr/>
        </p:nvSpPr>
        <p:spPr>
          <a:xfrm>
            <a:off x="9611868" y="3779520"/>
            <a:ext cx="457200" cy="381000"/>
          </a:xfrm>
          <a:custGeom>
            <a:avLst/>
            <a:gdLst/>
            <a:ahLst/>
            <a:cxnLst/>
            <a:rect l="l" t="t" r="r" b="b"/>
            <a:pathLst>
              <a:path w="457200" h="381000">
                <a:moveTo>
                  <a:pt x="0" y="190499"/>
                </a:moveTo>
                <a:lnTo>
                  <a:pt x="6038" y="146837"/>
                </a:lnTo>
                <a:lnTo>
                  <a:pt x="23237" y="106746"/>
                </a:lnTo>
                <a:lnTo>
                  <a:pt x="50225" y="71374"/>
                </a:lnTo>
                <a:lnTo>
                  <a:pt x="85628" y="41867"/>
                </a:lnTo>
                <a:lnTo>
                  <a:pt x="128073" y="19372"/>
                </a:lnTo>
                <a:lnTo>
                  <a:pt x="176188" y="5034"/>
                </a:lnTo>
                <a:lnTo>
                  <a:pt x="228600" y="0"/>
                </a:lnTo>
                <a:lnTo>
                  <a:pt x="281011" y="5034"/>
                </a:lnTo>
                <a:lnTo>
                  <a:pt x="329126" y="19372"/>
                </a:lnTo>
                <a:lnTo>
                  <a:pt x="371571" y="41867"/>
                </a:lnTo>
                <a:lnTo>
                  <a:pt x="406974" y="71374"/>
                </a:lnTo>
                <a:lnTo>
                  <a:pt x="433962" y="106746"/>
                </a:lnTo>
                <a:lnTo>
                  <a:pt x="451161" y="146837"/>
                </a:lnTo>
                <a:lnTo>
                  <a:pt x="457200" y="190499"/>
                </a:lnTo>
                <a:lnTo>
                  <a:pt x="451161" y="234162"/>
                </a:lnTo>
                <a:lnTo>
                  <a:pt x="433962" y="274253"/>
                </a:lnTo>
                <a:lnTo>
                  <a:pt x="406974" y="309625"/>
                </a:lnTo>
                <a:lnTo>
                  <a:pt x="371571" y="339132"/>
                </a:lnTo>
                <a:lnTo>
                  <a:pt x="329126" y="361627"/>
                </a:lnTo>
                <a:lnTo>
                  <a:pt x="281011" y="375965"/>
                </a:lnTo>
                <a:lnTo>
                  <a:pt x="228600" y="380999"/>
                </a:lnTo>
                <a:lnTo>
                  <a:pt x="176188" y="375965"/>
                </a:lnTo>
                <a:lnTo>
                  <a:pt x="128073" y="361627"/>
                </a:lnTo>
                <a:lnTo>
                  <a:pt x="85628" y="339132"/>
                </a:lnTo>
                <a:lnTo>
                  <a:pt x="50225" y="309625"/>
                </a:lnTo>
                <a:lnTo>
                  <a:pt x="23237" y="274253"/>
                </a:lnTo>
                <a:lnTo>
                  <a:pt x="6038" y="234162"/>
                </a:lnTo>
                <a:lnTo>
                  <a:pt x="0" y="190499"/>
                </a:lnTo>
                <a:close/>
              </a:path>
            </a:pathLst>
          </a:custGeom>
          <a:ln w="15875">
            <a:solidFill>
              <a:srgbClr val="000000"/>
            </a:solidFill>
          </a:ln>
        </p:spPr>
        <p:txBody>
          <a:bodyPr wrap="square" lIns="0" tIns="0" rIns="0" bIns="0" rtlCol="0"/>
          <a:lstStyle/>
          <a:p>
            <a:endParaRPr/>
          </a:p>
        </p:txBody>
      </p:sp>
      <p:sp>
        <p:nvSpPr>
          <p:cNvPr id="7" name="object 7"/>
          <p:cNvSpPr txBox="1"/>
          <p:nvPr/>
        </p:nvSpPr>
        <p:spPr>
          <a:xfrm>
            <a:off x="9741789" y="3802760"/>
            <a:ext cx="19939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Verdana"/>
                <a:cs typeface="Verdana"/>
              </a:rPr>
              <a:t>A</a:t>
            </a:r>
            <a:endParaRPr sz="2000">
              <a:latin typeface="Verdana"/>
              <a:cs typeface="Verdana"/>
            </a:endParaRPr>
          </a:p>
        </p:txBody>
      </p:sp>
      <p:sp>
        <p:nvSpPr>
          <p:cNvPr id="8" name="object 8"/>
          <p:cNvSpPr/>
          <p:nvPr/>
        </p:nvSpPr>
        <p:spPr>
          <a:xfrm>
            <a:off x="8697468" y="4465320"/>
            <a:ext cx="2286000" cy="381000"/>
          </a:xfrm>
          <a:custGeom>
            <a:avLst/>
            <a:gdLst/>
            <a:ahLst/>
            <a:cxnLst/>
            <a:rect l="l" t="t" r="r" b="b"/>
            <a:pathLst>
              <a:path w="2286000" h="381000">
                <a:moveTo>
                  <a:pt x="609600" y="190499"/>
                </a:moveTo>
                <a:lnTo>
                  <a:pt x="615638" y="146837"/>
                </a:lnTo>
                <a:lnTo>
                  <a:pt x="632837" y="106746"/>
                </a:lnTo>
                <a:lnTo>
                  <a:pt x="659825" y="71374"/>
                </a:lnTo>
                <a:lnTo>
                  <a:pt x="695228" y="41867"/>
                </a:lnTo>
                <a:lnTo>
                  <a:pt x="737673" y="19372"/>
                </a:lnTo>
                <a:lnTo>
                  <a:pt x="785788" y="5034"/>
                </a:lnTo>
                <a:lnTo>
                  <a:pt x="838200" y="0"/>
                </a:lnTo>
                <a:lnTo>
                  <a:pt x="890611" y="5034"/>
                </a:lnTo>
                <a:lnTo>
                  <a:pt x="938726" y="19372"/>
                </a:lnTo>
                <a:lnTo>
                  <a:pt x="981171" y="41867"/>
                </a:lnTo>
                <a:lnTo>
                  <a:pt x="1016574" y="71374"/>
                </a:lnTo>
                <a:lnTo>
                  <a:pt x="1043562" y="106746"/>
                </a:lnTo>
                <a:lnTo>
                  <a:pt x="1060761" y="146837"/>
                </a:lnTo>
                <a:lnTo>
                  <a:pt x="1066800" y="190499"/>
                </a:lnTo>
                <a:lnTo>
                  <a:pt x="1060761" y="234162"/>
                </a:lnTo>
                <a:lnTo>
                  <a:pt x="1043562" y="274253"/>
                </a:lnTo>
                <a:lnTo>
                  <a:pt x="1016574" y="309625"/>
                </a:lnTo>
                <a:lnTo>
                  <a:pt x="981171" y="339132"/>
                </a:lnTo>
                <a:lnTo>
                  <a:pt x="938726" y="361627"/>
                </a:lnTo>
                <a:lnTo>
                  <a:pt x="890611" y="375965"/>
                </a:lnTo>
                <a:lnTo>
                  <a:pt x="838200" y="380999"/>
                </a:lnTo>
                <a:lnTo>
                  <a:pt x="785788" y="375965"/>
                </a:lnTo>
                <a:lnTo>
                  <a:pt x="737673" y="361627"/>
                </a:lnTo>
                <a:lnTo>
                  <a:pt x="695228" y="339132"/>
                </a:lnTo>
                <a:lnTo>
                  <a:pt x="659825" y="309625"/>
                </a:lnTo>
                <a:lnTo>
                  <a:pt x="632837" y="274253"/>
                </a:lnTo>
                <a:lnTo>
                  <a:pt x="615638" y="234162"/>
                </a:lnTo>
                <a:lnTo>
                  <a:pt x="609600" y="190499"/>
                </a:lnTo>
                <a:close/>
              </a:path>
              <a:path w="2286000" h="381000">
                <a:moveTo>
                  <a:pt x="0" y="190499"/>
                </a:moveTo>
                <a:lnTo>
                  <a:pt x="6038" y="146837"/>
                </a:lnTo>
                <a:lnTo>
                  <a:pt x="23237" y="106746"/>
                </a:lnTo>
                <a:lnTo>
                  <a:pt x="50225" y="71374"/>
                </a:lnTo>
                <a:lnTo>
                  <a:pt x="85628" y="41867"/>
                </a:lnTo>
                <a:lnTo>
                  <a:pt x="128073" y="19372"/>
                </a:lnTo>
                <a:lnTo>
                  <a:pt x="176188" y="5034"/>
                </a:lnTo>
                <a:lnTo>
                  <a:pt x="228600" y="0"/>
                </a:lnTo>
                <a:lnTo>
                  <a:pt x="281011" y="5034"/>
                </a:lnTo>
                <a:lnTo>
                  <a:pt x="329126" y="19372"/>
                </a:lnTo>
                <a:lnTo>
                  <a:pt x="371571" y="41867"/>
                </a:lnTo>
                <a:lnTo>
                  <a:pt x="406974" y="71374"/>
                </a:lnTo>
                <a:lnTo>
                  <a:pt x="433962" y="106746"/>
                </a:lnTo>
                <a:lnTo>
                  <a:pt x="451161" y="146837"/>
                </a:lnTo>
                <a:lnTo>
                  <a:pt x="457200" y="190499"/>
                </a:lnTo>
                <a:lnTo>
                  <a:pt x="451161" y="234162"/>
                </a:lnTo>
                <a:lnTo>
                  <a:pt x="433962" y="274253"/>
                </a:lnTo>
                <a:lnTo>
                  <a:pt x="406974" y="309625"/>
                </a:lnTo>
                <a:lnTo>
                  <a:pt x="371571" y="339132"/>
                </a:lnTo>
                <a:lnTo>
                  <a:pt x="329126" y="361627"/>
                </a:lnTo>
                <a:lnTo>
                  <a:pt x="281011" y="375965"/>
                </a:lnTo>
                <a:lnTo>
                  <a:pt x="228600" y="380999"/>
                </a:lnTo>
                <a:lnTo>
                  <a:pt x="176188" y="375965"/>
                </a:lnTo>
                <a:lnTo>
                  <a:pt x="128073" y="361627"/>
                </a:lnTo>
                <a:lnTo>
                  <a:pt x="85628" y="339132"/>
                </a:lnTo>
                <a:lnTo>
                  <a:pt x="50225" y="309625"/>
                </a:lnTo>
                <a:lnTo>
                  <a:pt x="23237" y="274253"/>
                </a:lnTo>
                <a:lnTo>
                  <a:pt x="6038" y="234162"/>
                </a:lnTo>
                <a:lnTo>
                  <a:pt x="0" y="190499"/>
                </a:lnTo>
                <a:close/>
              </a:path>
              <a:path w="2286000" h="381000">
                <a:moveTo>
                  <a:pt x="1219200" y="190499"/>
                </a:moveTo>
                <a:lnTo>
                  <a:pt x="1225238" y="146837"/>
                </a:lnTo>
                <a:lnTo>
                  <a:pt x="1242437" y="106746"/>
                </a:lnTo>
                <a:lnTo>
                  <a:pt x="1269425" y="71374"/>
                </a:lnTo>
                <a:lnTo>
                  <a:pt x="1304828" y="41867"/>
                </a:lnTo>
                <a:lnTo>
                  <a:pt x="1347273" y="19372"/>
                </a:lnTo>
                <a:lnTo>
                  <a:pt x="1395388" y="5034"/>
                </a:lnTo>
                <a:lnTo>
                  <a:pt x="1447800" y="0"/>
                </a:lnTo>
                <a:lnTo>
                  <a:pt x="1500211" y="5034"/>
                </a:lnTo>
                <a:lnTo>
                  <a:pt x="1548326" y="19372"/>
                </a:lnTo>
                <a:lnTo>
                  <a:pt x="1590771" y="41867"/>
                </a:lnTo>
                <a:lnTo>
                  <a:pt x="1626174" y="71374"/>
                </a:lnTo>
                <a:lnTo>
                  <a:pt x="1653162" y="106746"/>
                </a:lnTo>
                <a:lnTo>
                  <a:pt x="1670361" y="146837"/>
                </a:lnTo>
                <a:lnTo>
                  <a:pt x="1676400" y="190499"/>
                </a:lnTo>
                <a:lnTo>
                  <a:pt x="1670361" y="234162"/>
                </a:lnTo>
                <a:lnTo>
                  <a:pt x="1653162" y="274253"/>
                </a:lnTo>
                <a:lnTo>
                  <a:pt x="1626174" y="309625"/>
                </a:lnTo>
                <a:lnTo>
                  <a:pt x="1590771" y="339132"/>
                </a:lnTo>
                <a:lnTo>
                  <a:pt x="1548326" y="361627"/>
                </a:lnTo>
                <a:lnTo>
                  <a:pt x="1500211" y="375965"/>
                </a:lnTo>
                <a:lnTo>
                  <a:pt x="1447800" y="380999"/>
                </a:lnTo>
                <a:lnTo>
                  <a:pt x="1395388" y="375965"/>
                </a:lnTo>
                <a:lnTo>
                  <a:pt x="1347273" y="361627"/>
                </a:lnTo>
                <a:lnTo>
                  <a:pt x="1304828" y="339132"/>
                </a:lnTo>
                <a:lnTo>
                  <a:pt x="1269425" y="309625"/>
                </a:lnTo>
                <a:lnTo>
                  <a:pt x="1242437" y="274253"/>
                </a:lnTo>
                <a:lnTo>
                  <a:pt x="1225238" y="234162"/>
                </a:lnTo>
                <a:lnTo>
                  <a:pt x="1219200" y="190499"/>
                </a:lnTo>
                <a:close/>
              </a:path>
              <a:path w="2286000" h="381000">
                <a:moveTo>
                  <a:pt x="1828800" y="190499"/>
                </a:moveTo>
                <a:lnTo>
                  <a:pt x="1834838" y="146837"/>
                </a:lnTo>
                <a:lnTo>
                  <a:pt x="1852037" y="106746"/>
                </a:lnTo>
                <a:lnTo>
                  <a:pt x="1879025" y="71374"/>
                </a:lnTo>
                <a:lnTo>
                  <a:pt x="1914428" y="41867"/>
                </a:lnTo>
                <a:lnTo>
                  <a:pt x="1956873" y="19372"/>
                </a:lnTo>
                <a:lnTo>
                  <a:pt x="2004988" y="5034"/>
                </a:lnTo>
                <a:lnTo>
                  <a:pt x="2057400" y="0"/>
                </a:lnTo>
                <a:lnTo>
                  <a:pt x="2109811" y="5034"/>
                </a:lnTo>
                <a:lnTo>
                  <a:pt x="2157926" y="19372"/>
                </a:lnTo>
                <a:lnTo>
                  <a:pt x="2200371" y="41867"/>
                </a:lnTo>
                <a:lnTo>
                  <a:pt x="2235774" y="71374"/>
                </a:lnTo>
                <a:lnTo>
                  <a:pt x="2262762" y="106746"/>
                </a:lnTo>
                <a:lnTo>
                  <a:pt x="2279961" y="146837"/>
                </a:lnTo>
                <a:lnTo>
                  <a:pt x="2286000" y="190499"/>
                </a:lnTo>
                <a:lnTo>
                  <a:pt x="2279961" y="234162"/>
                </a:lnTo>
                <a:lnTo>
                  <a:pt x="2262762" y="274253"/>
                </a:lnTo>
                <a:lnTo>
                  <a:pt x="2235774" y="309625"/>
                </a:lnTo>
                <a:lnTo>
                  <a:pt x="2200371" y="339132"/>
                </a:lnTo>
                <a:lnTo>
                  <a:pt x="2157926" y="361627"/>
                </a:lnTo>
                <a:lnTo>
                  <a:pt x="2109811" y="375965"/>
                </a:lnTo>
                <a:lnTo>
                  <a:pt x="2057400" y="380999"/>
                </a:lnTo>
                <a:lnTo>
                  <a:pt x="2004988" y="375965"/>
                </a:lnTo>
                <a:lnTo>
                  <a:pt x="1956873" y="361627"/>
                </a:lnTo>
                <a:lnTo>
                  <a:pt x="1914428" y="339132"/>
                </a:lnTo>
                <a:lnTo>
                  <a:pt x="1879025" y="309625"/>
                </a:lnTo>
                <a:lnTo>
                  <a:pt x="1852037" y="274253"/>
                </a:lnTo>
                <a:lnTo>
                  <a:pt x="1834838" y="234162"/>
                </a:lnTo>
                <a:lnTo>
                  <a:pt x="1828800" y="190499"/>
                </a:lnTo>
                <a:close/>
              </a:path>
            </a:pathLst>
          </a:custGeom>
          <a:ln w="15875">
            <a:solidFill>
              <a:srgbClr val="000000"/>
            </a:solidFill>
          </a:ln>
        </p:spPr>
        <p:txBody>
          <a:bodyPr wrap="square" lIns="0" tIns="0" rIns="0" bIns="0" rtlCol="0"/>
          <a:lstStyle/>
          <a:p>
            <a:endParaRPr/>
          </a:p>
        </p:txBody>
      </p:sp>
      <p:sp>
        <p:nvSpPr>
          <p:cNvPr id="9" name="object 9"/>
          <p:cNvSpPr txBox="1"/>
          <p:nvPr/>
        </p:nvSpPr>
        <p:spPr>
          <a:xfrm>
            <a:off x="8827389" y="4488941"/>
            <a:ext cx="2021839" cy="330835"/>
          </a:xfrm>
          <a:prstGeom prst="rect">
            <a:avLst/>
          </a:prstGeom>
        </p:spPr>
        <p:txBody>
          <a:bodyPr vert="horz" wrap="square" lIns="0" tIns="12700" rIns="0" bIns="0" rtlCol="0">
            <a:spAutoFit/>
          </a:bodyPr>
          <a:lstStyle/>
          <a:p>
            <a:pPr marL="12700">
              <a:lnSpc>
                <a:spcPct val="100000"/>
              </a:lnSpc>
              <a:spcBef>
                <a:spcPts val="100"/>
              </a:spcBef>
              <a:tabLst>
                <a:tab pos="620395" algn="l"/>
                <a:tab pos="1221105" algn="l"/>
                <a:tab pos="1847214" algn="l"/>
              </a:tabLst>
            </a:pPr>
            <a:r>
              <a:rPr sz="2000" dirty="0">
                <a:latin typeface="Verdana"/>
                <a:cs typeface="Verdana"/>
              </a:rPr>
              <a:t>B	C	D	E</a:t>
            </a:r>
            <a:endParaRPr sz="2000">
              <a:latin typeface="Verdana"/>
              <a:cs typeface="Verdana"/>
            </a:endParaRPr>
          </a:p>
        </p:txBody>
      </p:sp>
      <p:sp>
        <p:nvSpPr>
          <p:cNvPr id="10" name="object 10"/>
          <p:cNvSpPr/>
          <p:nvPr/>
        </p:nvSpPr>
        <p:spPr>
          <a:xfrm>
            <a:off x="8087868" y="5227320"/>
            <a:ext cx="1524000" cy="381000"/>
          </a:xfrm>
          <a:custGeom>
            <a:avLst/>
            <a:gdLst/>
            <a:ahLst/>
            <a:cxnLst/>
            <a:rect l="l" t="t" r="r" b="b"/>
            <a:pathLst>
              <a:path w="1524000" h="381000">
                <a:moveTo>
                  <a:pt x="533400" y="190499"/>
                </a:moveTo>
                <a:lnTo>
                  <a:pt x="539438" y="146837"/>
                </a:lnTo>
                <a:lnTo>
                  <a:pt x="556637" y="106746"/>
                </a:lnTo>
                <a:lnTo>
                  <a:pt x="583625" y="71374"/>
                </a:lnTo>
                <a:lnTo>
                  <a:pt x="619028" y="41867"/>
                </a:lnTo>
                <a:lnTo>
                  <a:pt x="661473" y="19372"/>
                </a:lnTo>
                <a:lnTo>
                  <a:pt x="709588" y="5034"/>
                </a:lnTo>
                <a:lnTo>
                  <a:pt x="762000" y="0"/>
                </a:lnTo>
                <a:lnTo>
                  <a:pt x="814411" y="5034"/>
                </a:lnTo>
                <a:lnTo>
                  <a:pt x="862526" y="19372"/>
                </a:lnTo>
                <a:lnTo>
                  <a:pt x="904971" y="41867"/>
                </a:lnTo>
                <a:lnTo>
                  <a:pt x="940374" y="71374"/>
                </a:lnTo>
                <a:lnTo>
                  <a:pt x="967362" y="106746"/>
                </a:lnTo>
                <a:lnTo>
                  <a:pt x="984561" y="146837"/>
                </a:lnTo>
                <a:lnTo>
                  <a:pt x="990600" y="190499"/>
                </a:lnTo>
                <a:lnTo>
                  <a:pt x="984561" y="234162"/>
                </a:lnTo>
                <a:lnTo>
                  <a:pt x="967362" y="274253"/>
                </a:lnTo>
                <a:lnTo>
                  <a:pt x="940374" y="309625"/>
                </a:lnTo>
                <a:lnTo>
                  <a:pt x="904971" y="339132"/>
                </a:lnTo>
                <a:lnTo>
                  <a:pt x="862526" y="361627"/>
                </a:lnTo>
                <a:lnTo>
                  <a:pt x="814411" y="375965"/>
                </a:lnTo>
                <a:lnTo>
                  <a:pt x="762000" y="380999"/>
                </a:lnTo>
                <a:lnTo>
                  <a:pt x="709588" y="375965"/>
                </a:lnTo>
                <a:lnTo>
                  <a:pt x="661473" y="361627"/>
                </a:lnTo>
                <a:lnTo>
                  <a:pt x="619028" y="339132"/>
                </a:lnTo>
                <a:lnTo>
                  <a:pt x="583625" y="309625"/>
                </a:lnTo>
                <a:lnTo>
                  <a:pt x="556637" y="274253"/>
                </a:lnTo>
                <a:lnTo>
                  <a:pt x="539438" y="234162"/>
                </a:lnTo>
                <a:lnTo>
                  <a:pt x="533400" y="190499"/>
                </a:lnTo>
                <a:close/>
              </a:path>
              <a:path w="1524000" h="381000">
                <a:moveTo>
                  <a:pt x="0" y="190499"/>
                </a:moveTo>
                <a:lnTo>
                  <a:pt x="6038" y="146837"/>
                </a:lnTo>
                <a:lnTo>
                  <a:pt x="23237" y="106746"/>
                </a:lnTo>
                <a:lnTo>
                  <a:pt x="50225" y="71374"/>
                </a:lnTo>
                <a:lnTo>
                  <a:pt x="85628" y="41867"/>
                </a:lnTo>
                <a:lnTo>
                  <a:pt x="128073" y="19372"/>
                </a:lnTo>
                <a:lnTo>
                  <a:pt x="176188" y="5034"/>
                </a:lnTo>
                <a:lnTo>
                  <a:pt x="228600" y="0"/>
                </a:lnTo>
                <a:lnTo>
                  <a:pt x="281011" y="5034"/>
                </a:lnTo>
                <a:lnTo>
                  <a:pt x="329126" y="19372"/>
                </a:lnTo>
                <a:lnTo>
                  <a:pt x="371571" y="41867"/>
                </a:lnTo>
                <a:lnTo>
                  <a:pt x="406974" y="71374"/>
                </a:lnTo>
                <a:lnTo>
                  <a:pt x="433962" y="106746"/>
                </a:lnTo>
                <a:lnTo>
                  <a:pt x="451161" y="146837"/>
                </a:lnTo>
                <a:lnTo>
                  <a:pt x="457200" y="190499"/>
                </a:lnTo>
                <a:lnTo>
                  <a:pt x="451161" y="234162"/>
                </a:lnTo>
                <a:lnTo>
                  <a:pt x="433962" y="274253"/>
                </a:lnTo>
                <a:lnTo>
                  <a:pt x="406974" y="309625"/>
                </a:lnTo>
                <a:lnTo>
                  <a:pt x="371571" y="339132"/>
                </a:lnTo>
                <a:lnTo>
                  <a:pt x="329126" y="361627"/>
                </a:lnTo>
                <a:lnTo>
                  <a:pt x="281011" y="375965"/>
                </a:lnTo>
                <a:lnTo>
                  <a:pt x="228600" y="380999"/>
                </a:lnTo>
                <a:lnTo>
                  <a:pt x="176188" y="375965"/>
                </a:lnTo>
                <a:lnTo>
                  <a:pt x="128073" y="361627"/>
                </a:lnTo>
                <a:lnTo>
                  <a:pt x="85628" y="339132"/>
                </a:lnTo>
                <a:lnTo>
                  <a:pt x="50225" y="309625"/>
                </a:lnTo>
                <a:lnTo>
                  <a:pt x="23237" y="274253"/>
                </a:lnTo>
                <a:lnTo>
                  <a:pt x="6038" y="234162"/>
                </a:lnTo>
                <a:lnTo>
                  <a:pt x="0" y="190499"/>
                </a:lnTo>
                <a:close/>
              </a:path>
              <a:path w="1524000" h="381000">
                <a:moveTo>
                  <a:pt x="1066800" y="190499"/>
                </a:moveTo>
                <a:lnTo>
                  <a:pt x="1072838" y="146837"/>
                </a:lnTo>
                <a:lnTo>
                  <a:pt x="1090037" y="106746"/>
                </a:lnTo>
                <a:lnTo>
                  <a:pt x="1117025" y="71374"/>
                </a:lnTo>
                <a:lnTo>
                  <a:pt x="1152428" y="41867"/>
                </a:lnTo>
                <a:lnTo>
                  <a:pt x="1194873" y="19372"/>
                </a:lnTo>
                <a:lnTo>
                  <a:pt x="1242988" y="5034"/>
                </a:lnTo>
                <a:lnTo>
                  <a:pt x="1295400" y="0"/>
                </a:lnTo>
                <a:lnTo>
                  <a:pt x="1347811" y="5034"/>
                </a:lnTo>
                <a:lnTo>
                  <a:pt x="1395926" y="19372"/>
                </a:lnTo>
                <a:lnTo>
                  <a:pt x="1438371" y="41867"/>
                </a:lnTo>
                <a:lnTo>
                  <a:pt x="1473774" y="71374"/>
                </a:lnTo>
                <a:lnTo>
                  <a:pt x="1500762" y="106746"/>
                </a:lnTo>
                <a:lnTo>
                  <a:pt x="1517961" y="146837"/>
                </a:lnTo>
                <a:lnTo>
                  <a:pt x="1524000" y="190499"/>
                </a:lnTo>
                <a:lnTo>
                  <a:pt x="1517961" y="234162"/>
                </a:lnTo>
                <a:lnTo>
                  <a:pt x="1500762" y="274253"/>
                </a:lnTo>
                <a:lnTo>
                  <a:pt x="1473774" y="309625"/>
                </a:lnTo>
                <a:lnTo>
                  <a:pt x="1438371" y="339132"/>
                </a:lnTo>
                <a:lnTo>
                  <a:pt x="1395926" y="361627"/>
                </a:lnTo>
                <a:lnTo>
                  <a:pt x="1347811" y="375965"/>
                </a:lnTo>
                <a:lnTo>
                  <a:pt x="1295400" y="380999"/>
                </a:lnTo>
                <a:lnTo>
                  <a:pt x="1242988" y="375965"/>
                </a:lnTo>
                <a:lnTo>
                  <a:pt x="1194873" y="361627"/>
                </a:lnTo>
                <a:lnTo>
                  <a:pt x="1152428" y="339132"/>
                </a:lnTo>
                <a:lnTo>
                  <a:pt x="1117025" y="309625"/>
                </a:lnTo>
                <a:lnTo>
                  <a:pt x="1090037" y="274253"/>
                </a:lnTo>
                <a:lnTo>
                  <a:pt x="1072838" y="234162"/>
                </a:lnTo>
                <a:lnTo>
                  <a:pt x="1066800" y="190499"/>
                </a:lnTo>
                <a:close/>
              </a:path>
            </a:pathLst>
          </a:custGeom>
          <a:ln w="15875">
            <a:solidFill>
              <a:srgbClr val="000000"/>
            </a:solidFill>
          </a:ln>
        </p:spPr>
        <p:txBody>
          <a:bodyPr wrap="square" lIns="0" tIns="0" rIns="0" bIns="0" rtlCol="0"/>
          <a:lstStyle/>
          <a:p>
            <a:endParaRPr/>
          </a:p>
        </p:txBody>
      </p:sp>
      <p:sp>
        <p:nvSpPr>
          <p:cNvPr id="11" name="object 11"/>
          <p:cNvSpPr txBox="1"/>
          <p:nvPr/>
        </p:nvSpPr>
        <p:spPr>
          <a:xfrm>
            <a:off x="8231505" y="5250637"/>
            <a:ext cx="1261110" cy="331470"/>
          </a:xfrm>
          <a:prstGeom prst="rect">
            <a:avLst/>
          </a:prstGeom>
        </p:spPr>
        <p:txBody>
          <a:bodyPr vert="horz" wrap="square" lIns="0" tIns="13335" rIns="0" bIns="0" rtlCol="0">
            <a:spAutoFit/>
          </a:bodyPr>
          <a:lstStyle/>
          <a:p>
            <a:pPr marL="12700">
              <a:lnSpc>
                <a:spcPct val="100000"/>
              </a:lnSpc>
              <a:spcBef>
                <a:spcPts val="105"/>
              </a:spcBef>
              <a:tabLst>
                <a:tab pos="521334" algn="l"/>
                <a:tab pos="1056005" algn="l"/>
              </a:tabLst>
            </a:pPr>
            <a:r>
              <a:rPr sz="2000" dirty="0">
                <a:latin typeface="Verdana"/>
                <a:cs typeface="Verdana"/>
              </a:rPr>
              <a:t>F	</a:t>
            </a:r>
            <a:r>
              <a:rPr sz="2000" spc="5" dirty="0">
                <a:latin typeface="Verdana"/>
                <a:cs typeface="Verdana"/>
              </a:rPr>
              <a:t>G	</a:t>
            </a:r>
            <a:r>
              <a:rPr sz="2000" dirty="0">
                <a:latin typeface="Verdana"/>
                <a:cs typeface="Verdana"/>
              </a:rPr>
              <a:t>H</a:t>
            </a:r>
            <a:endParaRPr sz="2000">
              <a:latin typeface="Verdana"/>
              <a:cs typeface="Verdana"/>
            </a:endParaRPr>
          </a:p>
        </p:txBody>
      </p:sp>
      <p:sp>
        <p:nvSpPr>
          <p:cNvPr id="12" name="object 12"/>
          <p:cNvSpPr/>
          <p:nvPr/>
        </p:nvSpPr>
        <p:spPr>
          <a:xfrm>
            <a:off x="9002268" y="4160520"/>
            <a:ext cx="2438400" cy="1447800"/>
          </a:xfrm>
          <a:custGeom>
            <a:avLst/>
            <a:gdLst/>
            <a:ahLst/>
            <a:cxnLst/>
            <a:rect l="l" t="t" r="r" b="b"/>
            <a:pathLst>
              <a:path w="2438400" h="1447800">
                <a:moveTo>
                  <a:pt x="0" y="304799"/>
                </a:moveTo>
                <a:lnTo>
                  <a:pt x="762000" y="0"/>
                </a:lnTo>
              </a:path>
              <a:path w="2438400" h="1447800">
                <a:moveTo>
                  <a:pt x="609600" y="304799"/>
                </a:moveTo>
                <a:lnTo>
                  <a:pt x="838200" y="0"/>
                </a:lnTo>
              </a:path>
              <a:path w="2438400" h="1447800">
                <a:moveTo>
                  <a:pt x="1066800" y="304799"/>
                </a:moveTo>
                <a:lnTo>
                  <a:pt x="838200" y="0"/>
                </a:lnTo>
              </a:path>
              <a:path w="2438400" h="1447800">
                <a:moveTo>
                  <a:pt x="1676400" y="304799"/>
                </a:moveTo>
                <a:lnTo>
                  <a:pt x="914400" y="0"/>
                </a:lnTo>
              </a:path>
              <a:path w="2438400" h="1447800">
                <a:moveTo>
                  <a:pt x="914400" y="1257299"/>
                </a:moveTo>
                <a:lnTo>
                  <a:pt x="920438" y="1213637"/>
                </a:lnTo>
                <a:lnTo>
                  <a:pt x="937637" y="1173546"/>
                </a:lnTo>
                <a:lnTo>
                  <a:pt x="964625" y="1138174"/>
                </a:lnTo>
                <a:lnTo>
                  <a:pt x="1000028" y="1108667"/>
                </a:lnTo>
                <a:lnTo>
                  <a:pt x="1042473" y="1086172"/>
                </a:lnTo>
                <a:lnTo>
                  <a:pt x="1090588" y="1071834"/>
                </a:lnTo>
                <a:lnTo>
                  <a:pt x="1143000" y="1066799"/>
                </a:lnTo>
                <a:lnTo>
                  <a:pt x="1195411" y="1071834"/>
                </a:lnTo>
                <a:lnTo>
                  <a:pt x="1243526" y="1086172"/>
                </a:lnTo>
                <a:lnTo>
                  <a:pt x="1285971" y="1108667"/>
                </a:lnTo>
                <a:lnTo>
                  <a:pt x="1321374" y="1138174"/>
                </a:lnTo>
                <a:lnTo>
                  <a:pt x="1348362" y="1173546"/>
                </a:lnTo>
                <a:lnTo>
                  <a:pt x="1365561" y="1213637"/>
                </a:lnTo>
                <a:lnTo>
                  <a:pt x="1371600" y="1257299"/>
                </a:lnTo>
                <a:lnTo>
                  <a:pt x="1365561" y="1300962"/>
                </a:lnTo>
                <a:lnTo>
                  <a:pt x="1348362" y="1341053"/>
                </a:lnTo>
                <a:lnTo>
                  <a:pt x="1321374" y="1376425"/>
                </a:lnTo>
                <a:lnTo>
                  <a:pt x="1285971" y="1405932"/>
                </a:lnTo>
                <a:lnTo>
                  <a:pt x="1243526" y="1428427"/>
                </a:lnTo>
                <a:lnTo>
                  <a:pt x="1195411" y="1442765"/>
                </a:lnTo>
                <a:lnTo>
                  <a:pt x="1143000" y="1447799"/>
                </a:lnTo>
                <a:lnTo>
                  <a:pt x="1090588" y="1442765"/>
                </a:lnTo>
                <a:lnTo>
                  <a:pt x="1042473" y="1428427"/>
                </a:lnTo>
                <a:lnTo>
                  <a:pt x="1000028" y="1405932"/>
                </a:lnTo>
                <a:lnTo>
                  <a:pt x="964625" y="1376425"/>
                </a:lnTo>
                <a:lnTo>
                  <a:pt x="937637" y="1341053"/>
                </a:lnTo>
                <a:lnTo>
                  <a:pt x="920438" y="1300962"/>
                </a:lnTo>
                <a:lnTo>
                  <a:pt x="914400" y="1257299"/>
                </a:lnTo>
                <a:close/>
              </a:path>
              <a:path w="2438400" h="1447800">
                <a:moveTo>
                  <a:pt x="1447800" y="1257299"/>
                </a:moveTo>
                <a:lnTo>
                  <a:pt x="1453838" y="1213637"/>
                </a:lnTo>
                <a:lnTo>
                  <a:pt x="1471037" y="1173546"/>
                </a:lnTo>
                <a:lnTo>
                  <a:pt x="1498025" y="1138174"/>
                </a:lnTo>
                <a:lnTo>
                  <a:pt x="1533428" y="1108667"/>
                </a:lnTo>
                <a:lnTo>
                  <a:pt x="1575873" y="1086172"/>
                </a:lnTo>
                <a:lnTo>
                  <a:pt x="1623988" y="1071834"/>
                </a:lnTo>
                <a:lnTo>
                  <a:pt x="1676400" y="1066799"/>
                </a:lnTo>
                <a:lnTo>
                  <a:pt x="1728811" y="1071834"/>
                </a:lnTo>
                <a:lnTo>
                  <a:pt x="1776926" y="1086172"/>
                </a:lnTo>
                <a:lnTo>
                  <a:pt x="1819371" y="1108667"/>
                </a:lnTo>
                <a:lnTo>
                  <a:pt x="1854774" y="1138174"/>
                </a:lnTo>
                <a:lnTo>
                  <a:pt x="1881762" y="1173546"/>
                </a:lnTo>
                <a:lnTo>
                  <a:pt x="1898961" y="1213637"/>
                </a:lnTo>
                <a:lnTo>
                  <a:pt x="1905000" y="1257299"/>
                </a:lnTo>
                <a:lnTo>
                  <a:pt x="1898961" y="1300962"/>
                </a:lnTo>
                <a:lnTo>
                  <a:pt x="1881762" y="1341053"/>
                </a:lnTo>
                <a:lnTo>
                  <a:pt x="1854774" y="1376425"/>
                </a:lnTo>
                <a:lnTo>
                  <a:pt x="1819371" y="1405932"/>
                </a:lnTo>
                <a:lnTo>
                  <a:pt x="1776926" y="1428427"/>
                </a:lnTo>
                <a:lnTo>
                  <a:pt x="1728811" y="1442765"/>
                </a:lnTo>
                <a:lnTo>
                  <a:pt x="1676400" y="1447799"/>
                </a:lnTo>
                <a:lnTo>
                  <a:pt x="1623988" y="1442765"/>
                </a:lnTo>
                <a:lnTo>
                  <a:pt x="1575873" y="1428427"/>
                </a:lnTo>
                <a:lnTo>
                  <a:pt x="1533428" y="1405932"/>
                </a:lnTo>
                <a:lnTo>
                  <a:pt x="1498025" y="1376425"/>
                </a:lnTo>
                <a:lnTo>
                  <a:pt x="1471037" y="1341053"/>
                </a:lnTo>
                <a:lnTo>
                  <a:pt x="1453838" y="1300962"/>
                </a:lnTo>
                <a:lnTo>
                  <a:pt x="1447800" y="1257299"/>
                </a:lnTo>
                <a:close/>
              </a:path>
              <a:path w="2438400" h="1447800">
                <a:moveTo>
                  <a:pt x="1981200" y="1257299"/>
                </a:moveTo>
                <a:lnTo>
                  <a:pt x="1987238" y="1213637"/>
                </a:lnTo>
                <a:lnTo>
                  <a:pt x="2004437" y="1173546"/>
                </a:lnTo>
                <a:lnTo>
                  <a:pt x="2031425" y="1138174"/>
                </a:lnTo>
                <a:lnTo>
                  <a:pt x="2066828" y="1108667"/>
                </a:lnTo>
                <a:lnTo>
                  <a:pt x="2109273" y="1086172"/>
                </a:lnTo>
                <a:lnTo>
                  <a:pt x="2157388" y="1071834"/>
                </a:lnTo>
                <a:lnTo>
                  <a:pt x="2209800" y="1066799"/>
                </a:lnTo>
                <a:lnTo>
                  <a:pt x="2262211" y="1071834"/>
                </a:lnTo>
                <a:lnTo>
                  <a:pt x="2310326" y="1086172"/>
                </a:lnTo>
                <a:lnTo>
                  <a:pt x="2352771" y="1108667"/>
                </a:lnTo>
                <a:lnTo>
                  <a:pt x="2388174" y="1138174"/>
                </a:lnTo>
                <a:lnTo>
                  <a:pt x="2415162" y="1173546"/>
                </a:lnTo>
                <a:lnTo>
                  <a:pt x="2432361" y="1213637"/>
                </a:lnTo>
                <a:lnTo>
                  <a:pt x="2438400" y="1257299"/>
                </a:lnTo>
                <a:lnTo>
                  <a:pt x="2432361" y="1300962"/>
                </a:lnTo>
                <a:lnTo>
                  <a:pt x="2415162" y="1341053"/>
                </a:lnTo>
                <a:lnTo>
                  <a:pt x="2388174" y="1376425"/>
                </a:lnTo>
                <a:lnTo>
                  <a:pt x="2352771" y="1405932"/>
                </a:lnTo>
                <a:lnTo>
                  <a:pt x="2310326" y="1428427"/>
                </a:lnTo>
                <a:lnTo>
                  <a:pt x="2262211" y="1442765"/>
                </a:lnTo>
                <a:lnTo>
                  <a:pt x="2209800" y="1447799"/>
                </a:lnTo>
                <a:lnTo>
                  <a:pt x="2157388" y="1442765"/>
                </a:lnTo>
                <a:lnTo>
                  <a:pt x="2109273" y="1428427"/>
                </a:lnTo>
                <a:lnTo>
                  <a:pt x="2066828" y="1405932"/>
                </a:lnTo>
                <a:lnTo>
                  <a:pt x="2031425" y="1376425"/>
                </a:lnTo>
                <a:lnTo>
                  <a:pt x="2004437" y="1341053"/>
                </a:lnTo>
                <a:lnTo>
                  <a:pt x="1987238" y="1300962"/>
                </a:lnTo>
                <a:lnTo>
                  <a:pt x="1981200" y="1257299"/>
                </a:lnTo>
                <a:close/>
              </a:path>
            </a:pathLst>
          </a:custGeom>
          <a:ln w="15875">
            <a:solidFill>
              <a:srgbClr val="000000"/>
            </a:solidFill>
          </a:ln>
        </p:spPr>
        <p:txBody>
          <a:bodyPr wrap="square" lIns="0" tIns="0" rIns="0" bIns="0" rtlCol="0"/>
          <a:lstStyle/>
          <a:p>
            <a:endParaRPr/>
          </a:p>
        </p:txBody>
      </p:sp>
      <p:sp>
        <p:nvSpPr>
          <p:cNvPr id="13" name="object 13"/>
          <p:cNvSpPr txBox="1"/>
          <p:nvPr/>
        </p:nvSpPr>
        <p:spPr>
          <a:xfrm>
            <a:off x="10080117" y="5250637"/>
            <a:ext cx="1234440" cy="331470"/>
          </a:xfrm>
          <a:prstGeom prst="rect">
            <a:avLst/>
          </a:prstGeom>
        </p:spPr>
        <p:txBody>
          <a:bodyPr vert="horz" wrap="square" lIns="0" tIns="13335" rIns="0" bIns="0" rtlCol="0">
            <a:spAutoFit/>
          </a:bodyPr>
          <a:lstStyle/>
          <a:p>
            <a:pPr marL="12700">
              <a:lnSpc>
                <a:spcPct val="100000"/>
              </a:lnSpc>
              <a:spcBef>
                <a:spcPts val="105"/>
              </a:spcBef>
              <a:tabLst>
                <a:tab pos="541655" algn="l"/>
                <a:tab pos="1044575" algn="l"/>
              </a:tabLst>
            </a:pPr>
            <a:r>
              <a:rPr sz="2000" dirty="0">
                <a:latin typeface="Verdana"/>
                <a:cs typeface="Verdana"/>
              </a:rPr>
              <a:t>I	J	K</a:t>
            </a:r>
            <a:endParaRPr sz="2000">
              <a:latin typeface="Verdana"/>
              <a:cs typeface="Verdana"/>
            </a:endParaRPr>
          </a:p>
        </p:txBody>
      </p:sp>
      <p:sp>
        <p:nvSpPr>
          <p:cNvPr id="14" name="object 14"/>
          <p:cNvSpPr/>
          <p:nvPr/>
        </p:nvSpPr>
        <p:spPr>
          <a:xfrm>
            <a:off x="8392668" y="4846320"/>
            <a:ext cx="2743200" cy="1447800"/>
          </a:xfrm>
          <a:custGeom>
            <a:avLst/>
            <a:gdLst/>
            <a:ahLst/>
            <a:cxnLst/>
            <a:rect l="l" t="t" r="r" b="b"/>
            <a:pathLst>
              <a:path w="2743200" h="1447800">
                <a:moveTo>
                  <a:pt x="0" y="380999"/>
                </a:moveTo>
                <a:lnTo>
                  <a:pt x="457200" y="0"/>
                </a:lnTo>
              </a:path>
              <a:path w="2743200" h="1447800">
                <a:moveTo>
                  <a:pt x="457200" y="380999"/>
                </a:moveTo>
                <a:lnTo>
                  <a:pt x="533400" y="0"/>
                </a:lnTo>
              </a:path>
              <a:path w="2743200" h="1447800">
                <a:moveTo>
                  <a:pt x="914400" y="380999"/>
                </a:moveTo>
                <a:lnTo>
                  <a:pt x="609600" y="0"/>
                </a:lnTo>
              </a:path>
              <a:path w="2743200" h="1447800">
                <a:moveTo>
                  <a:pt x="1752600" y="380999"/>
                </a:moveTo>
                <a:lnTo>
                  <a:pt x="1752600" y="0"/>
                </a:lnTo>
              </a:path>
              <a:path w="2743200" h="1447800">
                <a:moveTo>
                  <a:pt x="2286000" y="380999"/>
                </a:moveTo>
                <a:lnTo>
                  <a:pt x="2286000" y="0"/>
                </a:lnTo>
              </a:path>
              <a:path w="2743200" h="1447800">
                <a:moveTo>
                  <a:pt x="2743200" y="380999"/>
                </a:moveTo>
                <a:lnTo>
                  <a:pt x="2438400" y="0"/>
                </a:lnTo>
              </a:path>
              <a:path w="2743200" h="1447800">
                <a:moveTo>
                  <a:pt x="457200" y="1257299"/>
                </a:moveTo>
                <a:lnTo>
                  <a:pt x="463238" y="1213621"/>
                </a:lnTo>
                <a:lnTo>
                  <a:pt x="480437" y="1173524"/>
                </a:lnTo>
                <a:lnTo>
                  <a:pt x="507425" y="1138153"/>
                </a:lnTo>
                <a:lnTo>
                  <a:pt x="542828" y="1108651"/>
                </a:lnTo>
                <a:lnTo>
                  <a:pt x="585273" y="1086163"/>
                </a:lnTo>
                <a:lnTo>
                  <a:pt x="633388" y="1071831"/>
                </a:lnTo>
                <a:lnTo>
                  <a:pt x="685800" y="1066799"/>
                </a:lnTo>
                <a:lnTo>
                  <a:pt x="738211" y="1071831"/>
                </a:lnTo>
                <a:lnTo>
                  <a:pt x="786326" y="1086163"/>
                </a:lnTo>
                <a:lnTo>
                  <a:pt x="828771" y="1108651"/>
                </a:lnTo>
                <a:lnTo>
                  <a:pt x="864174" y="1138153"/>
                </a:lnTo>
                <a:lnTo>
                  <a:pt x="891162" y="1173524"/>
                </a:lnTo>
                <a:lnTo>
                  <a:pt x="908361" y="1213621"/>
                </a:lnTo>
                <a:lnTo>
                  <a:pt x="914400" y="1257299"/>
                </a:lnTo>
                <a:lnTo>
                  <a:pt x="908361" y="1300978"/>
                </a:lnTo>
                <a:lnTo>
                  <a:pt x="891162" y="1341075"/>
                </a:lnTo>
                <a:lnTo>
                  <a:pt x="864174" y="1376446"/>
                </a:lnTo>
                <a:lnTo>
                  <a:pt x="828771" y="1405948"/>
                </a:lnTo>
                <a:lnTo>
                  <a:pt x="786326" y="1428436"/>
                </a:lnTo>
                <a:lnTo>
                  <a:pt x="738211" y="1442768"/>
                </a:lnTo>
                <a:lnTo>
                  <a:pt x="685800" y="1447799"/>
                </a:lnTo>
                <a:lnTo>
                  <a:pt x="633388" y="1442768"/>
                </a:lnTo>
                <a:lnTo>
                  <a:pt x="585273" y="1428436"/>
                </a:lnTo>
                <a:lnTo>
                  <a:pt x="542828" y="1405948"/>
                </a:lnTo>
                <a:lnTo>
                  <a:pt x="507425" y="1376446"/>
                </a:lnTo>
                <a:lnTo>
                  <a:pt x="480437" y="1341075"/>
                </a:lnTo>
                <a:lnTo>
                  <a:pt x="463238" y="1300978"/>
                </a:lnTo>
                <a:lnTo>
                  <a:pt x="457200" y="1257299"/>
                </a:lnTo>
                <a:close/>
              </a:path>
              <a:path w="2743200" h="1447800">
                <a:moveTo>
                  <a:pt x="1066800" y="1257299"/>
                </a:moveTo>
                <a:lnTo>
                  <a:pt x="1072838" y="1213621"/>
                </a:lnTo>
                <a:lnTo>
                  <a:pt x="1090037" y="1173524"/>
                </a:lnTo>
                <a:lnTo>
                  <a:pt x="1117025" y="1138153"/>
                </a:lnTo>
                <a:lnTo>
                  <a:pt x="1152428" y="1108651"/>
                </a:lnTo>
                <a:lnTo>
                  <a:pt x="1194873" y="1086163"/>
                </a:lnTo>
                <a:lnTo>
                  <a:pt x="1242988" y="1071831"/>
                </a:lnTo>
                <a:lnTo>
                  <a:pt x="1295400" y="1066799"/>
                </a:lnTo>
                <a:lnTo>
                  <a:pt x="1347811" y="1071831"/>
                </a:lnTo>
                <a:lnTo>
                  <a:pt x="1395926" y="1086163"/>
                </a:lnTo>
                <a:lnTo>
                  <a:pt x="1438371" y="1108651"/>
                </a:lnTo>
                <a:lnTo>
                  <a:pt x="1473774" y="1138153"/>
                </a:lnTo>
                <a:lnTo>
                  <a:pt x="1500762" y="1173524"/>
                </a:lnTo>
                <a:lnTo>
                  <a:pt x="1517961" y="1213621"/>
                </a:lnTo>
                <a:lnTo>
                  <a:pt x="1524000" y="1257299"/>
                </a:lnTo>
                <a:lnTo>
                  <a:pt x="1517961" y="1300978"/>
                </a:lnTo>
                <a:lnTo>
                  <a:pt x="1500762" y="1341075"/>
                </a:lnTo>
                <a:lnTo>
                  <a:pt x="1473774" y="1376446"/>
                </a:lnTo>
                <a:lnTo>
                  <a:pt x="1438371" y="1405948"/>
                </a:lnTo>
                <a:lnTo>
                  <a:pt x="1395926" y="1428436"/>
                </a:lnTo>
                <a:lnTo>
                  <a:pt x="1347811" y="1442768"/>
                </a:lnTo>
                <a:lnTo>
                  <a:pt x="1295400" y="1447799"/>
                </a:lnTo>
                <a:lnTo>
                  <a:pt x="1242988" y="1442768"/>
                </a:lnTo>
                <a:lnTo>
                  <a:pt x="1194873" y="1428436"/>
                </a:lnTo>
                <a:lnTo>
                  <a:pt x="1152428" y="1405948"/>
                </a:lnTo>
                <a:lnTo>
                  <a:pt x="1117025" y="1376446"/>
                </a:lnTo>
                <a:lnTo>
                  <a:pt x="1090037" y="1341075"/>
                </a:lnTo>
                <a:lnTo>
                  <a:pt x="1072838" y="1300978"/>
                </a:lnTo>
                <a:lnTo>
                  <a:pt x="1066800" y="1257299"/>
                </a:lnTo>
                <a:close/>
              </a:path>
            </a:pathLst>
          </a:custGeom>
          <a:ln w="15875">
            <a:solidFill>
              <a:srgbClr val="000000"/>
            </a:solidFill>
          </a:ln>
        </p:spPr>
        <p:txBody>
          <a:bodyPr wrap="square" lIns="0" tIns="0" rIns="0" bIns="0" rtlCol="0"/>
          <a:lstStyle/>
          <a:p>
            <a:endParaRPr/>
          </a:p>
        </p:txBody>
      </p:sp>
      <p:sp>
        <p:nvSpPr>
          <p:cNvPr id="15" name="object 15"/>
          <p:cNvSpPr txBox="1"/>
          <p:nvPr/>
        </p:nvSpPr>
        <p:spPr>
          <a:xfrm>
            <a:off x="8996553" y="5936996"/>
            <a:ext cx="813435" cy="330835"/>
          </a:xfrm>
          <a:prstGeom prst="rect">
            <a:avLst/>
          </a:prstGeom>
        </p:spPr>
        <p:txBody>
          <a:bodyPr vert="horz" wrap="square" lIns="0" tIns="12700" rIns="0" bIns="0" rtlCol="0">
            <a:spAutoFit/>
          </a:bodyPr>
          <a:lstStyle/>
          <a:p>
            <a:pPr marL="12700">
              <a:lnSpc>
                <a:spcPct val="100000"/>
              </a:lnSpc>
              <a:spcBef>
                <a:spcPts val="100"/>
              </a:spcBef>
              <a:tabLst>
                <a:tab pos="585470" algn="l"/>
              </a:tabLst>
            </a:pPr>
            <a:r>
              <a:rPr sz="2000" dirty="0">
                <a:latin typeface="Verdana"/>
                <a:cs typeface="Verdana"/>
              </a:rPr>
              <a:t>L	M</a:t>
            </a:r>
            <a:endParaRPr sz="2000">
              <a:latin typeface="Verdana"/>
              <a:cs typeface="Verdana"/>
            </a:endParaRPr>
          </a:p>
        </p:txBody>
      </p:sp>
      <p:sp>
        <p:nvSpPr>
          <p:cNvPr id="16" name="object 16"/>
          <p:cNvSpPr/>
          <p:nvPr/>
        </p:nvSpPr>
        <p:spPr>
          <a:xfrm>
            <a:off x="9078468" y="5608320"/>
            <a:ext cx="1828800" cy="685800"/>
          </a:xfrm>
          <a:custGeom>
            <a:avLst/>
            <a:gdLst/>
            <a:ahLst/>
            <a:cxnLst/>
            <a:rect l="l" t="t" r="r" b="b"/>
            <a:pathLst>
              <a:path w="1828800" h="685800">
                <a:moveTo>
                  <a:pt x="0" y="304799"/>
                </a:moveTo>
                <a:lnTo>
                  <a:pt x="304800" y="0"/>
                </a:lnTo>
              </a:path>
              <a:path w="1828800" h="685800">
                <a:moveTo>
                  <a:pt x="609600" y="304799"/>
                </a:moveTo>
                <a:lnTo>
                  <a:pt x="304800" y="0"/>
                </a:lnTo>
              </a:path>
              <a:path w="1828800" h="685800">
                <a:moveTo>
                  <a:pt x="1371600" y="495299"/>
                </a:moveTo>
                <a:lnTo>
                  <a:pt x="1377638" y="451621"/>
                </a:lnTo>
                <a:lnTo>
                  <a:pt x="1394837" y="411524"/>
                </a:lnTo>
                <a:lnTo>
                  <a:pt x="1421825" y="376153"/>
                </a:lnTo>
                <a:lnTo>
                  <a:pt x="1457228" y="346651"/>
                </a:lnTo>
                <a:lnTo>
                  <a:pt x="1499673" y="324163"/>
                </a:lnTo>
                <a:lnTo>
                  <a:pt x="1547788" y="309831"/>
                </a:lnTo>
                <a:lnTo>
                  <a:pt x="1600200" y="304799"/>
                </a:lnTo>
                <a:lnTo>
                  <a:pt x="1652611" y="309831"/>
                </a:lnTo>
                <a:lnTo>
                  <a:pt x="1700726" y="324163"/>
                </a:lnTo>
                <a:lnTo>
                  <a:pt x="1743171" y="346651"/>
                </a:lnTo>
                <a:lnTo>
                  <a:pt x="1778574" y="376153"/>
                </a:lnTo>
                <a:lnTo>
                  <a:pt x="1805562" y="411524"/>
                </a:lnTo>
                <a:lnTo>
                  <a:pt x="1822761" y="451621"/>
                </a:lnTo>
                <a:lnTo>
                  <a:pt x="1828800" y="495299"/>
                </a:lnTo>
                <a:lnTo>
                  <a:pt x="1822761" y="538978"/>
                </a:lnTo>
                <a:lnTo>
                  <a:pt x="1805562" y="579075"/>
                </a:lnTo>
                <a:lnTo>
                  <a:pt x="1778574" y="614446"/>
                </a:lnTo>
                <a:lnTo>
                  <a:pt x="1743171" y="643948"/>
                </a:lnTo>
                <a:lnTo>
                  <a:pt x="1700726" y="666436"/>
                </a:lnTo>
                <a:lnTo>
                  <a:pt x="1652611" y="680768"/>
                </a:lnTo>
                <a:lnTo>
                  <a:pt x="1600200" y="685799"/>
                </a:lnTo>
                <a:lnTo>
                  <a:pt x="1547788" y="680768"/>
                </a:lnTo>
                <a:lnTo>
                  <a:pt x="1499673" y="666436"/>
                </a:lnTo>
                <a:lnTo>
                  <a:pt x="1457228" y="643948"/>
                </a:lnTo>
                <a:lnTo>
                  <a:pt x="1421825" y="614446"/>
                </a:lnTo>
                <a:lnTo>
                  <a:pt x="1394837" y="579075"/>
                </a:lnTo>
                <a:lnTo>
                  <a:pt x="1377638" y="538978"/>
                </a:lnTo>
                <a:lnTo>
                  <a:pt x="1371600" y="495299"/>
                </a:lnTo>
                <a:close/>
              </a:path>
            </a:pathLst>
          </a:custGeom>
          <a:ln w="15875">
            <a:solidFill>
              <a:srgbClr val="000000"/>
            </a:solidFill>
          </a:ln>
        </p:spPr>
        <p:txBody>
          <a:bodyPr wrap="square" lIns="0" tIns="0" rIns="0" bIns="0" rtlCol="0"/>
          <a:lstStyle/>
          <a:p>
            <a:endParaRPr/>
          </a:p>
        </p:txBody>
      </p:sp>
      <p:sp>
        <p:nvSpPr>
          <p:cNvPr id="17" name="object 17"/>
          <p:cNvSpPr txBox="1"/>
          <p:nvPr/>
        </p:nvSpPr>
        <p:spPr>
          <a:xfrm>
            <a:off x="10572368" y="5936996"/>
            <a:ext cx="21590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Verdana"/>
                <a:cs typeface="Verdana"/>
              </a:rPr>
              <a:t>N</a:t>
            </a:r>
            <a:endParaRPr sz="2000">
              <a:latin typeface="Verdana"/>
              <a:cs typeface="Verdana"/>
            </a:endParaRPr>
          </a:p>
        </p:txBody>
      </p:sp>
      <p:sp>
        <p:nvSpPr>
          <p:cNvPr id="18" name="object 18"/>
          <p:cNvSpPr/>
          <p:nvPr/>
        </p:nvSpPr>
        <p:spPr>
          <a:xfrm>
            <a:off x="10678668" y="5608320"/>
            <a:ext cx="0" cy="304800"/>
          </a:xfrm>
          <a:custGeom>
            <a:avLst/>
            <a:gdLst/>
            <a:ahLst/>
            <a:cxnLst/>
            <a:rect l="l" t="t" r="r" b="b"/>
            <a:pathLst>
              <a:path h="304800">
                <a:moveTo>
                  <a:pt x="0" y="304799"/>
                </a:moveTo>
                <a:lnTo>
                  <a:pt x="0" y="0"/>
                </a:lnTo>
              </a:path>
            </a:pathLst>
          </a:custGeom>
          <a:ln w="15875">
            <a:solidFill>
              <a:srgbClr val="000000"/>
            </a:solidFill>
          </a:ln>
        </p:spPr>
        <p:txBody>
          <a:bodyPr wrap="square" lIns="0" tIns="0" rIns="0" bIns="0" rtlCol="0"/>
          <a:lstStyle/>
          <a:p>
            <a:endParaRPr/>
          </a:p>
        </p:txBody>
      </p:sp>
      <p:grpSp>
        <p:nvGrpSpPr>
          <p:cNvPr id="19" name="object 19"/>
          <p:cNvGrpSpPr/>
          <p:nvPr/>
        </p:nvGrpSpPr>
        <p:grpSpPr>
          <a:xfrm>
            <a:off x="0" y="6477000"/>
            <a:ext cx="12192000" cy="381000"/>
            <a:chOff x="0" y="6477000"/>
            <a:chExt cx="12192000" cy="381000"/>
          </a:xfrm>
        </p:grpSpPr>
        <p:sp>
          <p:nvSpPr>
            <p:cNvPr id="20" name="object 20"/>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21" name="object 21"/>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r>
              <a:rPr dirty="0"/>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1050290" cy="635000"/>
          </a:xfrm>
          <a:prstGeom prst="rect">
            <a:avLst/>
          </a:prstGeom>
        </p:spPr>
        <p:txBody>
          <a:bodyPr vert="horz" wrap="square" lIns="0" tIns="12065" rIns="0" bIns="0" rtlCol="0">
            <a:spAutoFit/>
          </a:bodyPr>
          <a:lstStyle/>
          <a:p>
            <a:pPr marL="12700">
              <a:lnSpc>
                <a:spcPct val="100000"/>
              </a:lnSpc>
              <a:spcBef>
                <a:spcPts val="95"/>
              </a:spcBef>
            </a:pPr>
            <a:r>
              <a:rPr spc="-160" dirty="0"/>
              <a:t>T</a:t>
            </a:r>
            <a:r>
              <a:rPr spc="-5" dirty="0"/>
              <a: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pic>
        <p:nvPicPr>
          <p:cNvPr id="4" name="object 4"/>
          <p:cNvPicPr/>
          <p:nvPr/>
        </p:nvPicPr>
        <p:blipFill>
          <a:blip r:embed="rId2" cstate="print"/>
          <a:stretch>
            <a:fillRect/>
          </a:stretch>
        </p:blipFill>
        <p:spPr>
          <a:xfrm>
            <a:off x="3439667" y="379475"/>
            <a:ext cx="8001000" cy="5914644"/>
          </a:xfrm>
          <a:prstGeom prst="rect">
            <a:avLst/>
          </a:prstGeom>
        </p:spPr>
      </p:pic>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2065"/>
              </a:lnSpc>
            </a:pPr>
            <a:r>
              <a:rPr dirty="0"/>
              <a:t>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3918585" cy="635000"/>
          </a:xfrm>
          <a:prstGeom prst="rect">
            <a:avLst/>
          </a:prstGeom>
        </p:spPr>
        <p:txBody>
          <a:bodyPr vert="horz" wrap="square" lIns="0" tIns="12065" rIns="0" bIns="0" rtlCol="0">
            <a:spAutoFit/>
          </a:bodyPr>
          <a:lstStyle/>
          <a:p>
            <a:pPr marL="12700">
              <a:lnSpc>
                <a:spcPct val="100000"/>
              </a:lnSpc>
              <a:spcBef>
                <a:spcPts val="95"/>
              </a:spcBef>
            </a:pPr>
            <a:r>
              <a:rPr spc="-40" dirty="0"/>
              <a:t>Tree</a:t>
            </a:r>
            <a:r>
              <a:rPr spc="-150" dirty="0"/>
              <a:t> </a:t>
            </a:r>
            <a:r>
              <a:rPr spc="-45" dirty="0"/>
              <a:t>Terminology</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p:nvPr/>
        </p:nvSpPr>
        <p:spPr>
          <a:xfrm>
            <a:off x="1298194" y="1699386"/>
            <a:ext cx="66344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The</a:t>
            </a:r>
            <a:r>
              <a:rPr sz="2400" spc="5" dirty="0">
                <a:latin typeface="Calibri"/>
                <a:cs typeface="Calibri"/>
              </a:rPr>
              <a:t> </a:t>
            </a:r>
            <a:r>
              <a:rPr sz="2400" spc="-5" dirty="0">
                <a:latin typeface="Calibri"/>
                <a:cs typeface="Calibri"/>
              </a:rPr>
              <a:t>basic</a:t>
            </a:r>
            <a:r>
              <a:rPr sz="2400" spc="-10" dirty="0">
                <a:latin typeface="Calibri"/>
                <a:cs typeface="Calibri"/>
              </a:rPr>
              <a:t> </a:t>
            </a:r>
            <a:r>
              <a:rPr sz="2400" spc="-5" dirty="0">
                <a:latin typeface="Calibri"/>
                <a:cs typeface="Calibri"/>
              </a:rPr>
              <a:t>terminologies</a:t>
            </a:r>
            <a:r>
              <a:rPr sz="2400" spc="-15" dirty="0">
                <a:latin typeface="Calibri"/>
                <a:cs typeface="Calibri"/>
              </a:rPr>
              <a:t> related</a:t>
            </a:r>
            <a:r>
              <a:rPr sz="2400" spc="-5" dirty="0">
                <a:latin typeface="Calibri"/>
                <a:cs typeface="Calibri"/>
              </a:rPr>
              <a:t> </a:t>
            </a:r>
            <a:r>
              <a:rPr sz="2400" spc="-15" dirty="0">
                <a:latin typeface="Calibri"/>
                <a:cs typeface="Calibri"/>
              </a:rPr>
              <a:t>to</a:t>
            </a:r>
            <a:r>
              <a:rPr sz="2400" spc="-10" dirty="0">
                <a:latin typeface="Calibri"/>
                <a:cs typeface="Calibri"/>
              </a:rPr>
              <a:t> tree</a:t>
            </a:r>
            <a:r>
              <a:rPr sz="2400" spc="-5" dirty="0">
                <a:latin typeface="Calibri"/>
                <a:cs typeface="Calibri"/>
              </a:rPr>
              <a:t> </a:t>
            </a:r>
            <a:r>
              <a:rPr sz="2400" spc="-15" dirty="0">
                <a:latin typeface="Calibri"/>
                <a:cs typeface="Calibri"/>
              </a:rPr>
              <a:t>are</a:t>
            </a:r>
            <a:r>
              <a:rPr sz="2400" spc="5" dirty="0">
                <a:latin typeface="Calibri"/>
                <a:cs typeface="Calibri"/>
              </a:rPr>
              <a:t> </a:t>
            </a:r>
            <a:r>
              <a:rPr sz="2400" dirty="0">
                <a:latin typeface="Calibri"/>
                <a:cs typeface="Calibri"/>
              </a:rPr>
              <a:t>as</a:t>
            </a:r>
            <a:r>
              <a:rPr sz="2400" spc="-5" dirty="0">
                <a:latin typeface="Calibri"/>
                <a:cs typeface="Calibri"/>
              </a:rPr>
              <a:t> </a:t>
            </a:r>
            <a:r>
              <a:rPr sz="2400" spc="-20" dirty="0">
                <a:latin typeface="Calibri"/>
                <a:cs typeface="Calibri"/>
              </a:rPr>
              <a:t>follows:</a:t>
            </a:r>
            <a:endParaRPr sz="2400">
              <a:latin typeface="Calibri"/>
              <a:cs typeface="Calibri"/>
            </a:endParaRPr>
          </a:p>
        </p:txBody>
      </p:sp>
      <p:sp>
        <p:nvSpPr>
          <p:cNvPr id="5" name="object 5"/>
          <p:cNvSpPr txBox="1"/>
          <p:nvPr/>
        </p:nvSpPr>
        <p:spPr>
          <a:xfrm>
            <a:off x="3126994" y="2614528"/>
            <a:ext cx="1300480" cy="3317875"/>
          </a:xfrm>
          <a:prstGeom prst="rect">
            <a:avLst/>
          </a:prstGeom>
        </p:spPr>
        <p:txBody>
          <a:bodyPr vert="horz" wrap="square" lIns="0" tIns="194945" rIns="0" bIns="0" rtlCol="0">
            <a:spAutoFit/>
          </a:bodyPr>
          <a:lstStyle/>
          <a:p>
            <a:pPr marL="355600" indent="-342900">
              <a:lnSpc>
                <a:spcPct val="100000"/>
              </a:lnSpc>
              <a:spcBef>
                <a:spcPts val="1535"/>
              </a:spcBef>
              <a:buFont typeface="Wingdings"/>
              <a:buChar char=""/>
              <a:tabLst>
                <a:tab pos="355600" algn="l"/>
              </a:tabLst>
            </a:pPr>
            <a:r>
              <a:rPr sz="2400" spc="-20" dirty="0">
                <a:solidFill>
                  <a:srgbClr val="7D1B68"/>
                </a:solidFill>
                <a:latin typeface="Calibri"/>
                <a:cs typeface="Calibri"/>
              </a:rPr>
              <a:t>Root</a:t>
            </a:r>
            <a:endParaRPr sz="2400">
              <a:latin typeface="Calibri"/>
              <a:cs typeface="Calibri"/>
            </a:endParaRPr>
          </a:p>
          <a:p>
            <a:pPr marL="355600" indent="-342900">
              <a:lnSpc>
                <a:spcPct val="100000"/>
              </a:lnSpc>
              <a:spcBef>
                <a:spcPts val="1440"/>
              </a:spcBef>
              <a:buFont typeface="Wingdings"/>
              <a:buChar char=""/>
              <a:tabLst>
                <a:tab pos="355600" algn="l"/>
              </a:tabLst>
            </a:pPr>
            <a:r>
              <a:rPr sz="2400" spc="-20" dirty="0">
                <a:solidFill>
                  <a:srgbClr val="7D1B68"/>
                </a:solidFill>
                <a:latin typeface="Calibri"/>
                <a:cs typeface="Calibri"/>
              </a:rPr>
              <a:t>Edge</a:t>
            </a:r>
            <a:endParaRPr sz="2400">
              <a:latin typeface="Calibri"/>
              <a:cs typeface="Calibri"/>
            </a:endParaRPr>
          </a:p>
          <a:p>
            <a:pPr marL="355600" indent="-342900">
              <a:lnSpc>
                <a:spcPct val="100000"/>
              </a:lnSpc>
              <a:spcBef>
                <a:spcPts val="1445"/>
              </a:spcBef>
              <a:buFont typeface="Wingdings"/>
              <a:buChar char=""/>
              <a:tabLst>
                <a:tab pos="355600" algn="l"/>
              </a:tabLst>
            </a:pPr>
            <a:r>
              <a:rPr sz="2400" spc="-20" dirty="0">
                <a:solidFill>
                  <a:srgbClr val="7D1B68"/>
                </a:solidFill>
                <a:latin typeface="Calibri"/>
                <a:cs typeface="Calibri"/>
              </a:rPr>
              <a:t>Parent</a:t>
            </a:r>
            <a:endParaRPr sz="2400">
              <a:latin typeface="Calibri"/>
              <a:cs typeface="Calibri"/>
            </a:endParaRPr>
          </a:p>
          <a:p>
            <a:pPr marL="355600" indent="-342900">
              <a:lnSpc>
                <a:spcPct val="100000"/>
              </a:lnSpc>
              <a:spcBef>
                <a:spcPts val="1440"/>
              </a:spcBef>
              <a:buFont typeface="Wingdings"/>
              <a:buChar char=""/>
              <a:tabLst>
                <a:tab pos="355600" algn="l"/>
              </a:tabLst>
            </a:pPr>
            <a:r>
              <a:rPr sz="2400" spc="-5" dirty="0">
                <a:solidFill>
                  <a:srgbClr val="7D1B68"/>
                </a:solidFill>
                <a:latin typeface="Calibri"/>
                <a:cs typeface="Calibri"/>
              </a:rPr>
              <a:t>Child</a:t>
            </a:r>
            <a:endParaRPr sz="2400">
              <a:latin typeface="Calibri"/>
              <a:cs typeface="Calibri"/>
            </a:endParaRPr>
          </a:p>
          <a:p>
            <a:pPr marL="355600" indent="-342900">
              <a:lnSpc>
                <a:spcPct val="100000"/>
              </a:lnSpc>
              <a:spcBef>
                <a:spcPts val="1440"/>
              </a:spcBef>
              <a:buFont typeface="Wingdings"/>
              <a:buChar char=""/>
              <a:tabLst>
                <a:tab pos="355600" algn="l"/>
              </a:tabLst>
            </a:pPr>
            <a:r>
              <a:rPr sz="2400" spc="-5" dirty="0">
                <a:solidFill>
                  <a:srgbClr val="7D1B68"/>
                </a:solidFill>
                <a:latin typeface="Calibri"/>
                <a:cs typeface="Calibri"/>
              </a:rPr>
              <a:t>Siblings</a:t>
            </a:r>
            <a:endParaRPr sz="2400">
              <a:latin typeface="Calibri"/>
              <a:cs typeface="Calibri"/>
            </a:endParaRPr>
          </a:p>
          <a:p>
            <a:pPr marL="355600" indent="-342900">
              <a:lnSpc>
                <a:spcPct val="100000"/>
              </a:lnSpc>
              <a:spcBef>
                <a:spcPts val="1440"/>
              </a:spcBef>
              <a:buFont typeface="Wingdings"/>
              <a:buChar char=""/>
              <a:tabLst>
                <a:tab pos="355600" algn="l"/>
              </a:tabLst>
            </a:pPr>
            <a:r>
              <a:rPr sz="2400" spc="-5" dirty="0">
                <a:solidFill>
                  <a:srgbClr val="7D1B68"/>
                </a:solidFill>
                <a:latin typeface="Calibri"/>
                <a:cs typeface="Calibri"/>
              </a:rPr>
              <a:t>Leaf</a:t>
            </a:r>
            <a:endParaRPr sz="2400">
              <a:latin typeface="Calibri"/>
              <a:cs typeface="Calibri"/>
            </a:endParaRPr>
          </a:p>
        </p:txBody>
      </p:sp>
      <p:sp>
        <p:nvSpPr>
          <p:cNvPr id="6" name="object 6"/>
          <p:cNvSpPr txBox="1"/>
          <p:nvPr/>
        </p:nvSpPr>
        <p:spPr>
          <a:xfrm>
            <a:off x="6556629" y="2554350"/>
            <a:ext cx="1334770" cy="3317875"/>
          </a:xfrm>
          <a:prstGeom prst="rect">
            <a:avLst/>
          </a:prstGeom>
        </p:spPr>
        <p:txBody>
          <a:bodyPr vert="horz" wrap="square" lIns="0" tIns="195580" rIns="0" bIns="0" rtlCol="0">
            <a:spAutoFit/>
          </a:bodyPr>
          <a:lstStyle/>
          <a:p>
            <a:pPr marL="355600" indent="-342900">
              <a:lnSpc>
                <a:spcPct val="100000"/>
              </a:lnSpc>
              <a:spcBef>
                <a:spcPts val="1540"/>
              </a:spcBef>
              <a:buFont typeface="Wingdings"/>
              <a:buChar char=""/>
              <a:tabLst>
                <a:tab pos="355600" algn="l"/>
              </a:tabLst>
            </a:pPr>
            <a:r>
              <a:rPr sz="2400" spc="-10" dirty="0">
                <a:solidFill>
                  <a:srgbClr val="7D1B68"/>
                </a:solidFill>
                <a:latin typeface="Calibri"/>
                <a:cs typeface="Calibri"/>
              </a:rPr>
              <a:t>Degree</a:t>
            </a:r>
            <a:endParaRPr sz="2400">
              <a:latin typeface="Calibri"/>
              <a:cs typeface="Calibri"/>
            </a:endParaRPr>
          </a:p>
          <a:p>
            <a:pPr marL="355600" indent="-342900">
              <a:lnSpc>
                <a:spcPct val="100000"/>
              </a:lnSpc>
              <a:spcBef>
                <a:spcPts val="1440"/>
              </a:spcBef>
              <a:buFont typeface="Wingdings"/>
              <a:buChar char=""/>
              <a:tabLst>
                <a:tab pos="355600" algn="l"/>
              </a:tabLst>
            </a:pPr>
            <a:r>
              <a:rPr sz="2400" spc="-10" dirty="0">
                <a:solidFill>
                  <a:srgbClr val="7D1B68"/>
                </a:solidFill>
                <a:latin typeface="Calibri"/>
                <a:cs typeface="Calibri"/>
              </a:rPr>
              <a:t>Level</a:t>
            </a:r>
            <a:endParaRPr sz="2400">
              <a:latin typeface="Calibri"/>
              <a:cs typeface="Calibri"/>
            </a:endParaRPr>
          </a:p>
          <a:p>
            <a:pPr marL="355600" indent="-342900">
              <a:lnSpc>
                <a:spcPct val="100000"/>
              </a:lnSpc>
              <a:spcBef>
                <a:spcPts val="1440"/>
              </a:spcBef>
              <a:buFont typeface="Wingdings"/>
              <a:buChar char=""/>
              <a:tabLst>
                <a:tab pos="355600" algn="l"/>
              </a:tabLst>
            </a:pPr>
            <a:r>
              <a:rPr sz="2400" spc="-5" dirty="0">
                <a:solidFill>
                  <a:srgbClr val="7D1B68"/>
                </a:solidFill>
                <a:latin typeface="Calibri"/>
                <a:cs typeface="Calibri"/>
              </a:rPr>
              <a:t>Height</a:t>
            </a:r>
            <a:endParaRPr sz="2400">
              <a:latin typeface="Calibri"/>
              <a:cs typeface="Calibri"/>
            </a:endParaRPr>
          </a:p>
          <a:p>
            <a:pPr marL="355600" indent="-342900">
              <a:lnSpc>
                <a:spcPct val="100000"/>
              </a:lnSpc>
              <a:spcBef>
                <a:spcPts val="1440"/>
              </a:spcBef>
              <a:buFont typeface="Wingdings"/>
              <a:buChar char=""/>
              <a:tabLst>
                <a:tab pos="355600" algn="l"/>
              </a:tabLst>
            </a:pPr>
            <a:r>
              <a:rPr sz="2400" spc="-5" dirty="0">
                <a:solidFill>
                  <a:srgbClr val="7D1B68"/>
                </a:solidFill>
                <a:latin typeface="Calibri"/>
                <a:cs typeface="Calibri"/>
              </a:rPr>
              <a:t>Depth</a:t>
            </a:r>
            <a:endParaRPr sz="2400">
              <a:latin typeface="Calibri"/>
              <a:cs typeface="Calibri"/>
            </a:endParaRPr>
          </a:p>
          <a:p>
            <a:pPr marL="355600" indent="-342900">
              <a:lnSpc>
                <a:spcPct val="100000"/>
              </a:lnSpc>
              <a:spcBef>
                <a:spcPts val="1440"/>
              </a:spcBef>
              <a:buFont typeface="Wingdings"/>
              <a:buChar char=""/>
              <a:tabLst>
                <a:tab pos="355600" algn="l"/>
              </a:tabLst>
            </a:pPr>
            <a:r>
              <a:rPr sz="2400" spc="-20" dirty="0">
                <a:solidFill>
                  <a:srgbClr val="7D1B68"/>
                </a:solidFill>
                <a:latin typeface="Calibri"/>
                <a:cs typeface="Calibri"/>
              </a:rPr>
              <a:t>Path</a:t>
            </a:r>
            <a:endParaRPr sz="2400">
              <a:latin typeface="Calibri"/>
              <a:cs typeface="Calibri"/>
            </a:endParaRPr>
          </a:p>
          <a:p>
            <a:pPr marL="355600" indent="-342900">
              <a:lnSpc>
                <a:spcPct val="100000"/>
              </a:lnSpc>
              <a:spcBef>
                <a:spcPts val="1445"/>
              </a:spcBef>
              <a:buFont typeface="Wingdings"/>
              <a:buChar char=""/>
              <a:tabLst>
                <a:tab pos="355600" algn="l"/>
              </a:tabLst>
            </a:pPr>
            <a:r>
              <a:rPr sz="2400" spc="-5" dirty="0">
                <a:solidFill>
                  <a:srgbClr val="7D1B68"/>
                </a:solidFill>
                <a:latin typeface="Calibri"/>
                <a:cs typeface="Calibri"/>
              </a:rPr>
              <a:t>Su</a:t>
            </a:r>
            <a:r>
              <a:rPr sz="2400" spc="-15" dirty="0">
                <a:solidFill>
                  <a:srgbClr val="7D1B68"/>
                </a:solidFill>
                <a:latin typeface="Calibri"/>
                <a:cs typeface="Calibri"/>
              </a:rPr>
              <a:t>b</a:t>
            </a:r>
            <a:r>
              <a:rPr sz="2400" dirty="0">
                <a:solidFill>
                  <a:srgbClr val="7D1B68"/>
                </a:solidFill>
                <a:latin typeface="Calibri"/>
                <a:cs typeface="Calibri"/>
              </a:rPr>
              <a:t>t</a:t>
            </a:r>
            <a:r>
              <a:rPr sz="2400" spc="-35" dirty="0">
                <a:solidFill>
                  <a:srgbClr val="7D1B68"/>
                </a:solidFill>
                <a:latin typeface="Calibri"/>
                <a:cs typeface="Calibri"/>
              </a:rPr>
              <a:t>r</a:t>
            </a:r>
            <a:r>
              <a:rPr sz="2400" dirty="0">
                <a:solidFill>
                  <a:srgbClr val="7D1B68"/>
                </a:solidFill>
                <a:latin typeface="Calibri"/>
                <a:cs typeface="Calibri"/>
              </a:rPr>
              <a:t>ee</a:t>
            </a:r>
            <a:endParaRPr sz="2400">
              <a:latin typeface="Calibri"/>
              <a:cs typeface="Calibri"/>
            </a:endParaRP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02307" y="1524000"/>
            <a:ext cx="8890000" cy="3810000"/>
          </a:xfrm>
          <a:prstGeom prst="rect">
            <a:avLst/>
          </a:prstGeom>
        </p:spPr>
      </p:pic>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a:spLocks noGrp="1"/>
          </p:cNvSpPr>
          <p:nvPr>
            <p:ph type="title"/>
          </p:nvPr>
        </p:nvSpPr>
        <p:spPr>
          <a:xfrm>
            <a:off x="1145539" y="400558"/>
            <a:ext cx="1050290" cy="635000"/>
          </a:xfrm>
          <a:prstGeom prst="rect">
            <a:avLst/>
          </a:prstGeom>
        </p:spPr>
        <p:txBody>
          <a:bodyPr vert="horz" wrap="square" lIns="0" tIns="12065" rIns="0" bIns="0" rtlCol="0">
            <a:spAutoFit/>
          </a:bodyPr>
          <a:lstStyle/>
          <a:p>
            <a:pPr marL="12700">
              <a:lnSpc>
                <a:spcPct val="100000"/>
              </a:lnSpc>
              <a:spcBef>
                <a:spcPts val="95"/>
              </a:spcBef>
            </a:pPr>
            <a:r>
              <a:rPr spc="-155" dirty="0"/>
              <a:t>T</a:t>
            </a:r>
            <a:r>
              <a:rPr spc="-5" dirty="0"/>
              <a:t>ree</a:t>
            </a: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443984" y="3352800"/>
            <a:ext cx="7748015" cy="3104388"/>
          </a:xfrm>
          <a:prstGeom prst="rect">
            <a:avLst/>
          </a:prstGeom>
        </p:spPr>
      </p:pic>
      <p:sp>
        <p:nvSpPr>
          <p:cNvPr id="3" name="object 3"/>
          <p:cNvSpPr txBox="1"/>
          <p:nvPr/>
        </p:nvSpPr>
        <p:spPr>
          <a:xfrm>
            <a:off x="1145539" y="1264285"/>
            <a:ext cx="9801860" cy="2221230"/>
          </a:xfrm>
          <a:prstGeom prst="rect">
            <a:avLst/>
          </a:prstGeom>
        </p:spPr>
        <p:txBody>
          <a:bodyPr vert="horz" wrap="square" lIns="0" tIns="12700" rIns="0" bIns="0" rtlCol="0">
            <a:spAutoFit/>
          </a:bodyPr>
          <a:lstStyle/>
          <a:p>
            <a:pPr marL="12700" marR="5080">
              <a:lnSpc>
                <a:spcPct val="150100"/>
              </a:lnSpc>
              <a:spcBef>
                <a:spcPts val="100"/>
              </a:spcBef>
            </a:pPr>
            <a:r>
              <a:rPr sz="2400" dirty="0">
                <a:latin typeface="Arial MT"/>
                <a:cs typeface="Arial MT"/>
              </a:rPr>
              <a:t>In</a:t>
            </a:r>
            <a:r>
              <a:rPr sz="2400" spc="-5" dirty="0">
                <a:latin typeface="Arial MT"/>
                <a:cs typeface="Arial MT"/>
              </a:rPr>
              <a:t> a</a:t>
            </a:r>
            <a:r>
              <a:rPr sz="2400" spc="5" dirty="0">
                <a:latin typeface="Arial MT"/>
                <a:cs typeface="Arial MT"/>
              </a:rPr>
              <a:t> </a:t>
            </a:r>
            <a:r>
              <a:rPr sz="2400" spc="-5" dirty="0">
                <a:latin typeface="Arial MT"/>
                <a:cs typeface="Arial MT"/>
              </a:rPr>
              <a:t>tree</a:t>
            </a:r>
            <a:r>
              <a:rPr sz="2400" spc="-10" dirty="0">
                <a:latin typeface="Arial MT"/>
                <a:cs typeface="Arial MT"/>
              </a:rPr>
              <a:t> </a:t>
            </a:r>
            <a:r>
              <a:rPr sz="2400" spc="-5" dirty="0">
                <a:latin typeface="Arial MT"/>
                <a:cs typeface="Arial MT"/>
              </a:rPr>
              <a:t>data </a:t>
            </a:r>
            <a:r>
              <a:rPr sz="2400" dirty="0">
                <a:latin typeface="Arial MT"/>
                <a:cs typeface="Arial MT"/>
              </a:rPr>
              <a:t>structure,</a:t>
            </a:r>
            <a:r>
              <a:rPr sz="2400" spc="-10" dirty="0">
                <a:latin typeface="Arial MT"/>
                <a:cs typeface="Arial MT"/>
              </a:rPr>
              <a:t> </a:t>
            </a:r>
            <a:r>
              <a:rPr sz="2400" dirty="0">
                <a:latin typeface="Arial MT"/>
                <a:cs typeface="Arial MT"/>
              </a:rPr>
              <a:t>the </a:t>
            </a:r>
            <a:r>
              <a:rPr sz="2400" spc="-5" dirty="0">
                <a:latin typeface="Arial MT"/>
                <a:cs typeface="Arial MT"/>
              </a:rPr>
              <a:t>first</a:t>
            </a:r>
            <a:r>
              <a:rPr sz="2400" spc="-10" dirty="0">
                <a:latin typeface="Arial MT"/>
                <a:cs typeface="Arial MT"/>
              </a:rPr>
              <a:t> </a:t>
            </a:r>
            <a:r>
              <a:rPr sz="2400" spc="-5" dirty="0">
                <a:latin typeface="Arial MT"/>
                <a:cs typeface="Arial MT"/>
              </a:rPr>
              <a:t>node</a:t>
            </a:r>
            <a:r>
              <a:rPr sz="2400" spc="10" dirty="0">
                <a:latin typeface="Arial MT"/>
                <a:cs typeface="Arial MT"/>
              </a:rPr>
              <a:t> </a:t>
            </a:r>
            <a:r>
              <a:rPr sz="2400" spc="-5" dirty="0">
                <a:latin typeface="Arial MT"/>
                <a:cs typeface="Arial MT"/>
              </a:rPr>
              <a:t>is</a:t>
            </a:r>
            <a:r>
              <a:rPr sz="2400" spc="5" dirty="0">
                <a:latin typeface="Arial MT"/>
                <a:cs typeface="Arial MT"/>
              </a:rPr>
              <a:t> </a:t>
            </a:r>
            <a:r>
              <a:rPr sz="2400" spc="-5" dirty="0">
                <a:latin typeface="Arial MT"/>
                <a:cs typeface="Arial MT"/>
              </a:rPr>
              <a:t>called</a:t>
            </a:r>
            <a:r>
              <a:rPr sz="2400" spc="35" dirty="0">
                <a:latin typeface="Arial MT"/>
                <a:cs typeface="Arial MT"/>
              </a:rPr>
              <a:t> </a:t>
            </a:r>
            <a:r>
              <a:rPr sz="2400" spc="-5" dirty="0">
                <a:latin typeface="Arial MT"/>
                <a:cs typeface="Arial MT"/>
              </a:rPr>
              <a:t>as</a:t>
            </a:r>
            <a:r>
              <a:rPr sz="2400" spc="-10" dirty="0">
                <a:latin typeface="Arial MT"/>
                <a:cs typeface="Arial MT"/>
              </a:rPr>
              <a:t> </a:t>
            </a:r>
            <a:r>
              <a:rPr sz="2400" spc="-5" dirty="0">
                <a:latin typeface="Arial MT"/>
                <a:cs typeface="Arial MT"/>
              </a:rPr>
              <a:t>Root</a:t>
            </a:r>
            <a:r>
              <a:rPr sz="2400" spc="10" dirty="0">
                <a:latin typeface="Arial MT"/>
                <a:cs typeface="Arial MT"/>
              </a:rPr>
              <a:t> </a:t>
            </a:r>
            <a:r>
              <a:rPr sz="2400" spc="-5" dirty="0">
                <a:latin typeface="Arial MT"/>
                <a:cs typeface="Arial MT"/>
              </a:rPr>
              <a:t>Node.</a:t>
            </a:r>
            <a:r>
              <a:rPr sz="2400" spc="15" dirty="0">
                <a:latin typeface="Arial MT"/>
                <a:cs typeface="Arial MT"/>
              </a:rPr>
              <a:t> </a:t>
            </a:r>
            <a:r>
              <a:rPr sz="2400" spc="-5" dirty="0">
                <a:latin typeface="Arial MT"/>
                <a:cs typeface="Arial MT"/>
              </a:rPr>
              <a:t>Every</a:t>
            </a:r>
            <a:r>
              <a:rPr sz="2400" spc="5" dirty="0">
                <a:latin typeface="Arial MT"/>
                <a:cs typeface="Arial MT"/>
              </a:rPr>
              <a:t> </a:t>
            </a:r>
            <a:r>
              <a:rPr sz="2400" dirty="0">
                <a:latin typeface="Arial MT"/>
                <a:cs typeface="Arial MT"/>
              </a:rPr>
              <a:t>tree </a:t>
            </a:r>
            <a:r>
              <a:rPr sz="2400" spc="5" dirty="0">
                <a:latin typeface="Arial MT"/>
                <a:cs typeface="Arial MT"/>
              </a:rPr>
              <a:t> </a:t>
            </a:r>
            <a:r>
              <a:rPr sz="2400" dirty="0">
                <a:latin typeface="Arial MT"/>
                <a:cs typeface="Arial MT"/>
              </a:rPr>
              <a:t>must </a:t>
            </a:r>
            <a:r>
              <a:rPr sz="2400" spc="-5" dirty="0">
                <a:latin typeface="Arial MT"/>
                <a:cs typeface="Arial MT"/>
              </a:rPr>
              <a:t>have</a:t>
            </a:r>
            <a:r>
              <a:rPr sz="2400" dirty="0">
                <a:latin typeface="Arial MT"/>
                <a:cs typeface="Arial MT"/>
              </a:rPr>
              <a:t> root</a:t>
            </a:r>
            <a:r>
              <a:rPr sz="2400" spc="15" dirty="0">
                <a:latin typeface="Arial MT"/>
                <a:cs typeface="Arial MT"/>
              </a:rPr>
              <a:t> </a:t>
            </a:r>
            <a:r>
              <a:rPr sz="2400" spc="-5" dirty="0">
                <a:latin typeface="Arial MT"/>
                <a:cs typeface="Arial MT"/>
              </a:rPr>
              <a:t>node.</a:t>
            </a:r>
            <a:r>
              <a:rPr sz="2400" spc="5" dirty="0">
                <a:latin typeface="Arial MT"/>
                <a:cs typeface="Arial MT"/>
              </a:rPr>
              <a:t> </a:t>
            </a:r>
            <a:r>
              <a:rPr sz="2400" spc="-25" dirty="0">
                <a:latin typeface="Arial MT"/>
                <a:cs typeface="Arial MT"/>
              </a:rPr>
              <a:t>We</a:t>
            </a:r>
            <a:r>
              <a:rPr sz="2400" dirty="0">
                <a:latin typeface="Arial MT"/>
                <a:cs typeface="Arial MT"/>
              </a:rPr>
              <a:t> </a:t>
            </a:r>
            <a:r>
              <a:rPr sz="2400" spc="-5" dirty="0">
                <a:latin typeface="Arial MT"/>
                <a:cs typeface="Arial MT"/>
              </a:rPr>
              <a:t>can</a:t>
            </a:r>
            <a:r>
              <a:rPr sz="2400" spc="10" dirty="0">
                <a:latin typeface="Arial MT"/>
                <a:cs typeface="Arial MT"/>
              </a:rPr>
              <a:t> </a:t>
            </a:r>
            <a:r>
              <a:rPr sz="2400" dirty="0">
                <a:latin typeface="Arial MT"/>
                <a:cs typeface="Arial MT"/>
              </a:rPr>
              <a:t>say that</a:t>
            </a:r>
            <a:r>
              <a:rPr sz="2400" spc="-15" dirty="0">
                <a:latin typeface="Arial MT"/>
                <a:cs typeface="Arial MT"/>
              </a:rPr>
              <a:t> </a:t>
            </a:r>
            <a:r>
              <a:rPr sz="2400" dirty="0">
                <a:latin typeface="Arial MT"/>
                <a:cs typeface="Arial MT"/>
              </a:rPr>
              <a:t>root</a:t>
            </a:r>
            <a:r>
              <a:rPr sz="2400" spc="10" dirty="0">
                <a:latin typeface="Arial MT"/>
                <a:cs typeface="Arial MT"/>
              </a:rPr>
              <a:t> </a:t>
            </a:r>
            <a:r>
              <a:rPr sz="2400" spc="-5" dirty="0">
                <a:latin typeface="Arial MT"/>
                <a:cs typeface="Arial MT"/>
              </a:rPr>
              <a:t>node</a:t>
            </a:r>
            <a:r>
              <a:rPr sz="2400" spc="10" dirty="0">
                <a:latin typeface="Arial MT"/>
                <a:cs typeface="Arial MT"/>
              </a:rPr>
              <a:t> </a:t>
            </a:r>
            <a:r>
              <a:rPr sz="2400" spc="-5" dirty="0">
                <a:latin typeface="Arial MT"/>
                <a:cs typeface="Arial MT"/>
              </a:rPr>
              <a:t>is</a:t>
            </a:r>
            <a:r>
              <a:rPr sz="2400" dirty="0">
                <a:latin typeface="Arial MT"/>
                <a:cs typeface="Arial MT"/>
              </a:rPr>
              <a:t> the</a:t>
            </a:r>
            <a:r>
              <a:rPr sz="2400" spc="10" dirty="0">
                <a:latin typeface="Arial MT"/>
                <a:cs typeface="Arial MT"/>
              </a:rPr>
              <a:t> </a:t>
            </a:r>
            <a:r>
              <a:rPr sz="2400" spc="-5" dirty="0">
                <a:latin typeface="Arial MT"/>
                <a:cs typeface="Arial MT"/>
              </a:rPr>
              <a:t>origin</a:t>
            </a:r>
            <a:r>
              <a:rPr sz="2400" spc="20" dirty="0">
                <a:latin typeface="Arial MT"/>
                <a:cs typeface="Arial MT"/>
              </a:rPr>
              <a:t> </a:t>
            </a:r>
            <a:r>
              <a:rPr sz="2400" dirty="0">
                <a:latin typeface="Arial MT"/>
                <a:cs typeface="Arial MT"/>
              </a:rPr>
              <a:t>of</a:t>
            </a:r>
            <a:r>
              <a:rPr sz="2400" spc="-10" dirty="0">
                <a:latin typeface="Arial MT"/>
                <a:cs typeface="Arial MT"/>
              </a:rPr>
              <a:t> </a:t>
            </a:r>
            <a:r>
              <a:rPr sz="2400" dirty="0">
                <a:latin typeface="Arial MT"/>
                <a:cs typeface="Arial MT"/>
              </a:rPr>
              <a:t>tree</a:t>
            </a:r>
            <a:r>
              <a:rPr sz="2400" spc="-10" dirty="0">
                <a:latin typeface="Arial MT"/>
                <a:cs typeface="Arial MT"/>
              </a:rPr>
              <a:t> </a:t>
            </a:r>
            <a:r>
              <a:rPr sz="2400" spc="-5" dirty="0">
                <a:latin typeface="Arial MT"/>
                <a:cs typeface="Arial MT"/>
              </a:rPr>
              <a:t>data </a:t>
            </a:r>
            <a:r>
              <a:rPr sz="2400" spc="-650" dirty="0">
                <a:latin typeface="Arial MT"/>
                <a:cs typeface="Arial MT"/>
              </a:rPr>
              <a:t> </a:t>
            </a:r>
            <a:r>
              <a:rPr sz="2400" dirty="0">
                <a:latin typeface="Arial MT"/>
                <a:cs typeface="Arial MT"/>
              </a:rPr>
              <a:t>structure.</a:t>
            </a:r>
            <a:r>
              <a:rPr sz="2400" spc="-15" dirty="0">
                <a:latin typeface="Arial MT"/>
                <a:cs typeface="Arial MT"/>
              </a:rPr>
              <a:t> </a:t>
            </a:r>
            <a:r>
              <a:rPr sz="2400" spc="-5" dirty="0">
                <a:latin typeface="Arial MT"/>
                <a:cs typeface="Arial MT"/>
              </a:rPr>
              <a:t>In</a:t>
            </a:r>
            <a:r>
              <a:rPr sz="2400" spc="-10" dirty="0">
                <a:latin typeface="Arial MT"/>
                <a:cs typeface="Arial MT"/>
              </a:rPr>
              <a:t> </a:t>
            </a:r>
            <a:r>
              <a:rPr sz="2400" spc="-5" dirty="0">
                <a:latin typeface="Arial MT"/>
                <a:cs typeface="Arial MT"/>
              </a:rPr>
              <a:t>any</a:t>
            </a:r>
            <a:r>
              <a:rPr sz="2400" spc="15" dirty="0">
                <a:latin typeface="Arial MT"/>
                <a:cs typeface="Arial MT"/>
              </a:rPr>
              <a:t> </a:t>
            </a:r>
            <a:r>
              <a:rPr sz="2400" dirty="0">
                <a:latin typeface="Arial MT"/>
                <a:cs typeface="Arial MT"/>
              </a:rPr>
              <a:t>tree,</a:t>
            </a:r>
            <a:r>
              <a:rPr sz="2400" spc="-10" dirty="0">
                <a:latin typeface="Arial MT"/>
                <a:cs typeface="Arial MT"/>
              </a:rPr>
              <a:t> </a:t>
            </a:r>
            <a:r>
              <a:rPr sz="2400" dirty="0">
                <a:latin typeface="Arial MT"/>
                <a:cs typeface="Arial MT"/>
              </a:rPr>
              <a:t>there</a:t>
            </a:r>
            <a:r>
              <a:rPr sz="2400" spc="-5" dirty="0">
                <a:latin typeface="Arial MT"/>
                <a:cs typeface="Arial MT"/>
              </a:rPr>
              <a:t> </a:t>
            </a:r>
            <a:r>
              <a:rPr sz="2400" dirty="0">
                <a:latin typeface="Arial MT"/>
                <a:cs typeface="Arial MT"/>
              </a:rPr>
              <a:t>must</a:t>
            </a:r>
            <a:r>
              <a:rPr sz="2400" spc="5" dirty="0">
                <a:latin typeface="Arial MT"/>
                <a:cs typeface="Arial MT"/>
              </a:rPr>
              <a:t> </a:t>
            </a:r>
            <a:r>
              <a:rPr sz="2400" spc="-5" dirty="0">
                <a:latin typeface="Arial MT"/>
                <a:cs typeface="Arial MT"/>
              </a:rPr>
              <a:t>be</a:t>
            </a:r>
            <a:r>
              <a:rPr sz="2400" dirty="0">
                <a:latin typeface="Arial MT"/>
                <a:cs typeface="Arial MT"/>
              </a:rPr>
              <a:t> </a:t>
            </a:r>
            <a:r>
              <a:rPr sz="2400" spc="-5" dirty="0">
                <a:latin typeface="Arial MT"/>
                <a:cs typeface="Arial MT"/>
              </a:rPr>
              <a:t>only</a:t>
            </a:r>
            <a:r>
              <a:rPr sz="2400" spc="15" dirty="0">
                <a:latin typeface="Arial MT"/>
                <a:cs typeface="Arial MT"/>
              </a:rPr>
              <a:t> </a:t>
            </a:r>
            <a:r>
              <a:rPr sz="2400" spc="-5" dirty="0">
                <a:latin typeface="Arial MT"/>
                <a:cs typeface="Arial MT"/>
              </a:rPr>
              <a:t>one</a:t>
            </a:r>
            <a:r>
              <a:rPr sz="2400" spc="5" dirty="0">
                <a:latin typeface="Arial MT"/>
                <a:cs typeface="Arial MT"/>
              </a:rPr>
              <a:t> </a:t>
            </a:r>
            <a:r>
              <a:rPr sz="2400" dirty="0">
                <a:latin typeface="Arial MT"/>
                <a:cs typeface="Arial MT"/>
              </a:rPr>
              <a:t>root</a:t>
            </a:r>
            <a:r>
              <a:rPr sz="2400" spc="5" dirty="0">
                <a:latin typeface="Arial MT"/>
                <a:cs typeface="Arial MT"/>
              </a:rPr>
              <a:t> </a:t>
            </a:r>
            <a:r>
              <a:rPr sz="2400" spc="-5" dirty="0">
                <a:latin typeface="Arial MT"/>
                <a:cs typeface="Arial MT"/>
              </a:rPr>
              <a:t>node.</a:t>
            </a:r>
            <a:r>
              <a:rPr sz="2400" spc="20" dirty="0">
                <a:latin typeface="Arial MT"/>
                <a:cs typeface="Arial MT"/>
              </a:rPr>
              <a:t> </a:t>
            </a:r>
            <a:r>
              <a:rPr sz="2400" spc="-25" dirty="0">
                <a:latin typeface="Arial MT"/>
                <a:cs typeface="Arial MT"/>
              </a:rPr>
              <a:t>We</a:t>
            </a:r>
            <a:r>
              <a:rPr sz="2400" spc="-5" dirty="0">
                <a:latin typeface="Arial MT"/>
                <a:cs typeface="Arial MT"/>
              </a:rPr>
              <a:t> never</a:t>
            </a:r>
            <a:r>
              <a:rPr sz="2400" spc="10" dirty="0">
                <a:latin typeface="Arial MT"/>
                <a:cs typeface="Arial MT"/>
              </a:rPr>
              <a:t> </a:t>
            </a:r>
            <a:r>
              <a:rPr sz="2400" spc="-5" dirty="0">
                <a:latin typeface="Arial MT"/>
                <a:cs typeface="Arial MT"/>
              </a:rPr>
              <a:t>have </a:t>
            </a:r>
            <a:r>
              <a:rPr sz="2400" dirty="0">
                <a:latin typeface="Arial MT"/>
                <a:cs typeface="Arial MT"/>
              </a:rPr>
              <a:t> </a:t>
            </a:r>
            <a:r>
              <a:rPr sz="2400" spc="-5" dirty="0">
                <a:latin typeface="Arial MT"/>
                <a:cs typeface="Arial MT"/>
              </a:rPr>
              <a:t>multiple</a:t>
            </a:r>
            <a:r>
              <a:rPr sz="2400" spc="20" dirty="0">
                <a:latin typeface="Arial MT"/>
                <a:cs typeface="Arial MT"/>
              </a:rPr>
              <a:t> </a:t>
            </a:r>
            <a:r>
              <a:rPr sz="2400" dirty="0">
                <a:latin typeface="Arial MT"/>
                <a:cs typeface="Arial MT"/>
              </a:rPr>
              <a:t>root</a:t>
            </a:r>
            <a:r>
              <a:rPr sz="2400" spc="5" dirty="0">
                <a:latin typeface="Arial MT"/>
                <a:cs typeface="Arial MT"/>
              </a:rPr>
              <a:t> </a:t>
            </a:r>
            <a:r>
              <a:rPr sz="2400" spc="-5" dirty="0">
                <a:latin typeface="Arial MT"/>
                <a:cs typeface="Arial MT"/>
              </a:rPr>
              <a:t>nodes</a:t>
            </a:r>
            <a:r>
              <a:rPr sz="2400" spc="10" dirty="0">
                <a:latin typeface="Arial MT"/>
                <a:cs typeface="Arial MT"/>
              </a:rPr>
              <a:t> </a:t>
            </a:r>
            <a:r>
              <a:rPr sz="2400" spc="-5" dirty="0">
                <a:latin typeface="Arial MT"/>
                <a:cs typeface="Arial MT"/>
              </a:rPr>
              <a:t>in</a:t>
            </a:r>
            <a:r>
              <a:rPr sz="2400" dirty="0">
                <a:latin typeface="Arial MT"/>
                <a:cs typeface="Arial MT"/>
              </a:rPr>
              <a:t> </a:t>
            </a:r>
            <a:r>
              <a:rPr sz="2400" spc="-5" dirty="0">
                <a:latin typeface="Arial MT"/>
                <a:cs typeface="Arial MT"/>
              </a:rPr>
              <a:t>a</a:t>
            </a:r>
            <a:r>
              <a:rPr sz="2400" dirty="0">
                <a:latin typeface="Arial MT"/>
                <a:cs typeface="Arial MT"/>
              </a:rPr>
              <a:t> tree.</a:t>
            </a:r>
            <a:endParaRPr sz="2400">
              <a:latin typeface="Arial MT"/>
              <a:cs typeface="Arial MT"/>
            </a:endParaRPr>
          </a:p>
        </p:txBody>
      </p:sp>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5" name="object 5"/>
          <p:cNvSpPr txBox="1">
            <a:spLocks noGrp="1"/>
          </p:cNvSpPr>
          <p:nvPr>
            <p:ph type="title"/>
          </p:nvPr>
        </p:nvSpPr>
        <p:spPr>
          <a:xfrm>
            <a:off x="1145539" y="400558"/>
            <a:ext cx="1097280" cy="635000"/>
          </a:xfrm>
          <a:prstGeom prst="rect">
            <a:avLst/>
          </a:prstGeom>
        </p:spPr>
        <p:txBody>
          <a:bodyPr vert="horz" wrap="square" lIns="0" tIns="12065" rIns="0" bIns="0" rtlCol="0">
            <a:spAutoFit/>
          </a:bodyPr>
          <a:lstStyle/>
          <a:p>
            <a:pPr marL="12700">
              <a:lnSpc>
                <a:spcPct val="100000"/>
              </a:lnSpc>
              <a:spcBef>
                <a:spcPts val="95"/>
              </a:spcBef>
            </a:pPr>
            <a:r>
              <a:rPr spc="-5" dirty="0"/>
              <a:t>Root</a:t>
            </a: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132078"/>
            <a:ext cx="9378950" cy="1671955"/>
          </a:xfrm>
          <a:prstGeom prst="rect">
            <a:avLst/>
          </a:prstGeom>
        </p:spPr>
        <p:txBody>
          <a:bodyPr vert="horz" wrap="square" lIns="0" tIns="12065" rIns="0" bIns="0" rtlCol="0">
            <a:spAutoFit/>
          </a:bodyPr>
          <a:lstStyle/>
          <a:p>
            <a:pPr marL="12700" marR="5080">
              <a:lnSpc>
                <a:spcPct val="150100"/>
              </a:lnSpc>
              <a:spcBef>
                <a:spcPts val="95"/>
              </a:spcBef>
            </a:pPr>
            <a:r>
              <a:rPr sz="2400" dirty="0">
                <a:latin typeface="Arial MT"/>
                <a:cs typeface="Arial MT"/>
              </a:rPr>
              <a:t>In</a:t>
            </a:r>
            <a:r>
              <a:rPr sz="2400" spc="-5" dirty="0">
                <a:latin typeface="Arial MT"/>
                <a:cs typeface="Arial MT"/>
              </a:rPr>
              <a:t> a</a:t>
            </a:r>
            <a:r>
              <a:rPr sz="2400" spc="5" dirty="0">
                <a:latin typeface="Arial MT"/>
                <a:cs typeface="Arial MT"/>
              </a:rPr>
              <a:t> </a:t>
            </a:r>
            <a:r>
              <a:rPr sz="2400" spc="-5" dirty="0">
                <a:latin typeface="Arial MT"/>
                <a:cs typeface="Arial MT"/>
              </a:rPr>
              <a:t>tree data </a:t>
            </a:r>
            <a:r>
              <a:rPr sz="2400" dirty="0">
                <a:latin typeface="Arial MT"/>
                <a:cs typeface="Arial MT"/>
              </a:rPr>
              <a:t>structure,</a:t>
            </a:r>
            <a:r>
              <a:rPr sz="2400" spc="-10" dirty="0">
                <a:latin typeface="Arial MT"/>
                <a:cs typeface="Arial MT"/>
              </a:rPr>
              <a:t> </a:t>
            </a:r>
            <a:r>
              <a:rPr sz="2400" dirty="0">
                <a:latin typeface="Arial MT"/>
                <a:cs typeface="Arial MT"/>
              </a:rPr>
              <a:t>the</a:t>
            </a:r>
            <a:r>
              <a:rPr sz="2400" spc="5" dirty="0">
                <a:latin typeface="Arial MT"/>
                <a:cs typeface="Arial MT"/>
              </a:rPr>
              <a:t> </a:t>
            </a:r>
            <a:r>
              <a:rPr sz="2400" spc="-5" dirty="0">
                <a:latin typeface="Arial MT"/>
                <a:cs typeface="Arial MT"/>
              </a:rPr>
              <a:t>connecting</a:t>
            </a:r>
            <a:r>
              <a:rPr sz="2400" spc="20" dirty="0">
                <a:latin typeface="Arial MT"/>
                <a:cs typeface="Arial MT"/>
              </a:rPr>
              <a:t> </a:t>
            </a:r>
            <a:r>
              <a:rPr sz="2400" spc="-5" dirty="0">
                <a:latin typeface="Arial MT"/>
                <a:cs typeface="Arial MT"/>
              </a:rPr>
              <a:t>link</a:t>
            </a:r>
            <a:r>
              <a:rPr sz="2400" spc="15" dirty="0">
                <a:latin typeface="Arial MT"/>
                <a:cs typeface="Arial MT"/>
              </a:rPr>
              <a:t> </a:t>
            </a:r>
            <a:r>
              <a:rPr sz="2400" spc="-5" dirty="0">
                <a:latin typeface="Arial MT"/>
                <a:cs typeface="Arial MT"/>
              </a:rPr>
              <a:t>between</a:t>
            </a:r>
            <a:r>
              <a:rPr sz="2400" spc="25" dirty="0">
                <a:latin typeface="Arial MT"/>
                <a:cs typeface="Arial MT"/>
              </a:rPr>
              <a:t> </a:t>
            </a:r>
            <a:r>
              <a:rPr sz="2400" spc="-5" dirty="0">
                <a:latin typeface="Arial MT"/>
                <a:cs typeface="Arial MT"/>
              </a:rPr>
              <a:t>any</a:t>
            </a:r>
            <a:r>
              <a:rPr sz="2400" spc="5" dirty="0">
                <a:latin typeface="Arial MT"/>
                <a:cs typeface="Arial MT"/>
              </a:rPr>
              <a:t> </a:t>
            </a:r>
            <a:r>
              <a:rPr sz="2400" dirty="0">
                <a:latin typeface="Arial MT"/>
                <a:cs typeface="Arial MT"/>
              </a:rPr>
              <a:t>two</a:t>
            </a:r>
            <a:r>
              <a:rPr sz="2400" spc="5" dirty="0">
                <a:latin typeface="Arial MT"/>
                <a:cs typeface="Arial MT"/>
              </a:rPr>
              <a:t> </a:t>
            </a:r>
            <a:r>
              <a:rPr sz="2400" spc="-5" dirty="0">
                <a:latin typeface="Arial MT"/>
                <a:cs typeface="Arial MT"/>
              </a:rPr>
              <a:t>nodes</a:t>
            </a:r>
            <a:r>
              <a:rPr sz="2400" spc="5" dirty="0">
                <a:latin typeface="Arial MT"/>
                <a:cs typeface="Arial MT"/>
              </a:rPr>
              <a:t> </a:t>
            </a:r>
            <a:r>
              <a:rPr sz="2400" spc="-5" dirty="0">
                <a:latin typeface="Arial MT"/>
                <a:cs typeface="Arial MT"/>
              </a:rPr>
              <a:t>is </a:t>
            </a:r>
            <a:r>
              <a:rPr sz="2400" spc="-650" dirty="0">
                <a:latin typeface="Arial MT"/>
                <a:cs typeface="Arial MT"/>
              </a:rPr>
              <a:t> </a:t>
            </a:r>
            <a:r>
              <a:rPr sz="2400" spc="-5" dirty="0">
                <a:latin typeface="Arial MT"/>
                <a:cs typeface="Arial MT"/>
              </a:rPr>
              <a:t>called</a:t>
            </a:r>
            <a:r>
              <a:rPr sz="2400" spc="25" dirty="0">
                <a:latin typeface="Arial MT"/>
                <a:cs typeface="Arial MT"/>
              </a:rPr>
              <a:t> </a:t>
            </a:r>
            <a:r>
              <a:rPr sz="2400" spc="-5" dirty="0">
                <a:latin typeface="Arial MT"/>
                <a:cs typeface="Arial MT"/>
              </a:rPr>
              <a:t>as</a:t>
            </a:r>
            <a:r>
              <a:rPr sz="2400" dirty="0">
                <a:latin typeface="Arial MT"/>
                <a:cs typeface="Arial MT"/>
              </a:rPr>
              <a:t> </a:t>
            </a:r>
            <a:r>
              <a:rPr sz="2400" b="1" spc="-5" dirty="0">
                <a:latin typeface="Arial"/>
                <a:cs typeface="Arial"/>
              </a:rPr>
              <a:t>EDGE</a:t>
            </a:r>
            <a:r>
              <a:rPr sz="2400" spc="-5" dirty="0">
                <a:latin typeface="Arial MT"/>
                <a:cs typeface="Arial MT"/>
              </a:rPr>
              <a:t>.</a:t>
            </a:r>
            <a:r>
              <a:rPr sz="2400" spc="5" dirty="0">
                <a:latin typeface="Arial MT"/>
                <a:cs typeface="Arial MT"/>
              </a:rPr>
              <a:t> </a:t>
            </a:r>
            <a:r>
              <a:rPr sz="2400" dirty="0">
                <a:latin typeface="Arial MT"/>
                <a:cs typeface="Arial MT"/>
              </a:rPr>
              <a:t>In </a:t>
            </a:r>
            <a:r>
              <a:rPr sz="2400" spc="-5" dirty="0">
                <a:latin typeface="Arial MT"/>
                <a:cs typeface="Arial MT"/>
              </a:rPr>
              <a:t>a </a:t>
            </a:r>
            <a:r>
              <a:rPr sz="2400" dirty="0">
                <a:latin typeface="Arial MT"/>
                <a:cs typeface="Arial MT"/>
              </a:rPr>
              <a:t>tree</a:t>
            </a:r>
            <a:r>
              <a:rPr sz="2400" spc="-10" dirty="0">
                <a:latin typeface="Arial MT"/>
                <a:cs typeface="Arial MT"/>
              </a:rPr>
              <a:t> </a:t>
            </a:r>
            <a:r>
              <a:rPr sz="2400" spc="-5" dirty="0">
                <a:latin typeface="Arial MT"/>
                <a:cs typeface="Arial MT"/>
              </a:rPr>
              <a:t>with</a:t>
            </a:r>
            <a:r>
              <a:rPr sz="2400" spc="20" dirty="0">
                <a:latin typeface="Arial MT"/>
                <a:cs typeface="Arial MT"/>
              </a:rPr>
              <a:t> </a:t>
            </a:r>
            <a:r>
              <a:rPr sz="2400" spc="-5" dirty="0">
                <a:latin typeface="Arial MT"/>
                <a:cs typeface="Arial MT"/>
              </a:rPr>
              <a:t>'</a:t>
            </a:r>
            <a:r>
              <a:rPr sz="2400" b="1" spc="-5" dirty="0">
                <a:latin typeface="Arial"/>
                <a:cs typeface="Arial"/>
              </a:rPr>
              <a:t>N</a:t>
            </a:r>
            <a:r>
              <a:rPr sz="2400" spc="-5" dirty="0">
                <a:latin typeface="Arial MT"/>
                <a:cs typeface="Arial MT"/>
              </a:rPr>
              <a:t>'</a:t>
            </a:r>
            <a:r>
              <a:rPr sz="2400" spc="10" dirty="0">
                <a:latin typeface="Arial MT"/>
                <a:cs typeface="Arial MT"/>
              </a:rPr>
              <a:t> </a:t>
            </a:r>
            <a:r>
              <a:rPr sz="2400" spc="-5" dirty="0">
                <a:latin typeface="Arial MT"/>
                <a:cs typeface="Arial MT"/>
              </a:rPr>
              <a:t>number</a:t>
            </a:r>
            <a:r>
              <a:rPr sz="2400" spc="5" dirty="0">
                <a:latin typeface="Arial MT"/>
                <a:cs typeface="Arial MT"/>
              </a:rPr>
              <a:t> </a:t>
            </a:r>
            <a:r>
              <a:rPr sz="2400" dirty="0">
                <a:latin typeface="Arial MT"/>
                <a:cs typeface="Arial MT"/>
              </a:rPr>
              <a:t>of</a:t>
            </a:r>
            <a:r>
              <a:rPr sz="2400" spc="5" dirty="0">
                <a:latin typeface="Arial MT"/>
                <a:cs typeface="Arial MT"/>
              </a:rPr>
              <a:t> </a:t>
            </a:r>
            <a:r>
              <a:rPr sz="2400" spc="-5" dirty="0">
                <a:latin typeface="Arial MT"/>
                <a:cs typeface="Arial MT"/>
              </a:rPr>
              <a:t>nodes</a:t>
            </a:r>
            <a:r>
              <a:rPr sz="2400" spc="15" dirty="0">
                <a:latin typeface="Arial MT"/>
                <a:cs typeface="Arial MT"/>
              </a:rPr>
              <a:t> </a:t>
            </a:r>
            <a:r>
              <a:rPr sz="2400" spc="-5" dirty="0">
                <a:latin typeface="Arial MT"/>
                <a:cs typeface="Arial MT"/>
              </a:rPr>
              <a:t>there</a:t>
            </a:r>
            <a:r>
              <a:rPr sz="2400" spc="5" dirty="0">
                <a:latin typeface="Arial MT"/>
                <a:cs typeface="Arial MT"/>
              </a:rPr>
              <a:t> </a:t>
            </a:r>
            <a:r>
              <a:rPr sz="2400" spc="-5" dirty="0">
                <a:latin typeface="Arial MT"/>
                <a:cs typeface="Arial MT"/>
              </a:rPr>
              <a:t>will</a:t>
            </a:r>
            <a:r>
              <a:rPr sz="2400" spc="15" dirty="0">
                <a:latin typeface="Arial MT"/>
                <a:cs typeface="Arial MT"/>
              </a:rPr>
              <a:t> </a:t>
            </a:r>
            <a:r>
              <a:rPr sz="2400" spc="-5" dirty="0">
                <a:latin typeface="Arial MT"/>
                <a:cs typeface="Arial MT"/>
              </a:rPr>
              <a:t>be</a:t>
            </a:r>
            <a:r>
              <a:rPr sz="2400" spc="5" dirty="0">
                <a:latin typeface="Arial MT"/>
                <a:cs typeface="Arial MT"/>
              </a:rPr>
              <a:t> </a:t>
            </a:r>
            <a:r>
              <a:rPr sz="2400" spc="-5" dirty="0">
                <a:latin typeface="Arial MT"/>
                <a:cs typeface="Arial MT"/>
              </a:rPr>
              <a:t>a </a:t>
            </a:r>
            <a:r>
              <a:rPr sz="2400" dirty="0">
                <a:latin typeface="Arial MT"/>
                <a:cs typeface="Arial MT"/>
              </a:rPr>
              <a:t> </a:t>
            </a:r>
            <a:r>
              <a:rPr sz="2400" spc="-5" dirty="0">
                <a:latin typeface="Arial MT"/>
                <a:cs typeface="Arial MT"/>
              </a:rPr>
              <a:t>maximum</a:t>
            </a:r>
            <a:r>
              <a:rPr sz="2400" spc="15" dirty="0">
                <a:latin typeface="Arial MT"/>
                <a:cs typeface="Arial MT"/>
              </a:rPr>
              <a:t> </a:t>
            </a:r>
            <a:r>
              <a:rPr sz="2400" dirty="0">
                <a:latin typeface="Arial MT"/>
                <a:cs typeface="Arial MT"/>
              </a:rPr>
              <a:t>of </a:t>
            </a:r>
            <a:r>
              <a:rPr sz="2400" spc="-5" dirty="0">
                <a:latin typeface="Arial MT"/>
                <a:cs typeface="Arial MT"/>
              </a:rPr>
              <a:t>'</a:t>
            </a:r>
            <a:r>
              <a:rPr sz="2400" b="1" spc="-5" dirty="0">
                <a:latin typeface="Arial"/>
                <a:cs typeface="Arial"/>
              </a:rPr>
              <a:t>N-1</a:t>
            </a:r>
            <a:r>
              <a:rPr sz="2400" spc="-5" dirty="0">
                <a:latin typeface="Arial MT"/>
                <a:cs typeface="Arial MT"/>
              </a:rPr>
              <a:t>'</a:t>
            </a:r>
            <a:r>
              <a:rPr sz="2400" spc="10" dirty="0">
                <a:latin typeface="Arial MT"/>
                <a:cs typeface="Arial MT"/>
              </a:rPr>
              <a:t> </a:t>
            </a:r>
            <a:r>
              <a:rPr sz="2400" spc="-5" dirty="0">
                <a:latin typeface="Arial MT"/>
                <a:cs typeface="Arial MT"/>
              </a:rPr>
              <a:t>number</a:t>
            </a:r>
            <a:r>
              <a:rPr sz="2400" dirty="0">
                <a:latin typeface="Arial MT"/>
                <a:cs typeface="Arial MT"/>
              </a:rPr>
              <a:t> of</a:t>
            </a:r>
            <a:r>
              <a:rPr sz="2400" spc="5" dirty="0">
                <a:latin typeface="Arial MT"/>
                <a:cs typeface="Arial MT"/>
              </a:rPr>
              <a:t> </a:t>
            </a:r>
            <a:r>
              <a:rPr sz="2400" spc="-5" dirty="0">
                <a:latin typeface="Arial MT"/>
                <a:cs typeface="Arial MT"/>
              </a:rPr>
              <a:t>edges.</a:t>
            </a:r>
            <a:endParaRPr sz="2400">
              <a:latin typeface="Arial MT"/>
              <a:cs typeface="Arial MT"/>
            </a:endParaRPr>
          </a:p>
        </p:txBody>
      </p:sp>
      <p:grpSp>
        <p:nvGrpSpPr>
          <p:cNvPr id="3" name="object 3"/>
          <p:cNvGrpSpPr/>
          <p:nvPr/>
        </p:nvGrpSpPr>
        <p:grpSpPr>
          <a:xfrm>
            <a:off x="0" y="2883407"/>
            <a:ext cx="12192000" cy="3891279"/>
            <a:chOff x="0" y="2883407"/>
            <a:chExt cx="12192000" cy="3891279"/>
          </a:xfrm>
        </p:grpSpPr>
        <p:pic>
          <p:nvPicPr>
            <p:cNvPr id="4" name="object 4"/>
            <p:cNvPicPr/>
            <p:nvPr/>
          </p:nvPicPr>
          <p:blipFill>
            <a:blip r:embed="rId2" cstate="print"/>
            <a:stretch>
              <a:fillRect/>
            </a:stretch>
          </p:blipFill>
          <p:spPr>
            <a:xfrm>
              <a:off x="2273807" y="2883407"/>
              <a:ext cx="8759952" cy="3755136"/>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6" name="object 6"/>
          <p:cNvSpPr txBox="1"/>
          <p:nvPr/>
        </p:nvSpPr>
        <p:spPr>
          <a:xfrm>
            <a:off x="1145539" y="400558"/>
            <a:ext cx="12109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7D1B68"/>
                </a:solidFill>
                <a:latin typeface="Arial MT"/>
                <a:cs typeface="Arial MT"/>
              </a:rPr>
              <a:t>Edge</a:t>
            </a:r>
            <a:endParaRPr sz="4000">
              <a:latin typeface="Arial MT"/>
              <a:cs typeface="Arial MT"/>
            </a:endParaRP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439667"/>
            <a:ext cx="12192000" cy="3335020"/>
            <a:chOff x="0" y="3439667"/>
            <a:chExt cx="12192000" cy="3335020"/>
          </a:xfrm>
        </p:grpSpPr>
        <p:pic>
          <p:nvPicPr>
            <p:cNvPr id="3" name="object 3"/>
            <p:cNvPicPr/>
            <p:nvPr/>
          </p:nvPicPr>
          <p:blipFill>
            <a:blip r:embed="rId2" cstate="print"/>
            <a:stretch>
              <a:fillRect/>
            </a:stretch>
          </p:blipFill>
          <p:spPr>
            <a:xfrm>
              <a:off x="4343400" y="3439667"/>
              <a:ext cx="7630668" cy="3270504"/>
            </a:xfrm>
            <a:prstGeom prst="rect">
              <a:avLst/>
            </a:prstGeom>
          </p:spPr>
        </p:pic>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5" name="object 5"/>
          <p:cNvSpPr txBox="1">
            <a:spLocks noGrp="1"/>
          </p:cNvSpPr>
          <p:nvPr>
            <p:ph type="title"/>
          </p:nvPr>
        </p:nvSpPr>
        <p:spPr>
          <a:xfrm>
            <a:off x="993139" y="1009853"/>
            <a:ext cx="9490710" cy="2903855"/>
          </a:xfrm>
          <a:prstGeom prst="rect">
            <a:avLst/>
          </a:prstGeom>
        </p:spPr>
        <p:txBody>
          <a:bodyPr vert="horz" wrap="square" lIns="0" tIns="12065" rIns="0" bIns="0" rtlCol="0">
            <a:spAutoFit/>
          </a:bodyPr>
          <a:lstStyle/>
          <a:p>
            <a:pPr marL="12700">
              <a:lnSpc>
                <a:spcPct val="100000"/>
              </a:lnSpc>
              <a:spcBef>
                <a:spcPts val="95"/>
              </a:spcBef>
            </a:pPr>
            <a:r>
              <a:rPr spc="-5" dirty="0"/>
              <a:t>Parent</a:t>
            </a:r>
            <a:r>
              <a:rPr spc="-10" dirty="0"/>
              <a:t> </a:t>
            </a:r>
            <a:r>
              <a:rPr dirty="0"/>
              <a:t>/ </a:t>
            </a:r>
            <a:r>
              <a:rPr spc="-5" dirty="0"/>
              <a:t>Internal</a:t>
            </a:r>
            <a:r>
              <a:rPr spc="5" dirty="0"/>
              <a:t> </a:t>
            </a:r>
            <a:r>
              <a:rPr spc="-5" dirty="0"/>
              <a:t>Node</a:t>
            </a:r>
          </a:p>
          <a:p>
            <a:pPr marL="12700" marR="5080">
              <a:lnSpc>
                <a:spcPct val="150000"/>
              </a:lnSpc>
              <a:spcBef>
                <a:spcPts val="580"/>
              </a:spcBef>
            </a:pPr>
            <a:r>
              <a:rPr sz="2400" dirty="0">
                <a:solidFill>
                  <a:srgbClr val="000000"/>
                </a:solidFill>
                <a:latin typeface="Calibri"/>
                <a:cs typeface="Calibri"/>
              </a:rPr>
              <a:t>In a </a:t>
            </a:r>
            <a:r>
              <a:rPr sz="2400" spc="-10" dirty="0">
                <a:solidFill>
                  <a:srgbClr val="000000"/>
                </a:solidFill>
                <a:latin typeface="Calibri"/>
                <a:cs typeface="Calibri"/>
              </a:rPr>
              <a:t>tree </a:t>
            </a:r>
            <a:r>
              <a:rPr sz="2400" spc="-15" dirty="0">
                <a:solidFill>
                  <a:srgbClr val="000000"/>
                </a:solidFill>
                <a:latin typeface="Calibri"/>
                <a:cs typeface="Calibri"/>
              </a:rPr>
              <a:t>data </a:t>
            </a:r>
            <a:r>
              <a:rPr sz="2400" spc="-10" dirty="0">
                <a:solidFill>
                  <a:srgbClr val="000000"/>
                </a:solidFill>
                <a:latin typeface="Calibri"/>
                <a:cs typeface="Calibri"/>
              </a:rPr>
              <a:t>structure, </a:t>
            </a:r>
            <a:r>
              <a:rPr sz="2400" dirty="0">
                <a:solidFill>
                  <a:srgbClr val="000000"/>
                </a:solidFill>
                <a:latin typeface="Calibri"/>
                <a:cs typeface="Calibri"/>
              </a:rPr>
              <a:t>the </a:t>
            </a:r>
            <a:r>
              <a:rPr sz="2400" spc="-5" dirty="0">
                <a:solidFill>
                  <a:srgbClr val="000000"/>
                </a:solidFill>
                <a:latin typeface="Calibri"/>
                <a:cs typeface="Calibri"/>
              </a:rPr>
              <a:t>node </a:t>
            </a:r>
            <a:r>
              <a:rPr sz="2400" dirty="0">
                <a:solidFill>
                  <a:srgbClr val="000000"/>
                </a:solidFill>
                <a:latin typeface="Calibri"/>
                <a:cs typeface="Calibri"/>
              </a:rPr>
              <a:t>which is </a:t>
            </a:r>
            <a:r>
              <a:rPr sz="2400" spc="-5" dirty="0">
                <a:solidFill>
                  <a:srgbClr val="000000"/>
                </a:solidFill>
                <a:latin typeface="Calibri"/>
                <a:cs typeface="Calibri"/>
              </a:rPr>
              <a:t>predecessor of </a:t>
            </a:r>
            <a:r>
              <a:rPr sz="2400" spc="-20" dirty="0">
                <a:solidFill>
                  <a:srgbClr val="000000"/>
                </a:solidFill>
                <a:latin typeface="Calibri"/>
                <a:cs typeface="Calibri"/>
              </a:rPr>
              <a:t>any </a:t>
            </a:r>
            <a:r>
              <a:rPr sz="2400" spc="-5" dirty="0">
                <a:solidFill>
                  <a:srgbClr val="000000"/>
                </a:solidFill>
                <a:latin typeface="Calibri"/>
                <a:cs typeface="Calibri"/>
              </a:rPr>
              <a:t>node </a:t>
            </a:r>
            <a:r>
              <a:rPr sz="2400" dirty="0">
                <a:solidFill>
                  <a:srgbClr val="000000"/>
                </a:solidFill>
                <a:latin typeface="Calibri"/>
                <a:cs typeface="Calibri"/>
              </a:rPr>
              <a:t>is </a:t>
            </a:r>
            <a:r>
              <a:rPr sz="2400" spc="-5" dirty="0">
                <a:solidFill>
                  <a:srgbClr val="000000"/>
                </a:solidFill>
                <a:latin typeface="Calibri"/>
                <a:cs typeface="Calibri"/>
              </a:rPr>
              <a:t>called </a:t>
            </a:r>
            <a:r>
              <a:rPr sz="2400" dirty="0">
                <a:solidFill>
                  <a:srgbClr val="000000"/>
                </a:solidFill>
                <a:latin typeface="Calibri"/>
                <a:cs typeface="Calibri"/>
              </a:rPr>
              <a:t> as </a:t>
            </a:r>
            <a:r>
              <a:rPr sz="2400" b="1" spc="-30" dirty="0">
                <a:solidFill>
                  <a:srgbClr val="000000"/>
                </a:solidFill>
                <a:latin typeface="Calibri"/>
                <a:cs typeface="Calibri"/>
              </a:rPr>
              <a:t>PARENT </a:t>
            </a:r>
            <a:r>
              <a:rPr sz="2400" b="1" dirty="0">
                <a:solidFill>
                  <a:srgbClr val="000000"/>
                </a:solidFill>
                <a:latin typeface="Calibri"/>
                <a:cs typeface="Calibri"/>
              </a:rPr>
              <a:t>NODE</a:t>
            </a:r>
            <a:r>
              <a:rPr sz="2400" dirty="0">
                <a:solidFill>
                  <a:srgbClr val="000000"/>
                </a:solidFill>
                <a:latin typeface="Calibri"/>
                <a:cs typeface="Calibri"/>
              </a:rPr>
              <a:t>. In </a:t>
            </a:r>
            <a:r>
              <a:rPr sz="2400" spc="-5" dirty="0">
                <a:solidFill>
                  <a:srgbClr val="000000"/>
                </a:solidFill>
                <a:latin typeface="Calibri"/>
                <a:cs typeface="Calibri"/>
              </a:rPr>
              <a:t>simple </a:t>
            </a:r>
            <a:r>
              <a:rPr sz="2400" spc="-15" dirty="0">
                <a:solidFill>
                  <a:srgbClr val="000000"/>
                </a:solidFill>
                <a:latin typeface="Calibri"/>
                <a:cs typeface="Calibri"/>
              </a:rPr>
              <a:t>words, </a:t>
            </a:r>
            <a:r>
              <a:rPr sz="2400" dirty="0">
                <a:solidFill>
                  <a:srgbClr val="000000"/>
                </a:solidFill>
                <a:latin typeface="Calibri"/>
                <a:cs typeface="Calibri"/>
              </a:rPr>
              <a:t>the </a:t>
            </a:r>
            <a:r>
              <a:rPr sz="2400" spc="-5" dirty="0">
                <a:solidFill>
                  <a:srgbClr val="000000"/>
                </a:solidFill>
                <a:latin typeface="Calibri"/>
                <a:cs typeface="Calibri"/>
              </a:rPr>
              <a:t>node </a:t>
            </a:r>
            <a:r>
              <a:rPr sz="2400" dirty="0">
                <a:solidFill>
                  <a:srgbClr val="000000"/>
                </a:solidFill>
                <a:latin typeface="Calibri"/>
                <a:cs typeface="Calibri"/>
              </a:rPr>
              <a:t>which </a:t>
            </a:r>
            <a:r>
              <a:rPr sz="2400" spc="-5" dirty="0">
                <a:solidFill>
                  <a:srgbClr val="000000"/>
                </a:solidFill>
                <a:latin typeface="Calibri"/>
                <a:cs typeface="Calibri"/>
              </a:rPr>
              <a:t>has </a:t>
            </a:r>
            <a:r>
              <a:rPr sz="2400" spc="-10" dirty="0">
                <a:solidFill>
                  <a:srgbClr val="000000"/>
                </a:solidFill>
                <a:latin typeface="Calibri"/>
                <a:cs typeface="Calibri"/>
              </a:rPr>
              <a:t>branch </a:t>
            </a:r>
            <a:r>
              <a:rPr sz="2400" spc="-15" dirty="0">
                <a:solidFill>
                  <a:srgbClr val="000000"/>
                </a:solidFill>
                <a:latin typeface="Calibri"/>
                <a:cs typeface="Calibri"/>
              </a:rPr>
              <a:t>from </a:t>
            </a:r>
            <a:r>
              <a:rPr sz="2400" dirty="0">
                <a:solidFill>
                  <a:srgbClr val="000000"/>
                </a:solidFill>
                <a:latin typeface="Calibri"/>
                <a:cs typeface="Calibri"/>
              </a:rPr>
              <a:t>it </a:t>
            </a:r>
            <a:r>
              <a:rPr sz="2400" spc="-15" dirty="0">
                <a:solidFill>
                  <a:srgbClr val="000000"/>
                </a:solidFill>
                <a:latin typeface="Calibri"/>
                <a:cs typeface="Calibri"/>
              </a:rPr>
              <a:t>to </a:t>
            </a:r>
            <a:r>
              <a:rPr sz="2400" spc="-20" dirty="0">
                <a:solidFill>
                  <a:srgbClr val="000000"/>
                </a:solidFill>
                <a:latin typeface="Calibri"/>
                <a:cs typeface="Calibri"/>
              </a:rPr>
              <a:t>any </a:t>
            </a:r>
            <a:r>
              <a:rPr sz="2400" spc="-530" dirty="0">
                <a:solidFill>
                  <a:srgbClr val="000000"/>
                </a:solidFill>
                <a:latin typeface="Calibri"/>
                <a:cs typeface="Calibri"/>
              </a:rPr>
              <a:t> </a:t>
            </a:r>
            <a:r>
              <a:rPr sz="2400" spc="-5" dirty="0">
                <a:solidFill>
                  <a:srgbClr val="000000"/>
                </a:solidFill>
                <a:latin typeface="Calibri"/>
                <a:cs typeface="Calibri"/>
              </a:rPr>
              <a:t>other node </a:t>
            </a:r>
            <a:r>
              <a:rPr sz="2400" dirty="0">
                <a:solidFill>
                  <a:srgbClr val="000000"/>
                </a:solidFill>
                <a:latin typeface="Calibri"/>
                <a:cs typeface="Calibri"/>
              </a:rPr>
              <a:t>is</a:t>
            </a:r>
            <a:r>
              <a:rPr sz="2400" spc="-5" dirty="0">
                <a:solidFill>
                  <a:srgbClr val="000000"/>
                </a:solidFill>
                <a:latin typeface="Calibri"/>
                <a:cs typeface="Calibri"/>
              </a:rPr>
              <a:t> called</a:t>
            </a:r>
            <a:r>
              <a:rPr sz="2400" spc="-20" dirty="0">
                <a:solidFill>
                  <a:srgbClr val="000000"/>
                </a:solidFill>
                <a:latin typeface="Calibri"/>
                <a:cs typeface="Calibri"/>
              </a:rPr>
              <a:t> </a:t>
            </a:r>
            <a:r>
              <a:rPr sz="2400" dirty="0">
                <a:solidFill>
                  <a:srgbClr val="000000"/>
                </a:solidFill>
                <a:latin typeface="Calibri"/>
                <a:cs typeface="Calibri"/>
              </a:rPr>
              <a:t>as</a:t>
            </a:r>
            <a:r>
              <a:rPr sz="2400" spc="-5" dirty="0">
                <a:solidFill>
                  <a:srgbClr val="000000"/>
                </a:solidFill>
                <a:latin typeface="Calibri"/>
                <a:cs typeface="Calibri"/>
              </a:rPr>
              <a:t> </a:t>
            </a:r>
            <a:r>
              <a:rPr sz="2400" spc="-15" dirty="0">
                <a:solidFill>
                  <a:srgbClr val="000000"/>
                </a:solidFill>
                <a:latin typeface="Calibri"/>
                <a:cs typeface="Calibri"/>
              </a:rPr>
              <a:t>parent</a:t>
            </a:r>
            <a:r>
              <a:rPr sz="2400" dirty="0">
                <a:solidFill>
                  <a:srgbClr val="000000"/>
                </a:solidFill>
                <a:latin typeface="Calibri"/>
                <a:cs typeface="Calibri"/>
              </a:rPr>
              <a:t> </a:t>
            </a:r>
            <a:r>
              <a:rPr sz="2400" spc="-5" dirty="0">
                <a:solidFill>
                  <a:srgbClr val="000000"/>
                </a:solidFill>
                <a:latin typeface="Calibri"/>
                <a:cs typeface="Calibri"/>
              </a:rPr>
              <a:t>node.</a:t>
            </a:r>
            <a:r>
              <a:rPr sz="2400" spc="15" dirty="0">
                <a:solidFill>
                  <a:srgbClr val="000000"/>
                </a:solidFill>
                <a:latin typeface="Calibri"/>
                <a:cs typeface="Calibri"/>
              </a:rPr>
              <a:t> </a:t>
            </a:r>
            <a:r>
              <a:rPr sz="2400" spc="-20" dirty="0">
                <a:solidFill>
                  <a:srgbClr val="000000"/>
                </a:solidFill>
                <a:latin typeface="Calibri"/>
                <a:cs typeface="Calibri"/>
              </a:rPr>
              <a:t>Parent</a:t>
            </a:r>
            <a:r>
              <a:rPr sz="2400" spc="-5" dirty="0">
                <a:solidFill>
                  <a:srgbClr val="000000"/>
                </a:solidFill>
                <a:latin typeface="Calibri"/>
                <a:cs typeface="Calibri"/>
              </a:rPr>
              <a:t> node </a:t>
            </a:r>
            <a:r>
              <a:rPr sz="2400" spc="-10" dirty="0">
                <a:solidFill>
                  <a:srgbClr val="000000"/>
                </a:solidFill>
                <a:latin typeface="Calibri"/>
                <a:cs typeface="Calibri"/>
              </a:rPr>
              <a:t>can</a:t>
            </a:r>
            <a:r>
              <a:rPr sz="2400" spc="-5" dirty="0">
                <a:solidFill>
                  <a:srgbClr val="000000"/>
                </a:solidFill>
                <a:latin typeface="Calibri"/>
                <a:cs typeface="Calibri"/>
              </a:rPr>
              <a:t> </a:t>
            </a:r>
            <a:r>
              <a:rPr sz="2400" dirty="0">
                <a:solidFill>
                  <a:srgbClr val="000000"/>
                </a:solidFill>
                <a:latin typeface="Calibri"/>
                <a:cs typeface="Calibri"/>
              </a:rPr>
              <a:t>also</a:t>
            </a:r>
            <a:r>
              <a:rPr sz="2400" spc="-10" dirty="0">
                <a:solidFill>
                  <a:srgbClr val="000000"/>
                </a:solidFill>
                <a:latin typeface="Calibri"/>
                <a:cs typeface="Calibri"/>
              </a:rPr>
              <a:t> </a:t>
            </a:r>
            <a:r>
              <a:rPr sz="2400" spc="-5" dirty="0">
                <a:solidFill>
                  <a:srgbClr val="000000"/>
                </a:solidFill>
                <a:latin typeface="Calibri"/>
                <a:cs typeface="Calibri"/>
              </a:rPr>
              <a:t>be </a:t>
            </a:r>
            <a:r>
              <a:rPr sz="2400" spc="-10" dirty="0">
                <a:solidFill>
                  <a:srgbClr val="000000"/>
                </a:solidFill>
                <a:latin typeface="Calibri"/>
                <a:cs typeface="Calibri"/>
              </a:rPr>
              <a:t>defined</a:t>
            </a:r>
            <a:r>
              <a:rPr sz="2400" spc="30" dirty="0">
                <a:solidFill>
                  <a:srgbClr val="000000"/>
                </a:solidFill>
                <a:latin typeface="Calibri"/>
                <a:cs typeface="Calibri"/>
              </a:rPr>
              <a:t> </a:t>
            </a:r>
            <a:r>
              <a:rPr sz="2400" dirty="0">
                <a:solidFill>
                  <a:srgbClr val="000000"/>
                </a:solidFill>
                <a:latin typeface="Calibri"/>
                <a:cs typeface="Calibri"/>
              </a:rPr>
              <a:t>as</a:t>
            </a:r>
            <a:r>
              <a:rPr sz="2400" spc="-15" dirty="0">
                <a:solidFill>
                  <a:srgbClr val="000000"/>
                </a:solidFill>
                <a:latin typeface="Calibri"/>
                <a:cs typeface="Calibri"/>
              </a:rPr>
              <a:t> </a:t>
            </a:r>
            <a:r>
              <a:rPr sz="2400" spc="-5" dirty="0">
                <a:solidFill>
                  <a:srgbClr val="000000"/>
                </a:solidFill>
                <a:latin typeface="Calibri"/>
                <a:cs typeface="Calibri"/>
              </a:rPr>
              <a:t>"</a:t>
            </a:r>
            <a:r>
              <a:rPr sz="2400" b="1" spc="-5" dirty="0">
                <a:solidFill>
                  <a:srgbClr val="000000"/>
                </a:solidFill>
                <a:latin typeface="Calibri"/>
                <a:cs typeface="Calibri"/>
              </a:rPr>
              <a:t>The </a:t>
            </a:r>
            <a:r>
              <a:rPr sz="2400" b="1" spc="-530" dirty="0">
                <a:solidFill>
                  <a:srgbClr val="000000"/>
                </a:solidFill>
                <a:latin typeface="Calibri"/>
                <a:cs typeface="Calibri"/>
              </a:rPr>
              <a:t> </a:t>
            </a:r>
            <a:r>
              <a:rPr sz="2400" b="1" spc="-5" dirty="0">
                <a:solidFill>
                  <a:srgbClr val="000000"/>
                </a:solidFill>
                <a:latin typeface="Calibri"/>
                <a:cs typeface="Calibri"/>
              </a:rPr>
              <a:t>node</a:t>
            </a:r>
            <a:r>
              <a:rPr sz="2400" b="1" spc="-10" dirty="0">
                <a:solidFill>
                  <a:srgbClr val="000000"/>
                </a:solidFill>
                <a:latin typeface="Calibri"/>
                <a:cs typeface="Calibri"/>
              </a:rPr>
              <a:t> </a:t>
            </a:r>
            <a:r>
              <a:rPr sz="2400" b="1" spc="-5" dirty="0">
                <a:solidFill>
                  <a:srgbClr val="000000"/>
                </a:solidFill>
                <a:latin typeface="Calibri"/>
                <a:cs typeface="Calibri"/>
              </a:rPr>
              <a:t>which</a:t>
            </a:r>
            <a:r>
              <a:rPr sz="2400" b="1" spc="-20" dirty="0">
                <a:solidFill>
                  <a:srgbClr val="000000"/>
                </a:solidFill>
                <a:latin typeface="Calibri"/>
                <a:cs typeface="Calibri"/>
              </a:rPr>
              <a:t> </a:t>
            </a:r>
            <a:r>
              <a:rPr sz="2400" b="1" dirty="0">
                <a:solidFill>
                  <a:srgbClr val="000000"/>
                </a:solidFill>
                <a:latin typeface="Calibri"/>
                <a:cs typeface="Calibri"/>
              </a:rPr>
              <a:t>has child</a:t>
            </a:r>
            <a:r>
              <a:rPr sz="2400" b="1" spc="-25" dirty="0">
                <a:solidFill>
                  <a:srgbClr val="000000"/>
                </a:solidFill>
                <a:latin typeface="Calibri"/>
                <a:cs typeface="Calibri"/>
              </a:rPr>
              <a:t> </a:t>
            </a:r>
            <a:r>
              <a:rPr sz="2400" b="1" dirty="0">
                <a:solidFill>
                  <a:srgbClr val="000000"/>
                </a:solidFill>
                <a:latin typeface="Calibri"/>
                <a:cs typeface="Calibri"/>
              </a:rPr>
              <a:t>/ </a:t>
            </a:r>
            <a:r>
              <a:rPr sz="2400" b="1" spc="-10" dirty="0">
                <a:solidFill>
                  <a:srgbClr val="000000"/>
                </a:solidFill>
                <a:latin typeface="Calibri"/>
                <a:cs typeface="Calibri"/>
              </a:rPr>
              <a:t>children</a:t>
            </a:r>
            <a:r>
              <a:rPr sz="2400" spc="-10" dirty="0">
                <a:solidFill>
                  <a:srgbClr val="000000"/>
                </a:solidFill>
                <a:latin typeface="Calibri"/>
                <a:cs typeface="Calibri"/>
              </a:rPr>
              <a:t>".</a:t>
            </a:r>
            <a:endParaRPr sz="2400">
              <a:latin typeface="Calibri"/>
              <a:cs typeface="Calibri"/>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1072" y="1087860"/>
            <a:ext cx="9782810" cy="2219960"/>
          </a:xfrm>
          <a:prstGeom prst="rect">
            <a:avLst/>
          </a:prstGeom>
        </p:spPr>
        <p:txBody>
          <a:bodyPr vert="horz" wrap="square" lIns="0" tIns="12065" rIns="0" bIns="0" rtlCol="0">
            <a:spAutoFit/>
          </a:bodyPr>
          <a:lstStyle/>
          <a:p>
            <a:pPr marL="12700" marR="511809">
              <a:lnSpc>
                <a:spcPct val="150000"/>
              </a:lnSpc>
              <a:spcBef>
                <a:spcPts val="95"/>
              </a:spcBef>
            </a:pPr>
            <a:r>
              <a:rPr sz="2400" dirty="0">
                <a:latin typeface="Calibri"/>
                <a:cs typeface="Calibri"/>
              </a:rPr>
              <a:t>In</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tree </a:t>
            </a:r>
            <a:r>
              <a:rPr sz="2400" spc="-15" dirty="0">
                <a:latin typeface="Calibri"/>
                <a:cs typeface="Calibri"/>
              </a:rPr>
              <a:t>data </a:t>
            </a:r>
            <a:r>
              <a:rPr sz="2400" spc="-10" dirty="0">
                <a:latin typeface="Calibri"/>
                <a:cs typeface="Calibri"/>
              </a:rPr>
              <a:t>structure, </a:t>
            </a:r>
            <a:r>
              <a:rPr sz="2400" dirty="0">
                <a:latin typeface="Calibri"/>
                <a:cs typeface="Calibri"/>
              </a:rPr>
              <a:t>the </a:t>
            </a:r>
            <a:r>
              <a:rPr sz="2400" spc="-5" dirty="0">
                <a:latin typeface="Calibri"/>
                <a:cs typeface="Calibri"/>
              </a:rPr>
              <a:t>node </a:t>
            </a:r>
            <a:r>
              <a:rPr sz="2400" dirty="0">
                <a:latin typeface="Calibri"/>
                <a:cs typeface="Calibri"/>
              </a:rPr>
              <a:t>which</a:t>
            </a:r>
            <a:r>
              <a:rPr sz="2400" spc="-5" dirty="0">
                <a:latin typeface="Calibri"/>
                <a:cs typeface="Calibri"/>
              </a:rPr>
              <a:t> </a:t>
            </a:r>
            <a:r>
              <a:rPr sz="2400" dirty="0">
                <a:latin typeface="Calibri"/>
                <a:cs typeface="Calibri"/>
              </a:rPr>
              <a:t>is </a:t>
            </a:r>
            <a:r>
              <a:rPr sz="2400" spc="-10" dirty="0">
                <a:latin typeface="Calibri"/>
                <a:cs typeface="Calibri"/>
              </a:rPr>
              <a:t>descendant</a:t>
            </a:r>
            <a:r>
              <a:rPr sz="2400" dirty="0">
                <a:latin typeface="Calibri"/>
                <a:cs typeface="Calibri"/>
              </a:rPr>
              <a:t> </a:t>
            </a:r>
            <a:r>
              <a:rPr sz="2400" spc="-5" dirty="0">
                <a:latin typeface="Calibri"/>
                <a:cs typeface="Calibri"/>
              </a:rPr>
              <a:t>of </a:t>
            </a:r>
            <a:r>
              <a:rPr sz="2400" spc="-20" dirty="0">
                <a:latin typeface="Calibri"/>
                <a:cs typeface="Calibri"/>
              </a:rPr>
              <a:t>any</a:t>
            </a:r>
            <a:r>
              <a:rPr sz="2400" dirty="0">
                <a:latin typeface="Calibri"/>
                <a:cs typeface="Calibri"/>
              </a:rPr>
              <a:t> </a:t>
            </a:r>
            <a:r>
              <a:rPr sz="2400" spc="-5" dirty="0">
                <a:latin typeface="Calibri"/>
                <a:cs typeface="Calibri"/>
              </a:rPr>
              <a:t>node </a:t>
            </a:r>
            <a:r>
              <a:rPr sz="2400" dirty="0">
                <a:latin typeface="Calibri"/>
                <a:cs typeface="Calibri"/>
              </a:rPr>
              <a:t>is </a:t>
            </a:r>
            <a:r>
              <a:rPr sz="2400" spc="-5" dirty="0">
                <a:latin typeface="Calibri"/>
                <a:cs typeface="Calibri"/>
              </a:rPr>
              <a:t>called </a:t>
            </a:r>
            <a:r>
              <a:rPr sz="2400" spc="-525" dirty="0">
                <a:latin typeface="Calibri"/>
                <a:cs typeface="Calibri"/>
              </a:rPr>
              <a:t> </a:t>
            </a:r>
            <a:r>
              <a:rPr sz="2400" dirty="0">
                <a:latin typeface="Calibri"/>
                <a:cs typeface="Calibri"/>
              </a:rPr>
              <a:t>as</a:t>
            </a:r>
            <a:r>
              <a:rPr sz="2400" spc="-10" dirty="0">
                <a:latin typeface="Calibri"/>
                <a:cs typeface="Calibri"/>
              </a:rPr>
              <a:t> </a:t>
            </a:r>
            <a:r>
              <a:rPr sz="2400" b="1" spc="-5" dirty="0">
                <a:latin typeface="Calibri"/>
                <a:cs typeface="Calibri"/>
              </a:rPr>
              <a:t>CHILD</a:t>
            </a:r>
            <a:r>
              <a:rPr sz="2400" b="1" spc="-15" dirty="0">
                <a:latin typeface="Calibri"/>
                <a:cs typeface="Calibri"/>
              </a:rPr>
              <a:t> </a:t>
            </a:r>
            <a:r>
              <a:rPr sz="2400" b="1" dirty="0">
                <a:latin typeface="Calibri"/>
                <a:cs typeface="Calibri"/>
              </a:rPr>
              <a:t>Node</a:t>
            </a:r>
            <a:r>
              <a:rPr sz="2400" dirty="0">
                <a:latin typeface="Calibri"/>
                <a:cs typeface="Calibri"/>
              </a:rPr>
              <a:t>.</a:t>
            </a:r>
            <a:r>
              <a:rPr sz="2400" spc="-25" dirty="0">
                <a:latin typeface="Calibri"/>
                <a:cs typeface="Calibri"/>
              </a:rPr>
              <a:t> </a:t>
            </a:r>
            <a:r>
              <a:rPr sz="2400" dirty="0">
                <a:latin typeface="Calibri"/>
                <a:cs typeface="Calibri"/>
              </a:rPr>
              <a:t>In</a:t>
            </a:r>
            <a:r>
              <a:rPr sz="2400" spc="-10" dirty="0">
                <a:latin typeface="Calibri"/>
                <a:cs typeface="Calibri"/>
              </a:rPr>
              <a:t> </a:t>
            </a:r>
            <a:r>
              <a:rPr sz="2400" spc="-5" dirty="0">
                <a:latin typeface="Calibri"/>
                <a:cs typeface="Calibri"/>
              </a:rPr>
              <a:t>simple</a:t>
            </a:r>
            <a:r>
              <a:rPr sz="2400" spc="-15" dirty="0">
                <a:latin typeface="Calibri"/>
                <a:cs typeface="Calibri"/>
              </a:rPr>
              <a:t> words,</a:t>
            </a:r>
            <a:r>
              <a:rPr sz="2400" spc="-10" dirty="0">
                <a:latin typeface="Calibri"/>
                <a:cs typeface="Calibri"/>
              </a:rPr>
              <a:t> </a:t>
            </a:r>
            <a:r>
              <a:rPr sz="2400" dirty="0">
                <a:latin typeface="Calibri"/>
                <a:cs typeface="Calibri"/>
              </a:rPr>
              <a:t>the </a:t>
            </a:r>
            <a:r>
              <a:rPr sz="2400" spc="-5" dirty="0">
                <a:latin typeface="Calibri"/>
                <a:cs typeface="Calibri"/>
              </a:rPr>
              <a:t>node</a:t>
            </a:r>
            <a:r>
              <a:rPr sz="2400" spc="5" dirty="0">
                <a:latin typeface="Calibri"/>
                <a:cs typeface="Calibri"/>
              </a:rPr>
              <a:t> </a:t>
            </a:r>
            <a:r>
              <a:rPr sz="2400" dirty="0">
                <a:latin typeface="Calibri"/>
                <a:cs typeface="Calibri"/>
              </a:rPr>
              <a:t>which</a:t>
            </a:r>
            <a:r>
              <a:rPr sz="2400" spc="-15" dirty="0">
                <a:latin typeface="Calibri"/>
                <a:cs typeface="Calibri"/>
              </a:rPr>
              <a:t> </a:t>
            </a:r>
            <a:r>
              <a:rPr sz="2400" spc="-5" dirty="0">
                <a:latin typeface="Calibri"/>
                <a:cs typeface="Calibri"/>
              </a:rPr>
              <a:t>has </a:t>
            </a:r>
            <a:r>
              <a:rPr sz="2400" dirty="0">
                <a:latin typeface="Calibri"/>
                <a:cs typeface="Calibri"/>
              </a:rPr>
              <a:t>a</a:t>
            </a:r>
            <a:r>
              <a:rPr sz="2400" spc="-20" dirty="0">
                <a:latin typeface="Calibri"/>
                <a:cs typeface="Calibri"/>
              </a:rPr>
              <a:t> </a:t>
            </a:r>
            <a:r>
              <a:rPr sz="2400" dirty="0">
                <a:latin typeface="Calibri"/>
                <a:cs typeface="Calibri"/>
              </a:rPr>
              <a:t>link </a:t>
            </a:r>
            <a:r>
              <a:rPr sz="2400" spc="-15" dirty="0">
                <a:latin typeface="Calibri"/>
                <a:cs typeface="Calibri"/>
              </a:rPr>
              <a:t>from</a:t>
            </a:r>
            <a:r>
              <a:rPr sz="2400" spc="-25" dirty="0">
                <a:latin typeface="Calibri"/>
                <a:cs typeface="Calibri"/>
              </a:rPr>
              <a:t> </a:t>
            </a:r>
            <a:r>
              <a:rPr sz="2400" dirty="0">
                <a:latin typeface="Calibri"/>
                <a:cs typeface="Calibri"/>
              </a:rPr>
              <a:t>its</a:t>
            </a:r>
            <a:r>
              <a:rPr sz="2400" spc="-20" dirty="0">
                <a:latin typeface="Calibri"/>
                <a:cs typeface="Calibri"/>
              </a:rPr>
              <a:t> </a:t>
            </a:r>
            <a:r>
              <a:rPr sz="2400" spc="-15" dirty="0">
                <a:latin typeface="Calibri"/>
                <a:cs typeface="Calibri"/>
              </a:rPr>
              <a:t>parent</a:t>
            </a:r>
            <a:endParaRPr sz="2400">
              <a:latin typeface="Calibri"/>
              <a:cs typeface="Calibri"/>
            </a:endParaRPr>
          </a:p>
          <a:p>
            <a:pPr marL="12700" marR="5080">
              <a:lnSpc>
                <a:spcPct val="150000"/>
              </a:lnSpc>
            </a:pPr>
            <a:r>
              <a:rPr sz="2400" spc="-5" dirty="0">
                <a:latin typeface="Calibri"/>
                <a:cs typeface="Calibri"/>
              </a:rPr>
              <a:t>node</a:t>
            </a:r>
            <a:r>
              <a:rPr sz="2400" spc="-10" dirty="0">
                <a:latin typeface="Calibri"/>
                <a:cs typeface="Calibri"/>
              </a:rPr>
              <a:t> </a:t>
            </a:r>
            <a:r>
              <a:rPr sz="2400" dirty="0">
                <a:latin typeface="Calibri"/>
                <a:cs typeface="Calibri"/>
              </a:rPr>
              <a:t>is</a:t>
            </a:r>
            <a:r>
              <a:rPr sz="2400" spc="-5" dirty="0">
                <a:latin typeface="Calibri"/>
                <a:cs typeface="Calibri"/>
              </a:rPr>
              <a:t> called</a:t>
            </a:r>
            <a:r>
              <a:rPr sz="2400" spc="-20" dirty="0">
                <a:latin typeface="Calibri"/>
                <a:cs typeface="Calibri"/>
              </a:rPr>
              <a:t> </a:t>
            </a:r>
            <a:r>
              <a:rPr sz="2400" dirty="0">
                <a:latin typeface="Calibri"/>
                <a:cs typeface="Calibri"/>
              </a:rPr>
              <a:t>as</a:t>
            </a:r>
            <a:r>
              <a:rPr sz="2400" spc="-5" dirty="0">
                <a:latin typeface="Calibri"/>
                <a:cs typeface="Calibri"/>
              </a:rPr>
              <a:t> </a:t>
            </a:r>
            <a:r>
              <a:rPr sz="2400" dirty="0">
                <a:latin typeface="Calibri"/>
                <a:cs typeface="Calibri"/>
              </a:rPr>
              <a:t>child</a:t>
            </a:r>
            <a:r>
              <a:rPr sz="2400" spc="-15" dirty="0">
                <a:latin typeface="Calibri"/>
                <a:cs typeface="Calibri"/>
              </a:rPr>
              <a:t> </a:t>
            </a:r>
            <a:r>
              <a:rPr sz="2400" spc="-5" dirty="0">
                <a:latin typeface="Calibri"/>
                <a:cs typeface="Calibri"/>
              </a:rPr>
              <a:t>node.</a:t>
            </a:r>
            <a:r>
              <a:rPr sz="2400" spc="-10" dirty="0">
                <a:latin typeface="Calibri"/>
                <a:cs typeface="Calibri"/>
              </a:rPr>
              <a:t> </a:t>
            </a:r>
            <a:r>
              <a:rPr sz="2400" dirty="0">
                <a:latin typeface="Calibri"/>
                <a:cs typeface="Calibri"/>
              </a:rPr>
              <a:t>In a</a:t>
            </a:r>
            <a:r>
              <a:rPr sz="2400" spc="-15" dirty="0">
                <a:latin typeface="Calibri"/>
                <a:cs typeface="Calibri"/>
              </a:rPr>
              <a:t> </a:t>
            </a:r>
            <a:r>
              <a:rPr sz="2400" spc="-10" dirty="0">
                <a:latin typeface="Calibri"/>
                <a:cs typeface="Calibri"/>
              </a:rPr>
              <a:t>tree,</a:t>
            </a:r>
            <a:r>
              <a:rPr sz="2400" dirty="0">
                <a:latin typeface="Calibri"/>
                <a:cs typeface="Calibri"/>
              </a:rPr>
              <a:t> </a:t>
            </a:r>
            <a:r>
              <a:rPr sz="2400" spc="-20" dirty="0">
                <a:latin typeface="Calibri"/>
                <a:cs typeface="Calibri"/>
              </a:rPr>
              <a:t>any</a:t>
            </a:r>
            <a:r>
              <a:rPr sz="2400" dirty="0">
                <a:latin typeface="Calibri"/>
                <a:cs typeface="Calibri"/>
              </a:rPr>
              <a:t> </a:t>
            </a:r>
            <a:r>
              <a:rPr sz="2400" spc="-10" dirty="0">
                <a:latin typeface="Calibri"/>
                <a:cs typeface="Calibri"/>
              </a:rPr>
              <a:t>parent</a:t>
            </a:r>
            <a:r>
              <a:rPr sz="2400" spc="-5" dirty="0">
                <a:latin typeface="Calibri"/>
                <a:cs typeface="Calibri"/>
              </a:rPr>
              <a:t> node</a:t>
            </a:r>
            <a:r>
              <a:rPr sz="2400" dirty="0">
                <a:latin typeface="Calibri"/>
                <a:cs typeface="Calibri"/>
              </a:rPr>
              <a:t> </a:t>
            </a:r>
            <a:r>
              <a:rPr sz="2400" spc="-10" dirty="0">
                <a:latin typeface="Calibri"/>
                <a:cs typeface="Calibri"/>
              </a:rPr>
              <a:t>can</a:t>
            </a:r>
            <a:r>
              <a:rPr sz="2400" spc="-5" dirty="0">
                <a:latin typeface="Calibri"/>
                <a:cs typeface="Calibri"/>
              </a:rPr>
              <a:t> </a:t>
            </a:r>
            <a:r>
              <a:rPr sz="2400" spc="-20" dirty="0">
                <a:latin typeface="Calibri"/>
                <a:cs typeface="Calibri"/>
              </a:rPr>
              <a:t>have</a:t>
            </a:r>
            <a:r>
              <a:rPr sz="2400" dirty="0">
                <a:latin typeface="Calibri"/>
                <a:cs typeface="Calibri"/>
              </a:rPr>
              <a:t> </a:t>
            </a:r>
            <a:r>
              <a:rPr sz="2400" spc="-15" dirty="0">
                <a:latin typeface="Calibri"/>
                <a:cs typeface="Calibri"/>
              </a:rPr>
              <a:t>any</a:t>
            </a:r>
            <a:r>
              <a:rPr sz="2400" dirty="0">
                <a:latin typeface="Calibri"/>
                <a:cs typeface="Calibri"/>
              </a:rPr>
              <a:t> </a:t>
            </a:r>
            <a:r>
              <a:rPr sz="2400" spc="-5" dirty="0">
                <a:latin typeface="Calibri"/>
                <a:cs typeface="Calibri"/>
              </a:rPr>
              <a:t>number</a:t>
            </a:r>
            <a:r>
              <a:rPr sz="2400" spc="-15" dirty="0">
                <a:latin typeface="Calibri"/>
                <a:cs typeface="Calibri"/>
              </a:rPr>
              <a:t> </a:t>
            </a:r>
            <a:r>
              <a:rPr sz="2400" spc="-5" dirty="0">
                <a:latin typeface="Calibri"/>
                <a:cs typeface="Calibri"/>
              </a:rPr>
              <a:t>of </a:t>
            </a:r>
            <a:r>
              <a:rPr sz="2400" spc="-530" dirty="0">
                <a:latin typeface="Calibri"/>
                <a:cs typeface="Calibri"/>
              </a:rPr>
              <a:t> </a:t>
            </a:r>
            <a:r>
              <a:rPr sz="2400" dirty="0">
                <a:latin typeface="Calibri"/>
                <a:cs typeface="Calibri"/>
              </a:rPr>
              <a:t>child</a:t>
            </a:r>
            <a:r>
              <a:rPr sz="2400" spc="-15" dirty="0">
                <a:latin typeface="Calibri"/>
                <a:cs typeface="Calibri"/>
              </a:rPr>
              <a:t> </a:t>
            </a:r>
            <a:r>
              <a:rPr sz="2400" spc="-5" dirty="0">
                <a:latin typeface="Calibri"/>
                <a:cs typeface="Calibri"/>
              </a:rPr>
              <a:t>nodes. </a:t>
            </a:r>
            <a:r>
              <a:rPr sz="2400" dirty="0">
                <a:latin typeface="Calibri"/>
                <a:cs typeface="Calibri"/>
              </a:rPr>
              <a:t>In a</a:t>
            </a:r>
            <a:r>
              <a:rPr sz="2400" spc="-20" dirty="0">
                <a:latin typeface="Calibri"/>
                <a:cs typeface="Calibri"/>
              </a:rPr>
              <a:t> </a:t>
            </a:r>
            <a:r>
              <a:rPr sz="2400" spc="-10" dirty="0">
                <a:latin typeface="Calibri"/>
                <a:cs typeface="Calibri"/>
              </a:rPr>
              <a:t>tree,</a:t>
            </a:r>
            <a:r>
              <a:rPr sz="2400" dirty="0">
                <a:latin typeface="Calibri"/>
                <a:cs typeface="Calibri"/>
              </a:rPr>
              <a:t> all</a:t>
            </a:r>
            <a:r>
              <a:rPr sz="2400" spc="-20" dirty="0">
                <a:latin typeface="Calibri"/>
                <a:cs typeface="Calibri"/>
              </a:rPr>
              <a:t> </a:t>
            </a:r>
            <a:r>
              <a:rPr sz="2400" dirty="0">
                <a:latin typeface="Calibri"/>
                <a:cs typeface="Calibri"/>
              </a:rPr>
              <a:t>the </a:t>
            </a:r>
            <a:r>
              <a:rPr sz="2400" spc="-5" dirty="0">
                <a:latin typeface="Calibri"/>
                <a:cs typeface="Calibri"/>
              </a:rPr>
              <a:t>nodes</a:t>
            </a:r>
            <a:r>
              <a:rPr sz="2400" spc="5" dirty="0">
                <a:latin typeface="Calibri"/>
                <a:cs typeface="Calibri"/>
              </a:rPr>
              <a:t> </a:t>
            </a:r>
            <a:r>
              <a:rPr sz="2400" spc="-15" dirty="0">
                <a:latin typeface="Calibri"/>
                <a:cs typeface="Calibri"/>
              </a:rPr>
              <a:t>except</a:t>
            </a:r>
            <a:r>
              <a:rPr sz="2400" spc="-30" dirty="0">
                <a:latin typeface="Calibri"/>
                <a:cs typeface="Calibri"/>
              </a:rPr>
              <a:t> </a:t>
            </a:r>
            <a:r>
              <a:rPr sz="2400" spc="-15" dirty="0">
                <a:latin typeface="Calibri"/>
                <a:cs typeface="Calibri"/>
              </a:rPr>
              <a:t>root are</a:t>
            </a:r>
            <a:r>
              <a:rPr sz="2400" spc="-5" dirty="0">
                <a:latin typeface="Calibri"/>
                <a:cs typeface="Calibri"/>
              </a:rPr>
              <a:t> child</a:t>
            </a:r>
            <a:r>
              <a:rPr sz="2400" spc="-20" dirty="0">
                <a:latin typeface="Calibri"/>
                <a:cs typeface="Calibri"/>
              </a:rPr>
              <a:t> </a:t>
            </a:r>
            <a:r>
              <a:rPr sz="2400" spc="-5" dirty="0">
                <a:latin typeface="Calibri"/>
                <a:cs typeface="Calibri"/>
              </a:rPr>
              <a:t>nodes.</a:t>
            </a:r>
            <a:endParaRPr sz="2400">
              <a:latin typeface="Calibri"/>
              <a:cs typeface="Calibri"/>
            </a:endParaRPr>
          </a:p>
        </p:txBody>
      </p:sp>
      <p:grpSp>
        <p:nvGrpSpPr>
          <p:cNvPr id="3" name="object 3"/>
          <p:cNvGrpSpPr/>
          <p:nvPr/>
        </p:nvGrpSpPr>
        <p:grpSpPr>
          <a:xfrm>
            <a:off x="0" y="3422903"/>
            <a:ext cx="12192000" cy="3351529"/>
            <a:chOff x="0" y="3422903"/>
            <a:chExt cx="12192000" cy="3351529"/>
          </a:xfrm>
        </p:grpSpPr>
        <p:pic>
          <p:nvPicPr>
            <p:cNvPr id="4" name="object 4"/>
            <p:cNvPicPr/>
            <p:nvPr/>
          </p:nvPicPr>
          <p:blipFill>
            <a:blip r:embed="rId2" cstate="print"/>
            <a:stretch>
              <a:fillRect/>
            </a:stretch>
          </p:blipFill>
          <p:spPr>
            <a:xfrm>
              <a:off x="4591811" y="3422903"/>
              <a:ext cx="7600188" cy="3256788"/>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6" name="object 6"/>
          <p:cNvSpPr txBox="1">
            <a:spLocks noGrp="1"/>
          </p:cNvSpPr>
          <p:nvPr>
            <p:ph type="title"/>
          </p:nvPr>
        </p:nvSpPr>
        <p:spPr>
          <a:xfrm>
            <a:off x="1145539" y="400558"/>
            <a:ext cx="1181735" cy="635000"/>
          </a:xfrm>
          <a:prstGeom prst="rect">
            <a:avLst/>
          </a:prstGeom>
        </p:spPr>
        <p:txBody>
          <a:bodyPr vert="horz" wrap="square" lIns="0" tIns="12065" rIns="0" bIns="0" rtlCol="0">
            <a:spAutoFit/>
          </a:bodyPr>
          <a:lstStyle/>
          <a:p>
            <a:pPr marL="12700">
              <a:lnSpc>
                <a:spcPct val="100000"/>
              </a:lnSpc>
              <a:spcBef>
                <a:spcPts val="95"/>
              </a:spcBef>
            </a:pPr>
            <a:r>
              <a:rPr spc="-5" dirty="0"/>
              <a:t>Child</a:t>
            </a: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995934"/>
            <a:ext cx="9679305" cy="1671955"/>
          </a:xfrm>
          <a:prstGeom prst="rect">
            <a:avLst/>
          </a:prstGeom>
        </p:spPr>
        <p:txBody>
          <a:bodyPr vert="horz" wrap="square" lIns="0" tIns="195580" rIns="0" bIns="0" rtlCol="0">
            <a:spAutoFit/>
          </a:bodyPr>
          <a:lstStyle/>
          <a:p>
            <a:pPr marL="12700">
              <a:lnSpc>
                <a:spcPct val="100000"/>
              </a:lnSpc>
              <a:spcBef>
                <a:spcPts val="1540"/>
              </a:spcBef>
            </a:pPr>
            <a:r>
              <a:rPr sz="2400" dirty="0">
                <a:latin typeface="Calibri"/>
                <a:cs typeface="Calibri"/>
              </a:rPr>
              <a:t>In</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tree </a:t>
            </a:r>
            <a:r>
              <a:rPr sz="2400" spc="-15" dirty="0">
                <a:latin typeface="Calibri"/>
                <a:cs typeface="Calibri"/>
              </a:rPr>
              <a:t>data </a:t>
            </a:r>
            <a:r>
              <a:rPr sz="2400" spc="-10" dirty="0">
                <a:latin typeface="Calibri"/>
                <a:cs typeface="Calibri"/>
              </a:rPr>
              <a:t>structure, </a:t>
            </a:r>
            <a:r>
              <a:rPr sz="2400" spc="-5" dirty="0">
                <a:latin typeface="Calibri"/>
                <a:cs typeface="Calibri"/>
              </a:rPr>
              <a:t>nodes </a:t>
            </a:r>
            <a:r>
              <a:rPr sz="2400" dirty="0">
                <a:latin typeface="Calibri"/>
                <a:cs typeface="Calibri"/>
              </a:rPr>
              <a:t>which</a:t>
            </a:r>
            <a:r>
              <a:rPr sz="2400" spc="-20" dirty="0">
                <a:latin typeface="Calibri"/>
                <a:cs typeface="Calibri"/>
              </a:rPr>
              <a:t> </a:t>
            </a:r>
            <a:r>
              <a:rPr sz="2400" spc="-5" dirty="0">
                <a:latin typeface="Calibri"/>
                <a:cs typeface="Calibri"/>
              </a:rPr>
              <a:t>belong </a:t>
            </a:r>
            <a:r>
              <a:rPr sz="2400" spc="-15" dirty="0">
                <a:latin typeface="Calibri"/>
                <a:cs typeface="Calibri"/>
              </a:rPr>
              <a:t>to</a:t>
            </a:r>
            <a:r>
              <a:rPr sz="2400" spc="-25" dirty="0">
                <a:latin typeface="Calibri"/>
                <a:cs typeface="Calibri"/>
              </a:rPr>
              <a:t> </a:t>
            </a:r>
            <a:r>
              <a:rPr sz="2400" spc="-5" dirty="0">
                <a:latin typeface="Calibri"/>
                <a:cs typeface="Calibri"/>
              </a:rPr>
              <a:t>same</a:t>
            </a:r>
            <a:r>
              <a:rPr sz="2400" dirty="0">
                <a:latin typeface="Calibri"/>
                <a:cs typeface="Calibri"/>
              </a:rPr>
              <a:t> </a:t>
            </a:r>
            <a:r>
              <a:rPr sz="2400" spc="-20" dirty="0">
                <a:latin typeface="Calibri"/>
                <a:cs typeface="Calibri"/>
              </a:rPr>
              <a:t>Parent</a:t>
            </a:r>
            <a:r>
              <a:rPr sz="2400" spc="-15" dirty="0">
                <a:latin typeface="Calibri"/>
                <a:cs typeface="Calibri"/>
              </a:rPr>
              <a:t> are</a:t>
            </a:r>
            <a:r>
              <a:rPr sz="2400" dirty="0">
                <a:latin typeface="Calibri"/>
                <a:cs typeface="Calibri"/>
              </a:rPr>
              <a:t> </a:t>
            </a:r>
            <a:r>
              <a:rPr sz="2400" spc="-5" dirty="0">
                <a:latin typeface="Calibri"/>
                <a:cs typeface="Calibri"/>
              </a:rPr>
              <a:t>called</a:t>
            </a:r>
            <a:endParaRPr sz="2400">
              <a:latin typeface="Calibri"/>
              <a:cs typeface="Calibri"/>
            </a:endParaRPr>
          </a:p>
          <a:p>
            <a:pPr marL="12700" marR="5080">
              <a:lnSpc>
                <a:spcPts val="4320"/>
              </a:lnSpc>
              <a:spcBef>
                <a:spcPts val="180"/>
              </a:spcBef>
            </a:pPr>
            <a:r>
              <a:rPr sz="2400" dirty="0">
                <a:latin typeface="Calibri"/>
                <a:cs typeface="Calibri"/>
              </a:rPr>
              <a:t>as </a:t>
            </a:r>
            <a:r>
              <a:rPr sz="2400" b="1" spc="-5" dirty="0">
                <a:solidFill>
                  <a:srgbClr val="7D1B68"/>
                </a:solidFill>
                <a:latin typeface="Calibri"/>
                <a:cs typeface="Calibri"/>
              </a:rPr>
              <a:t>SIBLINGS</a:t>
            </a:r>
            <a:r>
              <a:rPr sz="2400" spc="-5" dirty="0">
                <a:latin typeface="Calibri"/>
                <a:cs typeface="Calibri"/>
              </a:rPr>
              <a:t>. </a:t>
            </a:r>
            <a:r>
              <a:rPr sz="2400" dirty="0">
                <a:latin typeface="Calibri"/>
                <a:cs typeface="Calibri"/>
              </a:rPr>
              <a:t>In </a:t>
            </a:r>
            <a:r>
              <a:rPr sz="2400" spc="-5" dirty="0">
                <a:latin typeface="Calibri"/>
                <a:cs typeface="Calibri"/>
              </a:rPr>
              <a:t>simple </a:t>
            </a:r>
            <a:r>
              <a:rPr sz="2400" spc="-15" dirty="0">
                <a:latin typeface="Calibri"/>
                <a:cs typeface="Calibri"/>
              </a:rPr>
              <a:t>words, </a:t>
            </a:r>
            <a:r>
              <a:rPr sz="2400" dirty="0">
                <a:latin typeface="Calibri"/>
                <a:cs typeface="Calibri"/>
              </a:rPr>
              <a:t>the </a:t>
            </a:r>
            <a:r>
              <a:rPr sz="2400" spc="-5" dirty="0">
                <a:latin typeface="Calibri"/>
                <a:cs typeface="Calibri"/>
              </a:rPr>
              <a:t>nodes </a:t>
            </a:r>
            <a:r>
              <a:rPr sz="2400" dirty="0">
                <a:latin typeface="Calibri"/>
                <a:cs typeface="Calibri"/>
              </a:rPr>
              <a:t>with </a:t>
            </a:r>
            <a:r>
              <a:rPr sz="2400" spc="-5" dirty="0">
                <a:latin typeface="Calibri"/>
                <a:cs typeface="Calibri"/>
              </a:rPr>
              <a:t>same </a:t>
            </a:r>
            <a:r>
              <a:rPr sz="2400" spc="-15" dirty="0">
                <a:latin typeface="Calibri"/>
                <a:cs typeface="Calibri"/>
              </a:rPr>
              <a:t>parent are </a:t>
            </a:r>
            <a:r>
              <a:rPr sz="2400" spc="-5" dirty="0">
                <a:latin typeface="Calibri"/>
                <a:cs typeface="Calibri"/>
              </a:rPr>
              <a:t>called </a:t>
            </a:r>
            <a:r>
              <a:rPr sz="2400" dirty="0">
                <a:latin typeface="Calibri"/>
                <a:cs typeface="Calibri"/>
              </a:rPr>
              <a:t>as </a:t>
            </a:r>
            <a:r>
              <a:rPr sz="2400" spc="-5" dirty="0">
                <a:latin typeface="Calibri"/>
                <a:cs typeface="Calibri"/>
              </a:rPr>
              <a:t>Sibling </a:t>
            </a:r>
            <a:r>
              <a:rPr sz="2400" spc="-530" dirty="0">
                <a:latin typeface="Calibri"/>
                <a:cs typeface="Calibri"/>
              </a:rPr>
              <a:t> </a:t>
            </a:r>
            <a:r>
              <a:rPr sz="2400" spc="-5" dirty="0">
                <a:latin typeface="Calibri"/>
                <a:cs typeface="Calibri"/>
              </a:rPr>
              <a:t>nodes.</a:t>
            </a:r>
            <a:endParaRPr sz="2400">
              <a:latin typeface="Calibri"/>
              <a:cs typeface="Calibri"/>
            </a:endParaRPr>
          </a:p>
        </p:txBody>
      </p:sp>
      <p:grpSp>
        <p:nvGrpSpPr>
          <p:cNvPr id="3" name="object 3"/>
          <p:cNvGrpSpPr/>
          <p:nvPr/>
        </p:nvGrpSpPr>
        <p:grpSpPr>
          <a:xfrm>
            <a:off x="0" y="3086100"/>
            <a:ext cx="12192000" cy="3688079"/>
            <a:chOff x="0" y="3086100"/>
            <a:chExt cx="12192000" cy="3688079"/>
          </a:xfrm>
        </p:grpSpPr>
        <p:pic>
          <p:nvPicPr>
            <p:cNvPr id="4" name="object 4"/>
            <p:cNvPicPr/>
            <p:nvPr/>
          </p:nvPicPr>
          <p:blipFill>
            <a:blip r:embed="rId2" cstate="print"/>
            <a:stretch>
              <a:fillRect/>
            </a:stretch>
          </p:blipFill>
          <p:spPr>
            <a:xfrm>
              <a:off x="3168395" y="3086100"/>
              <a:ext cx="8272272" cy="3544824"/>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6" name="object 6"/>
          <p:cNvSpPr txBox="1">
            <a:spLocks noGrp="1"/>
          </p:cNvSpPr>
          <p:nvPr>
            <p:ph type="title"/>
          </p:nvPr>
        </p:nvSpPr>
        <p:spPr>
          <a:xfrm>
            <a:off x="1145539" y="400558"/>
            <a:ext cx="1803400" cy="635000"/>
          </a:xfrm>
          <a:prstGeom prst="rect">
            <a:avLst/>
          </a:prstGeom>
        </p:spPr>
        <p:txBody>
          <a:bodyPr vert="horz" wrap="square" lIns="0" tIns="12065" rIns="0" bIns="0" rtlCol="0">
            <a:spAutoFit/>
          </a:bodyPr>
          <a:lstStyle/>
          <a:p>
            <a:pPr marL="12700">
              <a:lnSpc>
                <a:spcPct val="100000"/>
              </a:lnSpc>
              <a:spcBef>
                <a:spcPts val="95"/>
              </a:spcBef>
            </a:pPr>
            <a:r>
              <a:rPr spc="-5" dirty="0"/>
              <a:t>Siblings</a:t>
            </a: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4644" y="2697479"/>
            <a:ext cx="8446008" cy="3619500"/>
          </a:xfrm>
          <a:prstGeom prst="rect">
            <a:avLst/>
          </a:prstGeom>
        </p:spPr>
      </p:pic>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a:spLocks noGrp="1"/>
          </p:cNvSpPr>
          <p:nvPr>
            <p:ph type="title"/>
          </p:nvPr>
        </p:nvSpPr>
        <p:spPr>
          <a:xfrm>
            <a:off x="1116583" y="885571"/>
            <a:ext cx="9735820" cy="1814195"/>
          </a:xfrm>
          <a:prstGeom prst="rect">
            <a:avLst/>
          </a:prstGeom>
        </p:spPr>
        <p:txBody>
          <a:bodyPr vert="horz" wrap="square" lIns="0" tIns="12065" rIns="0" bIns="0" rtlCol="0">
            <a:spAutoFit/>
          </a:bodyPr>
          <a:lstStyle/>
          <a:p>
            <a:pPr marL="41275">
              <a:lnSpc>
                <a:spcPct val="100000"/>
              </a:lnSpc>
              <a:spcBef>
                <a:spcPts val="95"/>
              </a:spcBef>
            </a:pPr>
            <a:r>
              <a:rPr spc="-5" dirty="0"/>
              <a:t>Leaf</a:t>
            </a:r>
            <a:r>
              <a:rPr spc="10" dirty="0"/>
              <a:t> </a:t>
            </a:r>
            <a:r>
              <a:rPr spc="-5" dirty="0"/>
              <a:t>Node</a:t>
            </a:r>
            <a:r>
              <a:rPr spc="10" dirty="0"/>
              <a:t> </a:t>
            </a:r>
            <a:r>
              <a:rPr spc="-5" dirty="0"/>
              <a:t>/ External</a:t>
            </a:r>
            <a:r>
              <a:rPr spc="10" dirty="0"/>
              <a:t> </a:t>
            </a:r>
            <a:r>
              <a:rPr spc="-5" dirty="0"/>
              <a:t>Node</a:t>
            </a:r>
            <a:r>
              <a:rPr spc="20" dirty="0"/>
              <a:t> </a:t>
            </a:r>
            <a:r>
              <a:rPr spc="-5" dirty="0"/>
              <a:t>/</a:t>
            </a:r>
            <a:r>
              <a:rPr spc="-75" dirty="0"/>
              <a:t> </a:t>
            </a:r>
            <a:r>
              <a:rPr spc="-60" dirty="0"/>
              <a:t>Terminal</a:t>
            </a:r>
            <a:r>
              <a:rPr spc="35" dirty="0"/>
              <a:t> </a:t>
            </a:r>
            <a:r>
              <a:rPr spc="-5" dirty="0"/>
              <a:t>Node</a:t>
            </a:r>
          </a:p>
          <a:p>
            <a:pPr marL="12700" marR="76200">
              <a:lnSpc>
                <a:spcPct val="150000"/>
              </a:lnSpc>
              <a:spcBef>
                <a:spcPts val="645"/>
              </a:spcBef>
            </a:pPr>
            <a:r>
              <a:rPr sz="2400" dirty="0">
                <a:solidFill>
                  <a:srgbClr val="000000"/>
                </a:solidFill>
                <a:latin typeface="Calibri"/>
                <a:cs typeface="Calibri"/>
              </a:rPr>
              <a:t>In a </a:t>
            </a:r>
            <a:r>
              <a:rPr sz="2400" spc="-10" dirty="0">
                <a:solidFill>
                  <a:srgbClr val="000000"/>
                </a:solidFill>
                <a:latin typeface="Calibri"/>
                <a:cs typeface="Calibri"/>
              </a:rPr>
              <a:t>tree </a:t>
            </a:r>
            <a:r>
              <a:rPr sz="2400" spc="-15" dirty="0">
                <a:solidFill>
                  <a:srgbClr val="000000"/>
                </a:solidFill>
                <a:latin typeface="Calibri"/>
                <a:cs typeface="Calibri"/>
              </a:rPr>
              <a:t>data </a:t>
            </a:r>
            <a:r>
              <a:rPr sz="2400" spc="-10" dirty="0">
                <a:solidFill>
                  <a:srgbClr val="000000"/>
                </a:solidFill>
                <a:latin typeface="Calibri"/>
                <a:cs typeface="Calibri"/>
              </a:rPr>
              <a:t>structure, </a:t>
            </a:r>
            <a:r>
              <a:rPr sz="2400" dirty="0">
                <a:solidFill>
                  <a:srgbClr val="000000"/>
                </a:solidFill>
                <a:latin typeface="Calibri"/>
                <a:cs typeface="Calibri"/>
              </a:rPr>
              <a:t>the </a:t>
            </a:r>
            <a:r>
              <a:rPr sz="2400" spc="-5" dirty="0">
                <a:solidFill>
                  <a:srgbClr val="000000"/>
                </a:solidFill>
                <a:latin typeface="Calibri"/>
                <a:cs typeface="Calibri"/>
              </a:rPr>
              <a:t>node </a:t>
            </a:r>
            <a:r>
              <a:rPr sz="2400" dirty="0">
                <a:solidFill>
                  <a:srgbClr val="000000"/>
                </a:solidFill>
                <a:latin typeface="Calibri"/>
                <a:cs typeface="Calibri"/>
              </a:rPr>
              <a:t>which </a:t>
            </a:r>
            <a:r>
              <a:rPr sz="2400" spc="-5" dirty="0">
                <a:solidFill>
                  <a:srgbClr val="000000"/>
                </a:solidFill>
                <a:latin typeface="Calibri"/>
                <a:cs typeface="Calibri"/>
              </a:rPr>
              <a:t>does not </a:t>
            </a:r>
            <a:r>
              <a:rPr sz="2400" spc="-20" dirty="0">
                <a:solidFill>
                  <a:srgbClr val="000000"/>
                </a:solidFill>
                <a:latin typeface="Calibri"/>
                <a:cs typeface="Calibri"/>
              </a:rPr>
              <a:t>have </a:t>
            </a:r>
            <a:r>
              <a:rPr sz="2400" dirty="0">
                <a:solidFill>
                  <a:srgbClr val="000000"/>
                </a:solidFill>
                <a:latin typeface="Calibri"/>
                <a:cs typeface="Calibri"/>
              </a:rPr>
              <a:t>a child is </a:t>
            </a:r>
            <a:r>
              <a:rPr sz="2400" spc="-5" dirty="0">
                <a:solidFill>
                  <a:srgbClr val="000000"/>
                </a:solidFill>
                <a:latin typeface="Calibri"/>
                <a:cs typeface="Calibri"/>
              </a:rPr>
              <a:t>called </a:t>
            </a:r>
            <a:r>
              <a:rPr sz="2400" dirty="0">
                <a:solidFill>
                  <a:srgbClr val="000000"/>
                </a:solidFill>
                <a:latin typeface="Calibri"/>
                <a:cs typeface="Calibri"/>
              </a:rPr>
              <a:t>as </a:t>
            </a:r>
            <a:r>
              <a:rPr sz="2400" b="1" spc="-5" dirty="0">
                <a:latin typeface="Calibri"/>
                <a:cs typeface="Calibri"/>
              </a:rPr>
              <a:t>LEAF </a:t>
            </a:r>
            <a:r>
              <a:rPr sz="2400" b="1" spc="-530" dirty="0">
                <a:latin typeface="Calibri"/>
                <a:cs typeface="Calibri"/>
              </a:rPr>
              <a:t> </a:t>
            </a:r>
            <a:r>
              <a:rPr sz="2400" b="1" dirty="0">
                <a:latin typeface="Calibri"/>
                <a:cs typeface="Calibri"/>
              </a:rPr>
              <a:t>Node</a:t>
            </a:r>
            <a:r>
              <a:rPr sz="2400" dirty="0">
                <a:solidFill>
                  <a:srgbClr val="000000"/>
                </a:solidFill>
                <a:latin typeface="Calibri"/>
                <a:cs typeface="Calibri"/>
              </a:rPr>
              <a:t>.</a:t>
            </a:r>
            <a:r>
              <a:rPr sz="2400" spc="-30" dirty="0">
                <a:solidFill>
                  <a:srgbClr val="000000"/>
                </a:solidFill>
                <a:latin typeface="Calibri"/>
                <a:cs typeface="Calibri"/>
              </a:rPr>
              <a:t> </a:t>
            </a:r>
            <a:r>
              <a:rPr sz="2400" dirty="0">
                <a:solidFill>
                  <a:srgbClr val="000000"/>
                </a:solidFill>
                <a:latin typeface="Calibri"/>
                <a:cs typeface="Calibri"/>
              </a:rPr>
              <a:t>In </a:t>
            </a:r>
            <a:r>
              <a:rPr sz="2400" spc="-5" dirty="0">
                <a:solidFill>
                  <a:srgbClr val="000000"/>
                </a:solidFill>
                <a:latin typeface="Calibri"/>
                <a:cs typeface="Calibri"/>
              </a:rPr>
              <a:t>simple</a:t>
            </a:r>
            <a:r>
              <a:rPr sz="2400" spc="-10" dirty="0">
                <a:solidFill>
                  <a:srgbClr val="000000"/>
                </a:solidFill>
                <a:latin typeface="Calibri"/>
                <a:cs typeface="Calibri"/>
              </a:rPr>
              <a:t> </a:t>
            </a:r>
            <a:r>
              <a:rPr sz="2400" spc="-15" dirty="0">
                <a:solidFill>
                  <a:srgbClr val="000000"/>
                </a:solidFill>
                <a:latin typeface="Calibri"/>
                <a:cs typeface="Calibri"/>
              </a:rPr>
              <a:t>words,</a:t>
            </a:r>
            <a:r>
              <a:rPr sz="2400" spc="-5" dirty="0">
                <a:solidFill>
                  <a:srgbClr val="000000"/>
                </a:solidFill>
                <a:latin typeface="Calibri"/>
                <a:cs typeface="Calibri"/>
              </a:rPr>
              <a:t> </a:t>
            </a:r>
            <a:r>
              <a:rPr sz="2400" dirty="0">
                <a:solidFill>
                  <a:srgbClr val="000000"/>
                </a:solidFill>
                <a:latin typeface="Calibri"/>
                <a:cs typeface="Calibri"/>
              </a:rPr>
              <a:t>a</a:t>
            </a:r>
            <a:r>
              <a:rPr sz="2400" spc="-5" dirty="0">
                <a:solidFill>
                  <a:srgbClr val="000000"/>
                </a:solidFill>
                <a:latin typeface="Calibri"/>
                <a:cs typeface="Calibri"/>
              </a:rPr>
              <a:t> leaf</a:t>
            </a:r>
            <a:r>
              <a:rPr sz="2400" spc="-20" dirty="0">
                <a:solidFill>
                  <a:srgbClr val="000000"/>
                </a:solidFill>
                <a:latin typeface="Calibri"/>
                <a:cs typeface="Calibri"/>
              </a:rPr>
              <a:t> </a:t>
            </a:r>
            <a:r>
              <a:rPr sz="2400" dirty="0">
                <a:solidFill>
                  <a:srgbClr val="000000"/>
                </a:solidFill>
                <a:latin typeface="Calibri"/>
                <a:cs typeface="Calibri"/>
              </a:rPr>
              <a:t>is a</a:t>
            </a:r>
            <a:r>
              <a:rPr sz="2400" spc="-5" dirty="0">
                <a:solidFill>
                  <a:srgbClr val="000000"/>
                </a:solidFill>
                <a:latin typeface="Calibri"/>
                <a:cs typeface="Calibri"/>
              </a:rPr>
              <a:t> </a:t>
            </a:r>
            <a:r>
              <a:rPr sz="2400" spc="-10" dirty="0">
                <a:solidFill>
                  <a:srgbClr val="000000"/>
                </a:solidFill>
                <a:latin typeface="Calibri"/>
                <a:cs typeface="Calibri"/>
              </a:rPr>
              <a:t>node</a:t>
            </a:r>
            <a:r>
              <a:rPr sz="2400" spc="-5" dirty="0">
                <a:solidFill>
                  <a:srgbClr val="000000"/>
                </a:solidFill>
                <a:latin typeface="Calibri"/>
                <a:cs typeface="Calibri"/>
              </a:rPr>
              <a:t> </a:t>
            </a:r>
            <a:r>
              <a:rPr sz="2400" dirty="0">
                <a:solidFill>
                  <a:srgbClr val="000000"/>
                </a:solidFill>
                <a:latin typeface="Calibri"/>
                <a:cs typeface="Calibri"/>
              </a:rPr>
              <a:t>with</a:t>
            </a:r>
            <a:r>
              <a:rPr sz="2400" spc="-10" dirty="0">
                <a:solidFill>
                  <a:srgbClr val="000000"/>
                </a:solidFill>
                <a:latin typeface="Calibri"/>
                <a:cs typeface="Calibri"/>
              </a:rPr>
              <a:t> </a:t>
            </a:r>
            <a:r>
              <a:rPr sz="2400" spc="-5" dirty="0">
                <a:solidFill>
                  <a:srgbClr val="000000"/>
                </a:solidFill>
                <a:latin typeface="Calibri"/>
                <a:cs typeface="Calibri"/>
              </a:rPr>
              <a:t>no child.</a:t>
            </a:r>
            <a:endParaRPr sz="2400">
              <a:latin typeface="Calibri"/>
              <a:cs typeface="Calibri"/>
            </a:endParaRP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2116" y="1084660"/>
            <a:ext cx="9717405" cy="2221865"/>
          </a:xfrm>
          <a:prstGeom prst="rect">
            <a:avLst/>
          </a:prstGeom>
        </p:spPr>
        <p:txBody>
          <a:bodyPr vert="horz" wrap="square" lIns="0" tIns="196215" rIns="0" bIns="0" rtlCol="0">
            <a:spAutoFit/>
          </a:bodyPr>
          <a:lstStyle/>
          <a:p>
            <a:pPr marL="12700">
              <a:lnSpc>
                <a:spcPct val="100000"/>
              </a:lnSpc>
              <a:spcBef>
                <a:spcPts val="1545"/>
              </a:spcBef>
            </a:pPr>
            <a:r>
              <a:rPr sz="2400" dirty="0">
                <a:latin typeface="Calibri"/>
                <a:cs typeface="Calibri"/>
              </a:rPr>
              <a:t>In</a:t>
            </a:r>
            <a:r>
              <a:rPr sz="2400" spc="-15" dirty="0">
                <a:latin typeface="Calibri"/>
                <a:cs typeface="Calibri"/>
              </a:rPr>
              <a:t> </a:t>
            </a:r>
            <a:r>
              <a:rPr sz="2400" dirty="0">
                <a:latin typeface="Calibri"/>
                <a:cs typeface="Calibri"/>
              </a:rPr>
              <a:t>a </a:t>
            </a:r>
            <a:r>
              <a:rPr sz="2400" spc="-10" dirty="0">
                <a:latin typeface="Calibri"/>
                <a:cs typeface="Calibri"/>
              </a:rPr>
              <a:t>tree</a:t>
            </a:r>
            <a:r>
              <a:rPr sz="2400" spc="-5" dirty="0">
                <a:latin typeface="Calibri"/>
                <a:cs typeface="Calibri"/>
              </a:rPr>
              <a:t> </a:t>
            </a:r>
            <a:r>
              <a:rPr sz="2400" spc="-15" dirty="0">
                <a:latin typeface="Calibri"/>
                <a:cs typeface="Calibri"/>
              </a:rPr>
              <a:t>data </a:t>
            </a:r>
            <a:r>
              <a:rPr sz="2400" spc="-10" dirty="0">
                <a:latin typeface="Calibri"/>
                <a:cs typeface="Calibri"/>
              </a:rPr>
              <a:t>structure, </a:t>
            </a:r>
            <a:r>
              <a:rPr sz="2400" dirty="0">
                <a:latin typeface="Calibri"/>
                <a:cs typeface="Calibri"/>
              </a:rPr>
              <a:t>the</a:t>
            </a:r>
            <a:r>
              <a:rPr sz="2400" spc="5" dirty="0">
                <a:latin typeface="Calibri"/>
                <a:cs typeface="Calibri"/>
              </a:rPr>
              <a:t> </a:t>
            </a:r>
            <a:r>
              <a:rPr sz="2400" spc="-15" dirty="0">
                <a:latin typeface="Calibri"/>
                <a:cs typeface="Calibri"/>
              </a:rPr>
              <a:t>total</a:t>
            </a:r>
            <a:r>
              <a:rPr sz="2400" spc="-30" dirty="0">
                <a:latin typeface="Calibri"/>
                <a:cs typeface="Calibri"/>
              </a:rPr>
              <a:t> </a:t>
            </a:r>
            <a:r>
              <a:rPr sz="2400" spc="-5" dirty="0">
                <a:latin typeface="Calibri"/>
                <a:cs typeface="Calibri"/>
              </a:rPr>
              <a:t>number</a:t>
            </a:r>
            <a:r>
              <a:rPr sz="2400" dirty="0">
                <a:latin typeface="Calibri"/>
                <a:cs typeface="Calibri"/>
              </a:rPr>
              <a:t> </a:t>
            </a:r>
            <a:r>
              <a:rPr sz="2400" spc="-5" dirty="0">
                <a:latin typeface="Calibri"/>
                <a:cs typeface="Calibri"/>
              </a:rPr>
              <a:t>of</a:t>
            </a:r>
            <a:r>
              <a:rPr sz="2400" spc="-10" dirty="0">
                <a:latin typeface="Calibri"/>
                <a:cs typeface="Calibri"/>
              </a:rPr>
              <a:t> </a:t>
            </a:r>
            <a:r>
              <a:rPr sz="2400" spc="-5" dirty="0">
                <a:latin typeface="Calibri"/>
                <a:cs typeface="Calibri"/>
              </a:rPr>
              <a:t>children</a:t>
            </a:r>
            <a:r>
              <a:rPr sz="2400" dirty="0">
                <a:latin typeface="Calibri"/>
                <a:cs typeface="Calibri"/>
              </a:rPr>
              <a:t> </a:t>
            </a:r>
            <a:r>
              <a:rPr sz="2400" spc="-5" dirty="0">
                <a:latin typeface="Calibri"/>
                <a:cs typeface="Calibri"/>
              </a:rPr>
              <a:t>of </a:t>
            </a:r>
            <a:r>
              <a:rPr sz="2400" dirty="0">
                <a:latin typeface="Calibri"/>
                <a:cs typeface="Calibri"/>
              </a:rPr>
              <a:t>a </a:t>
            </a:r>
            <a:r>
              <a:rPr sz="2400" spc="-5" dirty="0">
                <a:latin typeface="Calibri"/>
                <a:cs typeface="Calibri"/>
              </a:rPr>
              <a:t>node</a:t>
            </a:r>
            <a:r>
              <a:rPr sz="2400" dirty="0">
                <a:latin typeface="Calibri"/>
                <a:cs typeface="Calibri"/>
              </a:rPr>
              <a:t> is</a:t>
            </a:r>
            <a:r>
              <a:rPr sz="2400" spc="-5" dirty="0">
                <a:latin typeface="Calibri"/>
                <a:cs typeface="Calibri"/>
              </a:rPr>
              <a:t> called</a:t>
            </a:r>
            <a:endParaRPr sz="2400">
              <a:latin typeface="Calibri"/>
              <a:cs typeface="Calibri"/>
            </a:endParaRPr>
          </a:p>
          <a:p>
            <a:pPr marL="12700">
              <a:lnSpc>
                <a:spcPct val="100000"/>
              </a:lnSpc>
              <a:spcBef>
                <a:spcPts val="1445"/>
              </a:spcBef>
            </a:pPr>
            <a:r>
              <a:rPr sz="2400" dirty="0">
                <a:latin typeface="Calibri"/>
                <a:cs typeface="Calibri"/>
              </a:rPr>
              <a:t>as</a:t>
            </a:r>
            <a:r>
              <a:rPr sz="2400" spc="-25" dirty="0">
                <a:latin typeface="Calibri"/>
                <a:cs typeface="Calibri"/>
              </a:rPr>
              <a:t> </a:t>
            </a:r>
            <a:r>
              <a:rPr sz="2400" b="1" spc="-10" dirty="0">
                <a:solidFill>
                  <a:srgbClr val="7D1B68"/>
                </a:solidFill>
                <a:latin typeface="Calibri"/>
                <a:cs typeface="Calibri"/>
              </a:rPr>
              <a:t>DEGREE</a:t>
            </a:r>
            <a:r>
              <a:rPr sz="2400" b="1" spc="-20" dirty="0">
                <a:solidFill>
                  <a:srgbClr val="7D1B68"/>
                </a:solidFill>
                <a:latin typeface="Calibri"/>
                <a:cs typeface="Calibri"/>
              </a:rPr>
              <a:t> </a:t>
            </a:r>
            <a:r>
              <a:rPr sz="2400" spc="-5" dirty="0">
                <a:latin typeface="Calibri"/>
                <a:cs typeface="Calibri"/>
              </a:rPr>
              <a:t>of</a:t>
            </a:r>
            <a:r>
              <a:rPr sz="2400" spc="-25" dirty="0">
                <a:latin typeface="Calibri"/>
                <a:cs typeface="Calibri"/>
              </a:rPr>
              <a:t> </a:t>
            </a:r>
            <a:r>
              <a:rPr sz="2400" spc="-10" dirty="0">
                <a:latin typeface="Calibri"/>
                <a:cs typeface="Calibri"/>
              </a:rPr>
              <a:t>that </a:t>
            </a:r>
            <a:r>
              <a:rPr sz="2400" spc="-5" dirty="0">
                <a:latin typeface="Calibri"/>
                <a:cs typeface="Calibri"/>
              </a:rPr>
              <a:t>Node.</a:t>
            </a:r>
            <a:endParaRPr sz="2400">
              <a:latin typeface="Calibri"/>
              <a:cs typeface="Calibri"/>
            </a:endParaRPr>
          </a:p>
          <a:p>
            <a:pPr marL="12700" marR="5080">
              <a:lnSpc>
                <a:spcPts val="4320"/>
              </a:lnSpc>
              <a:spcBef>
                <a:spcPts val="180"/>
              </a:spcBef>
            </a:pPr>
            <a:r>
              <a:rPr sz="2400" spc="-5" dirty="0">
                <a:latin typeface="Calibri"/>
                <a:cs typeface="Calibri"/>
              </a:rPr>
              <a:t>The </a:t>
            </a:r>
            <a:r>
              <a:rPr sz="2400" spc="-10" dirty="0">
                <a:latin typeface="Calibri"/>
                <a:cs typeface="Calibri"/>
              </a:rPr>
              <a:t>highest degree </a:t>
            </a:r>
            <a:r>
              <a:rPr sz="2400" spc="-5" dirty="0">
                <a:latin typeface="Calibri"/>
                <a:cs typeface="Calibri"/>
              </a:rPr>
              <a:t>of </a:t>
            </a:r>
            <a:r>
              <a:rPr sz="2400" dirty="0">
                <a:latin typeface="Calibri"/>
                <a:cs typeface="Calibri"/>
              </a:rPr>
              <a:t>a </a:t>
            </a:r>
            <a:r>
              <a:rPr sz="2400" spc="-5" dirty="0">
                <a:latin typeface="Calibri"/>
                <a:cs typeface="Calibri"/>
              </a:rPr>
              <a:t>node </a:t>
            </a:r>
            <a:r>
              <a:rPr sz="2400" dirty="0">
                <a:latin typeface="Calibri"/>
                <a:cs typeface="Calibri"/>
              </a:rPr>
              <a:t>among all the </a:t>
            </a:r>
            <a:r>
              <a:rPr sz="2400" spc="-5" dirty="0">
                <a:latin typeface="Calibri"/>
                <a:cs typeface="Calibri"/>
              </a:rPr>
              <a:t>nodes </a:t>
            </a:r>
            <a:r>
              <a:rPr sz="2400" dirty="0">
                <a:latin typeface="Calibri"/>
                <a:cs typeface="Calibri"/>
              </a:rPr>
              <a:t>in a </a:t>
            </a:r>
            <a:r>
              <a:rPr sz="2400" spc="-10" dirty="0">
                <a:latin typeface="Calibri"/>
                <a:cs typeface="Calibri"/>
              </a:rPr>
              <a:t>tree </a:t>
            </a:r>
            <a:r>
              <a:rPr sz="2400" dirty="0">
                <a:latin typeface="Calibri"/>
                <a:cs typeface="Calibri"/>
              </a:rPr>
              <a:t>is </a:t>
            </a:r>
            <a:r>
              <a:rPr sz="2400" spc="-5" dirty="0">
                <a:latin typeface="Calibri"/>
                <a:cs typeface="Calibri"/>
              </a:rPr>
              <a:t>called </a:t>
            </a:r>
            <a:r>
              <a:rPr sz="2400" dirty="0">
                <a:latin typeface="Calibri"/>
                <a:cs typeface="Calibri"/>
              </a:rPr>
              <a:t>as </a:t>
            </a:r>
            <a:r>
              <a:rPr sz="2400" spc="-10" dirty="0">
                <a:solidFill>
                  <a:srgbClr val="7D1B68"/>
                </a:solidFill>
                <a:latin typeface="Calibri"/>
                <a:cs typeface="Calibri"/>
              </a:rPr>
              <a:t>'</a:t>
            </a:r>
            <a:r>
              <a:rPr sz="2400" b="1" spc="-10" dirty="0">
                <a:solidFill>
                  <a:srgbClr val="7D1B68"/>
                </a:solidFill>
                <a:latin typeface="Calibri"/>
                <a:cs typeface="Calibri"/>
              </a:rPr>
              <a:t>Degree </a:t>
            </a:r>
            <a:r>
              <a:rPr sz="2400" b="1" spc="-530" dirty="0">
                <a:solidFill>
                  <a:srgbClr val="7D1B68"/>
                </a:solidFill>
                <a:latin typeface="Calibri"/>
                <a:cs typeface="Calibri"/>
              </a:rPr>
              <a:t> </a:t>
            </a:r>
            <a:r>
              <a:rPr sz="2400" b="1" dirty="0">
                <a:solidFill>
                  <a:srgbClr val="7D1B68"/>
                </a:solidFill>
                <a:latin typeface="Calibri"/>
                <a:cs typeface="Calibri"/>
              </a:rPr>
              <a:t>of</a:t>
            </a:r>
            <a:r>
              <a:rPr sz="2400" b="1" spc="-10" dirty="0">
                <a:solidFill>
                  <a:srgbClr val="7D1B68"/>
                </a:solidFill>
                <a:latin typeface="Calibri"/>
                <a:cs typeface="Calibri"/>
              </a:rPr>
              <a:t> </a:t>
            </a:r>
            <a:r>
              <a:rPr sz="2400" b="1" spc="-65" dirty="0">
                <a:solidFill>
                  <a:srgbClr val="7D1B68"/>
                </a:solidFill>
                <a:latin typeface="Calibri"/>
                <a:cs typeface="Calibri"/>
              </a:rPr>
              <a:t>Tree</a:t>
            </a:r>
            <a:r>
              <a:rPr sz="2400" spc="-65" dirty="0">
                <a:solidFill>
                  <a:srgbClr val="7D1B68"/>
                </a:solidFill>
                <a:latin typeface="Calibri"/>
                <a:cs typeface="Calibri"/>
              </a:rPr>
              <a:t>‘.</a:t>
            </a:r>
            <a:endParaRPr sz="2400">
              <a:latin typeface="Calibri"/>
              <a:cs typeface="Calibri"/>
            </a:endParaRPr>
          </a:p>
        </p:txBody>
      </p:sp>
      <p:grpSp>
        <p:nvGrpSpPr>
          <p:cNvPr id="3" name="object 3"/>
          <p:cNvGrpSpPr/>
          <p:nvPr/>
        </p:nvGrpSpPr>
        <p:grpSpPr>
          <a:xfrm>
            <a:off x="0" y="3137916"/>
            <a:ext cx="12192000" cy="3636645"/>
            <a:chOff x="0" y="3137916"/>
            <a:chExt cx="12192000" cy="3636645"/>
          </a:xfrm>
        </p:grpSpPr>
        <p:pic>
          <p:nvPicPr>
            <p:cNvPr id="4" name="object 4"/>
            <p:cNvPicPr/>
            <p:nvPr/>
          </p:nvPicPr>
          <p:blipFill>
            <a:blip r:embed="rId2" cstate="print"/>
            <a:stretch>
              <a:fillRect/>
            </a:stretch>
          </p:blipFill>
          <p:spPr>
            <a:xfrm>
              <a:off x="2831592" y="3137916"/>
              <a:ext cx="8311896" cy="3563112"/>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6" name="object 6"/>
          <p:cNvSpPr txBox="1">
            <a:spLocks noGrp="1"/>
          </p:cNvSpPr>
          <p:nvPr>
            <p:ph type="title"/>
          </p:nvPr>
        </p:nvSpPr>
        <p:spPr>
          <a:xfrm>
            <a:off x="1145539" y="400558"/>
            <a:ext cx="1689735" cy="635000"/>
          </a:xfrm>
          <a:prstGeom prst="rect">
            <a:avLst/>
          </a:prstGeom>
        </p:spPr>
        <p:txBody>
          <a:bodyPr vert="horz" wrap="square" lIns="0" tIns="12065" rIns="0" bIns="0" rtlCol="0">
            <a:spAutoFit/>
          </a:bodyPr>
          <a:lstStyle/>
          <a:p>
            <a:pPr marL="12700">
              <a:lnSpc>
                <a:spcPct val="100000"/>
              </a:lnSpc>
              <a:spcBef>
                <a:spcPts val="95"/>
              </a:spcBef>
            </a:pPr>
            <a:r>
              <a:rPr spc="-5" dirty="0"/>
              <a:t>Degree</a:t>
            </a: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6500" y="624077"/>
            <a:ext cx="1029969" cy="696595"/>
          </a:xfrm>
          <a:prstGeom prst="rect">
            <a:avLst/>
          </a:prstGeom>
        </p:spPr>
        <p:txBody>
          <a:bodyPr vert="horz" wrap="square" lIns="0" tIns="13335" rIns="0" bIns="0" rtlCol="0">
            <a:spAutoFit/>
          </a:bodyPr>
          <a:lstStyle/>
          <a:p>
            <a:pPr marL="12700">
              <a:lnSpc>
                <a:spcPct val="100000"/>
              </a:lnSpc>
              <a:spcBef>
                <a:spcPts val="105"/>
              </a:spcBef>
            </a:pPr>
            <a:r>
              <a:rPr sz="4400" b="1" spc="-225" dirty="0">
                <a:latin typeface="Calibri"/>
                <a:cs typeface="Calibri"/>
              </a:rPr>
              <a:t>T</a:t>
            </a:r>
            <a:r>
              <a:rPr sz="4400" b="1" spc="-55" dirty="0">
                <a:latin typeface="Calibri"/>
                <a:cs typeface="Calibri"/>
              </a:rPr>
              <a:t>r</a:t>
            </a:r>
            <a:r>
              <a:rPr sz="4400" b="1" spc="-5" dirty="0">
                <a:latin typeface="Calibri"/>
                <a:cs typeface="Calibri"/>
              </a:rPr>
              <a:t>ee</a:t>
            </a:r>
            <a:endParaRPr sz="4400">
              <a:latin typeface="Calibri"/>
              <a:cs typeface="Calibri"/>
            </a:endParaRPr>
          </a:p>
        </p:txBody>
      </p:sp>
      <p:graphicFrame>
        <p:nvGraphicFramePr>
          <p:cNvPr id="3" name="object 3"/>
          <p:cNvGraphicFramePr>
            <a:graphicFrameLocks noGrp="1"/>
          </p:cNvGraphicFramePr>
          <p:nvPr/>
        </p:nvGraphicFramePr>
        <p:xfrm>
          <a:off x="2351151" y="2348843"/>
          <a:ext cx="3385185" cy="1869610"/>
        </p:xfrm>
        <a:graphic>
          <a:graphicData uri="http://schemas.openxmlformats.org/drawingml/2006/table">
            <a:tbl>
              <a:tblPr firstRow="1" bandRow="1">
                <a:tableStyleId>{2D5ABB26-0587-4C30-8999-92F81FD0307C}</a:tableStyleId>
              </a:tblPr>
              <a:tblGrid>
                <a:gridCol w="1125855">
                  <a:extLst>
                    <a:ext uri="{9D8B030D-6E8A-4147-A177-3AD203B41FA5}">
                      <a16:colId xmlns:a16="http://schemas.microsoft.com/office/drawing/2014/main" val="20000"/>
                    </a:ext>
                  </a:extLst>
                </a:gridCol>
                <a:gridCol w="2259330">
                  <a:extLst>
                    <a:ext uri="{9D8B030D-6E8A-4147-A177-3AD203B41FA5}">
                      <a16:colId xmlns:a16="http://schemas.microsoft.com/office/drawing/2014/main" val="20001"/>
                    </a:ext>
                  </a:extLst>
                </a:gridCol>
              </a:tblGrid>
              <a:tr h="333396">
                <a:tc>
                  <a:txBody>
                    <a:bodyPr/>
                    <a:lstStyle/>
                    <a:p>
                      <a:pPr marL="25400" algn="ctr">
                        <a:lnSpc>
                          <a:spcPts val="2215"/>
                        </a:lnSpc>
                      </a:pPr>
                      <a:r>
                        <a:rPr sz="2000" b="1" dirty="0">
                          <a:latin typeface="Arial"/>
                          <a:cs typeface="Arial"/>
                        </a:rPr>
                        <a:t>Degree</a:t>
                      </a:r>
                      <a:endParaRPr sz="2000">
                        <a:latin typeface="Arial"/>
                        <a:cs typeface="Arial"/>
                      </a:endParaRPr>
                    </a:p>
                  </a:txBody>
                  <a:tcPr marL="0" marR="0" marT="0" marB="0">
                    <a:lnB w="12700">
                      <a:solidFill>
                        <a:srgbClr val="000000"/>
                      </a:solidFill>
                      <a:prstDash val="solid"/>
                    </a:lnB>
                  </a:tcPr>
                </a:tc>
                <a:tc>
                  <a:txBody>
                    <a:bodyPr/>
                    <a:lstStyle/>
                    <a:p>
                      <a:pPr marL="753745">
                        <a:lnSpc>
                          <a:spcPts val="2215"/>
                        </a:lnSpc>
                      </a:pPr>
                      <a:r>
                        <a:rPr sz="2000" b="1" dirty="0">
                          <a:latin typeface="Arial"/>
                          <a:cs typeface="Arial"/>
                        </a:rPr>
                        <a:t>Nodes</a:t>
                      </a:r>
                      <a:endParaRPr sz="2000">
                        <a:latin typeface="Arial"/>
                        <a:cs typeface="Arial"/>
                      </a:endParaRPr>
                    </a:p>
                  </a:txBody>
                  <a:tcPr marL="0" marR="0" marT="0" marB="0">
                    <a:lnB w="12700">
                      <a:solidFill>
                        <a:srgbClr val="000000"/>
                      </a:solidFill>
                      <a:prstDash val="solid"/>
                    </a:lnB>
                  </a:tcPr>
                </a:tc>
                <a:extLst>
                  <a:ext uri="{0D108BD9-81ED-4DB2-BD59-A6C34878D82A}">
                    <a16:rowId xmlns:a16="http://schemas.microsoft.com/office/drawing/2014/main" val="10000"/>
                  </a:ext>
                </a:extLst>
              </a:tr>
              <a:tr h="403289">
                <a:tc>
                  <a:txBody>
                    <a:bodyPr/>
                    <a:lstStyle/>
                    <a:p>
                      <a:pPr marL="26034" algn="ctr">
                        <a:lnSpc>
                          <a:spcPct val="100000"/>
                        </a:lnSpc>
                        <a:spcBef>
                          <a:spcPts val="309"/>
                        </a:spcBef>
                      </a:pPr>
                      <a:r>
                        <a:rPr sz="2000" dirty="0">
                          <a:latin typeface="Arial MT"/>
                          <a:cs typeface="Arial MT"/>
                        </a:rPr>
                        <a:t>0</a:t>
                      </a:r>
                      <a:endParaRPr sz="2000">
                        <a:latin typeface="Arial MT"/>
                        <a:cs typeface="Arial MT"/>
                      </a:endParaRPr>
                    </a:p>
                  </a:txBody>
                  <a:tcPr marL="0" marR="0" marT="39369" marB="0">
                    <a:lnT w="12700">
                      <a:solidFill>
                        <a:srgbClr val="000000"/>
                      </a:solidFill>
                      <a:prstDash val="solid"/>
                    </a:lnT>
                  </a:tcPr>
                </a:tc>
                <a:tc>
                  <a:txBody>
                    <a:bodyPr/>
                    <a:lstStyle/>
                    <a:p>
                      <a:pPr marL="118110">
                        <a:lnSpc>
                          <a:spcPct val="100000"/>
                        </a:lnSpc>
                        <a:spcBef>
                          <a:spcPts val="309"/>
                        </a:spcBef>
                      </a:pPr>
                      <a:r>
                        <a:rPr sz="2000" dirty="0">
                          <a:latin typeface="Arial MT"/>
                          <a:cs typeface="Arial MT"/>
                        </a:rPr>
                        <a:t>D,</a:t>
                      </a:r>
                      <a:r>
                        <a:rPr sz="2000" spc="-30" dirty="0">
                          <a:latin typeface="Arial MT"/>
                          <a:cs typeface="Arial MT"/>
                        </a:rPr>
                        <a:t> </a:t>
                      </a:r>
                      <a:r>
                        <a:rPr sz="2000" spc="-110" dirty="0">
                          <a:latin typeface="Arial MT"/>
                          <a:cs typeface="Arial MT"/>
                        </a:rPr>
                        <a:t>F,</a:t>
                      </a:r>
                      <a:r>
                        <a:rPr sz="2000" spc="-20" dirty="0">
                          <a:latin typeface="Arial MT"/>
                          <a:cs typeface="Arial MT"/>
                        </a:rPr>
                        <a:t> </a:t>
                      </a:r>
                      <a:r>
                        <a:rPr sz="2000" dirty="0">
                          <a:latin typeface="Arial MT"/>
                          <a:cs typeface="Arial MT"/>
                        </a:rPr>
                        <a:t>G,</a:t>
                      </a:r>
                      <a:r>
                        <a:rPr sz="2000" spc="-35" dirty="0">
                          <a:latin typeface="Arial MT"/>
                          <a:cs typeface="Arial MT"/>
                        </a:rPr>
                        <a:t> </a:t>
                      </a:r>
                      <a:r>
                        <a:rPr sz="2000" dirty="0">
                          <a:latin typeface="Arial MT"/>
                          <a:cs typeface="Arial MT"/>
                        </a:rPr>
                        <a:t>J,</a:t>
                      </a:r>
                      <a:r>
                        <a:rPr sz="2000" spc="-25" dirty="0">
                          <a:latin typeface="Arial MT"/>
                          <a:cs typeface="Arial MT"/>
                        </a:rPr>
                        <a:t> </a:t>
                      </a:r>
                      <a:r>
                        <a:rPr sz="2000" spc="-5" dirty="0">
                          <a:latin typeface="Arial MT"/>
                          <a:cs typeface="Arial MT"/>
                        </a:rPr>
                        <a:t>K,</a:t>
                      </a:r>
                      <a:r>
                        <a:rPr sz="2000" spc="-20" dirty="0">
                          <a:latin typeface="Arial MT"/>
                          <a:cs typeface="Arial MT"/>
                        </a:rPr>
                        <a:t> </a:t>
                      </a:r>
                      <a:r>
                        <a:rPr sz="2000" dirty="0">
                          <a:latin typeface="Arial MT"/>
                          <a:cs typeface="Arial MT"/>
                        </a:rPr>
                        <a:t>L,</a:t>
                      </a:r>
                      <a:r>
                        <a:rPr sz="2000" spc="-35" dirty="0">
                          <a:latin typeface="Arial MT"/>
                          <a:cs typeface="Arial MT"/>
                        </a:rPr>
                        <a:t> </a:t>
                      </a:r>
                      <a:r>
                        <a:rPr sz="2000" spc="5" dirty="0">
                          <a:latin typeface="Arial MT"/>
                          <a:cs typeface="Arial MT"/>
                        </a:rPr>
                        <a:t>M</a:t>
                      </a:r>
                      <a:endParaRPr sz="2000">
                        <a:latin typeface="Arial MT"/>
                        <a:cs typeface="Arial MT"/>
                      </a:endParaRPr>
                    </a:p>
                  </a:txBody>
                  <a:tcPr marL="0" marR="0" marT="39369" marB="0">
                    <a:lnT w="12700">
                      <a:solidFill>
                        <a:srgbClr val="000000"/>
                      </a:solidFill>
                      <a:prstDash val="solid"/>
                    </a:lnT>
                  </a:tcPr>
                </a:tc>
                <a:extLst>
                  <a:ext uri="{0D108BD9-81ED-4DB2-BD59-A6C34878D82A}">
                    <a16:rowId xmlns:a16="http://schemas.microsoft.com/office/drawing/2014/main" val="10001"/>
                  </a:ext>
                </a:extLst>
              </a:tr>
              <a:tr h="396334">
                <a:tc>
                  <a:txBody>
                    <a:bodyPr/>
                    <a:lstStyle/>
                    <a:p>
                      <a:pPr marL="26034" algn="ctr">
                        <a:lnSpc>
                          <a:spcPct val="100000"/>
                        </a:lnSpc>
                        <a:spcBef>
                          <a:spcPts val="254"/>
                        </a:spcBef>
                      </a:pPr>
                      <a:r>
                        <a:rPr sz="2000" dirty="0">
                          <a:latin typeface="Arial MT"/>
                          <a:cs typeface="Arial MT"/>
                        </a:rPr>
                        <a:t>1</a:t>
                      </a:r>
                      <a:endParaRPr sz="2000">
                        <a:latin typeface="Arial MT"/>
                        <a:cs typeface="Arial MT"/>
                      </a:endParaRPr>
                    </a:p>
                  </a:txBody>
                  <a:tcPr marL="0" marR="0" marT="32384" marB="0"/>
                </a:tc>
                <a:tc>
                  <a:txBody>
                    <a:bodyPr/>
                    <a:lstStyle/>
                    <a:p>
                      <a:pPr marL="118110">
                        <a:lnSpc>
                          <a:spcPct val="100000"/>
                        </a:lnSpc>
                        <a:spcBef>
                          <a:spcPts val="254"/>
                        </a:spcBef>
                      </a:pPr>
                      <a:r>
                        <a:rPr sz="2000" dirty="0">
                          <a:latin typeface="Arial MT"/>
                          <a:cs typeface="Arial MT"/>
                        </a:rPr>
                        <a:t>C</a:t>
                      </a:r>
                      <a:endParaRPr sz="2000">
                        <a:latin typeface="Arial MT"/>
                        <a:cs typeface="Arial MT"/>
                      </a:endParaRPr>
                    </a:p>
                  </a:txBody>
                  <a:tcPr marL="0" marR="0" marT="32384" marB="0"/>
                </a:tc>
                <a:extLst>
                  <a:ext uri="{0D108BD9-81ED-4DB2-BD59-A6C34878D82A}">
                    <a16:rowId xmlns:a16="http://schemas.microsoft.com/office/drawing/2014/main" val="10002"/>
                  </a:ext>
                </a:extLst>
              </a:tr>
              <a:tr h="396102">
                <a:tc>
                  <a:txBody>
                    <a:bodyPr/>
                    <a:lstStyle/>
                    <a:p>
                      <a:pPr marL="26034" algn="ctr">
                        <a:lnSpc>
                          <a:spcPct val="100000"/>
                        </a:lnSpc>
                        <a:spcBef>
                          <a:spcPts val="254"/>
                        </a:spcBef>
                      </a:pPr>
                      <a:r>
                        <a:rPr sz="2000" dirty="0">
                          <a:latin typeface="Arial MT"/>
                          <a:cs typeface="Arial MT"/>
                        </a:rPr>
                        <a:t>2</a:t>
                      </a:r>
                      <a:endParaRPr sz="2000">
                        <a:latin typeface="Arial MT"/>
                        <a:cs typeface="Arial MT"/>
                      </a:endParaRPr>
                    </a:p>
                  </a:txBody>
                  <a:tcPr marL="0" marR="0" marT="32384" marB="0"/>
                </a:tc>
                <a:tc>
                  <a:txBody>
                    <a:bodyPr/>
                    <a:lstStyle/>
                    <a:p>
                      <a:pPr marL="118110">
                        <a:lnSpc>
                          <a:spcPct val="100000"/>
                        </a:lnSpc>
                        <a:spcBef>
                          <a:spcPts val="254"/>
                        </a:spcBef>
                      </a:pPr>
                      <a:r>
                        <a:rPr sz="2000" spc="-5" dirty="0">
                          <a:latin typeface="Arial MT"/>
                          <a:cs typeface="Arial MT"/>
                        </a:rPr>
                        <a:t>B,</a:t>
                      </a:r>
                      <a:r>
                        <a:rPr sz="2000" spc="-35" dirty="0">
                          <a:latin typeface="Arial MT"/>
                          <a:cs typeface="Arial MT"/>
                        </a:rPr>
                        <a:t> </a:t>
                      </a:r>
                      <a:r>
                        <a:rPr sz="2000" spc="-5" dirty="0">
                          <a:latin typeface="Arial MT"/>
                          <a:cs typeface="Arial MT"/>
                        </a:rPr>
                        <a:t>E,</a:t>
                      </a:r>
                      <a:r>
                        <a:rPr sz="2000" spc="-35" dirty="0">
                          <a:latin typeface="Arial MT"/>
                          <a:cs typeface="Arial MT"/>
                        </a:rPr>
                        <a:t> </a:t>
                      </a:r>
                      <a:r>
                        <a:rPr sz="2000" dirty="0">
                          <a:latin typeface="Arial MT"/>
                          <a:cs typeface="Arial MT"/>
                        </a:rPr>
                        <a:t>H</a:t>
                      </a:r>
                      <a:endParaRPr sz="2000">
                        <a:latin typeface="Arial MT"/>
                        <a:cs typeface="Arial MT"/>
                      </a:endParaRPr>
                    </a:p>
                  </a:txBody>
                  <a:tcPr marL="0" marR="0" marT="32384" marB="0"/>
                </a:tc>
                <a:extLst>
                  <a:ext uri="{0D108BD9-81ED-4DB2-BD59-A6C34878D82A}">
                    <a16:rowId xmlns:a16="http://schemas.microsoft.com/office/drawing/2014/main" val="10003"/>
                  </a:ext>
                </a:extLst>
              </a:tr>
              <a:tr h="340489">
                <a:tc>
                  <a:txBody>
                    <a:bodyPr/>
                    <a:lstStyle/>
                    <a:p>
                      <a:pPr marL="26034" algn="ctr">
                        <a:lnSpc>
                          <a:spcPts val="2325"/>
                        </a:lnSpc>
                        <a:spcBef>
                          <a:spcPts val="254"/>
                        </a:spcBef>
                      </a:pPr>
                      <a:r>
                        <a:rPr sz="2000" dirty="0">
                          <a:latin typeface="Arial MT"/>
                          <a:cs typeface="Arial MT"/>
                        </a:rPr>
                        <a:t>3</a:t>
                      </a:r>
                      <a:endParaRPr sz="2000">
                        <a:latin typeface="Arial MT"/>
                        <a:cs typeface="Arial MT"/>
                      </a:endParaRPr>
                    </a:p>
                  </a:txBody>
                  <a:tcPr marL="0" marR="0" marT="32384" marB="0"/>
                </a:tc>
                <a:tc>
                  <a:txBody>
                    <a:bodyPr/>
                    <a:lstStyle/>
                    <a:p>
                      <a:pPr marL="118110">
                        <a:lnSpc>
                          <a:spcPts val="2325"/>
                        </a:lnSpc>
                        <a:spcBef>
                          <a:spcPts val="254"/>
                        </a:spcBef>
                      </a:pPr>
                      <a:r>
                        <a:rPr sz="2000" dirty="0">
                          <a:latin typeface="Arial MT"/>
                          <a:cs typeface="Arial MT"/>
                        </a:rPr>
                        <a:t>I</a:t>
                      </a:r>
                      <a:endParaRPr sz="2000">
                        <a:latin typeface="Arial MT"/>
                        <a:cs typeface="Arial MT"/>
                      </a:endParaRPr>
                    </a:p>
                  </a:txBody>
                  <a:tcPr marL="0" marR="0" marT="32384" marB="0"/>
                </a:tc>
                <a:extLst>
                  <a:ext uri="{0D108BD9-81ED-4DB2-BD59-A6C34878D82A}">
                    <a16:rowId xmlns:a16="http://schemas.microsoft.com/office/drawing/2014/main" val="10004"/>
                  </a:ext>
                </a:extLst>
              </a:tr>
            </a:tbl>
          </a:graphicData>
        </a:graphic>
      </p:graphicFrame>
      <p:pic>
        <p:nvPicPr>
          <p:cNvPr id="4" name="object 4"/>
          <p:cNvPicPr/>
          <p:nvPr/>
        </p:nvPicPr>
        <p:blipFill>
          <a:blip r:embed="rId2" cstate="print"/>
          <a:stretch>
            <a:fillRect/>
          </a:stretch>
        </p:blipFill>
        <p:spPr>
          <a:xfrm>
            <a:off x="6461759" y="2026920"/>
            <a:ext cx="3901440" cy="2926079"/>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50007" y="2622804"/>
            <a:ext cx="8382000" cy="3593591"/>
          </a:xfrm>
          <a:prstGeom prst="rect">
            <a:avLst/>
          </a:prstGeom>
        </p:spPr>
      </p:pic>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a:spLocks noGrp="1"/>
          </p:cNvSpPr>
          <p:nvPr>
            <p:ph type="title"/>
          </p:nvPr>
        </p:nvSpPr>
        <p:spPr>
          <a:xfrm>
            <a:off x="1145539" y="400558"/>
            <a:ext cx="9773920" cy="2328545"/>
          </a:xfrm>
          <a:prstGeom prst="rect">
            <a:avLst/>
          </a:prstGeom>
        </p:spPr>
        <p:txBody>
          <a:bodyPr vert="horz" wrap="square" lIns="0" tIns="12065" rIns="0" bIns="0" rtlCol="0">
            <a:spAutoFit/>
          </a:bodyPr>
          <a:lstStyle/>
          <a:p>
            <a:pPr marL="12700">
              <a:lnSpc>
                <a:spcPct val="100000"/>
              </a:lnSpc>
              <a:spcBef>
                <a:spcPts val="95"/>
              </a:spcBef>
            </a:pPr>
            <a:r>
              <a:rPr spc="-5" dirty="0"/>
              <a:t>Level</a:t>
            </a:r>
          </a:p>
          <a:p>
            <a:pPr marL="12700" marR="5080">
              <a:lnSpc>
                <a:spcPct val="150100"/>
              </a:lnSpc>
              <a:spcBef>
                <a:spcPts val="375"/>
              </a:spcBef>
            </a:pPr>
            <a:r>
              <a:rPr sz="2400" spc="-5" dirty="0">
                <a:solidFill>
                  <a:srgbClr val="000000"/>
                </a:solidFill>
                <a:latin typeface="Calibri"/>
                <a:cs typeface="Calibri"/>
              </a:rPr>
              <a:t>The</a:t>
            </a:r>
            <a:r>
              <a:rPr sz="2400" spc="5" dirty="0">
                <a:solidFill>
                  <a:srgbClr val="000000"/>
                </a:solidFill>
                <a:latin typeface="Calibri"/>
                <a:cs typeface="Calibri"/>
              </a:rPr>
              <a:t> </a:t>
            </a:r>
            <a:r>
              <a:rPr sz="2400" spc="-15" dirty="0">
                <a:solidFill>
                  <a:srgbClr val="000000"/>
                </a:solidFill>
                <a:latin typeface="Calibri"/>
                <a:cs typeface="Calibri"/>
              </a:rPr>
              <a:t>root </a:t>
            </a:r>
            <a:r>
              <a:rPr sz="2400" spc="-5" dirty="0">
                <a:solidFill>
                  <a:srgbClr val="000000"/>
                </a:solidFill>
                <a:latin typeface="Calibri"/>
                <a:cs typeface="Calibri"/>
              </a:rPr>
              <a:t>node</a:t>
            </a:r>
            <a:r>
              <a:rPr sz="2400" spc="5" dirty="0">
                <a:solidFill>
                  <a:srgbClr val="000000"/>
                </a:solidFill>
                <a:latin typeface="Calibri"/>
                <a:cs typeface="Calibri"/>
              </a:rPr>
              <a:t> </a:t>
            </a:r>
            <a:r>
              <a:rPr sz="2400" dirty="0">
                <a:solidFill>
                  <a:srgbClr val="000000"/>
                </a:solidFill>
                <a:latin typeface="Calibri"/>
                <a:cs typeface="Calibri"/>
              </a:rPr>
              <a:t>is </a:t>
            </a:r>
            <a:r>
              <a:rPr sz="2400" spc="-5" dirty="0">
                <a:solidFill>
                  <a:srgbClr val="000000"/>
                </a:solidFill>
                <a:latin typeface="Calibri"/>
                <a:cs typeface="Calibri"/>
              </a:rPr>
              <a:t>said</a:t>
            </a:r>
            <a:r>
              <a:rPr sz="2400" spc="-15" dirty="0">
                <a:solidFill>
                  <a:srgbClr val="000000"/>
                </a:solidFill>
                <a:latin typeface="Calibri"/>
                <a:cs typeface="Calibri"/>
              </a:rPr>
              <a:t> to</a:t>
            </a:r>
            <a:r>
              <a:rPr sz="2400" spc="-10" dirty="0">
                <a:solidFill>
                  <a:srgbClr val="000000"/>
                </a:solidFill>
                <a:latin typeface="Calibri"/>
                <a:cs typeface="Calibri"/>
              </a:rPr>
              <a:t> </a:t>
            </a:r>
            <a:r>
              <a:rPr sz="2400" spc="-5" dirty="0">
                <a:solidFill>
                  <a:srgbClr val="000000"/>
                </a:solidFill>
                <a:latin typeface="Calibri"/>
                <a:cs typeface="Calibri"/>
              </a:rPr>
              <a:t>be</a:t>
            </a:r>
            <a:r>
              <a:rPr sz="2400" spc="-10" dirty="0">
                <a:solidFill>
                  <a:srgbClr val="000000"/>
                </a:solidFill>
                <a:latin typeface="Calibri"/>
                <a:cs typeface="Calibri"/>
              </a:rPr>
              <a:t> at</a:t>
            </a:r>
            <a:r>
              <a:rPr sz="2400" spc="-5" dirty="0">
                <a:solidFill>
                  <a:srgbClr val="000000"/>
                </a:solidFill>
                <a:latin typeface="Calibri"/>
                <a:cs typeface="Calibri"/>
              </a:rPr>
              <a:t> </a:t>
            </a:r>
            <a:r>
              <a:rPr sz="2400" b="1" spc="-10" dirty="0">
                <a:solidFill>
                  <a:srgbClr val="000000"/>
                </a:solidFill>
                <a:latin typeface="Calibri"/>
                <a:cs typeface="Calibri"/>
              </a:rPr>
              <a:t>Level</a:t>
            </a:r>
            <a:r>
              <a:rPr sz="2400" b="1" spc="-5" dirty="0">
                <a:solidFill>
                  <a:srgbClr val="000000"/>
                </a:solidFill>
                <a:latin typeface="Calibri"/>
                <a:cs typeface="Calibri"/>
              </a:rPr>
              <a:t> </a:t>
            </a:r>
            <a:r>
              <a:rPr sz="2400" b="1" dirty="0">
                <a:solidFill>
                  <a:srgbClr val="000000"/>
                </a:solidFill>
                <a:latin typeface="Calibri"/>
                <a:cs typeface="Calibri"/>
              </a:rPr>
              <a:t>0</a:t>
            </a:r>
            <a:r>
              <a:rPr sz="2400" b="1" spc="-20" dirty="0">
                <a:solidFill>
                  <a:srgbClr val="000000"/>
                </a:solidFill>
                <a:latin typeface="Calibri"/>
                <a:cs typeface="Calibri"/>
              </a:rPr>
              <a:t> </a:t>
            </a:r>
            <a:r>
              <a:rPr sz="2400" dirty="0">
                <a:solidFill>
                  <a:srgbClr val="000000"/>
                </a:solidFill>
                <a:latin typeface="Calibri"/>
                <a:cs typeface="Calibri"/>
              </a:rPr>
              <a:t>and</a:t>
            </a:r>
            <a:r>
              <a:rPr sz="2400" spc="5" dirty="0">
                <a:solidFill>
                  <a:srgbClr val="000000"/>
                </a:solidFill>
                <a:latin typeface="Calibri"/>
                <a:cs typeface="Calibri"/>
              </a:rPr>
              <a:t> </a:t>
            </a:r>
            <a:r>
              <a:rPr sz="2400" dirty="0">
                <a:solidFill>
                  <a:srgbClr val="000000"/>
                </a:solidFill>
                <a:latin typeface="Calibri"/>
                <a:cs typeface="Calibri"/>
              </a:rPr>
              <a:t>the</a:t>
            </a:r>
            <a:r>
              <a:rPr sz="2400" spc="-10" dirty="0">
                <a:solidFill>
                  <a:srgbClr val="000000"/>
                </a:solidFill>
                <a:latin typeface="Calibri"/>
                <a:cs typeface="Calibri"/>
              </a:rPr>
              <a:t> </a:t>
            </a:r>
            <a:r>
              <a:rPr sz="2400" spc="-5" dirty="0">
                <a:solidFill>
                  <a:srgbClr val="000000"/>
                </a:solidFill>
                <a:latin typeface="Calibri"/>
                <a:cs typeface="Calibri"/>
              </a:rPr>
              <a:t>children of </a:t>
            </a:r>
            <a:r>
              <a:rPr sz="2400" spc="-15" dirty="0">
                <a:solidFill>
                  <a:srgbClr val="000000"/>
                </a:solidFill>
                <a:latin typeface="Calibri"/>
                <a:cs typeface="Calibri"/>
              </a:rPr>
              <a:t>root</a:t>
            </a:r>
            <a:r>
              <a:rPr sz="2400" dirty="0">
                <a:solidFill>
                  <a:srgbClr val="000000"/>
                </a:solidFill>
                <a:latin typeface="Calibri"/>
                <a:cs typeface="Calibri"/>
              </a:rPr>
              <a:t> </a:t>
            </a:r>
            <a:r>
              <a:rPr sz="2400" spc="-5" dirty="0">
                <a:solidFill>
                  <a:srgbClr val="000000"/>
                </a:solidFill>
                <a:latin typeface="Calibri"/>
                <a:cs typeface="Calibri"/>
              </a:rPr>
              <a:t>node</a:t>
            </a:r>
            <a:r>
              <a:rPr sz="2400" dirty="0">
                <a:solidFill>
                  <a:srgbClr val="000000"/>
                </a:solidFill>
                <a:latin typeface="Calibri"/>
                <a:cs typeface="Calibri"/>
              </a:rPr>
              <a:t> </a:t>
            </a:r>
            <a:r>
              <a:rPr sz="2400" spc="-10" dirty="0">
                <a:solidFill>
                  <a:srgbClr val="000000"/>
                </a:solidFill>
                <a:latin typeface="Calibri"/>
                <a:cs typeface="Calibri"/>
              </a:rPr>
              <a:t>are</a:t>
            </a:r>
            <a:r>
              <a:rPr sz="2400" dirty="0">
                <a:solidFill>
                  <a:srgbClr val="000000"/>
                </a:solidFill>
                <a:latin typeface="Calibri"/>
                <a:cs typeface="Calibri"/>
              </a:rPr>
              <a:t> </a:t>
            </a:r>
            <a:r>
              <a:rPr sz="2400" spc="-10" dirty="0">
                <a:solidFill>
                  <a:srgbClr val="000000"/>
                </a:solidFill>
                <a:latin typeface="Calibri"/>
                <a:cs typeface="Calibri"/>
              </a:rPr>
              <a:t>at</a:t>
            </a:r>
            <a:r>
              <a:rPr sz="2400" spc="-15" dirty="0">
                <a:solidFill>
                  <a:srgbClr val="000000"/>
                </a:solidFill>
                <a:latin typeface="Calibri"/>
                <a:cs typeface="Calibri"/>
              </a:rPr>
              <a:t> </a:t>
            </a:r>
            <a:r>
              <a:rPr sz="2400" b="1" spc="-10" dirty="0">
                <a:solidFill>
                  <a:srgbClr val="000000"/>
                </a:solidFill>
                <a:latin typeface="Calibri"/>
                <a:cs typeface="Calibri"/>
              </a:rPr>
              <a:t>Level </a:t>
            </a:r>
            <a:r>
              <a:rPr sz="2400" b="1" spc="-530" dirty="0">
                <a:solidFill>
                  <a:srgbClr val="000000"/>
                </a:solidFill>
                <a:latin typeface="Calibri"/>
                <a:cs typeface="Calibri"/>
              </a:rPr>
              <a:t> </a:t>
            </a:r>
            <a:r>
              <a:rPr sz="2400" b="1" dirty="0">
                <a:solidFill>
                  <a:srgbClr val="000000"/>
                </a:solidFill>
                <a:latin typeface="Calibri"/>
                <a:cs typeface="Calibri"/>
              </a:rPr>
              <a:t>1 </a:t>
            </a:r>
            <a:r>
              <a:rPr sz="2400" dirty="0">
                <a:solidFill>
                  <a:srgbClr val="000000"/>
                </a:solidFill>
                <a:latin typeface="Calibri"/>
                <a:cs typeface="Calibri"/>
              </a:rPr>
              <a:t>and the </a:t>
            </a:r>
            <a:r>
              <a:rPr sz="2400" spc="-5" dirty="0">
                <a:solidFill>
                  <a:srgbClr val="000000"/>
                </a:solidFill>
                <a:latin typeface="Calibri"/>
                <a:cs typeface="Calibri"/>
              </a:rPr>
              <a:t>children of </a:t>
            </a:r>
            <a:r>
              <a:rPr sz="2400" dirty="0">
                <a:solidFill>
                  <a:srgbClr val="000000"/>
                </a:solidFill>
                <a:latin typeface="Calibri"/>
                <a:cs typeface="Calibri"/>
              </a:rPr>
              <a:t>the </a:t>
            </a:r>
            <a:r>
              <a:rPr sz="2400" spc="-5" dirty="0">
                <a:solidFill>
                  <a:srgbClr val="000000"/>
                </a:solidFill>
                <a:latin typeface="Calibri"/>
                <a:cs typeface="Calibri"/>
              </a:rPr>
              <a:t>nodes </a:t>
            </a:r>
            <a:r>
              <a:rPr sz="2400" dirty="0">
                <a:solidFill>
                  <a:srgbClr val="000000"/>
                </a:solidFill>
                <a:latin typeface="Calibri"/>
                <a:cs typeface="Calibri"/>
              </a:rPr>
              <a:t>which </a:t>
            </a:r>
            <a:r>
              <a:rPr sz="2400" spc="-15" dirty="0">
                <a:solidFill>
                  <a:srgbClr val="000000"/>
                </a:solidFill>
                <a:latin typeface="Calibri"/>
                <a:cs typeface="Calibri"/>
              </a:rPr>
              <a:t>are </a:t>
            </a:r>
            <a:r>
              <a:rPr sz="2400" spc="-10" dirty="0">
                <a:solidFill>
                  <a:srgbClr val="000000"/>
                </a:solidFill>
                <a:latin typeface="Calibri"/>
                <a:cs typeface="Calibri"/>
              </a:rPr>
              <a:t>at Level </a:t>
            </a:r>
            <a:r>
              <a:rPr sz="2400" dirty="0">
                <a:solidFill>
                  <a:srgbClr val="000000"/>
                </a:solidFill>
                <a:latin typeface="Calibri"/>
                <a:cs typeface="Calibri"/>
              </a:rPr>
              <a:t>1 will </a:t>
            </a:r>
            <a:r>
              <a:rPr sz="2400" spc="-5" dirty="0">
                <a:solidFill>
                  <a:srgbClr val="000000"/>
                </a:solidFill>
                <a:latin typeface="Calibri"/>
                <a:cs typeface="Calibri"/>
              </a:rPr>
              <a:t>be </a:t>
            </a:r>
            <a:r>
              <a:rPr sz="2400" spc="-10" dirty="0">
                <a:solidFill>
                  <a:srgbClr val="000000"/>
                </a:solidFill>
                <a:latin typeface="Calibri"/>
                <a:cs typeface="Calibri"/>
              </a:rPr>
              <a:t>at </a:t>
            </a:r>
            <a:r>
              <a:rPr sz="2400" b="1" spc="-10" dirty="0">
                <a:solidFill>
                  <a:srgbClr val="000000"/>
                </a:solidFill>
                <a:latin typeface="Calibri"/>
                <a:cs typeface="Calibri"/>
              </a:rPr>
              <a:t>Level </a:t>
            </a:r>
            <a:r>
              <a:rPr sz="2400" b="1" dirty="0">
                <a:solidFill>
                  <a:srgbClr val="000000"/>
                </a:solidFill>
                <a:latin typeface="Calibri"/>
                <a:cs typeface="Calibri"/>
              </a:rPr>
              <a:t>2 </a:t>
            </a:r>
            <a:r>
              <a:rPr sz="2400" dirty="0">
                <a:solidFill>
                  <a:srgbClr val="000000"/>
                </a:solidFill>
                <a:latin typeface="Calibri"/>
                <a:cs typeface="Calibri"/>
              </a:rPr>
              <a:t>and </a:t>
            </a:r>
            <a:r>
              <a:rPr sz="2400" spc="-5" dirty="0">
                <a:solidFill>
                  <a:srgbClr val="000000"/>
                </a:solidFill>
                <a:latin typeface="Calibri"/>
                <a:cs typeface="Calibri"/>
              </a:rPr>
              <a:t>so </a:t>
            </a:r>
            <a:r>
              <a:rPr sz="2400" dirty="0">
                <a:solidFill>
                  <a:srgbClr val="000000"/>
                </a:solidFill>
                <a:latin typeface="Calibri"/>
                <a:cs typeface="Calibri"/>
              </a:rPr>
              <a:t> </a:t>
            </a:r>
            <a:r>
              <a:rPr sz="2400" spc="-10" dirty="0">
                <a:solidFill>
                  <a:srgbClr val="000000"/>
                </a:solidFill>
                <a:latin typeface="Calibri"/>
                <a:cs typeface="Calibri"/>
              </a:rPr>
              <a:t>on...</a:t>
            </a:r>
            <a:endParaRPr sz="2400">
              <a:latin typeface="Calibri"/>
              <a:cs typeface="Calibri"/>
            </a:endParaRP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06851"/>
            <a:ext cx="12192000" cy="3767454"/>
            <a:chOff x="0" y="3006851"/>
            <a:chExt cx="12192000" cy="3767454"/>
          </a:xfrm>
        </p:grpSpPr>
        <p:pic>
          <p:nvPicPr>
            <p:cNvPr id="3" name="object 3"/>
            <p:cNvPicPr/>
            <p:nvPr/>
          </p:nvPicPr>
          <p:blipFill>
            <a:blip r:embed="rId2" cstate="print"/>
            <a:stretch>
              <a:fillRect/>
            </a:stretch>
          </p:blipFill>
          <p:spPr>
            <a:xfrm>
              <a:off x="2357627" y="3006851"/>
              <a:ext cx="8456676" cy="3624072"/>
            </a:xfrm>
            <a:prstGeom prst="rect">
              <a:avLst/>
            </a:prstGeom>
          </p:spPr>
        </p:pic>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5" name="object 5"/>
          <p:cNvSpPr txBox="1">
            <a:spLocks noGrp="1"/>
          </p:cNvSpPr>
          <p:nvPr>
            <p:ph type="title"/>
          </p:nvPr>
        </p:nvSpPr>
        <p:spPr>
          <a:xfrm>
            <a:off x="1145539" y="400558"/>
            <a:ext cx="9932035" cy="2866390"/>
          </a:xfrm>
          <a:prstGeom prst="rect">
            <a:avLst/>
          </a:prstGeom>
        </p:spPr>
        <p:txBody>
          <a:bodyPr vert="horz" wrap="square" lIns="0" tIns="12065" rIns="0" bIns="0" rtlCol="0">
            <a:spAutoFit/>
          </a:bodyPr>
          <a:lstStyle/>
          <a:p>
            <a:pPr marL="12700">
              <a:lnSpc>
                <a:spcPct val="100000"/>
              </a:lnSpc>
              <a:spcBef>
                <a:spcPts val="95"/>
              </a:spcBef>
            </a:pPr>
            <a:r>
              <a:rPr spc="-5" dirty="0"/>
              <a:t>Height</a:t>
            </a:r>
          </a:p>
          <a:p>
            <a:pPr marL="12700" marR="5080">
              <a:lnSpc>
                <a:spcPct val="150000"/>
              </a:lnSpc>
              <a:spcBef>
                <a:spcPts val="285"/>
              </a:spcBef>
            </a:pPr>
            <a:r>
              <a:rPr sz="2400" dirty="0">
                <a:solidFill>
                  <a:srgbClr val="000000"/>
                </a:solidFill>
                <a:latin typeface="Calibri"/>
                <a:cs typeface="Calibri"/>
              </a:rPr>
              <a:t>In a </a:t>
            </a:r>
            <a:r>
              <a:rPr sz="2400" spc="-10" dirty="0">
                <a:solidFill>
                  <a:srgbClr val="000000"/>
                </a:solidFill>
                <a:latin typeface="Calibri"/>
                <a:cs typeface="Calibri"/>
              </a:rPr>
              <a:t>tree </a:t>
            </a:r>
            <a:r>
              <a:rPr sz="2400" spc="-15" dirty="0">
                <a:solidFill>
                  <a:srgbClr val="000000"/>
                </a:solidFill>
                <a:latin typeface="Calibri"/>
                <a:cs typeface="Calibri"/>
              </a:rPr>
              <a:t>data </a:t>
            </a:r>
            <a:r>
              <a:rPr sz="2400" spc="-10" dirty="0">
                <a:solidFill>
                  <a:srgbClr val="000000"/>
                </a:solidFill>
                <a:latin typeface="Calibri"/>
                <a:cs typeface="Calibri"/>
              </a:rPr>
              <a:t>structure, </a:t>
            </a:r>
            <a:r>
              <a:rPr sz="2400" dirty="0">
                <a:solidFill>
                  <a:srgbClr val="000000"/>
                </a:solidFill>
                <a:latin typeface="Calibri"/>
                <a:cs typeface="Calibri"/>
              </a:rPr>
              <a:t>the </a:t>
            </a:r>
            <a:r>
              <a:rPr sz="2400" spc="-15" dirty="0">
                <a:solidFill>
                  <a:srgbClr val="000000"/>
                </a:solidFill>
                <a:latin typeface="Calibri"/>
                <a:cs typeface="Calibri"/>
              </a:rPr>
              <a:t>total </a:t>
            </a:r>
            <a:r>
              <a:rPr sz="2400" spc="-5" dirty="0">
                <a:solidFill>
                  <a:srgbClr val="000000"/>
                </a:solidFill>
                <a:latin typeface="Calibri"/>
                <a:cs typeface="Calibri"/>
              </a:rPr>
              <a:t>number of edges </a:t>
            </a:r>
            <a:r>
              <a:rPr sz="2400" spc="-15" dirty="0">
                <a:solidFill>
                  <a:srgbClr val="000000"/>
                </a:solidFill>
                <a:latin typeface="Calibri"/>
                <a:cs typeface="Calibri"/>
              </a:rPr>
              <a:t>from </a:t>
            </a:r>
            <a:r>
              <a:rPr sz="2400" dirty="0">
                <a:solidFill>
                  <a:srgbClr val="000000"/>
                </a:solidFill>
                <a:latin typeface="Calibri"/>
                <a:cs typeface="Calibri"/>
              </a:rPr>
              <a:t>leaf </a:t>
            </a:r>
            <a:r>
              <a:rPr sz="2400" spc="-5" dirty="0">
                <a:solidFill>
                  <a:srgbClr val="000000"/>
                </a:solidFill>
                <a:latin typeface="Calibri"/>
                <a:cs typeface="Calibri"/>
              </a:rPr>
              <a:t>node </a:t>
            </a:r>
            <a:r>
              <a:rPr sz="2400" spc="-15" dirty="0">
                <a:solidFill>
                  <a:srgbClr val="000000"/>
                </a:solidFill>
                <a:latin typeface="Calibri"/>
                <a:cs typeface="Calibri"/>
              </a:rPr>
              <a:t>to </a:t>
            </a:r>
            <a:r>
              <a:rPr sz="2400" dirty="0">
                <a:solidFill>
                  <a:srgbClr val="000000"/>
                </a:solidFill>
                <a:latin typeface="Calibri"/>
                <a:cs typeface="Calibri"/>
              </a:rPr>
              <a:t>a </a:t>
            </a:r>
            <a:r>
              <a:rPr sz="2400" spc="-5" dirty="0">
                <a:solidFill>
                  <a:srgbClr val="000000"/>
                </a:solidFill>
                <a:latin typeface="Calibri"/>
                <a:cs typeface="Calibri"/>
              </a:rPr>
              <a:t>particular </a:t>
            </a:r>
            <a:r>
              <a:rPr sz="2400" spc="-530" dirty="0">
                <a:solidFill>
                  <a:srgbClr val="000000"/>
                </a:solidFill>
                <a:latin typeface="Calibri"/>
                <a:cs typeface="Calibri"/>
              </a:rPr>
              <a:t> </a:t>
            </a:r>
            <a:r>
              <a:rPr sz="2400" spc="-5" dirty="0">
                <a:solidFill>
                  <a:srgbClr val="000000"/>
                </a:solidFill>
                <a:latin typeface="Calibri"/>
                <a:cs typeface="Calibri"/>
              </a:rPr>
              <a:t>node</a:t>
            </a:r>
            <a:r>
              <a:rPr sz="2400" spc="10" dirty="0">
                <a:solidFill>
                  <a:srgbClr val="000000"/>
                </a:solidFill>
                <a:latin typeface="Calibri"/>
                <a:cs typeface="Calibri"/>
              </a:rPr>
              <a:t> </a:t>
            </a:r>
            <a:r>
              <a:rPr sz="2400" dirty="0">
                <a:solidFill>
                  <a:srgbClr val="000000"/>
                </a:solidFill>
                <a:latin typeface="Calibri"/>
                <a:cs typeface="Calibri"/>
              </a:rPr>
              <a:t>in</a:t>
            </a:r>
            <a:r>
              <a:rPr sz="2400" spc="15" dirty="0">
                <a:solidFill>
                  <a:srgbClr val="000000"/>
                </a:solidFill>
                <a:latin typeface="Calibri"/>
                <a:cs typeface="Calibri"/>
              </a:rPr>
              <a:t> </a:t>
            </a:r>
            <a:r>
              <a:rPr sz="2400" dirty="0">
                <a:solidFill>
                  <a:srgbClr val="000000"/>
                </a:solidFill>
                <a:latin typeface="Calibri"/>
                <a:cs typeface="Calibri"/>
              </a:rPr>
              <a:t>the</a:t>
            </a:r>
            <a:r>
              <a:rPr sz="2400" spc="20" dirty="0">
                <a:solidFill>
                  <a:srgbClr val="000000"/>
                </a:solidFill>
                <a:latin typeface="Calibri"/>
                <a:cs typeface="Calibri"/>
              </a:rPr>
              <a:t> </a:t>
            </a:r>
            <a:r>
              <a:rPr sz="2400" spc="-10" dirty="0">
                <a:solidFill>
                  <a:srgbClr val="000000"/>
                </a:solidFill>
                <a:latin typeface="Calibri"/>
                <a:cs typeface="Calibri"/>
              </a:rPr>
              <a:t>longest</a:t>
            </a:r>
            <a:r>
              <a:rPr sz="2400" spc="15" dirty="0">
                <a:solidFill>
                  <a:srgbClr val="000000"/>
                </a:solidFill>
                <a:latin typeface="Calibri"/>
                <a:cs typeface="Calibri"/>
              </a:rPr>
              <a:t> </a:t>
            </a:r>
            <a:r>
              <a:rPr sz="2400" spc="-10" dirty="0">
                <a:solidFill>
                  <a:srgbClr val="000000"/>
                </a:solidFill>
                <a:latin typeface="Calibri"/>
                <a:cs typeface="Calibri"/>
              </a:rPr>
              <a:t>path</a:t>
            </a:r>
            <a:r>
              <a:rPr sz="2400" dirty="0">
                <a:solidFill>
                  <a:srgbClr val="000000"/>
                </a:solidFill>
                <a:latin typeface="Calibri"/>
                <a:cs typeface="Calibri"/>
              </a:rPr>
              <a:t> is</a:t>
            </a:r>
            <a:r>
              <a:rPr sz="2400" spc="20" dirty="0">
                <a:solidFill>
                  <a:srgbClr val="000000"/>
                </a:solidFill>
                <a:latin typeface="Calibri"/>
                <a:cs typeface="Calibri"/>
              </a:rPr>
              <a:t> </a:t>
            </a:r>
            <a:r>
              <a:rPr sz="2400" spc="-5" dirty="0">
                <a:solidFill>
                  <a:srgbClr val="000000"/>
                </a:solidFill>
                <a:latin typeface="Calibri"/>
                <a:cs typeface="Calibri"/>
              </a:rPr>
              <a:t>called </a:t>
            </a:r>
            <a:r>
              <a:rPr sz="2400" dirty="0">
                <a:solidFill>
                  <a:srgbClr val="000000"/>
                </a:solidFill>
                <a:latin typeface="Calibri"/>
                <a:cs typeface="Calibri"/>
              </a:rPr>
              <a:t>as</a:t>
            </a:r>
            <a:r>
              <a:rPr sz="2400" spc="15" dirty="0">
                <a:solidFill>
                  <a:srgbClr val="000000"/>
                </a:solidFill>
                <a:latin typeface="Calibri"/>
                <a:cs typeface="Calibri"/>
              </a:rPr>
              <a:t> </a:t>
            </a:r>
            <a:r>
              <a:rPr sz="2400" b="1" spc="-5" dirty="0">
                <a:latin typeface="Calibri"/>
                <a:cs typeface="Calibri"/>
              </a:rPr>
              <a:t>HEIGHT</a:t>
            </a:r>
            <a:r>
              <a:rPr sz="2400" b="1" spc="15" dirty="0">
                <a:latin typeface="Calibri"/>
                <a:cs typeface="Calibri"/>
              </a:rPr>
              <a:t> </a:t>
            </a:r>
            <a:r>
              <a:rPr sz="2400" spc="-5" dirty="0">
                <a:solidFill>
                  <a:srgbClr val="000000"/>
                </a:solidFill>
                <a:latin typeface="Calibri"/>
                <a:cs typeface="Calibri"/>
              </a:rPr>
              <a:t>of</a:t>
            </a:r>
            <a:r>
              <a:rPr sz="2400" spc="10" dirty="0">
                <a:solidFill>
                  <a:srgbClr val="000000"/>
                </a:solidFill>
                <a:latin typeface="Calibri"/>
                <a:cs typeface="Calibri"/>
              </a:rPr>
              <a:t> </a:t>
            </a:r>
            <a:r>
              <a:rPr sz="2400" spc="-5" dirty="0">
                <a:solidFill>
                  <a:srgbClr val="000000"/>
                </a:solidFill>
                <a:latin typeface="Calibri"/>
                <a:cs typeface="Calibri"/>
              </a:rPr>
              <a:t>that</a:t>
            </a:r>
            <a:r>
              <a:rPr sz="2400" spc="5" dirty="0">
                <a:solidFill>
                  <a:srgbClr val="000000"/>
                </a:solidFill>
                <a:latin typeface="Calibri"/>
                <a:cs typeface="Calibri"/>
              </a:rPr>
              <a:t> </a:t>
            </a:r>
            <a:r>
              <a:rPr sz="2400" spc="-5" dirty="0">
                <a:solidFill>
                  <a:srgbClr val="000000"/>
                </a:solidFill>
                <a:latin typeface="Calibri"/>
                <a:cs typeface="Calibri"/>
              </a:rPr>
              <a:t>Node.</a:t>
            </a:r>
            <a:r>
              <a:rPr sz="2400" spc="10" dirty="0">
                <a:solidFill>
                  <a:srgbClr val="000000"/>
                </a:solidFill>
                <a:latin typeface="Calibri"/>
                <a:cs typeface="Calibri"/>
              </a:rPr>
              <a:t> </a:t>
            </a:r>
            <a:r>
              <a:rPr sz="2400" u="heavy" dirty="0">
                <a:solidFill>
                  <a:srgbClr val="000000"/>
                </a:solidFill>
                <a:uFill>
                  <a:solidFill>
                    <a:srgbClr val="000000"/>
                  </a:solidFill>
                </a:uFill>
                <a:latin typeface="Calibri"/>
                <a:cs typeface="Calibri"/>
              </a:rPr>
              <a:t>In</a:t>
            </a:r>
            <a:r>
              <a:rPr sz="2400" u="heavy" spc="15" dirty="0">
                <a:solidFill>
                  <a:srgbClr val="000000"/>
                </a:solidFill>
                <a:uFill>
                  <a:solidFill>
                    <a:srgbClr val="000000"/>
                  </a:solidFill>
                </a:uFill>
                <a:latin typeface="Calibri"/>
                <a:cs typeface="Calibri"/>
              </a:rPr>
              <a:t> </a:t>
            </a:r>
            <a:r>
              <a:rPr sz="2400" u="heavy" dirty="0">
                <a:solidFill>
                  <a:srgbClr val="000000"/>
                </a:solidFill>
                <a:uFill>
                  <a:solidFill>
                    <a:srgbClr val="000000"/>
                  </a:solidFill>
                </a:uFill>
                <a:latin typeface="Calibri"/>
                <a:cs typeface="Calibri"/>
              </a:rPr>
              <a:t>a</a:t>
            </a:r>
            <a:r>
              <a:rPr sz="2400" u="heavy" spc="15" dirty="0">
                <a:solidFill>
                  <a:srgbClr val="000000"/>
                </a:solidFill>
                <a:uFill>
                  <a:solidFill>
                    <a:srgbClr val="000000"/>
                  </a:solidFill>
                </a:uFill>
                <a:latin typeface="Calibri"/>
                <a:cs typeface="Calibri"/>
              </a:rPr>
              <a:t> </a:t>
            </a:r>
            <a:r>
              <a:rPr sz="2400" u="heavy" spc="-10" dirty="0">
                <a:solidFill>
                  <a:srgbClr val="000000"/>
                </a:solidFill>
                <a:uFill>
                  <a:solidFill>
                    <a:srgbClr val="000000"/>
                  </a:solidFill>
                </a:uFill>
                <a:latin typeface="Calibri"/>
                <a:cs typeface="Calibri"/>
              </a:rPr>
              <a:t>tree,</a:t>
            </a:r>
            <a:r>
              <a:rPr sz="2400" u="heavy" dirty="0">
                <a:solidFill>
                  <a:srgbClr val="000000"/>
                </a:solidFill>
                <a:uFill>
                  <a:solidFill>
                    <a:srgbClr val="000000"/>
                  </a:solidFill>
                </a:uFill>
                <a:latin typeface="Calibri"/>
                <a:cs typeface="Calibri"/>
              </a:rPr>
              <a:t> </a:t>
            </a:r>
            <a:r>
              <a:rPr sz="2400" u="heavy" spc="-10" dirty="0">
                <a:solidFill>
                  <a:srgbClr val="000000"/>
                </a:solidFill>
                <a:uFill>
                  <a:solidFill>
                    <a:srgbClr val="000000"/>
                  </a:solidFill>
                </a:uFill>
                <a:latin typeface="Calibri"/>
                <a:cs typeface="Calibri"/>
              </a:rPr>
              <a:t>height</a:t>
            </a:r>
            <a:r>
              <a:rPr sz="2400" u="heavy" spc="15" dirty="0">
                <a:solidFill>
                  <a:srgbClr val="000000"/>
                </a:solidFill>
                <a:uFill>
                  <a:solidFill>
                    <a:srgbClr val="000000"/>
                  </a:solidFill>
                </a:uFill>
                <a:latin typeface="Calibri"/>
                <a:cs typeface="Calibri"/>
              </a:rPr>
              <a:t> </a:t>
            </a:r>
            <a:r>
              <a:rPr sz="2400" u="heavy" spc="-5" dirty="0">
                <a:solidFill>
                  <a:srgbClr val="000000"/>
                </a:solidFill>
                <a:uFill>
                  <a:solidFill>
                    <a:srgbClr val="000000"/>
                  </a:solidFill>
                </a:uFill>
                <a:latin typeface="Calibri"/>
                <a:cs typeface="Calibri"/>
              </a:rPr>
              <a:t>of </a:t>
            </a:r>
            <a:r>
              <a:rPr sz="2400" dirty="0">
                <a:solidFill>
                  <a:srgbClr val="000000"/>
                </a:solidFill>
                <a:latin typeface="Calibri"/>
                <a:cs typeface="Calibri"/>
              </a:rPr>
              <a:t> </a:t>
            </a:r>
            <a:r>
              <a:rPr sz="2400" u="heavy" dirty="0">
                <a:solidFill>
                  <a:srgbClr val="000000"/>
                </a:solidFill>
                <a:uFill>
                  <a:solidFill>
                    <a:srgbClr val="000000"/>
                  </a:solidFill>
                </a:uFill>
                <a:latin typeface="Calibri"/>
                <a:cs typeface="Calibri"/>
              </a:rPr>
              <a:t>the</a:t>
            </a:r>
            <a:r>
              <a:rPr sz="2400" u="heavy" spc="10" dirty="0">
                <a:solidFill>
                  <a:srgbClr val="000000"/>
                </a:solidFill>
                <a:uFill>
                  <a:solidFill>
                    <a:srgbClr val="000000"/>
                  </a:solidFill>
                </a:uFill>
                <a:latin typeface="Calibri"/>
                <a:cs typeface="Calibri"/>
              </a:rPr>
              <a:t> </a:t>
            </a:r>
            <a:r>
              <a:rPr sz="2400" u="heavy" spc="-15" dirty="0">
                <a:solidFill>
                  <a:srgbClr val="000000"/>
                </a:solidFill>
                <a:uFill>
                  <a:solidFill>
                    <a:srgbClr val="000000"/>
                  </a:solidFill>
                </a:uFill>
                <a:latin typeface="Calibri"/>
                <a:cs typeface="Calibri"/>
              </a:rPr>
              <a:t>root</a:t>
            </a:r>
            <a:r>
              <a:rPr sz="2400" u="heavy" spc="-5" dirty="0">
                <a:solidFill>
                  <a:srgbClr val="000000"/>
                </a:solidFill>
                <a:uFill>
                  <a:solidFill>
                    <a:srgbClr val="000000"/>
                  </a:solidFill>
                </a:uFill>
                <a:latin typeface="Calibri"/>
                <a:cs typeface="Calibri"/>
              </a:rPr>
              <a:t> node</a:t>
            </a:r>
            <a:r>
              <a:rPr sz="2400" u="heavy" spc="15" dirty="0">
                <a:solidFill>
                  <a:srgbClr val="000000"/>
                </a:solidFill>
                <a:uFill>
                  <a:solidFill>
                    <a:srgbClr val="000000"/>
                  </a:solidFill>
                </a:uFill>
                <a:latin typeface="Calibri"/>
                <a:cs typeface="Calibri"/>
              </a:rPr>
              <a:t> </a:t>
            </a:r>
            <a:r>
              <a:rPr sz="2400" u="heavy" dirty="0">
                <a:solidFill>
                  <a:srgbClr val="000000"/>
                </a:solidFill>
                <a:uFill>
                  <a:solidFill>
                    <a:srgbClr val="000000"/>
                  </a:solidFill>
                </a:uFill>
                <a:latin typeface="Calibri"/>
                <a:cs typeface="Calibri"/>
              </a:rPr>
              <a:t>is</a:t>
            </a:r>
            <a:r>
              <a:rPr sz="2400" u="heavy" spc="-5" dirty="0">
                <a:solidFill>
                  <a:srgbClr val="000000"/>
                </a:solidFill>
                <a:uFill>
                  <a:solidFill>
                    <a:srgbClr val="000000"/>
                  </a:solidFill>
                </a:uFill>
                <a:latin typeface="Calibri"/>
                <a:cs typeface="Calibri"/>
              </a:rPr>
              <a:t> said</a:t>
            </a:r>
            <a:r>
              <a:rPr sz="2400" u="heavy" spc="5" dirty="0">
                <a:solidFill>
                  <a:srgbClr val="000000"/>
                </a:solidFill>
                <a:uFill>
                  <a:solidFill>
                    <a:srgbClr val="000000"/>
                  </a:solidFill>
                </a:uFill>
                <a:latin typeface="Calibri"/>
                <a:cs typeface="Calibri"/>
              </a:rPr>
              <a:t> </a:t>
            </a:r>
            <a:r>
              <a:rPr sz="2400" u="heavy" spc="-15" dirty="0">
                <a:solidFill>
                  <a:srgbClr val="000000"/>
                </a:solidFill>
                <a:uFill>
                  <a:solidFill>
                    <a:srgbClr val="000000"/>
                  </a:solidFill>
                </a:uFill>
                <a:latin typeface="Calibri"/>
                <a:cs typeface="Calibri"/>
              </a:rPr>
              <a:t>to</a:t>
            </a:r>
            <a:r>
              <a:rPr sz="2400" u="heavy" dirty="0">
                <a:solidFill>
                  <a:srgbClr val="000000"/>
                </a:solidFill>
                <a:uFill>
                  <a:solidFill>
                    <a:srgbClr val="000000"/>
                  </a:solidFill>
                </a:uFill>
                <a:latin typeface="Calibri"/>
                <a:cs typeface="Calibri"/>
              </a:rPr>
              <a:t> </a:t>
            </a:r>
            <a:r>
              <a:rPr sz="2400" u="heavy" spc="-5" dirty="0">
                <a:solidFill>
                  <a:srgbClr val="000000"/>
                </a:solidFill>
                <a:uFill>
                  <a:solidFill>
                    <a:srgbClr val="000000"/>
                  </a:solidFill>
                </a:uFill>
                <a:latin typeface="Calibri"/>
                <a:cs typeface="Calibri"/>
              </a:rPr>
              <a:t>be</a:t>
            </a:r>
            <a:r>
              <a:rPr sz="2400" u="heavy" spc="25" dirty="0">
                <a:solidFill>
                  <a:srgbClr val="000000"/>
                </a:solidFill>
                <a:uFill>
                  <a:solidFill>
                    <a:srgbClr val="000000"/>
                  </a:solidFill>
                </a:uFill>
                <a:latin typeface="Calibri"/>
                <a:cs typeface="Calibri"/>
              </a:rPr>
              <a:t> </a:t>
            </a:r>
            <a:r>
              <a:rPr sz="2400" b="1" u="heavy" spc="-5" dirty="0">
                <a:uFill>
                  <a:solidFill>
                    <a:srgbClr val="000000"/>
                  </a:solidFill>
                </a:uFill>
                <a:latin typeface="Calibri"/>
                <a:cs typeface="Calibri"/>
              </a:rPr>
              <a:t>height</a:t>
            </a:r>
            <a:r>
              <a:rPr sz="2400" b="1" u="heavy" spc="10" dirty="0">
                <a:uFill>
                  <a:solidFill>
                    <a:srgbClr val="000000"/>
                  </a:solidFill>
                </a:uFill>
                <a:latin typeface="Calibri"/>
                <a:cs typeface="Calibri"/>
              </a:rPr>
              <a:t> </a:t>
            </a:r>
            <a:r>
              <a:rPr sz="2400" b="1" u="heavy" dirty="0">
                <a:uFill>
                  <a:solidFill>
                    <a:srgbClr val="000000"/>
                  </a:solidFill>
                </a:uFill>
                <a:latin typeface="Calibri"/>
                <a:cs typeface="Calibri"/>
              </a:rPr>
              <a:t>of</a:t>
            </a:r>
            <a:r>
              <a:rPr sz="2400" b="1" u="heavy" spc="5" dirty="0">
                <a:uFill>
                  <a:solidFill>
                    <a:srgbClr val="000000"/>
                  </a:solidFill>
                </a:uFill>
                <a:latin typeface="Calibri"/>
                <a:cs typeface="Calibri"/>
              </a:rPr>
              <a:t> </a:t>
            </a:r>
            <a:r>
              <a:rPr sz="2400" b="1" u="heavy" spc="-5" dirty="0">
                <a:uFill>
                  <a:solidFill>
                    <a:srgbClr val="000000"/>
                  </a:solidFill>
                </a:uFill>
                <a:latin typeface="Calibri"/>
                <a:cs typeface="Calibri"/>
              </a:rPr>
              <a:t>the</a:t>
            </a:r>
            <a:r>
              <a:rPr sz="2400" b="1" u="heavy" spc="10" dirty="0">
                <a:uFill>
                  <a:solidFill>
                    <a:srgbClr val="000000"/>
                  </a:solidFill>
                </a:uFill>
                <a:latin typeface="Calibri"/>
                <a:cs typeface="Calibri"/>
              </a:rPr>
              <a:t> </a:t>
            </a:r>
            <a:r>
              <a:rPr sz="2400" b="1" u="heavy" spc="-10" dirty="0">
                <a:uFill>
                  <a:solidFill>
                    <a:srgbClr val="000000"/>
                  </a:solidFill>
                </a:uFill>
                <a:latin typeface="Calibri"/>
                <a:cs typeface="Calibri"/>
              </a:rPr>
              <a:t>tree</a:t>
            </a:r>
            <a:r>
              <a:rPr sz="2400" spc="-10" dirty="0">
                <a:solidFill>
                  <a:srgbClr val="000000"/>
                </a:solidFill>
                <a:latin typeface="Calibri"/>
                <a:cs typeface="Calibri"/>
              </a:rPr>
              <a:t>.</a:t>
            </a:r>
            <a:r>
              <a:rPr sz="2400" spc="5" dirty="0">
                <a:solidFill>
                  <a:srgbClr val="000000"/>
                </a:solidFill>
                <a:latin typeface="Calibri"/>
                <a:cs typeface="Calibri"/>
              </a:rPr>
              <a:t> </a:t>
            </a:r>
            <a:r>
              <a:rPr sz="2400" dirty="0">
                <a:solidFill>
                  <a:srgbClr val="000000"/>
                </a:solidFill>
                <a:latin typeface="Calibri"/>
                <a:cs typeface="Calibri"/>
              </a:rPr>
              <a:t>In</a:t>
            </a:r>
            <a:r>
              <a:rPr sz="2400" spc="10" dirty="0">
                <a:solidFill>
                  <a:srgbClr val="000000"/>
                </a:solidFill>
                <a:latin typeface="Calibri"/>
                <a:cs typeface="Calibri"/>
              </a:rPr>
              <a:t> </a:t>
            </a:r>
            <a:r>
              <a:rPr sz="2400" dirty="0">
                <a:solidFill>
                  <a:srgbClr val="000000"/>
                </a:solidFill>
                <a:latin typeface="Calibri"/>
                <a:cs typeface="Calibri"/>
              </a:rPr>
              <a:t>a</a:t>
            </a:r>
            <a:r>
              <a:rPr sz="2400" spc="-5" dirty="0">
                <a:solidFill>
                  <a:srgbClr val="000000"/>
                </a:solidFill>
                <a:latin typeface="Calibri"/>
                <a:cs typeface="Calibri"/>
              </a:rPr>
              <a:t> </a:t>
            </a:r>
            <a:r>
              <a:rPr sz="2400" spc="-10" dirty="0">
                <a:solidFill>
                  <a:srgbClr val="000000"/>
                </a:solidFill>
                <a:latin typeface="Calibri"/>
                <a:cs typeface="Calibri"/>
              </a:rPr>
              <a:t>tree,</a:t>
            </a:r>
            <a:r>
              <a:rPr sz="2400" spc="15" dirty="0">
                <a:solidFill>
                  <a:srgbClr val="000000"/>
                </a:solidFill>
                <a:latin typeface="Calibri"/>
                <a:cs typeface="Calibri"/>
              </a:rPr>
              <a:t> </a:t>
            </a:r>
            <a:r>
              <a:rPr sz="2400" b="1" u="heavy" spc="-5" dirty="0">
                <a:uFill>
                  <a:solidFill>
                    <a:srgbClr val="7D1B68"/>
                  </a:solidFill>
                </a:uFill>
                <a:latin typeface="Calibri"/>
                <a:cs typeface="Calibri"/>
              </a:rPr>
              <a:t>height</a:t>
            </a:r>
            <a:r>
              <a:rPr sz="2400" b="1" u="heavy" spc="10" dirty="0">
                <a:uFill>
                  <a:solidFill>
                    <a:srgbClr val="7D1B68"/>
                  </a:solidFill>
                </a:uFill>
                <a:latin typeface="Calibri"/>
                <a:cs typeface="Calibri"/>
              </a:rPr>
              <a:t> </a:t>
            </a:r>
            <a:r>
              <a:rPr sz="2400" b="1" u="heavy" dirty="0">
                <a:uFill>
                  <a:solidFill>
                    <a:srgbClr val="7D1B68"/>
                  </a:solidFill>
                </a:uFill>
                <a:latin typeface="Calibri"/>
                <a:cs typeface="Calibri"/>
              </a:rPr>
              <a:t>of</a:t>
            </a:r>
            <a:r>
              <a:rPr sz="2400" b="1" u="heavy" spc="5" dirty="0">
                <a:uFill>
                  <a:solidFill>
                    <a:srgbClr val="7D1B68"/>
                  </a:solidFill>
                </a:uFill>
                <a:latin typeface="Calibri"/>
                <a:cs typeface="Calibri"/>
              </a:rPr>
              <a:t> </a:t>
            </a:r>
            <a:r>
              <a:rPr sz="2400" b="1" u="heavy" dirty="0">
                <a:uFill>
                  <a:solidFill>
                    <a:srgbClr val="7D1B68"/>
                  </a:solidFill>
                </a:uFill>
                <a:latin typeface="Calibri"/>
                <a:cs typeface="Calibri"/>
              </a:rPr>
              <a:t>all</a:t>
            </a:r>
            <a:r>
              <a:rPr sz="2400" b="1" u="heavy" spc="-15" dirty="0">
                <a:uFill>
                  <a:solidFill>
                    <a:srgbClr val="7D1B68"/>
                  </a:solidFill>
                </a:uFill>
                <a:latin typeface="Calibri"/>
                <a:cs typeface="Calibri"/>
              </a:rPr>
              <a:t> </a:t>
            </a:r>
            <a:r>
              <a:rPr sz="2400" b="1" u="heavy" spc="-5" dirty="0">
                <a:uFill>
                  <a:solidFill>
                    <a:srgbClr val="7D1B68"/>
                  </a:solidFill>
                </a:uFill>
                <a:latin typeface="Calibri"/>
                <a:cs typeface="Calibri"/>
              </a:rPr>
              <a:t>leaf</a:t>
            </a:r>
            <a:r>
              <a:rPr sz="2400" b="1" u="heavy" spc="10" dirty="0">
                <a:uFill>
                  <a:solidFill>
                    <a:srgbClr val="7D1B68"/>
                  </a:solidFill>
                </a:uFill>
                <a:latin typeface="Calibri"/>
                <a:cs typeface="Calibri"/>
              </a:rPr>
              <a:t> </a:t>
            </a:r>
            <a:r>
              <a:rPr sz="2400" b="1" u="heavy" dirty="0">
                <a:uFill>
                  <a:solidFill>
                    <a:srgbClr val="7D1B68"/>
                  </a:solidFill>
                </a:uFill>
                <a:latin typeface="Calibri"/>
                <a:cs typeface="Calibri"/>
              </a:rPr>
              <a:t>nodes </a:t>
            </a:r>
            <a:r>
              <a:rPr sz="2400" b="1" spc="5" dirty="0">
                <a:latin typeface="Calibri"/>
                <a:cs typeface="Calibri"/>
              </a:rPr>
              <a:t> </a:t>
            </a:r>
            <a:r>
              <a:rPr sz="2400" b="1" u="heavy" dirty="0">
                <a:uFill>
                  <a:solidFill>
                    <a:srgbClr val="7D1B68"/>
                  </a:solidFill>
                </a:uFill>
                <a:latin typeface="Calibri"/>
                <a:cs typeface="Calibri"/>
              </a:rPr>
              <a:t>is</a:t>
            </a:r>
            <a:r>
              <a:rPr sz="2400" b="1" u="heavy" spc="-5" dirty="0">
                <a:uFill>
                  <a:solidFill>
                    <a:srgbClr val="7D1B68"/>
                  </a:solidFill>
                </a:uFill>
                <a:latin typeface="Calibri"/>
                <a:cs typeface="Calibri"/>
              </a:rPr>
              <a:t> '0'.</a:t>
            </a:r>
            <a:endParaRPr sz="2400" dirty="0">
              <a:latin typeface="Calibri"/>
              <a:cs typeface="Calibri"/>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027510"/>
            <a:ext cx="9994265" cy="3867785"/>
          </a:xfrm>
          <a:prstGeom prst="rect">
            <a:avLst/>
          </a:prstGeom>
        </p:spPr>
        <p:txBody>
          <a:bodyPr vert="horz" wrap="square" lIns="0" tIns="196215" rIns="0" bIns="0" rtlCol="0">
            <a:spAutoFit/>
          </a:bodyPr>
          <a:lstStyle/>
          <a:p>
            <a:pPr marL="12700">
              <a:lnSpc>
                <a:spcPct val="100000"/>
              </a:lnSpc>
              <a:spcBef>
                <a:spcPts val="1545"/>
              </a:spcBef>
            </a:pPr>
            <a:r>
              <a:rPr sz="2400" dirty="0">
                <a:latin typeface="Calibri"/>
                <a:cs typeface="Calibri"/>
              </a:rPr>
              <a:t>In</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tree </a:t>
            </a:r>
            <a:r>
              <a:rPr sz="2400" spc="-15" dirty="0">
                <a:latin typeface="Calibri"/>
                <a:cs typeface="Calibri"/>
              </a:rPr>
              <a:t>data</a:t>
            </a:r>
            <a:r>
              <a:rPr sz="2400" spc="-10" dirty="0">
                <a:latin typeface="Calibri"/>
                <a:cs typeface="Calibri"/>
              </a:rPr>
              <a:t> structure, </a:t>
            </a:r>
            <a:r>
              <a:rPr sz="2400" dirty="0">
                <a:latin typeface="Calibri"/>
                <a:cs typeface="Calibri"/>
              </a:rPr>
              <a:t>the</a:t>
            </a:r>
            <a:r>
              <a:rPr sz="2400" spc="5" dirty="0">
                <a:latin typeface="Calibri"/>
                <a:cs typeface="Calibri"/>
              </a:rPr>
              <a:t> </a:t>
            </a:r>
            <a:r>
              <a:rPr sz="2400" spc="-15" dirty="0">
                <a:latin typeface="Calibri"/>
                <a:cs typeface="Calibri"/>
              </a:rPr>
              <a:t>total</a:t>
            </a:r>
            <a:r>
              <a:rPr sz="2400" spc="-30" dirty="0">
                <a:latin typeface="Calibri"/>
                <a:cs typeface="Calibri"/>
              </a:rPr>
              <a:t> </a:t>
            </a:r>
            <a:r>
              <a:rPr sz="2400" spc="-5" dirty="0">
                <a:latin typeface="Calibri"/>
                <a:cs typeface="Calibri"/>
              </a:rPr>
              <a:t>number</a:t>
            </a:r>
            <a:r>
              <a:rPr sz="2400" dirty="0">
                <a:latin typeface="Calibri"/>
                <a:cs typeface="Calibri"/>
              </a:rPr>
              <a:t> </a:t>
            </a:r>
            <a:r>
              <a:rPr sz="2400" spc="-5" dirty="0">
                <a:latin typeface="Calibri"/>
                <a:cs typeface="Calibri"/>
              </a:rPr>
              <a:t>of edges</a:t>
            </a:r>
            <a:r>
              <a:rPr sz="2400" spc="5" dirty="0">
                <a:latin typeface="Calibri"/>
                <a:cs typeface="Calibri"/>
              </a:rPr>
              <a:t> </a:t>
            </a:r>
            <a:r>
              <a:rPr sz="2400" spc="-15" dirty="0">
                <a:latin typeface="Calibri"/>
                <a:cs typeface="Calibri"/>
              </a:rPr>
              <a:t>from</a:t>
            </a:r>
            <a:r>
              <a:rPr sz="2400" spc="-20" dirty="0">
                <a:latin typeface="Calibri"/>
                <a:cs typeface="Calibri"/>
              </a:rPr>
              <a:t> </a:t>
            </a:r>
            <a:r>
              <a:rPr sz="2400" spc="-15" dirty="0">
                <a:latin typeface="Calibri"/>
                <a:cs typeface="Calibri"/>
              </a:rPr>
              <a:t>root</a:t>
            </a:r>
            <a:r>
              <a:rPr sz="2400" spc="-20" dirty="0">
                <a:latin typeface="Calibri"/>
                <a:cs typeface="Calibri"/>
              </a:rPr>
              <a:t> </a:t>
            </a:r>
            <a:r>
              <a:rPr sz="2400" spc="-5" dirty="0">
                <a:latin typeface="Calibri"/>
                <a:cs typeface="Calibri"/>
              </a:rPr>
              <a:t>node</a:t>
            </a:r>
            <a:r>
              <a:rPr sz="2400" spc="10" dirty="0">
                <a:latin typeface="Calibri"/>
                <a:cs typeface="Calibri"/>
              </a:rPr>
              <a:t> </a:t>
            </a:r>
            <a:r>
              <a:rPr sz="2400" spc="-15" dirty="0">
                <a:latin typeface="Calibri"/>
                <a:cs typeface="Calibri"/>
              </a:rPr>
              <a:t>to </a:t>
            </a:r>
            <a:r>
              <a:rPr sz="2400" dirty="0">
                <a:latin typeface="Calibri"/>
                <a:cs typeface="Calibri"/>
              </a:rPr>
              <a:t>a</a:t>
            </a:r>
            <a:r>
              <a:rPr sz="2400" spc="-10" dirty="0">
                <a:latin typeface="Calibri"/>
                <a:cs typeface="Calibri"/>
              </a:rPr>
              <a:t> </a:t>
            </a:r>
            <a:r>
              <a:rPr sz="2400" spc="-5" dirty="0">
                <a:latin typeface="Calibri"/>
                <a:cs typeface="Calibri"/>
              </a:rPr>
              <a:t>particular</a:t>
            </a:r>
            <a:endParaRPr sz="2400">
              <a:latin typeface="Calibri"/>
              <a:cs typeface="Calibri"/>
            </a:endParaRPr>
          </a:p>
          <a:p>
            <a:pPr marL="12700">
              <a:lnSpc>
                <a:spcPct val="100000"/>
              </a:lnSpc>
              <a:spcBef>
                <a:spcPts val="1440"/>
              </a:spcBef>
            </a:pPr>
            <a:r>
              <a:rPr sz="2400" spc="-5" dirty="0">
                <a:latin typeface="Calibri"/>
                <a:cs typeface="Calibri"/>
              </a:rPr>
              <a:t>node</a:t>
            </a:r>
            <a:r>
              <a:rPr sz="2400" spc="-15" dirty="0">
                <a:latin typeface="Calibri"/>
                <a:cs typeface="Calibri"/>
              </a:rPr>
              <a:t> </a:t>
            </a:r>
            <a:r>
              <a:rPr sz="2400" dirty="0">
                <a:latin typeface="Calibri"/>
                <a:cs typeface="Calibri"/>
              </a:rPr>
              <a:t>is</a:t>
            </a:r>
            <a:r>
              <a:rPr sz="2400" spc="-10" dirty="0">
                <a:latin typeface="Calibri"/>
                <a:cs typeface="Calibri"/>
              </a:rPr>
              <a:t> </a:t>
            </a:r>
            <a:r>
              <a:rPr sz="2400" spc="-5" dirty="0">
                <a:latin typeface="Calibri"/>
                <a:cs typeface="Calibri"/>
              </a:rPr>
              <a:t>called</a:t>
            </a:r>
            <a:r>
              <a:rPr sz="2400" spc="-25" dirty="0">
                <a:latin typeface="Calibri"/>
                <a:cs typeface="Calibri"/>
              </a:rPr>
              <a:t> </a:t>
            </a:r>
            <a:r>
              <a:rPr sz="2400" dirty="0">
                <a:latin typeface="Calibri"/>
                <a:cs typeface="Calibri"/>
              </a:rPr>
              <a:t>as </a:t>
            </a:r>
            <a:r>
              <a:rPr sz="2400" b="1" spc="-10" dirty="0">
                <a:latin typeface="Calibri"/>
                <a:cs typeface="Calibri"/>
              </a:rPr>
              <a:t>DEPTH</a:t>
            </a:r>
            <a:r>
              <a:rPr sz="2400" b="1" spc="5" dirty="0">
                <a:latin typeface="Calibri"/>
                <a:cs typeface="Calibri"/>
              </a:rPr>
              <a:t> </a:t>
            </a:r>
            <a:r>
              <a:rPr sz="2400" spc="-5" dirty="0">
                <a:latin typeface="Calibri"/>
                <a:cs typeface="Calibri"/>
              </a:rPr>
              <a:t>of</a:t>
            </a:r>
            <a:r>
              <a:rPr sz="2400" spc="-15" dirty="0">
                <a:latin typeface="Calibri"/>
                <a:cs typeface="Calibri"/>
              </a:rPr>
              <a:t> </a:t>
            </a:r>
            <a:r>
              <a:rPr sz="2400" spc="-10" dirty="0">
                <a:latin typeface="Calibri"/>
                <a:cs typeface="Calibri"/>
              </a:rPr>
              <a:t>that</a:t>
            </a:r>
            <a:r>
              <a:rPr sz="2400" spc="-20" dirty="0">
                <a:latin typeface="Calibri"/>
                <a:cs typeface="Calibri"/>
              </a:rPr>
              <a:t> </a:t>
            </a:r>
            <a:r>
              <a:rPr sz="2400" spc="-5" dirty="0">
                <a:latin typeface="Calibri"/>
                <a:cs typeface="Calibri"/>
              </a:rPr>
              <a:t>Node.</a:t>
            </a:r>
            <a:endParaRPr sz="2400">
              <a:latin typeface="Calibri"/>
              <a:cs typeface="Calibri"/>
            </a:endParaRPr>
          </a:p>
          <a:p>
            <a:pPr marL="12700" marR="97790">
              <a:lnSpc>
                <a:spcPts val="4320"/>
              </a:lnSpc>
              <a:spcBef>
                <a:spcPts val="385"/>
              </a:spcBef>
            </a:pPr>
            <a:r>
              <a:rPr sz="2400" u="heavy" dirty="0">
                <a:uFill>
                  <a:solidFill>
                    <a:srgbClr val="000000"/>
                  </a:solidFill>
                </a:uFill>
                <a:latin typeface="Calibri"/>
                <a:cs typeface="Calibri"/>
              </a:rPr>
              <a:t>In a </a:t>
            </a:r>
            <a:r>
              <a:rPr sz="2400" u="heavy" spc="-10" dirty="0">
                <a:uFill>
                  <a:solidFill>
                    <a:srgbClr val="000000"/>
                  </a:solidFill>
                </a:uFill>
                <a:latin typeface="Calibri"/>
                <a:cs typeface="Calibri"/>
              </a:rPr>
              <a:t>tree, </a:t>
            </a:r>
            <a:r>
              <a:rPr sz="2400" u="heavy" dirty="0">
                <a:uFill>
                  <a:solidFill>
                    <a:srgbClr val="000000"/>
                  </a:solidFill>
                </a:uFill>
                <a:latin typeface="Calibri"/>
                <a:cs typeface="Calibri"/>
              </a:rPr>
              <a:t>the </a:t>
            </a:r>
            <a:r>
              <a:rPr sz="2400" u="heavy" spc="-15" dirty="0">
                <a:uFill>
                  <a:solidFill>
                    <a:srgbClr val="000000"/>
                  </a:solidFill>
                </a:uFill>
                <a:latin typeface="Calibri"/>
                <a:cs typeface="Calibri"/>
              </a:rPr>
              <a:t>total </a:t>
            </a:r>
            <a:r>
              <a:rPr sz="2400" u="heavy" spc="-5" dirty="0">
                <a:uFill>
                  <a:solidFill>
                    <a:srgbClr val="000000"/>
                  </a:solidFill>
                </a:uFill>
                <a:latin typeface="Calibri"/>
                <a:cs typeface="Calibri"/>
              </a:rPr>
              <a:t>number of </a:t>
            </a:r>
            <a:r>
              <a:rPr sz="2400" u="heavy" spc="-10" dirty="0">
                <a:uFill>
                  <a:solidFill>
                    <a:srgbClr val="000000"/>
                  </a:solidFill>
                </a:uFill>
                <a:latin typeface="Calibri"/>
                <a:cs typeface="Calibri"/>
              </a:rPr>
              <a:t>edges </a:t>
            </a:r>
            <a:r>
              <a:rPr sz="2400" u="heavy" spc="-15" dirty="0">
                <a:uFill>
                  <a:solidFill>
                    <a:srgbClr val="000000"/>
                  </a:solidFill>
                </a:uFill>
                <a:latin typeface="Calibri"/>
                <a:cs typeface="Calibri"/>
              </a:rPr>
              <a:t>from root </a:t>
            </a:r>
            <a:r>
              <a:rPr sz="2400" u="heavy" spc="-5" dirty="0">
                <a:uFill>
                  <a:solidFill>
                    <a:srgbClr val="000000"/>
                  </a:solidFill>
                </a:uFill>
                <a:latin typeface="Calibri"/>
                <a:cs typeface="Calibri"/>
              </a:rPr>
              <a:t>node </a:t>
            </a:r>
            <a:r>
              <a:rPr sz="2400" u="heavy" spc="-15" dirty="0">
                <a:uFill>
                  <a:solidFill>
                    <a:srgbClr val="000000"/>
                  </a:solidFill>
                </a:uFill>
                <a:latin typeface="Calibri"/>
                <a:cs typeface="Calibri"/>
              </a:rPr>
              <a:t>to </a:t>
            </a:r>
            <a:r>
              <a:rPr sz="2400" u="heavy" dirty="0">
                <a:uFill>
                  <a:solidFill>
                    <a:srgbClr val="000000"/>
                  </a:solidFill>
                </a:uFill>
                <a:latin typeface="Calibri"/>
                <a:cs typeface="Calibri"/>
              </a:rPr>
              <a:t>a leaf </a:t>
            </a:r>
            <a:r>
              <a:rPr sz="2400" u="heavy" spc="-5" dirty="0">
                <a:uFill>
                  <a:solidFill>
                    <a:srgbClr val="000000"/>
                  </a:solidFill>
                </a:uFill>
                <a:latin typeface="Calibri"/>
                <a:cs typeface="Calibri"/>
              </a:rPr>
              <a:t>node </a:t>
            </a:r>
            <a:r>
              <a:rPr sz="2400" u="heavy" dirty="0">
                <a:uFill>
                  <a:solidFill>
                    <a:srgbClr val="000000"/>
                  </a:solidFill>
                </a:uFill>
                <a:latin typeface="Calibri"/>
                <a:cs typeface="Calibri"/>
              </a:rPr>
              <a:t>in the </a:t>
            </a:r>
            <a:r>
              <a:rPr sz="2400" u="heavy" spc="-10" dirty="0">
                <a:uFill>
                  <a:solidFill>
                    <a:srgbClr val="000000"/>
                  </a:solidFill>
                </a:uFill>
                <a:latin typeface="Calibri"/>
                <a:cs typeface="Calibri"/>
              </a:rPr>
              <a:t>longest </a:t>
            </a:r>
            <a:r>
              <a:rPr sz="2400" spc="-530" dirty="0">
                <a:latin typeface="Calibri"/>
                <a:cs typeface="Calibri"/>
              </a:rPr>
              <a:t> </a:t>
            </a:r>
            <a:r>
              <a:rPr sz="2400" u="heavy" spc="-10" dirty="0">
                <a:uFill>
                  <a:solidFill>
                    <a:srgbClr val="000000"/>
                  </a:solidFill>
                </a:uFill>
                <a:latin typeface="Calibri"/>
                <a:cs typeface="Calibri"/>
              </a:rPr>
              <a:t>path</a:t>
            </a:r>
            <a:r>
              <a:rPr sz="2400" u="heavy" spc="-5" dirty="0">
                <a:uFill>
                  <a:solidFill>
                    <a:srgbClr val="000000"/>
                  </a:solidFill>
                </a:uFill>
                <a:latin typeface="Calibri"/>
                <a:cs typeface="Calibri"/>
              </a:rPr>
              <a:t> </a:t>
            </a:r>
            <a:r>
              <a:rPr sz="2400" u="heavy" dirty="0">
                <a:uFill>
                  <a:solidFill>
                    <a:srgbClr val="000000"/>
                  </a:solidFill>
                </a:uFill>
                <a:latin typeface="Calibri"/>
                <a:cs typeface="Calibri"/>
              </a:rPr>
              <a:t>is </a:t>
            </a:r>
            <a:r>
              <a:rPr sz="2400" u="heavy" spc="-5" dirty="0">
                <a:uFill>
                  <a:solidFill>
                    <a:srgbClr val="000000"/>
                  </a:solidFill>
                </a:uFill>
                <a:latin typeface="Calibri"/>
                <a:cs typeface="Calibri"/>
              </a:rPr>
              <a:t>said</a:t>
            </a:r>
            <a:r>
              <a:rPr sz="2400" u="heavy" spc="-15" dirty="0">
                <a:uFill>
                  <a:solidFill>
                    <a:srgbClr val="000000"/>
                  </a:solidFill>
                </a:uFill>
                <a:latin typeface="Calibri"/>
                <a:cs typeface="Calibri"/>
              </a:rPr>
              <a:t> to</a:t>
            </a:r>
            <a:r>
              <a:rPr sz="2400" u="heavy" spc="-10" dirty="0">
                <a:uFill>
                  <a:solidFill>
                    <a:srgbClr val="000000"/>
                  </a:solidFill>
                </a:uFill>
                <a:latin typeface="Calibri"/>
                <a:cs typeface="Calibri"/>
              </a:rPr>
              <a:t> </a:t>
            </a:r>
            <a:r>
              <a:rPr sz="2400" u="heavy" spc="-5" dirty="0">
                <a:uFill>
                  <a:solidFill>
                    <a:srgbClr val="000000"/>
                  </a:solidFill>
                </a:uFill>
                <a:latin typeface="Calibri"/>
                <a:cs typeface="Calibri"/>
              </a:rPr>
              <a:t>be</a:t>
            </a:r>
            <a:r>
              <a:rPr sz="2400" u="heavy" dirty="0">
                <a:uFill>
                  <a:solidFill>
                    <a:srgbClr val="000000"/>
                  </a:solidFill>
                </a:uFill>
                <a:latin typeface="Calibri"/>
                <a:cs typeface="Calibri"/>
              </a:rPr>
              <a:t> </a:t>
            </a:r>
            <a:r>
              <a:rPr sz="2400" b="1" u="heavy" spc="-5" dirty="0">
                <a:uFill>
                  <a:solidFill>
                    <a:srgbClr val="000000"/>
                  </a:solidFill>
                </a:uFill>
                <a:latin typeface="Calibri"/>
                <a:cs typeface="Calibri"/>
              </a:rPr>
              <a:t>Depth</a:t>
            </a:r>
            <a:r>
              <a:rPr sz="2400" b="1" u="heavy" spc="10" dirty="0">
                <a:uFill>
                  <a:solidFill>
                    <a:srgbClr val="000000"/>
                  </a:solidFill>
                </a:uFill>
                <a:latin typeface="Calibri"/>
                <a:cs typeface="Calibri"/>
              </a:rPr>
              <a:t> </a:t>
            </a:r>
            <a:r>
              <a:rPr sz="2400" b="1" u="heavy" dirty="0">
                <a:uFill>
                  <a:solidFill>
                    <a:srgbClr val="000000"/>
                  </a:solidFill>
                </a:uFill>
                <a:latin typeface="Calibri"/>
                <a:cs typeface="Calibri"/>
              </a:rPr>
              <a:t>of</a:t>
            </a:r>
            <a:r>
              <a:rPr sz="2400" b="1" u="heavy" spc="-20" dirty="0">
                <a:uFill>
                  <a:solidFill>
                    <a:srgbClr val="000000"/>
                  </a:solidFill>
                </a:uFill>
                <a:latin typeface="Calibri"/>
                <a:cs typeface="Calibri"/>
              </a:rPr>
              <a:t> </a:t>
            </a:r>
            <a:r>
              <a:rPr sz="2400" b="1" u="heavy" spc="-5" dirty="0">
                <a:uFill>
                  <a:solidFill>
                    <a:srgbClr val="000000"/>
                  </a:solidFill>
                </a:uFill>
                <a:latin typeface="Calibri"/>
                <a:cs typeface="Calibri"/>
              </a:rPr>
              <a:t>the</a:t>
            </a:r>
            <a:r>
              <a:rPr sz="2400" b="1" u="heavy" spc="5" dirty="0">
                <a:uFill>
                  <a:solidFill>
                    <a:srgbClr val="000000"/>
                  </a:solidFill>
                </a:uFill>
                <a:latin typeface="Calibri"/>
                <a:cs typeface="Calibri"/>
              </a:rPr>
              <a:t> </a:t>
            </a:r>
            <a:r>
              <a:rPr sz="2400" b="1" u="heavy" spc="-5" dirty="0">
                <a:uFill>
                  <a:solidFill>
                    <a:srgbClr val="000000"/>
                  </a:solidFill>
                </a:uFill>
                <a:latin typeface="Calibri"/>
                <a:cs typeface="Calibri"/>
              </a:rPr>
              <a:t>tree</a:t>
            </a:r>
            <a:r>
              <a:rPr sz="2400" spc="-5" dirty="0">
                <a:latin typeface="Calibri"/>
                <a:cs typeface="Calibri"/>
              </a:rPr>
              <a:t>.</a:t>
            </a:r>
            <a:endParaRPr sz="2400">
              <a:latin typeface="Calibri"/>
              <a:cs typeface="Calibri"/>
            </a:endParaRPr>
          </a:p>
          <a:p>
            <a:pPr marL="80645" marR="3637279" indent="-68580">
              <a:lnSpc>
                <a:spcPts val="4320"/>
              </a:lnSpc>
              <a:spcBef>
                <a:spcPts val="5"/>
              </a:spcBef>
            </a:pPr>
            <a:r>
              <a:rPr sz="2400" dirty="0">
                <a:latin typeface="Calibri"/>
                <a:cs typeface="Calibri"/>
              </a:rPr>
              <a:t>In</a:t>
            </a:r>
            <a:r>
              <a:rPr sz="2400" spc="-15" dirty="0">
                <a:latin typeface="Calibri"/>
                <a:cs typeface="Calibri"/>
              </a:rPr>
              <a:t> </a:t>
            </a:r>
            <a:r>
              <a:rPr sz="2400" spc="-5" dirty="0">
                <a:latin typeface="Calibri"/>
                <a:cs typeface="Calibri"/>
              </a:rPr>
              <a:t>simple</a:t>
            </a:r>
            <a:r>
              <a:rPr sz="2400" spc="-20" dirty="0">
                <a:latin typeface="Calibri"/>
                <a:cs typeface="Calibri"/>
              </a:rPr>
              <a:t> </a:t>
            </a:r>
            <a:r>
              <a:rPr sz="2400" spc="-15" dirty="0">
                <a:latin typeface="Calibri"/>
                <a:cs typeface="Calibri"/>
              </a:rPr>
              <a:t>words,</a:t>
            </a:r>
            <a:r>
              <a:rPr sz="2400" spc="-10" dirty="0">
                <a:latin typeface="Calibri"/>
                <a:cs typeface="Calibri"/>
              </a:rPr>
              <a:t> </a:t>
            </a:r>
            <a:r>
              <a:rPr sz="2400" dirty="0">
                <a:latin typeface="Calibri"/>
                <a:cs typeface="Calibri"/>
              </a:rPr>
              <a:t>the </a:t>
            </a:r>
            <a:r>
              <a:rPr sz="2400" spc="-10" dirty="0">
                <a:latin typeface="Calibri"/>
                <a:cs typeface="Calibri"/>
              </a:rPr>
              <a:t>highest</a:t>
            </a:r>
            <a:r>
              <a:rPr sz="2400" spc="-20" dirty="0">
                <a:latin typeface="Calibri"/>
                <a:cs typeface="Calibri"/>
              </a:rPr>
              <a:t> </a:t>
            </a:r>
            <a:r>
              <a:rPr sz="2400" spc="-5" dirty="0">
                <a:latin typeface="Calibri"/>
                <a:cs typeface="Calibri"/>
              </a:rPr>
              <a:t>depth</a:t>
            </a:r>
            <a:r>
              <a:rPr sz="2400" dirty="0">
                <a:latin typeface="Calibri"/>
                <a:cs typeface="Calibri"/>
              </a:rPr>
              <a:t> </a:t>
            </a:r>
            <a:r>
              <a:rPr sz="2400" spc="-5" dirty="0">
                <a:latin typeface="Calibri"/>
                <a:cs typeface="Calibri"/>
              </a:rPr>
              <a:t>of</a:t>
            </a:r>
            <a:r>
              <a:rPr sz="2400" spc="-15" dirty="0">
                <a:latin typeface="Calibri"/>
                <a:cs typeface="Calibri"/>
              </a:rPr>
              <a:t> </a:t>
            </a:r>
            <a:r>
              <a:rPr sz="2400" spc="-20" dirty="0">
                <a:latin typeface="Calibri"/>
                <a:cs typeface="Calibri"/>
              </a:rPr>
              <a:t>any</a:t>
            </a:r>
            <a:r>
              <a:rPr sz="2400" spc="-5" dirty="0">
                <a:latin typeface="Calibri"/>
                <a:cs typeface="Calibri"/>
              </a:rPr>
              <a:t> leaf</a:t>
            </a:r>
            <a:r>
              <a:rPr sz="2400" spc="25" dirty="0">
                <a:latin typeface="Calibri"/>
                <a:cs typeface="Calibri"/>
              </a:rPr>
              <a:t> </a:t>
            </a:r>
            <a:r>
              <a:rPr sz="2400" spc="-5" dirty="0">
                <a:latin typeface="Calibri"/>
                <a:cs typeface="Calibri"/>
              </a:rPr>
              <a:t>node </a:t>
            </a:r>
            <a:r>
              <a:rPr sz="2400" spc="-530"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a</a:t>
            </a:r>
            <a:r>
              <a:rPr sz="2400" spc="-15" dirty="0">
                <a:latin typeface="Calibri"/>
                <a:cs typeface="Calibri"/>
              </a:rPr>
              <a:t> </a:t>
            </a:r>
            <a:r>
              <a:rPr sz="2400" spc="-10" dirty="0">
                <a:latin typeface="Calibri"/>
                <a:cs typeface="Calibri"/>
              </a:rPr>
              <a:t>tree</a:t>
            </a:r>
            <a:r>
              <a:rPr sz="2400" spc="5" dirty="0">
                <a:latin typeface="Calibri"/>
                <a:cs typeface="Calibri"/>
              </a:rPr>
              <a:t> </a:t>
            </a:r>
            <a:r>
              <a:rPr sz="2400" dirty="0">
                <a:latin typeface="Calibri"/>
                <a:cs typeface="Calibri"/>
              </a:rPr>
              <a:t>is</a:t>
            </a:r>
            <a:r>
              <a:rPr sz="2400" spc="-5" dirty="0">
                <a:latin typeface="Calibri"/>
                <a:cs typeface="Calibri"/>
              </a:rPr>
              <a:t> said</a:t>
            </a:r>
            <a:r>
              <a:rPr sz="2400" spc="-15" dirty="0">
                <a:latin typeface="Calibri"/>
                <a:cs typeface="Calibri"/>
              </a:rPr>
              <a:t> to</a:t>
            </a:r>
            <a:r>
              <a:rPr sz="2400" spc="-10" dirty="0">
                <a:latin typeface="Calibri"/>
                <a:cs typeface="Calibri"/>
              </a:rPr>
              <a:t> </a:t>
            </a:r>
            <a:r>
              <a:rPr sz="2400" spc="-5" dirty="0">
                <a:latin typeface="Calibri"/>
                <a:cs typeface="Calibri"/>
              </a:rPr>
              <a:t>be depth of </a:t>
            </a:r>
            <a:r>
              <a:rPr sz="2400" spc="-10" dirty="0">
                <a:latin typeface="Calibri"/>
                <a:cs typeface="Calibri"/>
              </a:rPr>
              <a:t>that</a:t>
            </a:r>
            <a:r>
              <a:rPr sz="2400" spc="-15" dirty="0">
                <a:latin typeface="Calibri"/>
                <a:cs typeface="Calibri"/>
              </a:rPr>
              <a:t> </a:t>
            </a:r>
            <a:r>
              <a:rPr sz="2400" spc="-5" dirty="0">
                <a:latin typeface="Calibri"/>
                <a:cs typeface="Calibri"/>
              </a:rPr>
              <a:t>tree.</a:t>
            </a:r>
            <a:endParaRPr sz="2400">
              <a:latin typeface="Calibri"/>
              <a:cs typeface="Calibri"/>
            </a:endParaRPr>
          </a:p>
          <a:p>
            <a:pPr marL="80645">
              <a:lnSpc>
                <a:spcPct val="100000"/>
              </a:lnSpc>
              <a:spcBef>
                <a:spcPts val="1055"/>
              </a:spcBef>
            </a:pPr>
            <a:r>
              <a:rPr sz="2400" dirty="0">
                <a:latin typeface="Calibri"/>
                <a:cs typeface="Calibri"/>
              </a:rPr>
              <a:t>In</a:t>
            </a:r>
            <a:r>
              <a:rPr sz="2400" spc="-5" dirty="0">
                <a:latin typeface="Calibri"/>
                <a:cs typeface="Calibri"/>
              </a:rPr>
              <a:t> </a:t>
            </a:r>
            <a:r>
              <a:rPr sz="2400" dirty="0">
                <a:latin typeface="Calibri"/>
                <a:cs typeface="Calibri"/>
              </a:rPr>
              <a:t>a</a:t>
            </a:r>
            <a:r>
              <a:rPr sz="2400" spc="-25" dirty="0">
                <a:latin typeface="Calibri"/>
                <a:cs typeface="Calibri"/>
              </a:rPr>
              <a:t> </a:t>
            </a:r>
            <a:r>
              <a:rPr sz="2400" spc="-10" dirty="0">
                <a:latin typeface="Calibri"/>
                <a:cs typeface="Calibri"/>
              </a:rPr>
              <a:t>tree,</a:t>
            </a:r>
            <a:r>
              <a:rPr sz="2400" spc="-5" dirty="0">
                <a:latin typeface="Calibri"/>
                <a:cs typeface="Calibri"/>
              </a:rPr>
              <a:t> </a:t>
            </a:r>
            <a:r>
              <a:rPr sz="2400" b="1" u="heavy" spc="-5" dirty="0">
                <a:uFill>
                  <a:solidFill>
                    <a:srgbClr val="000000"/>
                  </a:solidFill>
                </a:uFill>
                <a:latin typeface="Calibri"/>
                <a:cs typeface="Calibri"/>
              </a:rPr>
              <a:t>depth</a:t>
            </a:r>
            <a:r>
              <a:rPr sz="2400" b="1" u="heavy" spc="5" dirty="0">
                <a:uFill>
                  <a:solidFill>
                    <a:srgbClr val="000000"/>
                  </a:solidFill>
                </a:uFill>
                <a:latin typeface="Calibri"/>
                <a:cs typeface="Calibri"/>
              </a:rPr>
              <a:t> </a:t>
            </a:r>
            <a:r>
              <a:rPr sz="2400" b="1" u="heavy" dirty="0">
                <a:uFill>
                  <a:solidFill>
                    <a:srgbClr val="000000"/>
                  </a:solidFill>
                </a:uFill>
                <a:latin typeface="Calibri"/>
                <a:cs typeface="Calibri"/>
              </a:rPr>
              <a:t>of</a:t>
            </a:r>
            <a:r>
              <a:rPr sz="2400" b="1" u="heavy" spc="-20" dirty="0">
                <a:uFill>
                  <a:solidFill>
                    <a:srgbClr val="000000"/>
                  </a:solidFill>
                </a:uFill>
                <a:latin typeface="Calibri"/>
                <a:cs typeface="Calibri"/>
              </a:rPr>
              <a:t> </a:t>
            </a:r>
            <a:r>
              <a:rPr sz="2400" b="1" u="heavy" spc="-5" dirty="0">
                <a:uFill>
                  <a:solidFill>
                    <a:srgbClr val="000000"/>
                  </a:solidFill>
                </a:uFill>
                <a:latin typeface="Calibri"/>
                <a:cs typeface="Calibri"/>
              </a:rPr>
              <a:t>the</a:t>
            </a:r>
            <a:r>
              <a:rPr sz="2400" b="1" u="heavy" dirty="0">
                <a:uFill>
                  <a:solidFill>
                    <a:srgbClr val="000000"/>
                  </a:solidFill>
                </a:uFill>
                <a:latin typeface="Calibri"/>
                <a:cs typeface="Calibri"/>
              </a:rPr>
              <a:t> </a:t>
            </a:r>
            <a:r>
              <a:rPr sz="2400" b="1" u="heavy" spc="-10" dirty="0">
                <a:uFill>
                  <a:solidFill>
                    <a:srgbClr val="000000"/>
                  </a:solidFill>
                </a:uFill>
                <a:latin typeface="Calibri"/>
                <a:cs typeface="Calibri"/>
              </a:rPr>
              <a:t>root</a:t>
            </a:r>
            <a:r>
              <a:rPr sz="2400" b="1" u="heavy" spc="-20" dirty="0">
                <a:uFill>
                  <a:solidFill>
                    <a:srgbClr val="000000"/>
                  </a:solidFill>
                </a:uFill>
                <a:latin typeface="Calibri"/>
                <a:cs typeface="Calibri"/>
              </a:rPr>
              <a:t> </a:t>
            </a:r>
            <a:r>
              <a:rPr sz="2400" b="1" u="heavy" dirty="0">
                <a:uFill>
                  <a:solidFill>
                    <a:srgbClr val="000000"/>
                  </a:solidFill>
                </a:uFill>
                <a:latin typeface="Calibri"/>
                <a:cs typeface="Calibri"/>
              </a:rPr>
              <a:t>node</a:t>
            </a:r>
            <a:r>
              <a:rPr sz="2400" b="1" u="heavy" spc="-5" dirty="0">
                <a:uFill>
                  <a:solidFill>
                    <a:srgbClr val="000000"/>
                  </a:solidFill>
                </a:uFill>
                <a:latin typeface="Calibri"/>
                <a:cs typeface="Calibri"/>
              </a:rPr>
              <a:t> </a:t>
            </a:r>
            <a:r>
              <a:rPr sz="2400" b="1" u="heavy" dirty="0">
                <a:uFill>
                  <a:solidFill>
                    <a:srgbClr val="000000"/>
                  </a:solidFill>
                </a:uFill>
                <a:latin typeface="Calibri"/>
                <a:cs typeface="Calibri"/>
              </a:rPr>
              <a:t>is</a:t>
            </a:r>
            <a:r>
              <a:rPr sz="2400" b="1" u="heavy" spc="-5" dirty="0">
                <a:uFill>
                  <a:solidFill>
                    <a:srgbClr val="000000"/>
                  </a:solidFill>
                </a:uFill>
                <a:latin typeface="Calibri"/>
                <a:cs typeface="Calibri"/>
              </a:rPr>
              <a:t> '0'.</a:t>
            </a:r>
            <a:endParaRPr sz="2400">
              <a:latin typeface="Calibri"/>
              <a:cs typeface="Calibri"/>
            </a:endParaRPr>
          </a:p>
        </p:txBody>
      </p:sp>
      <p:pic>
        <p:nvPicPr>
          <p:cNvPr id="3" name="object 3"/>
          <p:cNvPicPr/>
          <p:nvPr/>
        </p:nvPicPr>
        <p:blipFill>
          <a:blip r:embed="rId2" cstate="print"/>
          <a:stretch>
            <a:fillRect/>
          </a:stretch>
        </p:blipFill>
        <p:spPr>
          <a:xfrm>
            <a:off x="7877556" y="3046476"/>
            <a:ext cx="3938015" cy="3211068"/>
          </a:xfrm>
          <a:prstGeom prst="rect">
            <a:avLst/>
          </a:prstGeom>
        </p:spPr>
      </p:pic>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 dirty="0"/>
              <a:t>Depth</a:t>
            </a: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041760"/>
            <a:ext cx="9485630" cy="2219960"/>
          </a:xfrm>
          <a:prstGeom prst="rect">
            <a:avLst/>
          </a:prstGeom>
        </p:spPr>
        <p:txBody>
          <a:bodyPr vert="horz" wrap="square" lIns="0" tIns="12065" rIns="0" bIns="0" rtlCol="0">
            <a:spAutoFit/>
          </a:bodyPr>
          <a:lstStyle/>
          <a:p>
            <a:pPr marL="12700" marR="207645">
              <a:lnSpc>
                <a:spcPct val="150000"/>
              </a:lnSpc>
              <a:spcBef>
                <a:spcPts val="95"/>
              </a:spcBef>
            </a:pPr>
            <a:r>
              <a:rPr sz="2400" spc="-5" dirty="0">
                <a:latin typeface="Calibri"/>
                <a:cs typeface="Calibri"/>
              </a:rPr>
              <a:t>The</a:t>
            </a:r>
            <a:r>
              <a:rPr sz="2400" spc="5" dirty="0">
                <a:latin typeface="Calibri"/>
                <a:cs typeface="Calibri"/>
              </a:rPr>
              <a:t> </a:t>
            </a:r>
            <a:r>
              <a:rPr sz="2400" spc="-5" dirty="0">
                <a:latin typeface="Calibri"/>
                <a:cs typeface="Calibri"/>
              </a:rPr>
              <a:t>sequence</a:t>
            </a:r>
            <a:r>
              <a:rPr sz="2400" dirty="0">
                <a:latin typeface="Calibri"/>
                <a:cs typeface="Calibri"/>
              </a:rPr>
              <a:t> </a:t>
            </a:r>
            <a:r>
              <a:rPr sz="2400" spc="-5" dirty="0">
                <a:latin typeface="Calibri"/>
                <a:cs typeface="Calibri"/>
              </a:rPr>
              <a:t>of Nodes</a:t>
            </a:r>
            <a:r>
              <a:rPr sz="2400" dirty="0">
                <a:latin typeface="Calibri"/>
                <a:cs typeface="Calibri"/>
              </a:rPr>
              <a:t> and</a:t>
            </a:r>
            <a:r>
              <a:rPr sz="2400" spc="-10" dirty="0">
                <a:latin typeface="Calibri"/>
                <a:cs typeface="Calibri"/>
              </a:rPr>
              <a:t> </a:t>
            </a:r>
            <a:r>
              <a:rPr sz="2400" spc="-15" dirty="0">
                <a:latin typeface="Calibri"/>
                <a:cs typeface="Calibri"/>
              </a:rPr>
              <a:t>Edges</a:t>
            </a:r>
            <a:r>
              <a:rPr sz="2400" dirty="0">
                <a:latin typeface="Calibri"/>
                <a:cs typeface="Calibri"/>
              </a:rPr>
              <a:t> </a:t>
            </a:r>
            <a:r>
              <a:rPr sz="2400" spc="-15" dirty="0">
                <a:latin typeface="Calibri"/>
                <a:cs typeface="Calibri"/>
              </a:rPr>
              <a:t>from</a:t>
            </a:r>
            <a:r>
              <a:rPr sz="2400" spc="-25" dirty="0">
                <a:latin typeface="Calibri"/>
                <a:cs typeface="Calibri"/>
              </a:rPr>
              <a:t> </a:t>
            </a:r>
            <a:r>
              <a:rPr sz="2400" spc="-5" dirty="0">
                <a:latin typeface="Calibri"/>
                <a:cs typeface="Calibri"/>
              </a:rPr>
              <a:t>one</a:t>
            </a:r>
            <a:r>
              <a:rPr sz="2400" spc="5" dirty="0">
                <a:latin typeface="Calibri"/>
                <a:cs typeface="Calibri"/>
              </a:rPr>
              <a:t> </a:t>
            </a:r>
            <a:r>
              <a:rPr sz="2400" spc="-5" dirty="0">
                <a:latin typeface="Calibri"/>
                <a:cs typeface="Calibri"/>
              </a:rPr>
              <a:t>node</a:t>
            </a:r>
            <a:r>
              <a:rPr sz="2400" spc="-10" dirty="0">
                <a:latin typeface="Calibri"/>
                <a:cs typeface="Calibri"/>
              </a:rPr>
              <a:t> </a:t>
            </a:r>
            <a:r>
              <a:rPr sz="2400" spc="-15" dirty="0">
                <a:latin typeface="Calibri"/>
                <a:cs typeface="Calibri"/>
              </a:rPr>
              <a:t>to </a:t>
            </a:r>
            <a:r>
              <a:rPr sz="2400" dirty="0">
                <a:latin typeface="Calibri"/>
                <a:cs typeface="Calibri"/>
              </a:rPr>
              <a:t>another</a:t>
            </a:r>
            <a:r>
              <a:rPr sz="2400" spc="-5" dirty="0">
                <a:latin typeface="Calibri"/>
                <a:cs typeface="Calibri"/>
              </a:rPr>
              <a:t> node</a:t>
            </a:r>
            <a:r>
              <a:rPr sz="2400" spc="-10" dirty="0">
                <a:latin typeface="Calibri"/>
                <a:cs typeface="Calibri"/>
              </a:rPr>
              <a:t> </a:t>
            </a:r>
            <a:r>
              <a:rPr sz="2400" dirty="0">
                <a:latin typeface="Calibri"/>
                <a:cs typeface="Calibri"/>
              </a:rPr>
              <a:t>is </a:t>
            </a:r>
            <a:r>
              <a:rPr sz="2400" spc="-5" dirty="0">
                <a:latin typeface="Calibri"/>
                <a:cs typeface="Calibri"/>
              </a:rPr>
              <a:t>called </a:t>
            </a:r>
            <a:r>
              <a:rPr sz="2400" spc="-530" dirty="0">
                <a:latin typeface="Calibri"/>
                <a:cs typeface="Calibri"/>
              </a:rPr>
              <a:t> </a:t>
            </a:r>
            <a:r>
              <a:rPr sz="2400" dirty="0">
                <a:latin typeface="Calibri"/>
                <a:cs typeface="Calibri"/>
              </a:rPr>
              <a:t>as</a:t>
            </a:r>
            <a:r>
              <a:rPr sz="2400" spc="-10" dirty="0">
                <a:latin typeface="Calibri"/>
                <a:cs typeface="Calibri"/>
              </a:rPr>
              <a:t> </a:t>
            </a:r>
            <a:r>
              <a:rPr sz="2400" b="1" spc="-95" dirty="0">
                <a:solidFill>
                  <a:srgbClr val="7D1B68"/>
                </a:solidFill>
                <a:latin typeface="Calibri"/>
                <a:cs typeface="Calibri"/>
              </a:rPr>
              <a:t>PATH</a:t>
            </a:r>
            <a:r>
              <a:rPr sz="2400" b="1" spc="-10" dirty="0">
                <a:solidFill>
                  <a:srgbClr val="7D1B68"/>
                </a:solidFill>
                <a:latin typeface="Calibri"/>
                <a:cs typeface="Calibri"/>
              </a:rPr>
              <a:t> </a:t>
            </a:r>
            <a:r>
              <a:rPr sz="2400" spc="-10" dirty="0">
                <a:latin typeface="Calibri"/>
                <a:cs typeface="Calibri"/>
              </a:rPr>
              <a:t>between</a:t>
            </a:r>
            <a:r>
              <a:rPr sz="2400" spc="-5" dirty="0">
                <a:latin typeface="Calibri"/>
                <a:cs typeface="Calibri"/>
              </a:rPr>
              <a:t> </a:t>
            </a:r>
            <a:r>
              <a:rPr sz="2400" spc="-10" dirty="0">
                <a:latin typeface="Calibri"/>
                <a:cs typeface="Calibri"/>
              </a:rPr>
              <a:t>that</a:t>
            </a:r>
            <a:r>
              <a:rPr sz="2400" spc="-20" dirty="0">
                <a:latin typeface="Calibri"/>
                <a:cs typeface="Calibri"/>
              </a:rPr>
              <a:t> </a:t>
            </a:r>
            <a:r>
              <a:rPr sz="2400" spc="-10" dirty="0">
                <a:latin typeface="Calibri"/>
                <a:cs typeface="Calibri"/>
              </a:rPr>
              <a:t>two</a:t>
            </a:r>
            <a:r>
              <a:rPr sz="2400" spc="-15" dirty="0">
                <a:latin typeface="Calibri"/>
                <a:cs typeface="Calibri"/>
              </a:rPr>
              <a:t> </a:t>
            </a:r>
            <a:r>
              <a:rPr sz="2400" spc="-5" dirty="0">
                <a:latin typeface="Calibri"/>
                <a:cs typeface="Calibri"/>
              </a:rPr>
              <a:t>Nodes.</a:t>
            </a:r>
            <a:endParaRPr sz="2400">
              <a:latin typeface="Calibri"/>
              <a:cs typeface="Calibri"/>
            </a:endParaRPr>
          </a:p>
          <a:p>
            <a:pPr marL="12700" marR="5080">
              <a:lnSpc>
                <a:spcPct val="150000"/>
              </a:lnSpc>
              <a:spcBef>
                <a:spcPts val="5"/>
              </a:spcBef>
            </a:pPr>
            <a:r>
              <a:rPr sz="2400" b="1" u="heavy" spc="-5" dirty="0">
                <a:solidFill>
                  <a:srgbClr val="7D1B68"/>
                </a:solidFill>
                <a:uFill>
                  <a:solidFill>
                    <a:srgbClr val="7D1B68"/>
                  </a:solidFill>
                </a:uFill>
                <a:latin typeface="Calibri"/>
                <a:cs typeface="Calibri"/>
              </a:rPr>
              <a:t>Length</a:t>
            </a:r>
            <a:r>
              <a:rPr sz="2400" b="1" u="heavy" spc="-10" dirty="0">
                <a:solidFill>
                  <a:srgbClr val="7D1B68"/>
                </a:solidFill>
                <a:uFill>
                  <a:solidFill>
                    <a:srgbClr val="7D1B68"/>
                  </a:solidFill>
                </a:uFill>
                <a:latin typeface="Calibri"/>
                <a:cs typeface="Calibri"/>
              </a:rPr>
              <a:t> </a:t>
            </a:r>
            <a:r>
              <a:rPr sz="2400" b="1" u="heavy" dirty="0">
                <a:solidFill>
                  <a:srgbClr val="7D1B68"/>
                </a:solidFill>
                <a:uFill>
                  <a:solidFill>
                    <a:srgbClr val="7D1B68"/>
                  </a:solidFill>
                </a:uFill>
                <a:latin typeface="Calibri"/>
                <a:cs typeface="Calibri"/>
              </a:rPr>
              <a:t>of a</a:t>
            </a:r>
            <a:r>
              <a:rPr sz="2400" b="1" u="heavy" spc="-15" dirty="0">
                <a:solidFill>
                  <a:srgbClr val="7D1B68"/>
                </a:solidFill>
                <a:uFill>
                  <a:solidFill>
                    <a:srgbClr val="7D1B68"/>
                  </a:solidFill>
                </a:uFill>
                <a:latin typeface="Calibri"/>
                <a:cs typeface="Calibri"/>
              </a:rPr>
              <a:t> </a:t>
            </a:r>
            <a:r>
              <a:rPr sz="2400" b="1" u="heavy" spc="-25" dirty="0">
                <a:solidFill>
                  <a:srgbClr val="7D1B68"/>
                </a:solidFill>
                <a:uFill>
                  <a:solidFill>
                    <a:srgbClr val="7D1B68"/>
                  </a:solidFill>
                </a:uFill>
                <a:latin typeface="Calibri"/>
                <a:cs typeface="Calibri"/>
              </a:rPr>
              <a:t>Path</a:t>
            </a:r>
            <a:r>
              <a:rPr sz="2400" b="1" u="heavy" spc="25" dirty="0">
                <a:uFill>
                  <a:solidFill>
                    <a:srgbClr val="7D1B68"/>
                  </a:solidFill>
                </a:uFill>
                <a:latin typeface="Calibri"/>
                <a:cs typeface="Calibri"/>
              </a:rPr>
              <a:t> </a:t>
            </a:r>
            <a:r>
              <a:rPr sz="2400" u="heavy" dirty="0">
                <a:uFill>
                  <a:solidFill>
                    <a:srgbClr val="7D1B68"/>
                  </a:solidFill>
                </a:uFill>
                <a:latin typeface="Calibri"/>
                <a:cs typeface="Calibri"/>
              </a:rPr>
              <a:t>is</a:t>
            </a:r>
            <a:r>
              <a:rPr sz="2400" u="heavy" spc="-15" dirty="0">
                <a:uFill>
                  <a:solidFill>
                    <a:srgbClr val="7D1B68"/>
                  </a:solidFill>
                </a:uFill>
                <a:latin typeface="Calibri"/>
                <a:cs typeface="Calibri"/>
              </a:rPr>
              <a:t> total </a:t>
            </a:r>
            <a:r>
              <a:rPr sz="2400" u="heavy" spc="-5" dirty="0">
                <a:uFill>
                  <a:solidFill>
                    <a:srgbClr val="7D1B68"/>
                  </a:solidFill>
                </a:uFill>
                <a:latin typeface="Calibri"/>
                <a:cs typeface="Calibri"/>
              </a:rPr>
              <a:t>number</a:t>
            </a:r>
            <a:r>
              <a:rPr sz="2400" u="heavy" spc="5" dirty="0">
                <a:uFill>
                  <a:solidFill>
                    <a:srgbClr val="7D1B68"/>
                  </a:solidFill>
                </a:uFill>
                <a:latin typeface="Calibri"/>
                <a:cs typeface="Calibri"/>
              </a:rPr>
              <a:t> </a:t>
            </a:r>
            <a:r>
              <a:rPr sz="2400" u="heavy" spc="-5" dirty="0">
                <a:uFill>
                  <a:solidFill>
                    <a:srgbClr val="7D1B68"/>
                  </a:solidFill>
                </a:uFill>
                <a:latin typeface="Calibri"/>
                <a:cs typeface="Calibri"/>
              </a:rPr>
              <a:t>of</a:t>
            </a:r>
            <a:r>
              <a:rPr sz="2400" u="heavy" spc="-10" dirty="0">
                <a:uFill>
                  <a:solidFill>
                    <a:srgbClr val="7D1B68"/>
                  </a:solidFill>
                </a:uFill>
                <a:latin typeface="Calibri"/>
                <a:cs typeface="Calibri"/>
              </a:rPr>
              <a:t> </a:t>
            </a:r>
            <a:r>
              <a:rPr sz="2400" u="heavy" spc="-5" dirty="0">
                <a:uFill>
                  <a:solidFill>
                    <a:srgbClr val="7D1B68"/>
                  </a:solidFill>
                </a:uFill>
                <a:latin typeface="Calibri"/>
                <a:cs typeface="Calibri"/>
              </a:rPr>
              <a:t>nodes </a:t>
            </a:r>
            <a:r>
              <a:rPr sz="2400" u="heavy" dirty="0">
                <a:uFill>
                  <a:solidFill>
                    <a:srgbClr val="7D1B68"/>
                  </a:solidFill>
                </a:uFill>
                <a:latin typeface="Calibri"/>
                <a:cs typeface="Calibri"/>
              </a:rPr>
              <a:t>in </a:t>
            </a:r>
            <a:r>
              <a:rPr sz="2400" u="heavy" spc="-10" dirty="0">
                <a:uFill>
                  <a:solidFill>
                    <a:srgbClr val="7D1B68"/>
                  </a:solidFill>
                </a:uFill>
                <a:latin typeface="Calibri"/>
                <a:cs typeface="Calibri"/>
              </a:rPr>
              <a:t>that</a:t>
            </a:r>
            <a:r>
              <a:rPr sz="2400" u="heavy" dirty="0">
                <a:uFill>
                  <a:solidFill>
                    <a:srgbClr val="7D1B68"/>
                  </a:solidFill>
                </a:uFill>
                <a:latin typeface="Calibri"/>
                <a:cs typeface="Calibri"/>
              </a:rPr>
              <a:t> </a:t>
            </a:r>
            <a:r>
              <a:rPr sz="2400" u="heavy" spc="-10" dirty="0">
                <a:uFill>
                  <a:solidFill>
                    <a:srgbClr val="7D1B68"/>
                  </a:solidFill>
                </a:uFill>
                <a:latin typeface="Calibri"/>
                <a:cs typeface="Calibri"/>
              </a:rPr>
              <a:t>path.</a:t>
            </a:r>
            <a:r>
              <a:rPr sz="2400" spc="-10" dirty="0">
                <a:latin typeface="Calibri"/>
                <a:cs typeface="Calibri"/>
              </a:rPr>
              <a:t> </a:t>
            </a:r>
            <a:r>
              <a:rPr sz="2400" dirty="0">
                <a:latin typeface="Calibri"/>
                <a:cs typeface="Calibri"/>
              </a:rPr>
              <a:t>In</a:t>
            </a:r>
            <a:r>
              <a:rPr sz="2400" spc="5" dirty="0">
                <a:latin typeface="Calibri"/>
                <a:cs typeface="Calibri"/>
              </a:rPr>
              <a:t> </a:t>
            </a:r>
            <a:r>
              <a:rPr sz="2400" spc="-10" dirty="0">
                <a:latin typeface="Calibri"/>
                <a:cs typeface="Calibri"/>
              </a:rPr>
              <a:t>below</a:t>
            </a:r>
            <a:r>
              <a:rPr sz="2400" dirty="0">
                <a:latin typeface="Calibri"/>
                <a:cs typeface="Calibri"/>
              </a:rPr>
              <a:t> </a:t>
            </a:r>
            <a:r>
              <a:rPr sz="2400" spc="-15" dirty="0">
                <a:latin typeface="Calibri"/>
                <a:cs typeface="Calibri"/>
              </a:rPr>
              <a:t>example</a:t>
            </a:r>
            <a:r>
              <a:rPr sz="2400" dirty="0">
                <a:latin typeface="Calibri"/>
                <a:cs typeface="Calibri"/>
              </a:rPr>
              <a:t> </a:t>
            </a:r>
            <a:r>
              <a:rPr sz="2400" b="1" spc="-5" dirty="0">
                <a:solidFill>
                  <a:srgbClr val="7D1B68"/>
                </a:solidFill>
                <a:latin typeface="Calibri"/>
                <a:cs typeface="Calibri"/>
              </a:rPr>
              <a:t>the </a:t>
            </a:r>
            <a:r>
              <a:rPr sz="2400" b="1" spc="-525" dirty="0">
                <a:solidFill>
                  <a:srgbClr val="7D1B68"/>
                </a:solidFill>
                <a:latin typeface="Calibri"/>
                <a:cs typeface="Calibri"/>
              </a:rPr>
              <a:t> </a:t>
            </a:r>
            <a:r>
              <a:rPr sz="2400" b="1" spc="-10" dirty="0">
                <a:solidFill>
                  <a:srgbClr val="7D1B68"/>
                </a:solidFill>
                <a:latin typeface="Calibri"/>
                <a:cs typeface="Calibri"/>
              </a:rPr>
              <a:t>path </a:t>
            </a:r>
            <a:r>
              <a:rPr sz="2400" b="1" dirty="0">
                <a:solidFill>
                  <a:srgbClr val="7D1B68"/>
                </a:solidFill>
                <a:latin typeface="Calibri"/>
                <a:cs typeface="Calibri"/>
              </a:rPr>
              <a:t>A</a:t>
            </a:r>
            <a:r>
              <a:rPr sz="2400" b="1" spc="-5" dirty="0">
                <a:solidFill>
                  <a:srgbClr val="7D1B68"/>
                </a:solidFill>
                <a:latin typeface="Calibri"/>
                <a:cs typeface="Calibri"/>
              </a:rPr>
              <a:t> </a:t>
            </a:r>
            <a:r>
              <a:rPr sz="2400" b="1" dirty="0">
                <a:solidFill>
                  <a:srgbClr val="7D1B68"/>
                </a:solidFill>
                <a:latin typeface="Calibri"/>
                <a:cs typeface="Calibri"/>
              </a:rPr>
              <a:t>-</a:t>
            </a:r>
            <a:r>
              <a:rPr sz="2400" b="1" spc="-10" dirty="0">
                <a:solidFill>
                  <a:srgbClr val="7D1B68"/>
                </a:solidFill>
                <a:latin typeface="Calibri"/>
                <a:cs typeface="Calibri"/>
              </a:rPr>
              <a:t> </a:t>
            </a:r>
            <a:r>
              <a:rPr sz="2400" b="1" dirty="0">
                <a:solidFill>
                  <a:srgbClr val="7D1B68"/>
                </a:solidFill>
                <a:latin typeface="Calibri"/>
                <a:cs typeface="Calibri"/>
              </a:rPr>
              <a:t>B</a:t>
            </a:r>
            <a:r>
              <a:rPr sz="2400" b="1" spc="-5" dirty="0">
                <a:solidFill>
                  <a:srgbClr val="7D1B68"/>
                </a:solidFill>
                <a:latin typeface="Calibri"/>
                <a:cs typeface="Calibri"/>
              </a:rPr>
              <a:t> </a:t>
            </a:r>
            <a:r>
              <a:rPr sz="2400" b="1" dirty="0">
                <a:solidFill>
                  <a:srgbClr val="7D1B68"/>
                </a:solidFill>
                <a:latin typeface="Calibri"/>
                <a:cs typeface="Calibri"/>
              </a:rPr>
              <a:t>-</a:t>
            </a:r>
            <a:r>
              <a:rPr sz="2400" b="1" spc="5" dirty="0">
                <a:solidFill>
                  <a:srgbClr val="7D1B68"/>
                </a:solidFill>
                <a:latin typeface="Calibri"/>
                <a:cs typeface="Calibri"/>
              </a:rPr>
              <a:t> </a:t>
            </a:r>
            <a:r>
              <a:rPr sz="2400" b="1" dirty="0">
                <a:solidFill>
                  <a:srgbClr val="7D1B68"/>
                </a:solidFill>
                <a:latin typeface="Calibri"/>
                <a:cs typeface="Calibri"/>
              </a:rPr>
              <a:t>E</a:t>
            </a:r>
            <a:r>
              <a:rPr sz="2400" b="1" spc="-10" dirty="0">
                <a:solidFill>
                  <a:srgbClr val="7D1B68"/>
                </a:solidFill>
                <a:latin typeface="Calibri"/>
                <a:cs typeface="Calibri"/>
              </a:rPr>
              <a:t> </a:t>
            </a:r>
            <a:r>
              <a:rPr sz="2400" b="1" dirty="0">
                <a:solidFill>
                  <a:srgbClr val="7D1B68"/>
                </a:solidFill>
                <a:latin typeface="Calibri"/>
                <a:cs typeface="Calibri"/>
              </a:rPr>
              <a:t>-</a:t>
            </a:r>
            <a:r>
              <a:rPr sz="2400" b="1" spc="5" dirty="0">
                <a:solidFill>
                  <a:srgbClr val="7D1B68"/>
                </a:solidFill>
                <a:latin typeface="Calibri"/>
                <a:cs typeface="Calibri"/>
              </a:rPr>
              <a:t> </a:t>
            </a:r>
            <a:r>
              <a:rPr sz="2400" b="1" dirty="0">
                <a:solidFill>
                  <a:srgbClr val="7D1B68"/>
                </a:solidFill>
                <a:latin typeface="Calibri"/>
                <a:cs typeface="Calibri"/>
              </a:rPr>
              <a:t>J</a:t>
            </a:r>
            <a:r>
              <a:rPr sz="2400" b="1" spc="-5" dirty="0">
                <a:solidFill>
                  <a:srgbClr val="7D1B68"/>
                </a:solidFill>
                <a:latin typeface="Calibri"/>
                <a:cs typeface="Calibri"/>
              </a:rPr>
              <a:t> has length 4</a:t>
            </a:r>
            <a:r>
              <a:rPr sz="2400" spc="-5" dirty="0">
                <a:latin typeface="Calibri"/>
                <a:cs typeface="Calibri"/>
              </a:rPr>
              <a:t>.</a:t>
            </a:r>
            <a:endParaRPr sz="2400">
              <a:latin typeface="Calibri"/>
              <a:cs typeface="Calibri"/>
            </a:endParaRPr>
          </a:p>
        </p:txBody>
      </p:sp>
      <p:grpSp>
        <p:nvGrpSpPr>
          <p:cNvPr id="3" name="object 3"/>
          <p:cNvGrpSpPr/>
          <p:nvPr/>
        </p:nvGrpSpPr>
        <p:grpSpPr>
          <a:xfrm>
            <a:off x="0" y="2997707"/>
            <a:ext cx="12192000" cy="3776979"/>
            <a:chOff x="0" y="2997707"/>
            <a:chExt cx="12192000" cy="3776979"/>
          </a:xfrm>
        </p:grpSpPr>
        <p:pic>
          <p:nvPicPr>
            <p:cNvPr id="4" name="object 4"/>
            <p:cNvPicPr/>
            <p:nvPr/>
          </p:nvPicPr>
          <p:blipFill>
            <a:blip r:embed="rId2" cstate="print"/>
            <a:stretch>
              <a:fillRect/>
            </a:stretch>
          </p:blipFill>
          <p:spPr>
            <a:xfrm>
              <a:off x="3962400" y="2997707"/>
              <a:ext cx="8089392" cy="3467100"/>
            </a:xfrm>
            <a:prstGeom prst="rect">
              <a:avLst/>
            </a:prstGeom>
          </p:spPr>
        </p:pic>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sp>
        <p:nvSpPr>
          <p:cNvPr id="6" name="object 6"/>
          <p:cNvSpPr txBox="1">
            <a:spLocks noGrp="1"/>
          </p:cNvSpPr>
          <p:nvPr>
            <p:ph type="title"/>
          </p:nvPr>
        </p:nvSpPr>
        <p:spPr>
          <a:xfrm>
            <a:off x="1145539" y="400558"/>
            <a:ext cx="1069340" cy="635000"/>
          </a:xfrm>
          <a:prstGeom prst="rect">
            <a:avLst/>
          </a:prstGeom>
        </p:spPr>
        <p:txBody>
          <a:bodyPr vert="horz" wrap="square" lIns="0" tIns="12065" rIns="0" bIns="0" rtlCol="0">
            <a:spAutoFit/>
          </a:bodyPr>
          <a:lstStyle/>
          <a:p>
            <a:pPr marL="12700">
              <a:lnSpc>
                <a:spcPct val="100000"/>
              </a:lnSpc>
              <a:spcBef>
                <a:spcPts val="95"/>
              </a:spcBef>
            </a:pPr>
            <a:r>
              <a:rPr spc="-5" dirty="0"/>
              <a:t>Path</a:t>
            </a:r>
          </a:p>
        </p:txBody>
      </p:sp>
      <p:grpSp>
        <p:nvGrpSpPr>
          <p:cNvPr id="7" name="object 7"/>
          <p:cNvGrpSpPr/>
          <p:nvPr/>
        </p:nvGrpSpPr>
        <p:grpSpPr>
          <a:xfrm>
            <a:off x="0" y="6477000"/>
            <a:ext cx="12192000" cy="381000"/>
            <a:chOff x="0" y="6477000"/>
            <a:chExt cx="12192000" cy="381000"/>
          </a:xfrm>
        </p:grpSpPr>
        <p:sp>
          <p:nvSpPr>
            <p:cNvPr id="8" name="object 8"/>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9" name="object 9"/>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0475" y="1633854"/>
            <a:ext cx="10875645" cy="1122680"/>
          </a:xfrm>
          <a:prstGeom prst="rect">
            <a:avLst/>
          </a:prstGeom>
        </p:spPr>
        <p:txBody>
          <a:bodyPr vert="horz" wrap="square" lIns="0" tIns="12700" rIns="0" bIns="0" rtlCol="0">
            <a:spAutoFit/>
          </a:bodyPr>
          <a:lstStyle/>
          <a:p>
            <a:pPr marL="12700" marR="5080">
              <a:lnSpc>
                <a:spcPct val="150000"/>
              </a:lnSpc>
              <a:spcBef>
                <a:spcPts val="100"/>
              </a:spcBef>
            </a:pPr>
            <a:r>
              <a:rPr sz="2400" spc="-5" dirty="0">
                <a:latin typeface="Calibri"/>
                <a:cs typeface="Calibri"/>
              </a:rPr>
              <a:t>The</a:t>
            </a:r>
            <a:r>
              <a:rPr sz="2400" spc="10" dirty="0">
                <a:latin typeface="Calibri"/>
                <a:cs typeface="Calibri"/>
              </a:rPr>
              <a:t> </a:t>
            </a:r>
            <a:r>
              <a:rPr sz="2400" spc="-10" dirty="0">
                <a:latin typeface="Calibri"/>
                <a:cs typeface="Calibri"/>
              </a:rPr>
              <a:t>current</a:t>
            </a:r>
            <a:r>
              <a:rPr sz="2400" spc="-15" dirty="0">
                <a:latin typeface="Calibri"/>
                <a:cs typeface="Calibri"/>
              </a:rPr>
              <a:t> </a:t>
            </a:r>
            <a:r>
              <a:rPr sz="2400" spc="-5" dirty="0">
                <a:latin typeface="Calibri"/>
                <a:cs typeface="Calibri"/>
              </a:rPr>
              <a:t>number</a:t>
            </a:r>
            <a:r>
              <a:rPr sz="2400" dirty="0">
                <a:latin typeface="Calibri"/>
                <a:cs typeface="Calibri"/>
              </a:rPr>
              <a:t> </a:t>
            </a:r>
            <a:r>
              <a:rPr sz="2400" spc="-5" dirty="0">
                <a:latin typeface="Calibri"/>
                <a:cs typeface="Calibri"/>
              </a:rPr>
              <a:t>of</a:t>
            </a:r>
            <a:r>
              <a:rPr sz="2400" spc="-10" dirty="0">
                <a:latin typeface="Calibri"/>
                <a:cs typeface="Calibri"/>
              </a:rPr>
              <a:t> </a:t>
            </a:r>
            <a:r>
              <a:rPr sz="2400" spc="-5" dirty="0">
                <a:latin typeface="Calibri"/>
                <a:cs typeface="Calibri"/>
              </a:rPr>
              <a:t>children</a:t>
            </a:r>
            <a:r>
              <a:rPr sz="2400" dirty="0">
                <a:latin typeface="Calibri"/>
                <a:cs typeface="Calibri"/>
              </a:rPr>
              <a:t> </a:t>
            </a:r>
            <a:r>
              <a:rPr sz="2400" spc="-20" dirty="0">
                <a:latin typeface="Calibri"/>
                <a:cs typeface="Calibri"/>
              </a:rPr>
              <a:t>for</a:t>
            </a:r>
            <a:r>
              <a:rPr sz="2400" dirty="0">
                <a:latin typeface="Calibri"/>
                <a:cs typeface="Calibri"/>
              </a:rPr>
              <a:t> each</a:t>
            </a:r>
            <a:r>
              <a:rPr sz="2400" spc="-10" dirty="0">
                <a:latin typeface="Calibri"/>
                <a:cs typeface="Calibri"/>
              </a:rPr>
              <a:t> </a:t>
            </a:r>
            <a:r>
              <a:rPr sz="2400" spc="-5" dirty="0">
                <a:latin typeface="Calibri"/>
                <a:cs typeface="Calibri"/>
              </a:rPr>
              <a:t>node</a:t>
            </a:r>
            <a:r>
              <a:rPr sz="2400" spc="5" dirty="0">
                <a:latin typeface="Calibri"/>
                <a:cs typeface="Calibri"/>
              </a:rPr>
              <a:t> </a:t>
            </a:r>
            <a:r>
              <a:rPr sz="2400" dirty="0">
                <a:latin typeface="Calibri"/>
                <a:cs typeface="Calibri"/>
              </a:rPr>
              <a:t>is</a:t>
            </a:r>
            <a:r>
              <a:rPr sz="2400" spc="-15" dirty="0">
                <a:latin typeface="Calibri"/>
                <a:cs typeface="Calibri"/>
              </a:rPr>
              <a:t> </a:t>
            </a:r>
            <a:r>
              <a:rPr sz="2400" spc="-20" dirty="0">
                <a:latin typeface="Calibri"/>
                <a:cs typeface="Calibri"/>
              </a:rPr>
              <a:t>stored</a:t>
            </a:r>
            <a:r>
              <a:rPr sz="2400" dirty="0">
                <a:latin typeface="Calibri"/>
                <a:cs typeface="Calibri"/>
              </a:rPr>
              <a:t> </a:t>
            </a:r>
            <a:r>
              <a:rPr sz="2400" spc="-5" dirty="0">
                <a:latin typeface="Calibri"/>
                <a:cs typeface="Calibri"/>
              </a:rPr>
              <a:t>explicitly</a:t>
            </a:r>
            <a:r>
              <a:rPr sz="2400" spc="-15" dirty="0">
                <a:latin typeface="Calibri"/>
                <a:cs typeface="Calibri"/>
              </a:rPr>
              <a:t> </a:t>
            </a:r>
            <a:r>
              <a:rPr sz="2400" dirty="0">
                <a:latin typeface="Calibri"/>
                <a:cs typeface="Calibri"/>
              </a:rPr>
              <a:t>in a</a:t>
            </a:r>
            <a:r>
              <a:rPr sz="2400" spc="-15" dirty="0">
                <a:latin typeface="Calibri"/>
                <a:cs typeface="Calibri"/>
              </a:rPr>
              <a:t> </a:t>
            </a:r>
            <a:r>
              <a:rPr sz="2400" spc="-20" dirty="0">
                <a:latin typeface="Calibri"/>
                <a:cs typeface="Calibri"/>
              </a:rPr>
              <a:t>size</a:t>
            </a:r>
            <a:r>
              <a:rPr sz="2400" dirty="0">
                <a:latin typeface="Calibri"/>
                <a:cs typeface="Calibri"/>
              </a:rPr>
              <a:t> </a:t>
            </a:r>
            <a:r>
              <a:rPr sz="2400" spc="-5" dirty="0">
                <a:latin typeface="Calibri"/>
                <a:cs typeface="Calibri"/>
              </a:rPr>
              <a:t>field. The</a:t>
            </a:r>
            <a:r>
              <a:rPr sz="2400" spc="5" dirty="0">
                <a:latin typeface="Calibri"/>
                <a:cs typeface="Calibri"/>
              </a:rPr>
              <a:t> </a:t>
            </a:r>
            <a:r>
              <a:rPr sz="2400" dirty="0">
                <a:latin typeface="Calibri"/>
                <a:cs typeface="Calibri"/>
              </a:rPr>
              <a:t>child </a:t>
            </a:r>
            <a:r>
              <a:rPr sz="2400" spc="-525" dirty="0">
                <a:latin typeface="Calibri"/>
                <a:cs typeface="Calibri"/>
              </a:rPr>
              <a:t> </a:t>
            </a:r>
            <a:r>
              <a:rPr sz="2400" spc="-15" dirty="0">
                <a:latin typeface="Calibri"/>
                <a:cs typeface="Calibri"/>
              </a:rPr>
              <a:t>pointers</a:t>
            </a:r>
            <a:r>
              <a:rPr sz="2400" spc="-20" dirty="0">
                <a:latin typeface="Calibri"/>
                <a:cs typeface="Calibri"/>
              </a:rPr>
              <a:t> </a:t>
            </a:r>
            <a:r>
              <a:rPr sz="2400" spc="-15" dirty="0">
                <a:latin typeface="Calibri"/>
                <a:cs typeface="Calibri"/>
              </a:rPr>
              <a:t>are</a:t>
            </a:r>
            <a:r>
              <a:rPr sz="2400" dirty="0">
                <a:latin typeface="Calibri"/>
                <a:cs typeface="Calibri"/>
              </a:rPr>
              <a:t> </a:t>
            </a:r>
            <a:r>
              <a:rPr sz="2400" spc="-20" dirty="0">
                <a:latin typeface="Calibri"/>
                <a:cs typeface="Calibri"/>
              </a:rPr>
              <a:t>stored</a:t>
            </a:r>
            <a:r>
              <a:rPr sz="2400" dirty="0">
                <a:latin typeface="Calibri"/>
                <a:cs typeface="Calibri"/>
              </a:rPr>
              <a:t> in an</a:t>
            </a:r>
            <a:r>
              <a:rPr sz="2400" spc="-5" dirty="0">
                <a:latin typeface="Calibri"/>
                <a:cs typeface="Calibri"/>
              </a:rPr>
              <a:t> </a:t>
            </a:r>
            <a:r>
              <a:rPr sz="2400" spc="-20" dirty="0">
                <a:latin typeface="Calibri"/>
                <a:cs typeface="Calibri"/>
              </a:rPr>
              <a:t>array</a:t>
            </a:r>
            <a:r>
              <a:rPr sz="2400" spc="-10" dirty="0">
                <a:latin typeface="Calibri"/>
                <a:cs typeface="Calibri"/>
              </a:rPr>
              <a:t> </a:t>
            </a:r>
            <a:r>
              <a:rPr sz="2400" dirty="0">
                <a:latin typeface="Calibri"/>
                <a:cs typeface="Calibri"/>
              </a:rPr>
              <a:t>with</a:t>
            </a:r>
            <a:r>
              <a:rPr sz="2400" spc="-15" dirty="0">
                <a:latin typeface="Calibri"/>
                <a:cs typeface="Calibri"/>
              </a:rPr>
              <a:t> </a:t>
            </a:r>
            <a:r>
              <a:rPr sz="2400" spc="-20" dirty="0">
                <a:latin typeface="Calibri"/>
                <a:cs typeface="Calibri"/>
              </a:rPr>
              <a:t>size</a:t>
            </a:r>
            <a:r>
              <a:rPr sz="2400" spc="-10" dirty="0">
                <a:latin typeface="Calibri"/>
                <a:cs typeface="Calibri"/>
              </a:rPr>
              <a:t> </a:t>
            </a:r>
            <a:r>
              <a:rPr sz="2400" spc="-5" dirty="0">
                <a:latin typeface="Calibri"/>
                <a:cs typeface="Calibri"/>
              </a:rPr>
              <a:t>elements.</a:t>
            </a:r>
            <a:endParaRPr sz="2400" dirty="0">
              <a:latin typeface="Calibri"/>
              <a:cs typeface="Calibri"/>
            </a:endParaRPr>
          </a:p>
        </p:txBody>
      </p:sp>
      <p:pic>
        <p:nvPicPr>
          <p:cNvPr id="3" name="object 3"/>
          <p:cNvPicPr/>
          <p:nvPr/>
        </p:nvPicPr>
        <p:blipFill>
          <a:blip r:embed="rId2" cstate="print"/>
          <a:stretch>
            <a:fillRect/>
          </a:stretch>
        </p:blipFill>
        <p:spPr>
          <a:xfrm>
            <a:off x="1871472" y="2854451"/>
            <a:ext cx="8790432" cy="3474720"/>
          </a:xfrm>
          <a:prstGeom prst="rect">
            <a:avLst/>
          </a:prstGeom>
        </p:spPr>
      </p:pic>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5" name="object 5"/>
          <p:cNvSpPr txBox="1"/>
          <p:nvPr/>
        </p:nvSpPr>
        <p:spPr>
          <a:xfrm>
            <a:off x="1145539" y="837692"/>
            <a:ext cx="6250940"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7D1B68"/>
                </a:solidFill>
                <a:latin typeface="Arial MT"/>
                <a:cs typeface="Arial MT"/>
              </a:rPr>
              <a:t>Tree</a:t>
            </a:r>
            <a:r>
              <a:rPr sz="4000" dirty="0">
                <a:solidFill>
                  <a:srgbClr val="7D1B68"/>
                </a:solidFill>
                <a:latin typeface="Arial MT"/>
                <a:cs typeface="Arial MT"/>
              </a:rPr>
              <a:t> </a:t>
            </a:r>
            <a:r>
              <a:rPr sz="4000" spc="-5" dirty="0">
                <a:solidFill>
                  <a:srgbClr val="7D1B68"/>
                </a:solidFill>
                <a:latin typeface="Arial MT"/>
                <a:cs typeface="Arial MT"/>
              </a:rPr>
              <a:t>Representation</a:t>
            </a:r>
            <a:r>
              <a:rPr sz="4000" spc="25" dirty="0">
                <a:solidFill>
                  <a:srgbClr val="7D1B68"/>
                </a:solidFill>
                <a:latin typeface="Arial MT"/>
                <a:cs typeface="Arial MT"/>
              </a:rPr>
              <a:t> </a:t>
            </a:r>
            <a:r>
              <a:rPr sz="4000" spc="-5" dirty="0">
                <a:solidFill>
                  <a:srgbClr val="7D1B68"/>
                </a:solidFill>
                <a:latin typeface="Arial MT"/>
                <a:cs typeface="Arial MT"/>
              </a:rPr>
              <a:t>as</a:t>
            </a:r>
            <a:r>
              <a:rPr sz="4000" dirty="0">
                <a:solidFill>
                  <a:srgbClr val="7D1B68"/>
                </a:solidFill>
                <a:latin typeface="Arial MT"/>
                <a:cs typeface="Arial MT"/>
              </a:rPr>
              <a:t> </a:t>
            </a:r>
            <a:r>
              <a:rPr sz="4000" spc="-5" dirty="0">
                <a:solidFill>
                  <a:srgbClr val="7D1B68"/>
                </a:solidFill>
                <a:latin typeface="Arial MT"/>
                <a:cs typeface="Arial MT"/>
              </a:rPr>
              <a:t>List</a:t>
            </a:r>
            <a:endParaRPr sz="4000">
              <a:latin typeface="Arial MT"/>
              <a:cs typeface="Arial MT"/>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5539" y="1315292"/>
            <a:ext cx="10873105" cy="1672589"/>
          </a:xfrm>
          <a:prstGeom prst="rect">
            <a:avLst/>
          </a:prstGeom>
        </p:spPr>
        <p:txBody>
          <a:bodyPr vert="horz" wrap="square" lIns="0" tIns="13335" rIns="0" bIns="0" rtlCol="0">
            <a:spAutoFit/>
          </a:bodyPr>
          <a:lstStyle/>
          <a:p>
            <a:pPr marL="12700" marR="5080">
              <a:lnSpc>
                <a:spcPct val="150000"/>
              </a:lnSpc>
              <a:spcBef>
                <a:spcPts val="105"/>
              </a:spcBef>
            </a:pPr>
            <a:r>
              <a:rPr sz="2400" dirty="0">
                <a:latin typeface="Calibri"/>
                <a:cs typeface="Calibri"/>
              </a:rPr>
              <a:t>A </a:t>
            </a:r>
            <a:r>
              <a:rPr sz="2400" spc="-10" dirty="0">
                <a:latin typeface="Calibri"/>
                <a:cs typeface="Calibri"/>
              </a:rPr>
              <a:t>tree </a:t>
            </a:r>
            <a:r>
              <a:rPr sz="2400" dirty="0">
                <a:latin typeface="Calibri"/>
                <a:cs typeface="Calibri"/>
              </a:rPr>
              <a:t>in which </a:t>
            </a:r>
            <a:r>
              <a:rPr sz="2400" spc="-5" dirty="0">
                <a:latin typeface="Calibri"/>
                <a:cs typeface="Calibri"/>
              </a:rPr>
              <a:t>every node </a:t>
            </a:r>
            <a:r>
              <a:rPr sz="2400" spc="-10" dirty="0">
                <a:latin typeface="Calibri"/>
                <a:cs typeface="Calibri"/>
              </a:rPr>
              <a:t>can </a:t>
            </a:r>
            <a:r>
              <a:rPr sz="2400" spc="-20" dirty="0">
                <a:latin typeface="Calibri"/>
                <a:cs typeface="Calibri"/>
              </a:rPr>
              <a:t>have </a:t>
            </a:r>
            <a:r>
              <a:rPr sz="2400" dirty="0">
                <a:latin typeface="Calibri"/>
                <a:cs typeface="Calibri"/>
              </a:rPr>
              <a:t>a </a:t>
            </a:r>
            <a:r>
              <a:rPr sz="2400" spc="-5" dirty="0">
                <a:latin typeface="Calibri"/>
                <a:cs typeface="Calibri"/>
              </a:rPr>
              <a:t>maximum of </a:t>
            </a:r>
            <a:r>
              <a:rPr sz="2400" spc="-10" dirty="0">
                <a:latin typeface="Calibri"/>
                <a:cs typeface="Calibri"/>
              </a:rPr>
              <a:t>two </a:t>
            </a:r>
            <a:r>
              <a:rPr sz="2400" spc="-5" dirty="0">
                <a:latin typeface="Calibri"/>
                <a:cs typeface="Calibri"/>
              </a:rPr>
              <a:t>children </a:t>
            </a:r>
            <a:r>
              <a:rPr sz="2400" dirty="0">
                <a:latin typeface="Calibri"/>
                <a:cs typeface="Calibri"/>
              </a:rPr>
              <a:t>is </a:t>
            </a:r>
            <a:r>
              <a:rPr sz="2400" spc="-5" dirty="0">
                <a:latin typeface="Calibri"/>
                <a:cs typeface="Calibri"/>
              </a:rPr>
              <a:t>called </a:t>
            </a:r>
            <a:r>
              <a:rPr sz="2400" dirty="0">
                <a:latin typeface="Calibri"/>
                <a:cs typeface="Calibri"/>
              </a:rPr>
              <a:t>as Binary </a:t>
            </a:r>
            <a:r>
              <a:rPr sz="2400" spc="-40" dirty="0">
                <a:latin typeface="Calibri"/>
                <a:cs typeface="Calibri"/>
              </a:rPr>
              <a:t>Tree. </a:t>
            </a:r>
            <a:r>
              <a:rPr sz="2400" spc="-530" dirty="0">
                <a:latin typeface="Calibri"/>
                <a:cs typeface="Calibri"/>
              </a:rPr>
              <a:t> </a:t>
            </a:r>
            <a:r>
              <a:rPr sz="2400" dirty="0">
                <a:latin typeface="Calibri"/>
                <a:cs typeface="Calibri"/>
              </a:rPr>
              <a:t>In a </a:t>
            </a:r>
            <a:r>
              <a:rPr sz="2400" spc="-5" dirty="0">
                <a:latin typeface="Calibri"/>
                <a:cs typeface="Calibri"/>
              </a:rPr>
              <a:t>binary </a:t>
            </a:r>
            <a:r>
              <a:rPr sz="2400" spc="-10" dirty="0">
                <a:latin typeface="Calibri"/>
                <a:cs typeface="Calibri"/>
              </a:rPr>
              <a:t>tree, </a:t>
            </a:r>
            <a:r>
              <a:rPr sz="2400" spc="-5" dirty="0">
                <a:latin typeface="Calibri"/>
                <a:cs typeface="Calibri"/>
              </a:rPr>
              <a:t>every node </a:t>
            </a:r>
            <a:r>
              <a:rPr sz="2400" spc="-10" dirty="0">
                <a:latin typeface="Calibri"/>
                <a:cs typeface="Calibri"/>
              </a:rPr>
              <a:t>can </a:t>
            </a:r>
            <a:r>
              <a:rPr sz="2400" spc="-20" dirty="0">
                <a:latin typeface="Calibri"/>
                <a:cs typeface="Calibri"/>
              </a:rPr>
              <a:t>have </a:t>
            </a:r>
            <a:r>
              <a:rPr sz="2400" dirty="0">
                <a:latin typeface="Calibri"/>
                <a:cs typeface="Calibri"/>
              </a:rPr>
              <a:t>either 0 </a:t>
            </a:r>
            <a:r>
              <a:rPr sz="2400" spc="-5" dirty="0">
                <a:latin typeface="Calibri"/>
                <a:cs typeface="Calibri"/>
              </a:rPr>
              <a:t>children or </a:t>
            </a:r>
            <a:r>
              <a:rPr sz="2400" dirty="0">
                <a:latin typeface="Calibri"/>
                <a:cs typeface="Calibri"/>
              </a:rPr>
              <a:t>1 child </a:t>
            </a:r>
            <a:r>
              <a:rPr sz="2400" spc="-5" dirty="0">
                <a:latin typeface="Calibri"/>
                <a:cs typeface="Calibri"/>
              </a:rPr>
              <a:t>or </a:t>
            </a:r>
            <a:r>
              <a:rPr sz="2400" dirty="0">
                <a:latin typeface="Calibri"/>
                <a:cs typeface="Calibri"/>
              </a:rPr>
              <a:t>2 </a:t>
            </a:r>
            <a:r>
              <a:rPr sz="2400" spc="-5" dirty="0">
                <a:latin typeface="Calibri"/>
                <a:cs typeface="Calibri"/>
              </a:rPr>
              <a:t>children but not </a:t>
            </a:r>
            <a:r>
              <a:rPr sz="2400" dirty="0">
                <a:latin typeface="Calibri"/>
                <a:cs typeface="Calibri"/>
              </a:rPr>
              <a:t> </a:t>
            </a:r>
            <a:r>
              <a:rPr sz="2400" spc="-10" dirty="0">
                <a:latin typeface="Calibri"/>
                <a:cs typeface="Calibri"/>
              </a:rPr>
              <a:t>more</a:t>
            </a:r>
            <a:r>
              <a:rPr sz="2400" spc="-5" dirty="0">
                <a:latin typeface="Calibri"/>
                <a:cs typeface="Calibri"/>
              </a:rPr>
              <a:t> </a:t>
            </a:r>
            <a:r>
              <a:rPr sz="2400" dirty="0">
                <a:latin typeface="Calibri"/>
                <a:cs typeface="Calibri"/>
              </a:rPr>
              <a:t>than</a:t>
            </a:r>
            <a:r>
              <a:rPr sz="2400" spc="-15" dirty="0">
                <a:latin typeface="Calibri"/>
                <a:cs typeface="Calibri"/>
              </a:rPr>
              <a:t> </a:t>
            </a:r>
            <a:r>
              <a:rPr sz="2400" dirty="0">
                <a:latin typeface="Calibri"/>
                <a:cs typeface="Calibri"/>
              </a:rPr>
              <a:t>2</a:t>
            </a:r>
            <a:r>
              <a:rPr sz="2400" spc="-10" dirty="0">
                <a:latin typeface="Calibri"/>
                <a:cs typeface="Calibri"/>
              </a:rPr>
              <a:t> </a:t>
            </a:r>
            <a:r>
              <a:rPr sz="2400" spc="-5" dirty="0">
                <a:latin typeface="Calibri"/>
                <a:cs typeface="Calibri"/>
              </a:rPr>
              <a:t>children.</a:t>
            </a:r>
            <a:endParaRPr sz="2400" dirty="0">
              <a:latin typeface="Calibri"/>
              <a:cs typeface="Calibri"/>
            </a:endParaRPr>
          </a:p>
        </p:txBody>
      </p:sp>
      <p:pic>
        <p:nvPicPr>
          <p:cNvPr id="3" name="object 3"/>
          <p:cNvPicPr/>
          <p:nvPr/>
        </p:nvPicPr>
        <p:blipFill>
          <a:blip r:embed="rId2" cstate="print"/>
          <a:stretch>
            <a:fillRect/>
          </a:stretch>
        </p:blipFill>
        <p:spPr>
          <a:xfrm>
            <a:off x="4038600" y="3581400"/>
            <a:ext cx="4648200" cy="2266188"/>
          </a:xfrm>
          <a:prstGeom prst="rect">
            <a:avLst/>
          </a:prstGeom>
        </p:spPr>
      </p:pic>
      <p:sp>
        <p:nvSpPr>
          <p:cNvPr id="4" name="object 4"/>
          <p:cNvSpPr txBox="1"/>
          <p:nvPr/>
        </p:nvSpPr>
        <p:spPr>
          <a:xfrm>
            <a:off x="1054100" y="507237"/>
            <a:ext cx="2792095" cy="635000"/>
          </a:xfrm>
          <a:prstGeom prst="rect">
            <a:avLst/>
          </a:prstGeom>
        </p:spPr>
        <p:txBody>
          <a:bodyPr vert="horz" wrap="square" lIns="0" tIns="12065" rIns="0" bIns="0" rtlCol="0">
            <a:spAutoFit/>
          </a:bodyPr>
          <a:lstStyle/>
          <a:p>
            <a:pPr marL="12700">
              <a:lnSpc>
                <a:spcPct val="100000"/>
              </a:lnSpc>
              <a:spcBef>
                <a:spcPts val="95"/>
              </a:spcBef>
            </a:pPr>
            <a:r>
              <a:rPr sz="4000" b="1" spc="-5" dirty="0">
                <a:solidFill>
                  <a:srgbClr val="7D1B68"/>
                </a:solidFill>
                <a:latin typeface="Arial"/>
                <a:cs typeface="Arial"/>
              </a:rPr>
              <a:t>Binary</a:t>
            </a:r>
            <a:r>
              <a:rPr sz="4000" b="1" spc="-55" dirty="0">
                <a:solidFill>
                  <a:srgbClr val="7D1B68"/>
                </a:solidFill>
                <a:latin typeface="Arial"/>
                <a:cs typeface="Arial"/>
              </a:rPr>
              <a:t> </a:t>
            </a:r>
            <a:r>
              <a:rPr sz="4000" b="1" spc="-60" dirty="0">
                <a:solidFill>
                  <a:srgbClr val="7D1B68"/>
                </a:solidFill>
                <a:latin typeface="Arial"/>
                <a:cs typeface="Arial"/>
              </a:rPr>
              <a:t>Tree</a:t>
            </a:r>
            <a:endParaRPr sz="4000">
              <a:latin typeface="Arial"/>
              <a:cs typeface="Arial"/>
            </a:endParaRPr>
          </a:p>
        </p:txBody>
      </p:sp>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57627" y="1261872"/>
            <a:ext cx="7551420" cy="4418076"/>
          </a:xfrm>
          <a:prstGeom prst="rect">
            <a:avLst/>
          </a:prstGeom>
        </p:spPr>
      </p:pic>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a:spLocks noGrp="1"/>
          </p:cNvSpPr>
          <p:nvPr>
            <p:ph type="title"/>
          </p:nvPr>
        </p:nvSpPr>
        <p:spPr>
          <a:xfrm>
            <a:off x="1054100" y="507237"/>
            <a:ext cx="2792095" cy="635000"/>
          </a:xfrm>
          <a:prstGeom prst="rect">
            <a:avLst/>
          </a:prstGeom>
        </p:spPr>
        <p:txBody>
          <a:bodyPr vert="horz" wrap="square" lIns="0" tIns="12065" rIns="0" bIns="0" rtlCol="0">
            <a:spAutoFit/>
          </a:bodyPr>
          <a:lstStyle/>
          <a:p>
            <a:pPr marL="12700">
              <a:lnSpc>
                <a:spcPct val="100000"/>
              </a:lnSpc>
              <a:spcBef>
                <a:spcPts val="95"/>
              </a:spcBef>
            </a:pPr>
            <a:r>
              <a:rPr b="1" spc="-5" dirty="0">
                <a:latin typeface="Arial"/>
                <a:cs typeface="Arial"/>
              </a:rPr>
              <a:t>Binary</a:t>
            </a:r>
            <a:r>
              <a:rPr b="1" spc="-60" dirty="0">
                <a:latin typeface="Arial"/>
                <a:cs typeface="Arial"/>
              </a:rPr>
              <a:t> Tree</a:t>
            </a: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4683760" cy="635000"/>
          </a:xfrm>
          <a:prstGeom prst="rect">
            <a:avLst/>
          </a:prstGeom>
        </p:spPr>
        <p:txBody>
          <a:bodyPr vert="horz" wrap="square" lIns="0" tIns="12065" rIns="0" bIns="0" rtlCol="0">
            <a:spAutoFit/>
          </a:bodyPr>
          <a:lstStyle/>
          <a:p>
            <a:pPr marL="12700">
              <a:lnSpc>
                <a:spcPct val="100000"/>
              </a:lnSpc>
              <a:spcBef>
                <a:spcPts val="95"/>
              </a:spcBef>
            </a:pPr>
            <a:r>
              <a:rPr spc="-50" dirty="0"/>
              <a:t>Types</a:t>
            </a:r>
            <a:r>
              <a:rPr spc="-20" dirty="0"/>
              <a:t> </a:t>
            </a:r>
            <a:r>
              <a:rPr spc="-5" dirty="0"/>
              <a:t>of</a:t>
            </a:r>
            <a:r>
              <a:rPr spc="-15" dirty="0"/>
              <a:t> </a:t>
            </a:r>
            <a:r>
              <a:rPr spc="-5" dirty="0"/>
              <a:t>Binary</a:t>
            </a:r>
            <a:r>
              <a:rPr spc="-7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p:nvPr/>
        </p:nvSpPr>
        <p:spPr>
          <a:xfrm>
            <a:off x="1389633" y="1503451"/>
            <a:ext cx="5202555" cy="3227070"/>
          </a:xfrm>
          <a:prstGeom prst="rect">
            <a:avLst/>
          </a:prstGeom>
        </p:spPr>
        <p:txBody>
          <a:bodyPr vert="horz" wrap="square" lIns="0" tIns="226060" rIns="0" bIns="0" rtlCol="0">
            <a:spAutoFit/>
          </a:bodyPr>
          <a:lstStyle/>
          <a:p>
            <a:pPr marL="12700">
              <a:lnSpc>
                <a:spcPct val="100000"/>
              </a:lnSpc>
              <a:spcBef>
                <a:spcPts val="1780"/>
              </a:spcBef>
            </a:pPr>
            <a:r>
              <a:rPr sz="2800" b="1" spc="-15" dirty="0">
                <a:latin typeface="Calibri"/>
                <a:cs typeface="Calibri"/>
              </a:rPr>
              <a:t>There</a:t>
            </a:r>
            <a:r>
              <a:rPr sz="2800" b="1" spc="25" dirty="0">
                <a:latin typeface="Calibri"/>
                <a:cs typeface="Calibri"/>
              </a:rPr>
              <a:t> </a:t>
            </a:r>
            <a:r>
              <a:rPr sz="2800" b="1" spc="-15" dirty="0">
                <a:latin typeface="Calibri"/>
                <a:cs typeface="Calibri"/>
              </a:rPr>
              <a:t>are</a:t>
            </a:r>
            <a:r>
              <a:rPr sz="2800" b="1" spc="15" dirty="0">
                <a:latin typeface="Calibri"/>
                <a:cs typeface="Calibri"/>
              </a:rPr>
              <a:t> </a:t>
            </a:r>
            <a:r>
              <a:rPr sz="2800" b="1" spc="-15" dirty="0">
                <a:latin typeface="Calibri"/>
                <a:cs typeface="Calibri"/>
              </a:rPr>
              <a:t>four</a:t>
            </a:r>
            <a:r>
              <a:rPr sz="2800" b="1" spc="5" dirty="0">
                <a:latin typeface="Calibri"/>
                <a:cs typeface="Calibri"/>
              </a:rPr>
              <a:t> </a:t>
            </a:r>
            <a:r>
              <a:rPr sz="2800" b="1" spc="-5" dirty="0">
                <a:latin typeface="Calibri"/>
                <a:cs typeface="Calibri"/>
              </a:rPr>
              <a:t>types</a:t>
            </a:r>
            <a:r>
              <a:rPr sz="2800" b="1" spc="5" dirty="0">
                <a:latin typeface="Calibri"/>
                <a:cs typeface="Calibri"/>
              </a:rPr>
              <a:t> </a:t>
            </a:r>
            <a:r>
              <a:rPr sz="2800" b="1" spc="-5" dirty="0">
                <a:latin typeface="Calibri"/>
                <a:cs typeface="Calibri"/>
              </a:rPr>
              <a:t>of binary</a:t>
            </a:r>
            <a:r>
              <a:rPr sz="2800" b="1" spc="20" dirty="0">
                <a:latin typeface="Calibri"/>
                <a:cs typeface="Calibri"/>
              </a:rPr>
              <a:t> </a:t>
            </a:r>
            <a:r>
              <a:rPr sz="2800" b="1" spc="-15" dirty="0">
                <a:latin typeface="Calibri"/>
                <a:cs typeface="Calibri"/>
              </a:rPr>
              <a:t>tree:</a:t>
            </a:r>
            <a:endParaRPr sz="2800" dirty="0">
              <a:latin typeface="Calibri"/>
              <a:cs typeface="Calibri"/>
            </a:endParaRPr>
          </a:p>
          <a:p>
            <a:pPr marL="942975" indent="-351790">
              <a:lnSpc>
                <a:spcPct val="100000"/>
              </a:lnSpc>
              <a:spcBef>
                <a:spcPts val="1685"/>
              </a:spcBef>
              <a:buAutoNum type="arabicPeriod"/>
              <a:tabLst>
                <a:tab pos="943610" algn="l"/>
              </a:tabLst>
            </a:pPr>
            <a:r>
              <a:rPr sz="2800" spc="-10" dirty="0">
                <a:latin typeface="Calibri"/>
                <a:cs typeface="Calibri"/>
              </a:rPr>
              <a:t>Full</a:t>
            </a:r>
            <a:r>
              <a:rPr sz="2800" dirty="0">
                <a:latin typeface="Calibri"/>
                <a:cs typeface="Calibri"/>
              </a:rPr>
              <a:t> </a:t>
            </a:r>
            <a:r>
              <a:rPr sz="2800" spc="-5" dirty="0">
                <a:latin typeface="Calibri"/>
                <a:cs typeface="Calibri"/>
              </a:rPr>
              <a:t>Binary</a:t>
            </a:r>
            <a:r>
              <a:rPr sz="2800" spc="-10" dirty="0">
                <a:latin typeface="Calibri"/>
                <a:cs typeface="Calibri"/>
              </a:rPr>
              <a:t> </a:t>
            </a:r>
            <a:r>
              <a:rPr sz="2800" spc="-55" dirty="0">
                <a:latin typeface="Calibri"/>
                <a:cs typeface="Calibri"/>
              </a:rPr>
              <a:t>Tree</a:t>
            </a:r>
            <a:endParaRPr sz="2800" dirty="0">
              <a:latin typeface="Calibri"/>
              <a:cs typeface="Calibri"/>
            </a:endParaRPr>
          </a:p>
          <a:p>
            <a:pPr marL="942975" indent="-351790">
              <a:lnSpc>
                <a:spcPct val="100000"/>
              </a:lnSpc>
              <a:spcBef>
                <a:spcPts val="1680"/>
              </a:spcBef>
              <a:buAutoNum type="arabicPeriod"/>
              <a:tabLst>
                <a:tab pos="943610" algn="l"/>
              </a:tabLst>
            </a:pPr>
            <a:r>
              <a:rPr sz="2800" spc="-15" dirty="0">
                <a:latin typeface="Calibri"/>
                <a:cs typeface="Calibri"/>
              </a:rPr>
              <a:t>Complete </a:t>
            </a:r>
            <a:r>
              <a:rPr sz="2800" spc="-5" dirty="0">
                <a:latin typeface="Calibri"/>
                <a:cs typeface="Calibri"/>
              </a:rPr>
              <a:t>Binary</a:t>
            </a:r>
            <a:r>
              <a:rPr sz="2800" spc="10" dirty="0">
                <a:latin typeface="Calibri"/>
                <a:cs typeface="Calibri"/>
              </a:rPr>
              <a:t> </a:t>
            </a:r>
            <a:r>
              <a:rPr sz="2800" spc="-55" dirty="0">
                <a:latin typeface="Calibri"/>
                <a:cs typeface="Calibri"/>
              </a:rPr>
              <a:t>Tree</a:t>
            </a:r>
            <a:endParaRPr sz="2800" dirty="0">
              <a:latin typeface="Calibri"/>
              <a:cs typeface="Calibri"/>
            </a:endParaRPr>
          </a:p>
          <a:p>
            <a:pPr marL="942975" indent="-351790">
              <a:lnSpc>
                <a:spcPct val="100000"/>
              </a:lnSpc>
              <a:spcBef>
                <a:spcPts val="1680"/>
              </a:spcBef>
              <a:buAutoNum type="arabicPeriod"/>
              <a:tabLst>
                <a:tab pos="943610" algn="l"/>
              </a:tabLst>
            </a:pPr>
            <a:r>
              <a:rPr sz="2800" spc="-25" dirty="0">
                <a:latin typeface="Calibri"/>
                <a:cs typeface="Calibri"/>
              </a:rPr>
              <a:t>Skewed</a:t>
            </a:r>
            <a:r>
              <a:rPr sz="2800" spc="-20" dirty="0">
                <a:latin typeface="Calibri"/>
                <a:cs typeface="Calibri"/>
              </a:rPr>
              <a:t> </a:t>
            </a:r>
            <a:r>
              <a:rPr sz="2800" spc="-5" dirty="0">
                <a:latin typeface="Calibri"/>
                <a:cs typeface="Calibri"/>
              </a:rPr>
              <a:t>Binary </a:t>
            </a:r>
            <a:r>
              <a:rPr sz="2800" spc="-55" dirty="0">
                <a:latin typeface="Calibri"/>
                <a:cs typeface="Calibri"/>
              </a:rPr>
              <a:t>Tree</a:t>
            </a:r>
          </a:p>
          <a:p>
            <a:pPr marL="942975" indent="-351790">
              <a:lnSpc>
                <a:spcPct val="100000"/>
              </a:lnSpc>
              <a:spcBef>
                <a:spcPts val="1680"/>
              </a:spcBef>
              <a:buAutoNum type="arabicPeriod"/>
              <a:tabLst>
                <a:tab pos="943610" algn="l"/>
              </a:tabLst>
            </a:pPr>
            <a:r>
              <a:rPr sz="2800" spc="-10" dirty="0">
                <a:latin typeface="Calibri"/>
                <a:cs typeface="Calibri"/>
              </a:rPr>
              <a:t>Extended </a:t>
            </a:r>
            <a:r>
              <a:rPr sz="2800" spc="-5" dirty="0">
                <a:latin typeface="Calibri"/>
                <a:cs typeface="Calibri"/>
              </a:rPr>
              <a:t>Binary</a:t>
            </a:r>
            <a:r>
              <a:rPr sz="2800" spc="10" dirty="0">
                <a:latin typeface="Calibri"/>
                <a:cs typeface="Calibri"/>
              </a:rPr>
              <a:t> </a:t>
            </a:r>
            <a:r>
              <a:rPr sz="2800" spc="-55" dirty="0">
                <a:latin typeface="Calibri"/>
                <a:cs typeface="Calibri"/>
              </a:rPr>
              <a:t>Tree</a:t>
            </a:r>
            <a:endParaRPr sz="2800" dirty="0">
              <a:latin typeface="Calibri"/>
              <a:cs typeface="Calibri"/>
            </a:endParaRP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3582035" cy="635000"/>
          </a:xfrm>
          <a:prstGeom prst="rect">
            <a:avLst/>
          </a:prstGeom>
        </p:spPr>
        <p:txBody>
          <a:bodyPr vert="horz" wrap="square" lIns="0" tIns="12065" rIns="0" bIns="0" rtlCol="0">
            <a:spAutoFit/>
          </a:bodyPr>
          <a:lstStyle/>
          <a:p>
            <a:pPr marL="12700">
              <a:lnSpc>
                <a:spcPct val="100000"/>
              </a:lnSpc>
              <a:spcBef>
                <a:spcPts val="95"/>
              </a:spcBef>
            </a:pPr>
            <a:r>
              <a:rPr spc="-5" dirty="0"/>
              <a:t>Full</a:t>
            </a:r>
            <a:r>
              <a:rPr spc="-40" dirty="0"/>
              <a:t> </a:t>
            </a:r>
            <a:r>
              <a:rPr spc="-5" dirty="0"/>
              <a:t>Binary</a:t>
            </a:r>
            <a:r>
              <a:rPr spc="-90" dirty="0"/>
              <a:t> </a:t>
            </a:r>
            <a:r>
              <a:rPr spc="-40" dirty="0"/>
              <a:t>Tree</a:t>
            </a:r>
          </a:p>
        </p:txBody>
      </p:sp>
      <p:sp>
        <p:nvSpPr>
          <p:cNvPr id="3" name="object 3"/>
          <p:cNvSpPr/>
          <p:nvPr/>
        </p:nvSpPr>
        <p:spPr>
          <a:xfrm>
            <a:off x="1399032" y="3160776"/>
            <a:ext cx="1905" cy="169545"/>
          </a:xfrm>
          <a:custGeom>
            <a:avLst/>
            <a:gdLst/>
            <a:ahLst/>
            <a:cxnLst/>
            <a:rect l="l" t="t" r="r" b="b"/>
            <a:pathLst>
              <a:path w="1905" h="169545">
                <a:moveTo>
                  <a:pt x="1524" y="0"/>
                </a:moveTo>
                <a:lnTo>
                  <a:pt x="0" y="0"/>
                </a:lnTo>
                <a:lnTo>
                  <a:pt x="0" y="169163"/>
                </a:lnTo>
                <a:lnTo>
                  <a:pt x="1524" y="169163"/>
                </a:lnTo>
                <a:lnTo>
                  <a:pt x="1524" y="0"/>
                </a:lnTo>
                <a:close/>
              </a:path>
            </a:pathLst>
          </a:custGeom>
          <a:solidFill>
            <a:srgbClr val="FFFFFF"/>
          </a:solidFill>
        </p:spPr>
        <p:txBody>
          <a:bodyPr wrap="square" lIns="0" tIns="0" rIns="0" bIns="0" rtlCol="0"/>
          <a:lstStyle/>
          <a:p>
            <a:endParaRPr/>
          </a:p>
        </p:txBody>
      </p:sp>
      <p:grpSp>
        <p:nvGrpSpPr>
          <p:cNvPr id="4" name="object 4"/>
          <p:cNvGrpSpPr/>
          <p:nvPr/>
        </p:nvGrpSpPr>
        <p:grpSpPr>
          <a:xfrm>
            <a:off x="0" y="2514600"/>
            <a:ext cx="12192000" cy="4259580"/>
            <a:chOff x="0" y="2514600"/>
            <a:chExt cx="12192000" cy="4259580"/>
          </a:xfrm>
        </p:grpSpPr>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pic>
          <p:nvPicPr>
            <p:cNvPr id="6" name="object 6"/>
            <p:cNvPicPr/>
            <p:nvPr/>
          </p:nvPicPr>
          <p:blipFill>
            <a:blip r:embed="rId2" cstate="print"/>
            <a:stretch>
              <a:fillRect/>
            </a:stretch>
          </p:blipFill>
          <p:spPr>
            <a:xfrm>
              <a:off x="7696200" y="2514600"/>
              <a:ext cx="4453128" cy="3928871"/>
            </a:xfrm>
            <a:prstGeom prst="rect">
              <a:avLst/>
            </a:prstGeom>
          </p:spPr>
        </p:pic>
      </p:grpSp>
      <p:sp>
        <p:nvSpPr>
          <p:cNvPr id="7" name="object 7"/>
          <p:cNvSpPr txBox="1"/>
          <p:nvPr/>
        </p:nvSpPr>
        <p:spPr>
          <a:xfrm>
            <a:off x="1298194" y="1366519"/>
            <a:ext cx="9507855" cy="1671955"/>
          </a:xfrm>
          <a:prstGeom prst="rect">
            <a:avLst/>
          </a:prstGeom>
        </p:spPr>
        <p:txBody>
          <a:bodyPr vert="horz" wrap="square" lIns="0" tIns="12700" rIns="0" bIns="0" rtlCol="0">
            <a:spAutoFit/>
          </a:bodyPr>
          <a:lstStyle/>
          <a:p>
            <a:pPr marL="355600" marR="5080" indent="-342900">
              <a:lnSpc>
                <a:spcPct val="150000"/>
              </a:lnSpc>
              <a:spcBef>
                <a:spcPts val="100"/>
              </a:spcBef>
              <a:buFont typeface="Wingdings"/>
              <a:buChar char=""/>
              <a:tabLst>
                <a:tab pos="355600" algn="l"/>
              </a:tabLst>
            </a:pPr>
            <a:r>
              <a:rPr sz="2400" dirty="0">
                <a:latin typeface="Calibri"/>
                <a:cs typeface="Calibri"/>
              </a:rPr>
              <a:t>If each </a:t>
            </a:r>
            <a:r>
              <a:rPr sz="2400" spc="-5" dirty="0">
                <a:latin typeface="Calibri"/>
                <a:cs typeface="Calibri"/>
              </a:rPr>
              <a:t>node of binary </a:t>
            </a:r>
            <a:r>
              <a:rPr sz="2400" spc="-10" dirty="0">
                <a:latin typeface="Calibri"/>
                <a:cs typeface="Calibri"/>
              </a:rPr>
              <a:t>tree </a:t>
            </a:r>
            <a:r>
              <a:rPr sz="2400" spc="-5" dirty="0">
                <a:latin typeface="Calibri"/>
                <a:cs typeface="Calibri"/>
              </a:rPr>
              <a:t>has </a:t>
            </a:r>
            <a:r>
              <a:rPr sz="2400" dirty="0">
                <a:latin typeface="Calibri"/>
                <a:cs typeface="Calibri"/>
              </a:rPr>
              <a:t>either </a:t>
            </a:r>
            <a:r>
              <a:rPr sz="2400" spc="-10" dirty="0">
                <a:latin typeface="Calibri"/>
                <a:cs typeface="Calibri"/>
              </a:rPr>
              <a:t>two </a:t>
            </a:r>
            <a:r>
              <a:rPr sz="2400" spc="-5" dirty="0">
                <a:latin typeface="Calibri"/>
                <a:cs typeface="Calibri"/>
              </a:rPr>
              <a:t>children or no child </a:t>
            </a:r>
            <a:r>
              <a:rPr sz="2400" spc="-15" dirty="0">
                <a:latin typeface="Calibri"/>
                <a:cs typeface="Calibri"/>
              </a:rPr>
              <a:t>at </a:t>
            </a:r>
            <a:r>
              <a:rPr sz="2400" dirty="0">
                <a:latin typeface="Calibri"/>
                <a:cs typeface="Calibri"/>
              </a:rPr>
              <a:t>all, is </a:t>
            </a:r>
            <a:r>
              <a:rPr sz="2400" spc="-5" dirty="0">
                <a:latin typeface="Calibri"/>
                <a:cs typeface="Calibri"/>
              </a:rPr>
              <a:t>said </a:t>
            </a:r>
            <a:r>
              <a:rPr sz="2400" spc="-530" dirty="0">
                <a:latin typeface="Calibri"/>
                <a:cs typeface="Calibri"/>
              </a:rPr>
              <a:t> </a:t>
            </a:r>
            <a:r>
              <a:rPr sz="2400" spc="-15" dirty="0">
                <a:latin typeface="Calibri"/>
                <a:cs typeface="Calibri"/>
              </a:rPr>
              <a:t>to </a:t>
            </a:r>
            <a:r>
              <a:rPr sz="2400" spc="-5" dirty="0">
                <a:latin typeface="Calibri"/>
                <a:cs typeface="Calibri"/>
              </a:rPr>
              <a:t>be </a:t>
            </a:r>
            <a:r>
              <a:rPr sz="2400" dirty="0">
                <a:latin typeface="Calibri"/>
                <a:cs typeface="Calibri"/>
              </a:rPr>
              <a:t>a</a:t>
            </a:r>
            <a:r>
              <a:rPr sz="2400" spc="-10" dirty="0">
                <a:latin typeface="Calibri"/>
                <a:cs typeface="Calibri"/>
              </a:rPr>
              <a:t> </a:t>
            </a:r>
            <a:r>
              <a:rPr sz="2400" b="1" dirty="0">
                <a:latin typeface="Calibri"/>
                <a:cs typeface="Calibri"/>
              </a:rPr>
              <a:t>Full</a:t>
            </a:r>
            <a:r>
              <a:rPr sz="2400" b="1" spc="-10" dirty="0">
                <a:latin typeface="Calibri"/>
                <a:cs typeface="Calibri"/>
              </a:rPr>
              <a:t> </a:t>
            </a:r>
            <a:r>
              <a:rPr sz="2400" b="1" spc="-5" dirty="0">
                <a:latin typeface="Calibri"/>
                <a:cs typeface="Calibri"/>
              </a:rPr>
              <a:t>Binary</a:t>
            </a:r>
            <a:r>
              <a:rPr sz="2400" b="1" dirty="0">
                <a:latin typeface="Calibri"/>
                <a:cs typeface="Calibri"/>
              </a:rPr>
              <a:t> </a:t>
            </a:r>
            <a:r>
              <a:rPr sz="2400" b="1" spc="-30" dirty="0">
                <a:latin typeface="Calibri"/>
                <a:cs typeface="Calibri"/>
              </a:rPr>
              <a:t>Tree</a:t>
            </a:r>
            <a:r>
              <a:rPr sz="2400" spc="-30" dirty="0">
                <a:latin typeface="Calibri"/>
                <a:cs typeface="Calibri"/>
              </a:rPr>
              <a:t>.</a:t>
            </a:r>
            <a:endParaRPr sz="2400" dirty="0">
              <a:latin typeface="Calibri"/>
              <a:cs typeface="Calibri"/>
            </a:endParaRPr>
          </a:p>
          <a:p>
            <a:pPr marL="355600" indent="-342900">
              <a:lnSpc>
                <a:spcPct val="100000"/>
              </a:lnSpc>
              <a:spcBef>
                <a:spcPts val="1440"/>
              </a:spcBef>
              <a:buFont typeface="Wingdings"/>
              <a:buChar char=""/>
              <a:tabLst>
                <a:tab pos="355600" algn="l"/>
              </a:tabLst>
            </a:pPr>
            <a:r>
              <a:rPr sz="2400" spc="-5" dirty="0">
                <a:latin typeface="Calibri"/>
                <a:cs typeface="Calibri"/>
              </a:rPr>
              <a:t>Full</a:t>
            </a:r>
            <a:r>
              <a:rPr sz="2400" spc="-20" dirty="0">
                <a:latin typeface="Calibri"/>
                <a:cs typeface="Calibri"/>
              </a:rPr>
              <a:t> </a:t>
            </a:r>
            <a:r>
              <a:rPr sz="2400" spc="-5" dirty="0">
                <a:latin typeface="Calibri"/>
                <a:cs typeface="Calibri"/>
              </a:rPr>
              <a:t>binary </a:t>
            </a:r>
            <a:r>
              <a:rPr sz="2400" spc="-10" dirty="0">
                <a:latin typeface="Calibri"/>
                <a:cs typeface="Calibri"/>
              </a:rPr>
              <a:t>tree </a:t>
            </a:r>
            <a:r>
              <a:rPr sz="2400" dirty="0">
                <a:latin typeface="Calibri"/>
                <a:cs typeface="Calibri"/>
              </a:rPr>
              <a:t>is</a:t>
            </a:r>
            <a:r>
              <a:rPr sz="2400" spc="-5" dirty="0">
                <a:latin typeface="Calibri"/>
                <a:cs typeface="Calibri"/>
              </a:rPr>
              <a:t> </a:t>
            </a:r>
            <a:r>
              <a:rPr sz="2400" dirty="0">
                <a:latin typeface="Calibri"/>
                <a:cs typeface="Calibri"/>
              </a:rPr>
              <a:t>also</a:t>
            </a:r>
            <a:r>
              <a:rPr sz="2400" spc="-15" dirty="0">
                <a:latin typeface="Calibri"/>
                <a:cs typeface="Calibri"/>
              </a:rPr>
              <a:t> </a:t>
            </a:r>
            <a:r>
              <a:rPr sz="2400" spc="-5" dirty="0">
                <a:latin typeface="Calibri"/>
                <a:cs typeface="Calibri"/>
              </a:rPr>
              <a:t>called</a:t>
            </a:r>
            <a:r>
              <a:rPr sz="2400" spc="-20" dirty="0">
                <a:latin typeface="Calibri"/>
                <a:cs typeface="Calibri"/>
              </a:rPr>
              <a:t> </a:t>
            </a:r>
            <a:r>
              <a:rPr sz="2400" dirty="0">
                <a:latin typeface="Calibri"/>
                <a:cs typeface="Calibri"/>
              </a:rPr>
              <a:t>as</a:t>
            </a:r>
            <a:r>
              <a:rPr sz="2400" spc="15" dirty="0">
                <a:latin typeface="Calibri"/>
                <a:cs typeface="Calibri"/>
              </a:rPr>
              <a:t> </a:t>
            </a:r>
            <a:r>
              <a:rPr sz="2400" b="1" dirty="0">
                <a:latin typeface="Calibri"/>
                <a:cs typeface="Calibri"/>
              </a:rPr>
              <a:t>Strictly</a:t>
            </a:r>
            <a:r>
              <a:rPr sz="2400" b="1" spc="-5" dirty="0">
                <a:latin typeface="Calibri"/>
                <a:cs typeface="Calibri"/>
              </a:rPr>
              <a:t> Binary</a:t>
            </a:r>
            <a:r>
              <a:rPr sz="2400" b="1" dirty="0">
                <a:latin typeface="Calibri"/>
                <a:cs typeface="Calibri"/>
              </a:rPr>
              <a:t> </a:t>
            </a:r>
            <a:r>
              <a:rPr sz="2400" b="1" spc="-35" dirty="0">
                <a:latin typeface="Calibri"/>
                <a:cs typeface="Calibri"/>
              </a:rPr>
              <a:t>Tree</a:t>
            </a:r>
            <a:r>
              <a:rPr sz="2400" spc="-35" dirty="0">
                <a:latin typeface="Calibri"/>
                <a:cs typeface="Calibri"/>
              </a:rPr>
              <a:t>.</a:t>
            </a:r>
            <a:endParaRPr sz="2400" dirty="0">
              <a:latin typeface="Calibri"/>
              <a:cs typeface="Calibri"/>
            </a:endParaRPr>
          </a:p>
        </p:txBody>
      </p:sp>
      <p:grpSp>
        <p:nvGrpSpPr>
          <p:cNvPr id="8" name="object 8"/>
          <p:cNvGrpSpPr/>
          <p:nvPr/>
        </p:nvGrpSpPr>
        <p:grpSpPr>
          <a:xfrm>
            <a:off x="0" y="6477000"/>
            <a:ext cx="12192000" cy="381000"/>
            <a:chOff x="0" y="6477000"/>
            <a:chExt cx="12192000" cy="381000"/>
          </a:xfrm>
        </p:grpSpPr>
        <p:sp>
          <p:nvSpPr>
            <p:cNvPr id="9" name="object 9"/>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10" name="object 10"/>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4937760" cy="635000"/>
          </a:xfrm>
          <a:prstGeom prst="rect">
            <a:avLst/>
          </a:prstGeom>
        </p:spPr>
        <p:txBody>
          <a:bodyPr vert="horz" wrap="square" lIns="0" tIns="12065" rIns="0" bIns="0" rtlCol="0">
            <a:spAutoFit/>
          </a:bodyPr>
          <a:lstStyle/>
          <a:p>
            <a:pPr marL="12700">
              <a:lnSpc>
                <a:spcPct val="100000"/>
              </a:lnSpc>
              <a:spcBef>
                <a:spcPts val="95"/>
              </a:spcBef>
            </a:pPr>
            <a:r>
              <a:rPr spc="-5" dirty="0"/>
              <a:t>Complete Binary</a:t>
            </a:r>
            <a:r>
              <a:rPr spc="-10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p:nvPr/>
        </p:nvSpPr>
        <p:spPr>
          <a:xfrm>
            <a:off x="1153363" y="1516252"/>
            <a:ext cx="9751695" cy="3318510"/>
          </a:xfrm>
          <a:prstGeom prst="rect">
            <a:avLst/>
          </a:prstGeom>
        </p:spPr>
        <p:txBody>
          <a:bodyPr vert="horz" wrap="square" lIns="0" tIns="12700" rIns="0" bIns="0" rtlCol="0">
            <a:spAutoFit/>
          </a:bodyPr>
          <a:lstStyle/>
          <a:p>
            <a:pPr marL="381000" marR="247015" indent="-343535">
              <a:lnSpc>
                <a:spcPct val="150100"/>
              </a:lnSpc>
              <a:spcBef>
                <a:spcPts val="100"/>
              </a:spcBef>
              <a:buFont typeface="Wingdings"/>
              <a:buChar char=""/>
              <a:tabLst>
                <a:tab pos="381635" algn="l"/>
              </a:tabLst>
            </a:pPr>
            <a:r>
              <a:rPr sz="2400" dirty="0">
                <a:latin typeface="Calibri"/>
                <a:cs typeface="Calibri"/>
              </a:rPr>
              <a:t>A </a:t>
            </a:r>
            <a:r>
              <a:rPr sz="2400" spc="-5" dirty="0">
                <a:latin typeface="Calibri"/>
                <a:cs typeface="Calibri"/>
              </a:rPr>
              <a:t>binary </a:t>
            </a:r>
            <a:r>
              <a:rPr sz="2400" spc="-10" dirty="0">
                <a:latin typeface="Calibri"/>
                <a:cs typeface="Calibri"/>
              </a:rPr>
              <a:t>tree </a:t>
            </a:r>
            <a:r>
              <a:rPr sz="2400" dirty="0">
                <a:latin typeface="Calibri"/>
                <a:cs typeface="Calibri"/>
              </a:rPr>
              <a:t>in which </a:t>
            </a:r>
            <a:r>
              <a:rPr sz="2400" spc="-5" dirty="0">
                <a:latin typeface="Calibri"/>
                <a:cs typeface="Calibri"/>
              </a:rPr>
              <a:t>every </a:t>
            </a:r>
            <a:r>
              <a:rPr sz="2400" spc="-10" dirty="0">
                <a:latin typeface="Calibri"/>
                <a:cs typeface="Calibri"/>
              </a:rPr>
              <a:t>internal </a:t>
            </a:r>
            <a:r>
              <a:rPr sz="2400" spc="-5" dirty="0">
                <a:latin typeface="Calibri"/>
                <a:cs typeface="Calibri"/>
              </a:rPr>
              <a:t>node has </a:t>
            </a:r>
            <a:r>
              <a:rPr sz="2400" spc="-15" dirty="0">
                <a:latin typeface="Calibri"/>
                <a:cs typeface="Calibri"/>
              </a:rPr>
              <a:t>exactly </a:t>
            </a:r>
            <a:r>
              <a:rPr sz="2400" spc="-10" dirty="0">
                <a:latin typeface="Calibri"/>
                <a:cs typeface="Calibri"/>
              </a:rPr>
              <a:t>two </a:t>
            </a:r>
            <a:r>
              <a:rPr sz="2400" spc="-5" dirty="0">
                <a:latin typeface="Calibri"/>
                <a:cs typeface="Calibri"/>
              </a:rPr>
              <a:t>children </a:t>
            </a:r>
            <a:r>
              <a:rPr sz="2400" dirty="0">
                <a:latin typeface="Calibri"/>
                <a:cs typeface="Calibri"/>
              </a:rPr>
              <a:t>and all </a:t>
            </a:r>
            <a:r>
              <a:rPr sz="2400" spc="-530" dirty="0">
                <a:latin typeface="Calibri"/>
                <a:cs typeface="Calibri"/>
              </a:rPr>
              <a:t> </a:t>
            </a:r>
            <a:r>
              <a:rPr sz="2400" dirty="0">
                <a:latin typeface="Calibri"/>
                <a:cs typeface="Calibri"/>
              </a:rPr>
              <a:t>leaf</a:t>
            </a:r>
            <a:r>
              <a:rPr sz="2400" spc="-10" dirty="0">
                <a:latin typeface="Calibri"/>
                <a:cs typeface="Calibri"/>
              </a:rPr>
              <a:t> </a:t>
            </a:r>
            <a:r>
              <a:rPr sz="2400" spc="-5" dirty="0">
                <a:latin typeface="Calibri"/>
                <a:cs typeface="Calibri"/>
              </a:rPr>
              <a:t>nodes </a:t>
            </a:r>
            <a:r>
              <a:rPr sz="2400" spc="-15" dirty="0">
                <a:latin typeface="Calibri"/>
                <a:cs typeface="Calibri"/>
              </a:rPr>
              <a:t>are</a:t>
            </a:r>
            <a:r>
              <a:rPr sz="2400" dirty="0">
                <a:latin typeface="Calibri"/>
                <a:cs typeface="Calibri"/>
              </a:rPr>
              <a:t> </a:t>
            </a:r>
            <a:r>
              <a:rPr sz="2400" spc="-10" dirty="0">
                <a:latin typeface="Calibri"/>
                <a:cs typeface="Calibri"/>
              </a:rPr>
              <a:t>at</a:t>
            </a:r>
            <a:r>
              <a:rPr sz="2400" dirty="0">
                <a:latin typeface="Calibri"/>
                <a:cs typeface="Calibri"/>
              </a:rPr>
              <a:t> </a:t>
            </a:r>
            <a:r>
              <a:rPr sz="2400" spc="-5" dirty="0">
                <a:latin typeface="Calibri"/>
                <a:cs typeface="Calibri"/>
              </a:rPr>
              <a:t>same</a:t>
            </a:r>
            <a:r>
              <a:rPr sz="2400" spc="-15" dirty="0">
                <a:latin typeface="Calibri"/>
                <a:cs typeface="Calibri"/>
              </a:rPr>
              <a:t> </a:t>
            </a:r>
            <a:r>
              <a:rPr sz="2400" spc="-10" dirty="0">
                <a:latin typeface="Calibri"/>
                <a:cs typeface="Calibri"/>
              </a:rPr>
              <a:t>level</a:t>
            </a:r>
            <a:r>
              <a:rPr sz="2400" dirty="0">
                <a:latin typeface="Calibri"/>
                <a:cs typeface="Calibri"/>
              </a:rPr>
              <a:t> is </a:t>
            </a:r>
            <a:r>
              <a:rPr sz="2400" spc="-5" dirty="0">
                <a:latin typeface="Calibri"/>
                <a:cs typeface="Calibri"/>
              </a:rPr>
              <a:t>called</a:t>
            </a:r>
            <a:r>
              <a:rPr sz="2400" spc="-20" dirty="0">
                <a:latin typeface="Calibri"/>
                <a:cs typeface="Calibri"/>
              </a:rPr>
              <a:t> </a:t>
            </a:r>
            <a:r>
              <a:rPr sz="2400" spc="-10" dirty="0">
                <a:latin typeface="Calibri"/>
                <a:cs typeface="Calibri"/>
              </a:rPr>
              <a:t>Complete</a:t>
            </a:r>
            <a:r>
              <a:rPr sz="2400" spc="-20" dirty="0">
                <a:latin typeface="Calibri"/>
                <a:cs typeface="Calibri"/>
              </a:rPr>
              <a:t> </a:t>
            </a:r>
            <a:r>
              <a:rPr sz="2400" dirty="0">
                <a:latin typeface="Calibri"/>
                <a:cs typeface="Calibri"/>
              </a:rPr>
              <a:t>Binary</a:t>
            </a:r>
            <a:r>
              <a:rPr sz="2400" spc="-20" dirty="0">
                <a:latin typeface="Calibri"/>
                <a:cs typeface="Calibri"/>
              </a:rPr>
              <a:t> </a:t>
            </a:r>
            <a:r>
              <a:rPr sz="2400" spc="-35" dirty="0">
                <a:latin typeface="Calibri"/>
                <a:cs typeface="Calibri"/>
              </a:rPr>
              <a:t>Tree.</a:t>
            </a:r>
            <a:endParaRPr sz="2400" dirty="0">
              <a:latin typeface="Calibri"/>
              <a:cs typeface="Calibri"/>
            </a:endParaRPr>
          </a:p>
          <a:p>
            <a:pPr marL="381000" indent="-343535">
              <a:lnSpc>
                <a:spcPct val="100000"/>
              </a:lnSpc>
              <a:spcBef>
                <a:spcPts val="1440"/>
              </a:spcBef>
              <a:buFont typeface="Wingdings"/>
              <a:buChar char=""/>
              <a:tabLst>
                <a:tab pos="381635" algn="l"/>
              </a:tabLst>
            </a:pPr>
            <a:r>
              <a:rPr sz="2400" spc="-10" dirty="0">
                <a:latin typeface="Calibri"/>
                <a:cs typeface="Calibri"/>
              </a:rPr>
              <a:t>Complete</a:t>
            </a:r>
            <a:r>
              <a:rPr sz="2400" spc="-25" dirty="0">
                <a:latin typeface="Calibri"/>
                <a:cs typeface="Calibri"/>
              </a:rPr>
              <a:t> </a:t>
            </a:r>
            <a:r>
              <a:rPr sz="2400" spc="-5" dirty="0">
                <a:latin typeface="Calibri"/>
                <a:cs typeface="Calibri"/>
              </a:rPr>
              <a:t>binary</a:t>
            </a:r>
            <a:r>
              <a:rPr sz="2400" spc="-10" dirty="0">
                <a:latin typeface="Calibri"/>
                <a:cs typeface="Calibri"/>
              </a:rPr>
              <a:t> tree</a:t>
            </a:r>
            <a:r>
              <a:rPr sz="2400" dirty="0">
                <a:latin typeface="Calibri"/>
                <a:cs typeface="Calibri"/>
              </a:rPr>
              <a:t> is also</a:t>
            </a:r>
            <a:r>
              <a:rPr sz="2400" spc="-15" dirty="0">
                <a:latin typeface="Calibri"/>
                <a:cs typeface="Calibri"/>
              </a:rPr>
              <a:t> </a:t>
            </a:r>
            <a:r>
              <a:rPr sz="2400" spc="-5" dirty="0">
                <a:latin typeface="Calibri"/>
                <a:cs typeface="Calibri"/>
              </a:rPr>
              <a:t>called</a:t>
            </a:r>
            <a:r>
              <a:rPr sz="2400" spc="-25" dirty="0">
                <a:latin typeface="Calibri"/>
                <a:cs typeface="Calibri"/>
              </a:rPr>
              <a:t> </a:t>
            </a:r>
            <a:r>
              <a:rPr sz="2400" dirty="0">
                <a:latin typeface="Calibri"/>
                <a:cs typeface="Calibri"/>
              </a:rPr>
              <a:t>as </a:t>
            </a:r>
            <a:r>
              <a:rPr sz="2400" b="1" spc="-15" dirty="0">
                <a:latin typeface="Calibri"/>
                <a:cs typeface="Calibri"/>
              </a:rPr>
              <a:t>Perfect </a:t>
            </a:r>
            <a:r>
              <a:rPr sz="2400" b="1" dirty="0">
                <a:latin typeface="Calibri"/>
                <a:cs typeface="Calibri"/>
              </a:rPr>
              <a:t>Binary </a:t>
            </a:r>
            <a:r>
              <a:rPr sz="2400" b="1" spc="-45" dirty="0">
                <a:latin typeface="Calibri"/>
                <a:cs typeface="Calibri"/>
              </a:rPr>
              <a:t>Tree</a:t>
            </a:r>
            <a:endParaRPr sz="2400" dirty="0">
              <a:latin typeface="Calibri"/>
              <a:cs typeface="Calibri"/>
            </a:endParaRPr>
          </a:p>
          <a:p>
            <a:pPr marL="381000" indent="-343535">
              <a:lnSpc>
                <a:spcPct val="100000"/>
              </a:lnSpc>
              <a:spcBef>
                <a:spcPts val="1440"/>
              </a:spcBef>
              <a:buFont typeface="Wingdings"/>
              <a:buChar char=""/>
              <a:tabLst>
                <a:tab pos="381635" algn="l"/>
              </a:tabLst>
            </a:pPr>
            <a:r>
              <a:rPr sz="2400" spc="-30" dirty="0">
                <a:latin typeface="Calibri"/>
                <a:cs typeface="Calibri"/>
              </a:rPr>
              <a:t>At</a:t>
            </a:r>
            <a:r>
              <a:rPr sz="2400" spc="-20" dirty="0">
                <a:latin typeface="Calibri"/>
                <a:cs typeface="Calibri"/>
              </a:rPr>
              <a:t> </a:t>
            </a:r>
            <a:r>
              <a:rPr sz="2400" spc="-5" dirty="0">
                <a:latin typeface="Calibri"/>
                <a:cs typeface="Calibri"/>
              </a:rPr>
              <a:t>every</a:t>
            </a:r>
            <a:r>
              <a:rPr sz="2400" spc="5" dirty="0">
                <a:latin typeface="Calibri"/>
                <a:cs typeface="Calibri"/>
              </a:rPr>
              <a:t> </a:t>
            </a:r>
            <a:r>
              <a:rPr sz="2400" spc="-10" dirty="0">
                <a:latin typeface="Calibri"/>
                <a:cs typeface="Calibri"/>
              </a:rPr>
              <a:t>level</a:t>
            </a:r>
            <a:r>
              <a:rPr sz="2400" dirty="0">
                <a:latin typeface="Calibri"/>
                <a:cs typeface="Calibri"/>
              </a:rPr>
              <a:t> </a:t>
            </a:r>
            <a:r>
              <a:rPr sz="2400" spc="-5" dirty="0">
                <a:latin typeface="Calibri"/>
                <a:cs typeface="Calibri"/>
              </a:rPr>
              <a:t>of</a:t>
            </a:r>
            <a:r>
              <a:rPr sz="2400" dirty="0">
                <a:latin typeface="Calibri"/>
                <a:cs typeface="Calibri"/>
              </a:rPr>
              <a:t> </a:t>
            </a:r>
            <a:r>
              <a:rPr sz="2400" spc="-10" dirty="0">
                <a:latin typeface="Calibri"/>
                <a:cs typeface="Calibri"/>
              </a:rPr>
              <a:t>complete</a:t>
            </a:r>
            <a:r>
              <a:rPr sz="2400" spc="-25" dirty="0">
                <a:latin typeface="Calibri"/>
                <a:cs typeface="Calibri"/>
              </a:rPr>
              <a:t> </a:t>
            </a:r>
            <a:r>
              <a:rPr sz="2400" spc="-5" dirty="0">
                <a:latin typeface="Calibri"/>
                <a:cs typeface="Calibri"/>
              </a:rPr>
              <a:t>binary </a:t>
            </a:r>
            <a:r>
              <a:rPr sz="2400" spc="-10" dirty="0">
                <a:latin typeface="Calibri"/>
                <a:cs typeface="Calibri"/>
              </a:rPr>
              <a:t>tree</a:t>
            </a:r>
            <a:r>
              <a:rPr sz="2400" spc="10" dirty="0">
                <a:latin typeface="Calibri"/>
                <a:cs typeface="Calibri"/>
              </a:rPr>
              <a:t> </a:t>
            </a:r>
            <a:r>
              <a:rPr sz="2400" spc="-10" dirty="0">
                <a:latin typeface="Calibri"/>
                <a:cs typeface="Calibri"/>
              </a:rPr>
              <a:t>there</a:t>
            </a:r>
            <a:r>
              <a:rPr sz="2400" dirty="0">
                <a:latin typeface="Calibri"/>
                <a:cs typeface="Calibri"/>
              </a:rPr>
              <a:t> </a:t>
            </a:r>
            <a:r>
              <a:rPr sz="2400" spc="-10" dirty="0">
                <a:latin typeface="Calibri"/>
                <a:cs typeface="Calibri"/>
              </a:rPr>
              <a:t>must</a:t>
            </a:r>
            <a:r>
              <a:rPr sz="2400" spc="-15" dirty="0">
                <a:latin typeface="Calibri"/>
                <a:cs typeface="Calibri"/>
              </a:rPr>
              <a:t> </a:t>
            </a:r>
            <a:r>
              <a:rPr sz="2400" spc="-5" dirty="0">
                <a:latin typeface="Calibri"/>
                <a:cs typeface="Calibri"/>
              </a:rPr>
              <a:t>be</a:t>
            </a:r>
            <a:r>
              <a:rPr sz="2400" spc="10" dirty="0">
                <a:latin typeface="Calibri"/>
                <a:cs typeface="Calibri"/>
              </a:rPr>
              <a:t> </a:t>
            </a:r>
            <a:r>
              <a:rPr sz="2400" spc="-10" dirty="0">
                <a:latin typeface="Calibri"/>
                <a:cs typeface="Calibri"/>
              </a:rPr>
              <a:t>2</a:t>
            </a:r>
            <a:r>
              <a:rPr sz="2400" spc="-15" baseline="24305" dirty="0">
                <a:latin typeface="Calibri"/>
                <a:cs typeface="Calibri"/>
              </a:rPr>
              <a:t>level</a:t>
            </a:r>
            <a:r>
              <a:rPr sz="2400" spc="277" baseline="24305" dirty="0">
                <a:latin typeface="Calibri"/>
                <a:cs typeface="Calibri"/>
              </a:rPr>
              <a:t> </a:t>
            </a:r>
            <a:r>
              <a:rPr sz="2400" spc="-5" dirty="0">
                <a:latin typeface="Calibri"/>
                <a:cs typeface="Calibri"/>
              </a:rPr>
              <a:t>number</a:t>
            </a:r>
            <a:r>
              <a:rPr sz="2400" spc="-10" dirty="0">
                <a:latin typeface="Calibri"/>
                <a:cs typeface="Calibri"/>
              </a:rPr>
              <a:t> </a:t>
            </a:r>
            <a:r>
              <a:rPr sz="2400" spc="-5" dirty="0">
                <a:latin typeface="Calibri"/>
                <a:cs typeface="Calibri"/>
              </a:rPr>
              <a:t>of</a:t>
            </a:r>
            <a:r>
              <a:rPr sz="2400" dirty="0">
                <a:latin typeface="Calibri"/>
                <a:cs typeface="Calibri"/>
              </a:rPr>
              <a:t> </a:t>
            </a:r>
            <a:r>
              <a:rPr sz="2400" spc="-5" dirty="0">
                <a:latin typeface="Calibri"/>
                <a:cs typeface="Calibri"/>
              </a:rPr>
              <a:t>nodes.</a:t>
            </a:r>
            <a:endParaRPr sz="2400" dirty="0">
              <a:latin typeface="Calibri"/>
              <a:cs typeface="Calibri"/>
            </a:endParaRPr>
          </a:p>
          <a:p>
            <a:pPr marL="381000" marR="122555">
              <a:lnSpc>
                <a:spcPct val="150000"/>
              </a:lnSpc>
            </a:pPr>
            <a:r>
              <a:rPr sz="2400" spc="-15" dirty="0">
                <a:latin typeface="Calibri"/>
                <a:cs typeface="Calibri"/>
              </a:rPr>
              <a:t>For example</a:t>
            </a:r>
            <a:r>
              <a:rPr lang="en-US" sz="2400" spc="-15" dirty="0">
                <a:latin typeface="Calibri"/>
                <a:cs typeface="Calibri"/>
              </a:rPr>
              <a:t>,</a:t>
            </a:r>
            <a:r>
              <a:rPr sz="2400" spc="-15" dirty="0">
                <a:latin typeface="Calibri"/>
                <a:cs typeface="Calibri"/>
              </a:rPr>
              <a:t> at </a:t>
            </a:r>
            <a:r>
              <a:rPr sz="2400" spc="-10" dirty="0">
                <a:latin typeface="Calibri"/>
                <a:cs typeface="Calibri"/>
              </a:rPr>
              <a:t>level </a:t>
            </a:r>
            <a:r>
              <a:rPr sz="2400" dirty="0">
                <a:latin typeface="Calibri"/>
                <a:cs typeface="Calibri"/>
              </a:rPr>
              <a:t>2 </a:t>
            </a:r>
            <a:r>
              <a:rPr sz="2400" spc="-10" dirty="0">
                <a:latin typeface="Calibri"/>
                <a:cs typeface="Calibri"/>
              </a:rPr>
              <a:t>there must </a:t>
            </a:r>
            <a:r>
              <a:rPr sz="2400" spc="-5" dirty="0">
                <a:latin typeface="Calibri"/>
                <a:cs typeface="Calibri"/>
              </a:rPr>
              <a:t>be 2</a:t>
            </a:r>
            <a:r>
              <a:rPr sz="2400" spc="-7" baseline="24305" dirty="0">
                <a:latin typeface="Calibri"/>
                <a:cs typeface="Calibri"/>
              </a:rPr>
              <a:t>2</a:t>
            </a:r>
            <a:r>
              <a:rPr sz="2400" baseline="24305" dirty="0">
                <a:latin typeface="Calibri"/>
                <a:cs typeface="Calibri"/>
              </a:rPr>
              <a:t> </a:t>
            </a:r>
            <a:r>
              <a:rPr sz="2400" dirty="0">
                <a:latin typeface="Calibri"/>
                <a:cs typeface="Calibri"/>
              </a:rPr>
              <a:t>= 4 </a:t>
            </a:r>
            <a:r>
              <a:rPr sz="2400" spc="-5" dirty="0">
                <a:latin typeface="Calibri"/>
                <a:cs typeface="Calibri"/>
              </a:rPr>
              <a:t>nodes </a:t>
            </a:r>
            <a:r>
              <a:rPr sz="2400" dirty="0">
                <a:latin typeface="Calibri"/>
                <a:cs typeface="Calibri"/>
              </a:rPr>
              <a:t>and </a:t>
            </a:r>
            <a:r>
              <a:rPr sz="2400" spc="-15" dirty="0">
                <a:latin typeface="Calibri"/>
                <a:cs typeface="Calibri"/>
              </a:rPr>
              <a:t>at </a:t>
            </a:r>
            <a:r>
              <a:rPr sz="2400" spc="-10" dirty="0">
                <a:latin typeface="Calibri"/>
                <a:cs typeface="Calibri"/>
              </a:rPr>
              <a:t>level </a:t>
            </a:r>
            <a:r>
              <a:rPr sz="2400" dirty="0">
                <a:latin typeface="Calibri"/>
                <a:cs typeface="Calibri"/>
              </a:rPr>
              <a:t>3 </a:t>
            </a:r>
            <a:r>
              <a:rPr sz="2400" spc="-10" dirty="0">
                <a:latin typeface="Calibri"/>
                <a:cs typeface="Calibri"/>
              </a:rPr>
              <a:t>there must </a:t>
            </a:r>
            <a:r>
              <a:rPr sz="2400" spc="-530" dirty="0">
                <a:latin typeface="Calibri"/>
                <a:cs typeface="Calibri"/>
              </a:rPr>
              <a:t> </a:t>
            </a:r>
            <a:r>
              <a:rPr sz="2400" spc="-5" dirty="0">
                <a:latin typeface="Calibri"/>
                <a:cs typeface="Calibri"/>
              </a:rPr>
              <a:t>be </a:t>
            </a:r>
            <a:r>
              <a:rPr sz="2400" spc="-10" dirty="0">
                <a:latin typeface="Calibri"/>
                <a:cs typeface="Calibri"/>
              </a:rPr>
              <a:t>2</a:t>
            </a:r>
            <a:r>
              <a:rPr sz="2400" spc="-15" baseline="24305" dirty="0">
                <a:latin typeface="Calibri"/>
                <a:cs typeface="Calibri"/>
              </a:rPr>
              <a:t>3</a:t>
            </a:r>
            <a:r>
              <a:rPr sz="2400" spc="277" baseline="2430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8</a:t>
            </a:r>
            <a:r>
              <a:rPr sz="2400" spc="-10" dirty="0">
                <a:latin typeface="Calibri"/>
                <a:cs typeface="Calibri"/>
              </a:rPr>
              <a:t> </a:t>
            </a:r>
            <a:r>
              <a:rPr sz="2400" spc="-5" dirty="0">
                <a:latin typeface="Calibri"/>
                <a:cs typeface="Calibri"/>
              </a:rPr>
              <a:t>nodes.</a:t>
            </a:r>
            <a:endParaRPr sz="2400" dirty="0">
              <a:latin typeface="Calibri"/>
              <a:cs typeface="Calibri"/>
            </a:endParaRP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4937760" cy="635000"/>
          </a:xfrm>
          <a:prstGeom prst="rect">
            <a:avLst/>
          </a:prstGeom>
        </p:spPr>
        <p:txBody>
          <a:bodyPr vert="horz" wrap="square" lIns="0" tIns="12065" rIns="0" bIns="0" rtlCol="0">
            <a:spAutoFit/>
          </a:bodyPr>
          <a:lstStyle/>
          <a:p>
            <a:pPr marL="12700">
              <a:lnSpc>
                <a:spcPct val="100000"/>
              </a:lnSpc>
              <a:spcBef>
                <a:spcPts val="95"/>
              </a:spcBef>
            </a:pPr>
            <a:r>
              <a:rPr spc="-5" dirty="0"/>
              <a:t>Complete Binary</a:t>
            </a:r>
            <a:r>
              <a:rPr spc="-10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pic>
        <p:nvPicPr>
          <p:cNvPr id="4" name="object 4"/>
          <p:cNvPicPr/>
          <p:nvPr/>
        </p:nvPicPr>
        <p:blipFill>
          <a:blip r:embed="rId2" cstate="print"/>
          <a:stretch>
            <a:fillRect/>
          </a:stretch>
        </p:blipFill>
        <p:spPr>
          <a:xfrm>
            <a:off x="1979676" y="1738883"/>
            <a:ext cx="7555992" cy="4245864"/>
          </a:xfrm>
          <a:prstGeom prst="rect">
            <a:avLst/>
          </a:prstGeom>
        </p:spPr>
      </p:pic>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4570095" cy="635000"/>
          </a:xfrm>
          <a:prstGeom prst="rect">
            <a:avLst/>
          </a:prstGeom>
        </p:spPr>
        <p:txBody>
          <a:bodyPr vert="horz" wrap="square" lIns="0" tIns="12065" rIns="0" bIns="0" rtlCol="0">
            <a:spAutoFit/>
          </a:bodyPr>
          <a:lstStyle/>
          <a:p>
            <a:pPr marL="12700">
              <a:lnSpc>
                <a:spcPct val="100000"/>
              </a:lnSpc>
              <a:spcBef>
                <a:spcPts val="95"/>
              </a:spcBef>
            </a:pPr>
            <a:r>
              <a:rPr spc="-5" dirty="0"/>
              <a:t>Skewed</a:t>
            </a:r>
            <a:r>
              <a:rPr spc="-35" dirty="0"/>
              <a:t> </a:t>
            </a:r>
            <a:r>
              <a:rPr spc="-5" dirty="0"/>
              <a:t>Binary</a:t>
            </a:r>
            <a:r>
              <a:rPr spc="-8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p:nvPr/>
        </p:nvSpPr>
        <p:spPr>
          <a:xfrm>
            <a:off x="484631" y="3861815"/>
            <a:ext cx="1905" cy="169545"/>
          </a:xfrm>
          <a:custGeom>
            <a:avLst/>
            <a:gdLst/>
            <a:ahLst/>
            <a:cxnLst/>
            <a:rect l="l" t="t" r="r" b="b"/>
            <a:pathLst>
              <a:path w="1904" h="169545">
                <a:moveTo>
                  <a:pt x="1523" y="0"/>
                </a:moveTo>
                <a:lnTo>
                  <a:pt x="0" y="0"/>
                </a:lnTo>
                <a:lnTo>
                  <a:pt x="0" y="169163"/>
                </a:lnTo>
                <a:lnTo>
                  <a:pt x="1523" y="169163"/>
                </a:lnTo>
                <a:lnTo>
                  <a:pt x="1523" y="0"/>
                </a:lnTo>
                <a:close/>
              </a:path>
            </a:pathLst>
          </a:custGeom>
          <a:solidFill>
            <a:srgbClr val="FFFFFF"/>
          </a:solidFill>
        </p:spPr>
        <p:txBody>
          <a:bodyPr wrap="square" lIns="0" tIns="0" rIns="0" bIns="0" rtlCol="0"/>
          <a:lstStyle/>
          <a:p>
            <a:endParaRPr/>
          </a:p>
        </p:txBody>
      </p:sp>
      <p:sp>
        <p:nvSpPr>
          <p:cNvPr id="5" name="object 5"/>
          <p:cNvSpPr txBox="1"/>
          <p:nvPr/>
        </p:nvSpPr>
        <p:spPr>
          <a:xfrm>
            <a:off x="1374394" y="1499997"/>
            <a:ext cx="9578975" cy="3326552"/>
          </a:xfrm>
          <a:prstGeom prst="rect">
            <a:avLst/>
          </a:prstGeom>
        </p:spPr>
        <p:txBody>
          <a:bodyPr vert="horz" wrap="square" lIns="0" tIns="12700" rIns="0" bIns="0" rtlCol="0">
            <a:spAutoFit/>
          </a:bodyPr>
          <a:lstStyle/>
          <a:p>
            <a:pPr marL="355600" marR="5080" indent="-342900">
              <a:lnSpc>
                <a:spcPct val="150000"/>
              </a:lnSpc>
              <a:spcBef>
                <a:spcPts val="100"/>
              </a:spcBef>
              <a:buFont typeface="Wingdings"/>
              <a:buChar char=""/>
              <a:tabLst>
                <a:tab pos="355600" algn="l"/>
              </a:tabLst>
            </a:pPr>
            <a:r>
              <a:rPr sz="2400" dirty="0">
                <a:latin typeface="Calibri"/>
                <a:cs typeface="Calibri"/>
              </a:rPr>
              <a:t>If a </a:t>
            </a:r>
            <a:r>
              <a:rPr sz="2400" spc="-10" dirty="0">
                <a:latin typeface="Calibri"/>
                <a:cs typeface="Calibri"/>
              </a:rPr>
              <a:t>tree </a:t>
            </a:r>
            <a:r>
              <a:rPr sz="2400" dirty="0">
                <a:latin typeface="Calibri"/>
                <a:cs typeface="Calibri"/>
              </a:rPr>
              <a:t>which is </a:t>
            </a:r>
            <a:r>
              <a:rPr sz="2400" spc="-10" dirty="0">
                <a:latin typeface="Calibri"/>
                <a:cs typeface="Calibri"/>
              </a:rPr>
              <a:t>dominated by left </a:t>
            </a:r>
            <a:r>
              <a:rPr sz="2400" dirty="0">
                <a:latin typeface="Calibri"/>
                <a:cs typeface="Calibri"/>
              </a:rPr>
              <a:t>child </a:t>
            </a:r>
            <a:r>
              <a:rPr sz="2400" spc="-5" dirty="0">
                <a:latin typeface="Calibri"/>
                <a:cs typeface="Calibri"/>
              </a:rPr>
              <a:t>node or </a:t>
            </a:r>
            <a:r>
              <a:rPr sz="2400" spc="-10" dirty="0">
                <a:latin typeface="Calibri"/>
                <a:cs typeface="Calibri"/>
              </a:rPr>
              <a:t>right </a:t>
            </a:r>
            <a:r>
              <a:rPr sz="2400" dirty="0">
                <a:latin typeface="Calibri"/>
                <a:cs typeface="Calibri"/>
              </a:rPr>
              <a:t>child </a:t>
            </a:r>
            <a:r>
              <a:rPr sz="2400" spc="-5" dirty="0">
                <a:latin typeface="Calibri"/>
                <a:cs typeface="Calibri"/>
              </a:rPr>
              <a:t>node, </a:t>
            </a:r>
            <a:r>
              <a:rPr sz="2400" dirty="0">
                <a:latin typeface="Calibri"/>
                <a:cs typeface="Calibri"/>
              </a:rPr>
              <a:t>is </a:t>
            </a:r>
            <a:r>
              <a:rPr sz="2400" spc="-5" dirty="0">
                <a:latin typeface="Calibri"/>
                <a:cs typeface="Calibri"/>
              </a:rPr>
              <a:t>said </a:t>
            </a:r>
            <a:r>
              <a:rPr sz="2400" spc="-15" dirty="0">
                <a:latin typeface="Calibri"/>
                <a:cs typeface="Calibri"/>
              </a:rPr>
              <a:t>to </a:t>
            </a:r>
            <a:r>
              <a:rPr sz="2400" spc="-530" dirty="0">
                <a:latin typeface="Calibri"/>
                <a:cs typeface="Calibri"/>
              </a:rPr>
              <a:t> </a:t>
            </a:r>
            <a:r>
              <a:rPr sz="2400" spc="-5" dirty="0">
                <a:latin typeface="Calibri"/>
                <a:cs typeface="Calibri"/>
              </a:rPr>
              <a:t>be</a:t>
            </a:r>
            <a:r>
              <a:rPr sz="2400" spc="-10" dirty="0">
                <a:latin typeface="Calibri"/>
                <a:cs typeface="Calibri"/>
              </a:rPr>
              <a:t> </a:t>
            </a:r>
            <a:r>
              <a:rPr sz="2400" dirty="0">
                <a:latin typeface="Calibri"/>
                <a:cs typeface="Calibri"/>
              </a:rPr>
              <a:t>a</a:t>
            </a:r>
            <a:r>
              <a:rPr sz="2400" spc="5" dirty="0">
                <a:latin typeface="Calibri"/>
                <a:cs typeface="Calibri"/>
              </a:rPr>
              <a:t> </a:t>
            </a:r>
            <a:r>
              <a:rPr sz="2400" b="1" spc="-20" dirty="0">
                <a:latin typeface="Calibri"/>
                <a:cs typeface="Calibri"/>
              </a:rPr>
              <a:t>Skewed </a:t>
            </a:r>
            <a:r>
              <a:rPr sz="2400" b="1" dirty="0">
                <a:latin typeface="Calibri"/>
                <a:cs typeface="Calibri"/>
              </a:rPr>
              <a:t>Binary </a:t>
            </a:r>
            <a:r>
              <a:rPr sz="2400" b="1" spc="-30" dirty="0">
                <a:latin typeface="Calibri"/>
                <a:cs typeface="Calibri"/>
              </a:rPr>
              <a:t>Tree</a:t>
            </a:r>
            <a:r>
              <a:rPr sz="2400" spc="-30" dirty="0">
                <a:latin typeface="Calibri"/>
                <a:cs typeface="Calibri"/>
              </a:rPr>
              <a:t>.</a:t>
            </a:r>
            <a:endParaRPr sz="2400" dirty="0">
              <a:latin typeface="Calibri"/>
              <a:cs typeface="Calibri"/>
            </a:endParaRPr>
          </a:p>
          <a:p>
            <a:pPr marL="355600" marR="998855" indent="-342900">
              <a:lnSpc>
                <a:spcPct val="150000"/>
              </a:lnSpc>
              <a:spcBef>
                <a:spcPts val="5"/>
              </a:spcBef>
              <a:buFont typeface="Wingdings"/>
              <a:buChar char=""/>
              <a:tabLst>
                <a:tab pos="355600" algn="l"/>
              </a:tabLst>
            </a:pPr>
            <a:r>
              <a:rPr sz="2400" dirty="0">
                <a:latin typeface="Calibri"/>
                <a:cs typeface="Calibri"/>
              </a:rPr>
              <a:t>In a </a:t>
            </a:r>
            <a:r>
              <a:rPr sz="2400" spc="-10" dirty="0">
                <a:latin typeface="Calibri"/>
                <a:cs typeface="Calibri"/>
              </a:rPr>
              <a:t>left </a:t>
            </a:r>
            <a:r>
              <a:rPr sz="2400" spc="-20" dirty="0">
                <a:latin typeface="Calibri"/>
                <a:cs typeface="Calibri"/>
              </a:rPr>
              <a:t>skewed </a:t>
            </a:r>
            <a:r>
              <a:rPr sz="2400" spc="-10" dirty="0">
                <a:latin typeface="Calibri"/>
                <a:cs typeface="Calibri"/>
              </a:rPr>
              <a:t>tree, most </a:t>
            </a:r>
            <a:r>
              <a:rPr sz="2400" spc="-5" dirty="0">
                <a:latin typeface="Calibri"/>
                <a:cs typeface="Calibri"/>
              </a:rPr>
              <a:t>of </a:t>
            </a:r>
            <a:r>
              <a:rPr sz="2400" dirty="0">
                <a:latin typeface="Calibri"/>
                <a:cs typeface="Calibri"/>
              </a:rPr>
              <a:t>the </a:t>
            </a:r>
            <a:r>
              <a:rPr sz="2400" spc="-5" dirty="0">
                <a:latin typeface="Calibri"/>
                <a:cs typeface="Calibri"/>
              </a:rPr>
              <a:t>nodes </a:t>
            </a:r>
            <a:r>
              <a:rPr sz="2400" spc="-20" dirty="0">
                <a:latin typeface="Calibri"/>
                <a:cs typeface="Calibri"/>
              </a:rPr>
              <a:t>have </a:t>
            </a:r>
            <a:r>
              <a:rPr sz="2400" dirty="0">
                <a:latin typeface="Calibri"/>
                <a:cs typeface="Calibri"/>
              </a:rPr>
              <a:t>the </a:t>
            </a:r>
            <a:r>
              <a:rPr sz="2400" spc="-10" dirty="0">
                <a:latin typeface="Calibri"/>
                <a:cs typeface="Calibri"/>
              </a:rPr>
              <a:t>left </a:t>
            </a:r>
            <a:r>
              <a:rPr sz="2400" dirty="0">
                <a:latin typeface="Calibri"/>
                <a:cs typeface="Calibri"/>
              </a:rPr>
              <a:t>child without </a:t>
            </a:r>
            <a:r>
              <a:rPr sz="2400" spc="-530" dirty="0">
                <a:latin typeface="Calibri"/>
                <a:cs typeface="Calibri"/>
              </a:rPr>
              <a:t> </a:t>
            </a:r>
            <a:r>
              <a:rPr sz="2400" spc="-10" dirty="0">
                <a:latin typeface="Calibri"/>
                <a:cs typeface="Calibri"/>
              </a:rPr>
              <a:t>corresponding</a:t>
            </a:r>
            <a:r>
              <a:rPr sz="2400" spc="-15" dirty="0">
                <a:latin typeface="Calibri"/>
                <a:cs typeface="Calibri"/>
              </a:rPr>
              <a:t> </a:t>
            </a:r>
            <a:r>
              <a:rPr sz="2400" spc="-5" dirty="0">
                <a:latin typeface="Calibri"/>
                <a:cs typeface="Calibri"/>
              </a:rPr>
              <a:t>right</a:t>
            </a:r>
            <a:r>
              <a:rPr sz="2400" dirty="0">
                <a:latin typeface="Calibri"/>
                <a:cs typeface="Calibri"/>
              </a:rPr>
              <a:t> child.</a:t>
            </a:r>
          </a:p>
          <a:p>
            <a:pPr marL="355600" indent="-342900">
              <a:lnSpc>
                <a:spcPct val="100000"/>
              </a:lnSpc>
              <a:spcBef>
                <a:spcPts val="1440"/>
              </a:spcBef>
              <a:buFont typeface="Wingdings"/>
              <a:buChar char=""/>
              <a:tabLst>
                <a:tab pos="355600" algn="l"/>
                <a:tab pos="2583815" algn="l"/>
              </a:tabLst>
            </a:pPr>
            <a:r>
              <a:rPr sz="2400" dirty="0">
                <a:latin typeface="Calibri"/>
                <a:cs typeface="Calibri"/>
              </a:rPr>
              <a:t>In</a:t>
            </a:r>
            <a:r>
              <a:rPr sz="2400" spc="-5"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right</a:t>
            </a:r>
            <a:r>
              <a:rPr sz="2400" spc="-15" dirty="0">
                <a:latin typeface="Calibri"/>
                <a:cs typeface="Calibri"/>
              </a:rPr>
              <a:t> </a:t>
            </a:r>
            <a:r>
              <a:rPr sz="2400" spc="-20" dirty="0">
                <a:latin typeface="Calibri"/>
                <a:cs typeface="Calibri"/>
              </a:rPr>
              <a:t>skewed	</a:t>
            </a:r>
            <a:r>
              <a:rPr sz="2400" spc="-10" dirty="0">
                <a:latin typeface="Calibri"/>
                <a:cs typeface="Calibri"/>
              </a:rPr>
              <a:t>tree,</a:t>
            </a:r>
            <a:r>
              <a:rPr sz="2400" dirty="0">
                <a:latin typeface="Calibri"/>
                <a:cs typeface="Calibri"/>
              </a:rPr>
              <a:t> </a:t>
            </a:r>
            <a:r>
              <a:rPr sz="2400" spc="-10" dirty="0">
                <a:latin typeface="Calibri"/>
                <a:cs typeface="Calibri"/>
              </a:rPr>
              <a:t>most</a:t>
            </a:r>
            <a:r>
              <a:rPr sz="2400" spc="-30" dirty="0">
                <a:latin typeface="Calibri"/>
                <a:cs typeface="Calibri"/>
              </a:rPr>
              <a:t> </a:t>
            </a:r>
            <a:r>
              <a:rPr sz="2400" spc="-5" dirty="0">
                <a:latin typeface="Calibri"/>
                <a:cs typeface="Calibri"/>
              </a:rPr>
              <a:t>of</a:t>
            </a:r>
            <a:r>
              <a:rPr sz="2400" dirty="0">
                <a:latin typeface="Calibri"/>
                <a:cs typeface="Calibri"/>
              </a:rPr>
              <a:t> the </a:t>
            </a:r>
            <a:r>
              <a:rPr sz="2400" spc="-5" dirty="0">
                <a:latin typeface="Calibri"/>
                <a:cs typeface="Calibri"/>
              </a:rPr>
              <a:t>nodes</a:t>
            </a:r>
            <a:r>
              <a:rPr sz="2400" dirty="0">
                <a:latin typeface="Calibri"/>
                <a:cs typeface="Calibri"/>
              </a:rPr>
              <a:t> </a:t>
            </a:r>
            <a:r>
              <a:rPr sz="2400" spc="-20" dirty="0">
                <a:latin typeface="Calibri"/>
                <a:cs typeface="Calibri"/>
              </a:rPr>
              <a:t>have</a:t>
            </a:r>
            <a:r>
              <a:rPr sz="2400" dirty="0">
                <a:latin typeface="Calibri"/>
                <a:cs typeface="Calibri"/>
              </a:rPr>
              <a:t> the </a:t>
            </a:r>
            <a:r>
              <a:rPr sz="2400" spc="-10" dirty="0">
                <a:latin typeface="Calibri"/>
                <a:cs typeface="Calibri"/>
              </a:rPr>
              <a:t>right</a:t>
            </a:r>
            <a:r>
              <a:rPr sz="2400" spc="-15" dirty="0">
                <a:latin typeface="Calibri"/>
                <a:cs typeface="Calibri"/>
              </a:rPr>
              <a:t> </a:t>
            </a:r>
            <a:r>
              <a:rPr sz="2400" dirty="0">
                <a:latin typeface="Calibri"/>
                <a:cs typeface="Calibri"/>
              </a:rPr>
              <a:t>child</a:t>
            </a:r>
            <a:r>
              <a:rPr sz="2400" spc="-15" dirty="0">
                <a:latin typeface="Calibri"/>
                <a:cs typeface="Calibri"/>
              </a:rPr>
              <a:t> </a:t>
            </a:r>
            <a:r>
              <a:rPr sz="2400" spc="-5" dirty="0">
                <a:latin typeface="Calibri"/>
                <a:cs typeface="Calibri"/>
              </a:rPr>
              <a:t>without</a:t>
            </a:r>
            <a:endParaRPr sz="2400" dirty="0">
              <a:latin typeface="Calibri"/>
              <a:cs typeface="Calibri"/>
            </a:endParaRPr>
          </a:p>
          <a:p>
            <a:pPr marL="355600">
              <a:lnSpc>
                <a:spcPct val="100000"/>
              </a:lnSpc>
              <a:spcBef>
                <a:spcPts val="1440"/>
              </a:spcBef>
            </a:pPr>
            <a:r>
              <a:rPr sz="2400" spc="-10" dirty="0">
                <a:latin typeface="Calibri"/>
                <a:cs typeface="Calibri"/>
              </a:rPr>
              <a:t>corresponding</a:t>
            </a:r>
            <a:r>
              <a:rPr sz="2400" spc="-15" dirty="0">
                <a:latin typeface="Calibri"/>
                <a:cs typeface="Calibri"/>
              </a:rPr>
              <a:t> </a:t>
            </a:r>
            <a:r>
              <a:rPr sz="2400" spc="-10" dirty="0">
                <a:latin typeface="Calibri"/>
                <a:cs typeface="Calibri"/>
              </a:rPr>
              <a:t>left </a:t>
            </a:r>
            <a:r>
              <a:rPr sz="2400" spc="-5" dirty="0">
                <a:latin typeface="Calibri"/>
                <a:cs typeface="Calibri"/>
              </a:rPr>
              <a:t>child.</a:t>
            </a:r>
            <a:endParaRPr sz="2400" dirty="0">
              <a:latin typeface="Calibri"/>
              <a:cs typeface="Calibri"/>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4570095" cy="635000"/>
          </a:xfrm>
          <a:prstGeom prst="rect">
            <a:avLst/>
          </a:prstGeom>
        </p:spPr>
        <p:txBody>
          <a:bodyPr vert="horz" wrap="square" lIns="0" tIns="12065" rIns="0" bIns="0" rtlCol="0">
            <a:spAutoFit/>
          </a:bodyPr>
          <a:lstStyle/>
          <a:p>
            <a:pPr marL="12700">
              <a:lnSpc>
                <a:spcPct val="100000"/>
              </a:lnSpc>
              <a:spcBef>
                <a:spcPts val="95"/>
              </a:spcBef>
            </a:pPr>
            <a:r>
              <a:rPr spc="-5" dirty="0"/>
              <a:t>Skewed</a:t>
            </a:r>
            <a:r>
              <a:rPr spc="-35" dirty="0"/>
              <a:t> </a:t>
            </a:r>
            <a:r>
              <a:rPr spc="-5" dirty="0"/>
              <a:t>Binary</a:t>
            </a:r>
            <a:r>
              <a:rPr spc="-8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p:nvPr/>
        </p:nvSpPr>
        <p:spPr>
          <a:xfrm>
            <a:off x="484631" y="3861815"/>
            <a:ext cx="1905" cy="169545"/>
          </a:xfrm>
          <a:custGeom>
            <a:avLst/>
            <a:gdLst/>
            <a:ahLst/>
            <a:cxnLst/>
            <a:rect l="l" t="t" r="r" b="b"/>
            <a:pathLst>
              <a:path w="1904" h="169545">
                <a:moveTo>
                  <a:pt x="1523" y="0"/>
                </a:moveTo>
                <a:lnTo>
                  <a:pt x="0" y="0"/>
                </a:lnTo>
                <a:lnTo>
                  <a:pt x="0" y="169163"/>
                </a:lnTo>
                <a:lnTo>
                  <a:pt x="1523" y="169163"/>
                </a:lnTo>
                <a:lnTo>
                  <a:pt x="1523" y="0"/>
                </a:lnTo>
                <a:close/>
              </a:path>
            </a:pathLst>
          </a:custGeom>
          <a:solidFill>
            <a:srgbClr val="FFFFFF"/>
          </a:solidFill>
        </p:spPr>
        <p:txBody>
          <a:bodyPr wrap="square" lIns="0" tIns="0" rIns="0" bIns="0" rtlCol="0"/>
          <a:lstStyle/>
          <a:p>
            <a:endParaRPr/>
          </a:p>
        </p:txBody>
      </p:sp>
      <p:pic>
        <p:nvPicPr>
          <p:cNvPr id="5" name="object 5"/>
          <p:cNvPicPr/>
          <p:nvPr/>
        </p:nvPicPr>
        <p:blipFill>
          <a:blip r:embed="rId2" cstate="print"/>
          <a:stretch>
            <a:fillRect/>
          </a:stretch>
        </p:blipFill>
        <p:spPr>
          <a:xfrm>
            <a:off x="2144267" y="1865376"/>
            <a:ext cx="7315200" cy="3992879"/>
          </a:xfrm>
          <a:prstGeom prst="rect">
            <a:avLst/>
          </a:prstGeom>
        </p:spPr>
      </p:pic>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0335" y="4027932"/>
            <a:ext cx="4901183" cy="2380488"/>
          </a:xfrm>
          <a:prstGeom prst="rect">
            <a:avLst/>
          </a:prstGeom>
        </p:spPr>
      </p:pic>
      <p:sp>
        <p:nvSpPr>
          <p:cNvPr id="3" name="object 3"/>
          <p:cNvSpPr txBox="1">
            <a:spLocks noGrp="1"/>
          </p:cNvSpPr>
          <p:nvPr>
            <p:ph type="title"/>
          </p:nvPr>
        </p:nvSpPr>
        <p:spPr>
          <a:xfrm>
            <a:off x="1298194" y="565861"/>
            <a:ext cx="4371975" cy="635000"/>
          </a:xfrm>
          <a:prstGeom prst="rect">
            <a:avLst/>
          </a:prstGeom>
        </p:spPr>
        <p:txBody>
          <a:bodyPr vert="horz" wrap="square" lIns="0" tIns="12065" rIns="0" bIns="0" rtlCol="0">
            <a:spAutoFit/>
          </a:bodyPr>
          <a:lstStyle/>
          <a:p>
            <a:pPr marL="12700">
              <a:lnSpc>
                <a:spcPct val="100000"/>
              </a:lnSpc>
              <a:spcBef>
                <a:spcPts val="95"/>
              </a:spcBef>
            </a:pPr>
            <a:r>
              <a:rPr spc="-5" dirty="0"/>
              <a:t>Binary</a:t>
            </a:r>
            <a:r>
              <a:rPr spc="-25" dirty="0"/>
              <a:t> </a:t>
            </a:r>
            <a:r>
              <a:rPr spc="-5" dirty="0"/>
              <a:t>Search</a:t>
            </a:r>
            <a:r>
              <a:rPr spc="-105" dirty="0"/>
              <a:t> </a:t>
            </a:r>
            <a:r>
              <a:rPr spc="-40" dirty="0"/>
              <a:t>Tree</a:t>
            </a:r>
          </a:p>
        </p:txBody>
      </p:sp>
      <p:sp>
        <p:nvSpPr>
          <p:cNvPr id="4" name="object 4"/>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5" name="object 5"/>
          <p:cNvSpPr txBox="1"/>
          <p:nvPr/>
        </p:nvSpPr>
        <p:spPr>
          <a:xfrm>
            <a:off x="1298194" y="1461241"/>
            <a:ext cx="9888220" cy="2769235"/>
          </a:xfrm>
          <a:prstGeom prst="rect">
            <a:avLst/>
          </a:prstGeom>
        </p:spPr>
        <p:txBody>
          <a:bodyPr vert="horz" wrap="square" lIns="0" tIns="12065" rIns="0" bIns="0" rtlCol="0">
            <a:spAutoFit/>
          </a:bodyPr>
          <a:lstStyle/>
          <a:p>
            <a:pPr marL="355600" marR="5080" indent="-342900">
              <a:lnSpc>
                <a:spcPct val="150000"/>
              </a:lnSpc>
              <a:spcBef>
                <a:spcPts val="95"/>
              </a:spcBef>
              <a:buFont typeface="Wingdings"/>
              <a:buChar char=""/>
              <a:tabLst>
                <a:tab pos="355600" algn="l"/>
              </a:tabLst>
            </a:pPr>
            <a:r>
              <a:rPr sz="2400" b="1" dirty="0">
                <a:latin typeface="Calibri"/>
                <a:cs typeface="Calibri"/>
              </a:rPr>
              <a:t>Binary </a:t>
            </a:r>
            <a:r>
              <a:rPr sz="2400" b="1" spc="-10" dirty="0">
                <a:latin typeface="Calibri"/>
                <a:cs typeface="Calibri"/>
              </a:rPr>
              <a:t>Search </a:t>
            </a:r>
            <a:r>
              <a:rPr sz="2400" b="1" spc="-40" dirty="0">
                <a:latin typeface="Calibri"/>
                <a:cs typeface="Calibri"/>
              </a:rPr>
              <a:t>Tree </a:t>
            </a:r>
            <a:r>
              <a:rPr sz="2400" dirty="0">
                <a:latin typeface="Calibri"/>
                <a:cs typeface="Calibri"/>
              </a:rPr>
              <a:t>is a </a:t>
            </a:r>
            <a:r>
              <a:rPr sz="2400" spc="-10" dirty="0">
                <a:latin typeface="Calibri"/>
                <a:cs typeface="Calibri"/>
              </a:rPr>
              <a:t>tree </a:t>
            </a:r>
            <a:r>
              <a:rPr sz="2400" dirty="0">
                <a:latin typeface="Calibri"/>
                <a:cs typeface="Calibri"/>
              </a:rPr>
              <a:t>in which </a:t>
            </a:r>
            <a:r>
              <a:rPr sz="2400" spc="-5" dirty="0">
                <a:latin typeface="Calibri"/>
                <a:cs typeface="Calibri"/>
              </a:rPr>
              <a:t>nodes </a:t>
            </a:r>
            <a:r>
              <a:rPr sz="2400" spc="-10" dirty="0">
                <a:latin typeface="Calibri"/>
                <a:cs typeface="Calibri"/>
              </a:rPr>
              <a:t>are arranged </a:t>
            </a:r>
            <a:r>
              <a:rPr sz="2400" spc="-5" dirty="0">
                <a:latin typeface="Calibri"/>
                <a:cs typeface="Calibri"/>
              </a:rPr>
              <a:t>such </a:t>
            </a:r>
            <a:r>
              <a:rPr sz="2400" spc="-10" dirty="0">
                <a:latin typeface="Calibri"/>
                <a:cs typeface="Calibri"/>
              </a:rPr>
              <a:t>that </a:t>
            </a:r>
            <a:r>
              <a:rPr sz="2400" dirty="0">
                <a:latin typeface="Calibri"/>
                <a:cs typeface="Calibri"/>
              </a:rPr>
              <a:t>all the </a:t>
            </a:r>
            <a:r>
              <a:rPr sz="2400" spc="5" dirty="0">
                <a:latin typeface="Calibri"/>
                <a:cs typeface="Calibri"/>
              </a:rPr>
              <a:t> </a:t>
            </a:r>
            <a:r>
              <a:rPr sz="2400" spc="-5" dirty="0">
                <a:latin typeface="Calibri"/>
                <a:cs typeface="Calibri"/>
              </a:rPr>
              <a:t>nodes </a:t>
            </a:r>
            <a:r>
              <a:rPr sz="2400" dirty="0">
                <a:latin typeface="Calibri"/>
                <a:cs typeface="Calibri"/>
              </a:rPr>
              <a:t>in</a:t>
            </a:r>
            <a:r>
              <a:rPr sz="2400" spc="-15" dirty="0">
                <a:latin typeface="Calibri"/>
                <a:cs typeface="Calibri"/>
              </a:rPr>
              <a:t> </a:t>
            </a:r>
            <a:r>
              <a:rPr sz="2400" dirty="0">
                <a:latin typeface="Calibri"/>
                <a:cs typeface="Calibri"/>
              </a:rPr>
              <a:t>a </a:t>
            </a:r>
            <a:r>
              <a:rPr sz="2400" spc="-10" dirty="0">
                <a:latin typeface="Calibri"/>
                <a:cs typeface="Calibri"/>
              </a:rPr>
              <a:t>left</a:t>
            </a:r>
            <a:r>
              <a:rPr sz="2400" spc="-5" dirty="0">
                <a:latin typeface="Calibri"/>
                <a:cs typeface="Calibri"/>
              </a:rPr>
              <a:t> sub </a:t>
            </a:r>
            <a:r>
              <a:rPr sz="2400" spc="-15" dirty="0">
                <a:latin typeface="Calibri"/>
                <a:cs typeface="Calibri"/>
              </a:rPr>
              <a:t>tree</a:t>
            </a:r>
            <a:r>
              <a:rPr sz="2400" spc="5" dirty="0">
                <a:latin typeface="Calibri"/>
                <a:cs typeface="Calibri"/>
              </a:rPr>
              <a:t> </a:t>
            </a:r>
            <a:r>
              <a:rPr sz="2400" spc="-10" dirty="0">
                <a:latin typeface="Calibri"/>
                <a:cs typeface="Calibri"/>
              </a:rPr>
              <a:t>having</a:t>
            </a:r>
            <a:r>
              <a:rPr sz="2400" dirty="0">
                <a:latin typeface="Calibri"/>
                <a:cs typeface="Calibri"/>
              </a:rPr>
              <a:t> </a:t>
            </a:r>
            <a:r>
              <a:rPr sz="2400" spc="-10" dirty="0">
                <a:latin typeface="Calibri"/>
                <a:cs typeface="Calibri"/>
              </a:rPr>
              <a:t>values</a:t>
            </a:r>
            <a:r>
              <a:rPr sz="2400" dirty="0">
                <a:latin typeface="Calibri"/>
                <a:cs typeface="Calibri"/>
              </a:rPr>
              <a:t> less</a:t>
            </a:r>
            <a:r>
              <a:rPr sz="2400" spc="-10" dirty="0">
                <a:latin typeface="Calibri"/>
                <a:cs typeface="Calibri"/>
              </a:rPr>
              <a:t> </a:t>
            </a:r>
            <a:r>
              <a:rPr sz="2400" dirty="0">
                <a:latin typeface="Calibri"/>
                <a:cs typeface="Calibri"/>
              </a:rPr>
              <a:t>then </a:t>
            </a:r>
            <a:r>
              <a:rPr sz="2400" spc="-15" dirty="0">
                <a:latin typeface="Calibri"/>
                <a:cs typeface="Calibri"/>
              </a:rPr>
              <a:t>root</a:t>
            </a:r>
            <a:r>
              <a:rPr sz="2400" dirty="0">
                <a:latin typeface="Calibri"/>
                <a:cs typeface="Calibri"/>
              </a:rPr>
              <a:t> </a:t>
            </a:r>
            <a:r>
              <a:rPr sz="2400" spc="-5" dirty="0">
                <a:latin typeface="Calibri"/>
                <a:cs typeface="Calibri"/>
              </a:rPr>
              <a:t>node </a:t>
            </a:r>
            <a:r>
              <a:rPr sz="2400" dirty="0">
                <a:latin typeface="Calibri"/>
                <a:cs typeface="Calibri"/>
              </a:rPr>
              <a:t>and all</a:t>
            </a:r>
            <a:r>
              <a:rPr sz="2400" spc="-20" dirty="0">
                <a:latin typeface="Calibri"/>
                <a:cs typeface="Calibri"/>
              </a:rPr>
              <a:t> </a:t>
            </a:r>
            <a:r>
              <a:rPr sz="2400" dirty="0">
                <a:latin typeface="Calibri"/>
                <a:cs typeface="Calibri"/>
              </a:rPr>
              <a:t>the </a:t>
            </a:r>
            <a:r>
              <a:rPr sz="2400" spc="-5" dirty="0">
                <a:latin typeface="Calibri"/>
                <a:cs typeface="Calibri"/>
              </a:rPr>
              <a:t>nodes</a:t>
            </a:r>
            <a:r>
              <a:rPr sz="2400" dirty="0">
                <a:latin typeface="Calibri"/>
                <a:cs typeface="Calibri"/>
              </a:rPr>
              <a:t> in </a:t>
            </a:r>
            <a:r>
              <a:rPr sz="2400" spc="-530" dirty="0">
                <a:latin typeface="Calibri"/>
                <a:cs typeface="Calibri"/>
              </a:rPr>
              <a:t> </a:t>
            </a:r>
            <a:r>
              <a:rPr sz="2400" dirty="0">
                <a:latin typeface="Calibri"/>
                <a:cs typeface="Calibri"/>
              </a:rPr>
              <a:t>a</a:t>
            </a:r>
            <a:r>
              <a:rPr sz="2400" spc="-10" dirty="0">
                <a:latin typeface="Calibri"/>
                <a:cs typeface="Calibri"/>
              </a:rPr>
              <a:t> </a:t>
            </a:r>
            <a:r>
              <a:rPr sz="2400" spc="-5" dirty="0">
                <a:latin typeface="Calibri"/>
                <a:cs typeface="Calibri"/>
              </a:rPr>
              <a:t>right</a:t>
            </a:r>
            <a:r>
              <a:rPr sz="2400" spc="-15" dirty="0">
                <a:latin typeface="Calibri"/>
                <a:cs typeface="Calibri"/>
              </a:rPr>
              <a:t> </a:t>
            </a:r>
            <a:r>
              <a:rPr sz="2400" spc="-5" dirty="0">
                <a:latin typeface="Calibri"/>
                <a:cs typeface="Calibri"/>
              </a:rPr>
              <a:t>sub </a:t>
            </a:r>
            <a:r>
              <a:rPr sz="2400" spc="-10" dirty="0">
                <a:latin typeface="Calibri"/>
                <a:cs typeface="Calibri"/>
              </a:rPr>
              <a:t>tree</a:t>
            </a:r>
            <a:r>
              <a:rPr sz="2400" spc="5" dirty="0">
                <a:latin typeface="Calibri"/>
                <a:cs typeface="Calibri"/>
              </a:rPr>
              <a:t> </a:t>
            </a:r>
            <a:r>
              <a:rPr sz="2400" spc="-10" dirty="0">
                <a:latin typeface="Calibri"/>
                <a:cs typeface="Calibri"/>
              </a:rPr>
              <a:t>having values</a:t>
            </a:r>
            <a:r>
              <a:rPr sz="2400" spc="-5" dirty="0">
                <a:latin typeface="Calibri"/>
                <a:cs typeface="Calibri"/>
              </a:rPr>
              <a:t> </a:t>
            </a:r>
            <a:r>
              <a:rPr sz="2400" spc="-15" dirty="0">
                <a:latin typeface="Calibri"/>
                <a:cs typeface="Calibri"/>
              </a:rPr>
              <a:t>greater</a:t>
            </a:r>
            <a:r>
              <a:rPr sz="2400" spc="-10" dirty="0">
                <a:latin typeface="Calibri"/>
                <a:cs typeface="Calibri"/>
              </a:rPr>
              <a:t> </a:t>
            </a:r>
            <a:r>
              <a:rPr sz="2400" dirty="0">
                <a:latin typeface="Calibri"/>
                <a:cs typeface="Calibri"/>
              </a:rPr>
              <a:t>then</a:t>
            </a:r>
            <a:r>
              <a:rPr sz="2400" spc="-5" dirty="0">
                <a:latin typeface="Calibri"/>
                <a:cs typeface="Calibri"/>
              </a:rPr>
              <a:t> </a:t>
            </a:r>
            <a:r>
              <a:rPr sz="2400" spc="-15" dirty="0">
                <a:latin typeface="Calibri"/>
                <a:cs typeface="Calibri"/>
              </a:rPr>
              <a:t>root </a:t>
            </a:r>
            <a:r>
              <a:rPr sz="2400" spc="-5" dirty="0">
                <a:latin typeface="Calibri"/>
                <a:cs typeface="Calibri"/>
              </a:rPr>
              <a:t>node.</a:t>
            </a:r>
            <a:endParaRPr sz="2400" dirty="0">
              <a:latin typeface="Calibri"/>
              <a:cs typeface="Calibri"/>
            </a:endParaRPr>
          </a:p>
          <a:p>
            <a:pPr marL="355600" marR="1405255" indent="-342900">
              <a:lnSpc>
                <a:spcPts val="4320"/>
              </a:lnSpc>
              <a:spcBef>
                <a:spcPts val="185"/>
              </a:spcBef>
              <a:buFont typeface="Wingdings"/>
              <a:buChar char=""/>
              <a:tabLst>
                <a:tab pos="355600" algn="l"/>
              </a:tabLst>
            </a:pPr>
            <a:r>
              <a:rPr sz="2400" spc="-5" dirty="0">
                <a:latin typeface="Calibri"/>
                <a:cs typeface="Calibri"/>
              </a:rPr>
              <a:t>Thus</a:t>
            </a:r>
            <a:r>
              <a:rPr lang="en-US" sz="2400" spc="-5" dirty="0">
                <a:latin typeface="Calibri"/>
                <a:cs typeface="Calibri"/>
              </a:rPr>
              <a:t>,</a:t>
            </a:r>
            <a:r>
              <a:rPr sz="2400" dirty="0">
                <a:latin typeface="Calibri"/>
                <a:cs typeface="Calibri"/>
              </a:rPr>
              <a:t> </a:t>
            </a:r>
            <a:r>
              <a:rPr sz="2400" spc="-15" dirty="0">
                <a:latin typeface="Calibri"/>
                <a:cs typeface="Calibri"/>
              </a:rPr>
              <a:t>we</a:t>
            </a:r>
            <a:r>
              <a:rPr sz="2400" spc="5" dirty="0">
                <a:latin typeface="Calibri"/>
                <a:cs typeface="Calibri"/>
              </a:rPr>
              <a:t> </a:t>
            </a:r>
            <a:r>
              <a:rPr sz="2400" spc="-10" dirty="0">
                <a:latin typeface="Calibri"/>
                <a:cs typeface="Calibri"/>
              </a:rPr>
              <a:t>can</a:t>
            </a:r>
            <a:r>
              <a:rPr sz="2400" dirty="0">
                <a:latin typeface="Calibri"/>
                <a:cs typeface="Calibri"/>
              </a:rPr>
              <a:t> </a:t>
            </a:r>
            <a:r>
              <a:rPr sz="2400" spc="-20" dirty="0">
                <a:latin typeface="Calibri"/>
                <a:cs typeface="Calibri"/>
              </a:rPr>
              <a:t>say</a:t>
            </a:r>
            <a:r>
              <a:rPr sz="2400" spc="-5" dirty="0">
                <a:latin typeface="Calibri"/>
                <a:cs typeface="Calibri"/>
              </a:rPr>
              <a:t> </a:t>
            </a:r>
            <a:r>
              <a:rPr sz="2400" spc="-10" dirty="0">
                <a:latin typeface="Calibri"/>
                <a:cs typeface="Calibri"/>
              </a:rPr>
              <a:t>that</a:t>
            </a:r>
            <a:r>
              <a:rPr sz="2400" spc="5" dirty="0">
                <a:latin typeface="Calibri"/>
                <a:cs typeface="Calibri"/>
              </a:rPr>
              <a:t> </a:t>
            </a:r>
            <a:r>
              <a:rPr sz="2400" dirty="0">
                <a:latin typeface="Calibri"/>
                <a:cs typeface="Calibri"/>
              </a:rPr>
              <a:t>Binary</a:t>
            </a:r>
            <a:r>
              <a:rPr sz="2400" spc="-20" dirty="0">
                <a:latin typeface="Calibri"/>
                <a:cs typeface="Calibri"/>
              </a:rPr>
              <a:t> </a:t>
            </a:r>
            <a:r>
              <a:rPr sz="2400" spc="-10" dirty="0">
                <a:latin typeface="Calibri"/>
                <a:cs typeface="Calibri"/>
              </a:rPr>
              <a:t>Search</a:t>
            </a:r>
            <a:r>
              <a:rPr sz="2400" spc="-5" dirty="0">
                <a:latin typeface="Calibri"/>
                <a:cs typeface="Calibri"/>
              </a:rPr>
              <a:t> </a:t>
            </a:r>
            <a:r>
              <a:rPr sz="2400" spc="-50" dirty="0">
                <a:latin typeface="Calibri"/>
                <a:cs typeface="Calibri"/>
              </a:rPr>
              <a:t>Tree</a:t>
            </a:r>
            <a:r>
              <a:rPr sz="2400" spc="10"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an</a:t>
            </a:r>
            <a:r>
              <a:rPr sz="2400" spc="-5" dirty="0">
                <a:latin typeface="Calibri"/>
                <a:cs typeface="Calibri"/>
              </a:rPr>
              <a:t> </a:t>
            </a:r>
            <a:r>
              <a:rPr sz="2400" spc="-15" dirty="0">
                <a:latin typeface="Calibri"/>
                <a:cs typeface="Calibri"/>
              </a:rPr>
              <a:t>ordered</a:t>
            </a:r>
            <a:r>
              <a:rPr sz="2400" dirty="0">
                <a:latin typeface="Calibri"/>
                <a:cs typeface="Calibri"/>
              </a:rPr>
              <a:t> </a:t>
            </a:r>
            <a:r>
              <a:rPr sz="2400" spc="-5" dirty="0">
                <a:latin typeface="Calibri"/>
                <a:cs typeface="Calibri"/>
              </a:rPr>
              <a:t>binary</a:t>
            </a:r>
            <a:r>
              <a:rPr sz="2400" spc="5" dirty="0">
                <a:latin typeface="Calibri"/>
                <a:cs typeface="Calibri"/>
              </a:rPr>
              <a:t> </a:t>
            </a:r>
            <a:r>
              <a:rPr sz="2400" spc="-10" dirty="0">
                <a:latin typeface="Calibri"/>
                <a:cs typeface="Calibri"/>
              </a:rPr>
              <a:t>tree. </a:t>
            </a:r>
            <a:r>
              <a:rPr sz="2400" spc="-525" dirty="0">
                <a:latin typeface="Calibri"/>
                <a:cs typeface="Calibri"/>
              </a:rPr>
              <a:t> </a:t>
            </a:r>
            <a:r>
              <a:rPr sz="2400" spc="-10" dirty="0">
                <a:latin typeface="Calibri"/>
                <a:cs typeface="Calibri"/>
              </a:rPr>
              <a:t>Following</a:t>
            </a:r>
            <a:r>
              <a:rPr sz="2400" spc="-25" dirty="0">
                <a:latin typeface="Calibri"/>
                <a:cs typeface="Calibri"/>
              </a:rPr>
              <a:t> </a:t>
            </a:r>
            <a:r>
              <a:rPr sz="2400" spc="-10" dirty="0">
                <a:latin typeface="Calibri"/>
                <a:cs typeface="Calibri"/>
              </a:rPr>
              <a:t>Figure</a:t>
            </a:r>
            <a:r>
              <a:rPr sz="2400" dirty="0">
                <a:latin typeface="Calibri"/>
                <a:cs typeface="Calibri"/>
              </a:rPr>
              <a:t> </a:t>
            </a:r>
            <a:r>
              <a:rPr sz="2400" spc="-10" dirty="0">
                <a:latin typeface="Calibri"/>
                <a:cs typeface="Calibri"/>
              </a:rPr>
              <a:t>represents</a:t>
            </a:r>
            <a:r>
              <a:rPr sz="2400" dirty="0">
                <a:latin typeface="Calibri"/>
                <a:cs typeface="Calibri"/>
              </a:rPr>
              <a:t> Binary</a:t>
            </a:r>
            <a:r>
              <a:rPr sz="2400" spc="-20" dirty="0">
                <a:latin typeface="Calibri"/>
                <a:cs typeface="Calibri"/>
              </a:rPr>
              <a:t> </a:t>
            </a:r>
            <a:r>
              <a:rPr sz="2400" spc="-10" dirty="0">
                <a:latin typeface="Calibri"/>
                <a:cs typeface="Calibri"/>
              </a:rPr>
              <a:t>Search </a:t>
            </a:r>
            <a:r>
              <a:rPr sz="2400" spc="-40" dirty="0">
                <a:latin typeface="Calibri"/>
                <a:cs typeface="Calibri"/>
              </a:rPr>
              <a:t>Tree:</a:t>
            </a:r>
            <a:endParaRPr sz="2400" dirty="0">
              <a:latin typeface="Calibri"/>
              <a:cs typeface="Calibri"/>
            </a:endParaRPr>
          </a:p>
        </p:txBody>
      </p:sp>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3" name="object 3"/>
          <p:cNvSpPr txBox="1"/>
          <p:nvPr/>
        </p:nvSpPr>
        <p:spPr>
          <a:xfrm>
            <a:off x="1298194" y="1836546"/>
            <a:ext cx="9918065" cy="3318510"/>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400" b="1" dirty="0">
                <a:latin typeface="Calibri"/>
                <a:cs typeface="Calibri"/>
              </a:rPr>
              <a:t>Binary</a:t>
            </a:r>
            <a:r>
              <a:rPr sz="2400" b="1" spc="-15" dirty="0">
                <a:latin typeface="Calibri"/>
                <a:cs typeface="Calibri"/>
              </a:rPr>
              <a:t> </a:t>
            </a:r>
            <a:r>
              <a:rPr sz="2400" b="1" spc="-10" dirty="0">
                <a:latin typeface="Calibri"/>
                <a:cs typeface="Calibri"/>
              </a:rPr>
              <a:t>Search</a:t>
            </a:r>
            <a:r>
              <a:rPr sz="2400" b="1" spc="-30" dirty="0">
                <a:latin typeface="Calibri"/>
                <a:cs typeface="Calibri"/>
              </a:rPr>
              <a:t> </a:t>
            </a:r>
            <a:r>
              <a:rPr sz="2400" b="1" spc="-40" dirty="0">
                <a:latin typeface="Calibri"/>
                <a:cs typeface="Calibri"/>
              </a:rPr>
              <a:t>Tree</a:t>
            </a:r>
            <a:r>
              <a:rPr sz="2400" b="1" spc="-20" dirty="0">
                <a:latin typeface="Calibri"/>
                <a:cs typeface="Calibri"/>
              </a:rPr>
              <a:t> </a:t>
            </a:r>
            <a:r>
              <a:rPr sz="2400" b="1" spc="-10" dirty="0">
                <a:latin typeface="Calibri"/>
                <a:cs typeface="Calibri"/>
              </a:rPr>
              <a:t>having</a:t>
            </a:r>
            <a:r>
              <a:rPr sz="2400" b="1" spc="-15" dirty="0">
                <a:latin typeface="Calibri"/>
                <a:cs typeface="Calibri"/>
              </a:rPr>
              <a:t> two</a:t>
            </a:r>
            <a:r>
              <a:rPr sz="2400" b="1" dirty="0">
                <a:latin typeface="Calibri"/>
                <a:cs typeface="Calibri"/>
              </a:rPr>
              <a:t> </a:t>
            </a:r>
            <a:r>
              <a:rPr sz="2400" b="1" spc="-10" dirty="0">
                <a:latin typeface="Calibri"/>
                <a:cs typeface="Calibri"/>
              </a:rPr>
              <a:t>characteristics:</a:t>
            </a:r>
            <a:endParaRPr sz="2400">
              <a:latin typeface="Calibri"/>
              <a:cs typeface="Calibri"/>
            </a:endParaRPr>
          </a:p>
          <a:p>
            <a:pPr>
              <a:lnSpc>
                <a:spcPct val="100000"/>
              </a:lnSpc>
              <a:spcBef>
                <a:spcPts val="10"/>
              </a:spcBef>
              <a:buFont typeface="Wingdings"/>
              <a:buChar char=""/>
            </a:pPr>
            <a:endParaRPr sz="2350">
              <a:latin typeface="Calibri"/>
              <a:cs typeface="Calibri"/>
            </a:endParaRPr>
          </a:p>
          <a:p>
            <a:pPr marL="1333500" lvl="1" indent="-407034">
              <a:lnSpc>
                <a:spcPct val="100000"/>
              </a:lnSpc>
              <a:buAutoNum type="arabicParenBoth"/>
              <a:tabLst>
                <a:tab pos="1334135" algn="l"/>
              </a:tabLst>
            </a:pPr>
            <a:r>
              <a:rPr sz="2400" dirty="0">
                <a:latin typeface="Calibri"/>
                <a:cs typeface="Calibri"/>
              </a:rPr>
              <a:t>All</a:t>
            </a:r>
            <a:r>
              <a:rPr sz="2400" spc="-20"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nodes</a:t>
            </a:r>
            <a:r>
              <a:rPr sz="2400" spc="-10" dirty="0">
                <a:latin typeface="Calibri"/>
                <a:cs typeface="Calibri"/>
              </a:rPr>
              <a:t> </a:t>
            </a:r>
            <a:r>
              <a:rPr sz="2400" dirty="0">
                <a:latin typeface="Calibri"/>
                <a:cs typeface="Calibri"/>
              </a:rPr>
              <a:t>in a</a:t>
            </a:r>
            <a:r>
              <a:rPr sz="2400" spc="-10" dirty="0">
                <a:latin typeface="Calibri"/>
                <a:cs typeface="Calibri"/>
              </a:rPr>
              <a:t> left </a:t>
            </a:r>
            <a:r>
              <a:rPr sz="2400" spc="-5" dirty="0">
                <a:latin typeface="Calibri"/>
                <a:cs typeface="Calibri"/>
              </a:rPr>
              <a:t>sub </a:t>
            </a:r>
            <a:r>
              <a:rPr sz="2400" spc="-10" dirty="0">
                <a:latin typeface="Calibri"/>
                <a:cs typeface="Calibri"/>
              </a:rPr>
              <a:t>tree having</a:t>
            </a:r>
            <a:r>
              <a:rPr sz="2400" spc="-15" dirty="0">
                <a:latin typeface="Calibri"/>
                <a:cs typeface="Calibri"/>
              </a:rPr>
              <a:t> </a:t>
            </a:r>
            <a:r>
              <a:rPr sz="2400" spc="-10" dirty="0">
                <a:latin typeface="Calibri"/>
                <a:cs typeface="Calibri"/>
              </a:rPr>
              <a:t>values</a:t>
            </a:r>
            <a:r>
              <a:rPr sz="2400" spc="10" dirty="0">
                <a:latin typeface="Calibri"/>
                <a:cs typeface="Calibri"/>
              </a:rPr>
              <a:t> </a:t>
            </a:r>
            <a:r>
              <a:rPr sz="2400" dirty="0">
                <a:latin typeface="Calibri"/>
                <a:cs typeface="Calibri"/>
              </a:rPr>
              <a:t>less then</a:t>
            </a:r>
            <a:r>
              <a:rPr sz="2400" spc="-5" dirty="0">
                <a:latin typeface="Calibri"/>
                <a:cs typeface="Calibri"/>
              </a:rPr>
              <a:t> </a:t>
            </a:r>
            <a:r>
              <a:rPr sz="2400" spc="-15" dirty="0">
                <a:latin typeface="Calibri"/>
                <a:cs typeface="Calibri"/>
              </a:rPr>
              <a:t>root </a:t>
            </a:r>
            <a:r>
              <a:rPr sz="2400" spc="-5" dirty="0">
                <a:latin typeface="Calibri"/>
                <a:cs typeface="Calibri"/>
              </a:rPr>
              <a:t>node.</a:t>
            </a:r>
            <a:endParaRPr sz="2400">
              <a:latin typeface="Calibri"/>
              <a:cs typeface="Calibri"/>
            </a:endParaRPr>
          </a:p>
          <a:p>
            <a:pPr lvl="1">
              <a:lnSpc>
                <a:spcPct val="100000"/>
              </a:lnSpc>
              <a:spcBef>
                <a:spcPts val="10"/>
              </a:spcBef>
              <a:buFont typeface="Calibri"/>
              <a:buAutoNum type="arabicParenBoth"/>
            </a:pPr>
            <a:endParaRPr sz="2350">
              <a:latin typeface="Calibri"/>
              <a:cs typeface="Calibri"/>
            </a:endParaRPr>
          </a:p>
          <a:p>
            <a:pPr marL="1333500" lvl="1" indent="-407034">
              <a:lnSpc>
                <a:spcPct val="100000"/>
              </a:lnSpc>
              <a:spcBef>
                <a:spcPts val="5"/>
              </a:spcBef>
              <a:buAutoNum type="arabicParenBoth"/>
              <a:tabLst>
                <a:tab pos="1334135" algn="l"/>
              </a:tabLst>
            </a:pPr>
            <a:r>
              <a:rPr sz="2400" dirty="0">
                <a:latin typeface="Calibri"/>
                <a:cs typeface="Calibri"/>
              </a:rPr>
              <a:t>All</a:t>
            </a:r>
            <a:r>
              <a:rPr sz="2400" spc="-15" dirty="0">
                <a:latin typeface="Calibri"/>
                <a:cs typeface="Calibri"/>
              </a:rPr>
              <a:t> </a:t>
            </a:r>
            <a:r>
              <a:rPr sz="2400" dirty="0">
                <a:latin typeface="Calibri"/>
                <a:cs typeface="Calibri"/>
              </a:rPr>
              <a:t>the</a:t>
            </a:r>
            <a:r>
              <a:rPr sz="2400" spc="-15" dirty="0">
                <a:latin typeface="Calibri"/>
                <a:cs typeface="Calibri"/>
              </a:rPr>
              <a:t> </a:t>
            </a:r>
            <a:r>
              <a:rPr sz="2400" spc="-5" dirty="0">
                <a:latin typeface="Calibri"/>
                <a:cs typeface="Calibri"/>
              </a:rPr>
              <a:t>nodes</a:t>
            </a:r>
            <a:r>
              <a:rPr sz="2400" dirty="0">
                <a:latin typeface="Calibri"/>
                <a:cs typeface="Calibri"/>
              </a:rPr>
              <a:t> in</a:t>
            </a:r>
            <a:r>
              <a:rPr sz="2400" spc="5" dirty="0">
                <a:latin typeface="Calibri"/>
                <a:cs typeface="Calibri"/>
              </a:rPr>
              <a:t> </a:t>
            </a:r>
            <a:r>
              <a:rPr sz="2400" dirty="0">
                <a:latin typeface="Calibri"/>
                <a:cs typeface="Calibri"/>
              </a:rPr>
              <a:t>a</a:t>
            </a:r>
            <a:r>
              <a:rPr sz="2400" spc="-20" dirty="0">
                <a:latin typeface="Calibri"/>
                <a:cs typeface="Calibri"/>
              </a:rPr>
              <a:t> </a:t>
            </a:r>
            <a:r>
              <a:rPr sz="2400" spc="-10" dirty="0">
                <a:latin typeface="Calibri"/>
                <a:cs typeface="Calibri"/>
              </a:rPr>
              <a:t>right</a:t>
            </a:r>
            <a:r>
              <a:rPr sz="2400" dirty="0">
                <a:latin typeface="Calibri"/>
                <a:cs typeface="Calibri"/>
              </a:rPr>
              <a:t> </a:t>
            </a:r>
            <a:r>
              <a:rPr sz="2400" spc="-5" dirty="0">
                <a:latin typeface="Calibri"/>
                <a:cs typeface="Calibri"/>
              </a:rPr>
              <a:t>sub</a:t>
            </a:r>
            <a:r>
              <a:rPr sz="2400" dirty="0">
                <a:latin typeface="Calibri"/>
                <a:cs typeface="Calibri"/>
              </a:rPr>
              <a:t> </a:t>
            </a:r>
            <a:r>
              <a:rPr sz="2400" spc="-10" dirty="0">
                <a:latin typeface="Calibri"/>
                <a:cs typeface="Calibri"/>
              </a:rPr>
              <a:t>tree</a:t>
            </a:r>
            <a:r>
              <a:rPr sz="2400" spc="5" dirty="0">
                <a:latin typeface="Calibri"/>
                <a:cs typeface="Calibri"/>
              </a:rPr>
              <a:t> </a:t>
            </a:r>
            <a:r>
              <a:rPr sz="2400" spc="-10" dirty="0">
                <a:latin typeface="Calibri"/>
                <a:cs typeface="Calibri"/>
              </a:rPr>
              <a:t>having</a:t>
            </a:r>
            <a:r>
              <a:rPr sz="2400" spc="-20" dirty="0">
                <a:latin typeface="Calibri"/>
                <a:cs typeface="Calibri"/>
              </a:rPr>
              <a:t> </a:t>
            </a:r>
            <a:r>
              <a:rPr sz="2400" spc="-10" dirty="0">
                <a:latin typeface="Calibri"/>
                <a:cs typeface="Calibri"/>
              </a:rPr>
              <a:t>values</a:t>
            </a:r>
            <a:r>
              <a:rPr sz="2400" spc="10" dirty="0">
                <a:latin typeface="Calibri"/>
                <a:cs typeface="Calibri"/>
              </a:rPr>
              <a:t> </a:t>
            </a:r>
            <a:r>
              <a:rPr sz="2400" spc="-15" dirty="0">
                <a:latin typeface="Calibri"/>
                <a:cs typeface="Calibri"/>
              </a:rPr>
              <a:t>greater</a:t>
            </a:r>
            <a:r>
              <a:rPr sz="2400" spc="-10" dirty="0">
                <a:latin typeface="Calibri"/>
                <a:cs typeface="Calibri"/>
              </a:rPr>
              <a:t> </a:t>
            </a:r>
            <a:r>
              <a:rPr sz="2400" dirty="0">
                <a:latin typeface="Calibri"/>
                <a:cs typeface="Calibri"/>
              </a:rPr>
              <a:t>then </a:t>
            </a:r>
            <a:r>
              <a:rPr sz="2400" spc="-15" dirty="0">
                <a:latin typeface="Calibri"/>
                <a:cs typeface="Calibri"/>
              </a:rPr>
              <a:t>root </a:t>
            </a:r>
            <a:r>
              <a:rPr sz="2400" spc="-5" dirty="0">
                <a:latin typeface="Calibri"/>
                <a:cs typeface="Calibri"/>
              </a:rPr>
              <a:t>node.</a:t>
            </a:r>
            <a:endParaRPr sz="2400">
              <a:latin typeface="Calibri"/>
              <a:cs typeface="Calibri"/>
            </a:endParaRPr>
          </a:p>
          <a:p>
            <a:pPr marL="355600" marR="466090" indent="-342900">
              <a:lnSpc>
                <a:spcPct val="200100"/>
              </a:lnSpc>
              <a:buFont typeface="Wingdings"/>
              <a:buChar char=""/>
              <a:tabLst>
                <a:tab pos="355600" algn="l"/>
              </a:tabLst>
            </a:pPr>
            <a:r>
              <a:rPr sz="2400" spc="-5" dirty="0">
                <a:latin typeface="Calibri"/>
                <a:cs typeface="Calibri"/>
              </a:rPr>
              <a:t>Because of </a:t>
            </a:r>
            <a:r>
              <a:rPr sz="2400" dirty="0">
                <a:latin typeface="Calibri"/>
                <a:cs typeface="Calibri"/>
              </a:rPr>
              <a:t>the</a:t>
            </a:r>
            <a:r>
              <a:rPr sz="2400" spc="5" dirty="0">
                <a:latin typeface="Calibri"/>
                <a:cs typeface="Calibri"/>
              </a:rPr>
              <a:t> </a:t>
            </a:r>
            <a:r>
              <a:rPr sz="2400" spc="-10" dirty="0">
                <a:latin typeface="Calibri"/>
                <a:cs typeface="Calibri"/>
              </a:rPr>
              <a:t>above</a:t>
            </a:r>
            <a:r>
              <a:rPr sz="2400" spc="15" dirty="0">
                <a:latin typeface="Calibri"/>
                <a:cs typeface="Calibri"/>
              </a:rPr>
              <a:t> </a:t>
            </a:r>
            <a:r>
              <a:rPr sz="2400" spc="-5" dirty="0">
                <a:latin typeface="Calibri"/>
                <a:cs typeface="Calibri"/>
              </a:rPr>
              <a:t>mentioned</a:t>
            </a:r>
            <a:r>
              <a:rPr sz="2400" spc="10" dirty="0">
                <a:latin typeface="Calibri"/>
                <a:cs typeface="Calibri"/>
              </a:rPr>
              <a:t> </a:t>
            </a:r>
            <a:r>
              <a:rPr sz="2400" spc="-10" dirty="0">
                <a:latin typeface="Calibri"/>
                <a:cs typeface="Calibri"/>
              </a:rPr>
              <a:t>characteristics</a:t>
            </a:r>
            <a:r>
              <a:rPr sz="2400" spc="-35" dirty="0">
                <a:latin typeface="Calibri"/>
                <a:cs typeface="Calibri"/>
              </a:rPr>
              <a:t> </a:t>
            </a:r>
            <a:r>
              <a:rPr sz="2400" dirty="0">
                <a:latin typeface="Calibri"/>
                <a:cs typeface="Calibri"/>
              </a:rPr>
              <a:t>Binary</a:t>
            </a:r>
            <a:r>
              <a:rPr sz="2400" spc="-15" dirty="0">
                <a:latin typeface="Calibri"/>
                <a:cs typeface="Calibri"/>
              </a:rPr>
              <a:t> </a:t>
            </a:r>
            <a:r>
              <a:rPr sz="2400" spc="-10" dirty="0">
                <a:latin typeface="Calibri"/>
                <a:cs typeface="Calibri"/>
              </a:rPr>
              <a:t>Search</a:t>
            </a:r>
            <a:r>
              <a:rPr sz="2400" spc="-5" dirty="0">
                <a:latin typeface="Calibri"/>
                <a:cs typeface="Calibri"/>
              </a:rPr>
              <a:t> </a:t>
            </a:r>
            <a:r>
              <a:rPr sz="2400" spc="-10" dirty="0">
                <a:latin typeface="Calibri"/>
                <a:cs typeface="Calibri"/>
              </a:rPr>
              <a:t>tree</a:t>
            </a:r>
            <a:r>
              <a:rPr sz="2400" spc="-5" dirty="0">
                <a:latin typeface="Calibri"/>
                <a:cs typeface="Calibri"/>
              </a:rPr>
              <a:t> </a:t>
            </a:r>
            <a:r>
              <a:rPr sz="2400" spc="-10" dirty="0">
                <a:latin typeface="Calibri"/>
                <a:cs typeface="Calibri"/>
              </a:rPr>
              <a:t>allows </a:t>
            </a:r>
            <a:r>
              <a:rPr sz="2400" spc="-525" dirty="0">
                <a:latin typeface="Calibri"/>
                <a:cs typeface="Calibri"/>
              </a:rPr>
              <a:t> </a:t>
            </a:r>
            <a:r>
              <a:rPr sz="2400" spc="-20" dirty="0">
                <a:latin typeface="Calibri"/>
                <a:cs typeface="Calibri"/>
              </a:rPr>
              <a:t>faster</a:t>
            </a:r>
            <a:r>
              <a:rPr sz="2400" spc="-10" dirty="0">
                <a:latin typeface="Calibri"/>
                <a:cs typeface="Calibri"/>
              </a:rPr>
              <a:t> </a:t>
            </a:r>
            <a:r>
              <a:rPr sz="2400" dirty="0">
                <a:latin typeface="Calibri"/>
                <a:cs typeface="Calibri"/>
              </a:rPr>
              <a:t>insertion, </a:t>
            </a:r>
            <a:r>
              <a:rPr sz="2400" spc="-10" dirty="0">
                <a:latin typeface="Calibri"/>
                <a:cs typeface="Calibri"/>
              </a:rPr>
              <a:t>deletion</a:t>
            </a:r>
            <a:r>
              <a:rPr sz="2400" spc="-5"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searching</a:t>
            </a:r>
            <a:r>
              <a:rPr sz="2400" spc="-15" dirty="0">
                <a:latin typeface="Calibri"/>
                <a:cs typeface="Calibri"/>
              </a:rPr>
              <a:t> </a:t>
            </a:r>
            <a:r>
              <a:rPr sz="2400" spc="-25" dirty="0">
                <a:latin typeface="Calibri"/>
                <a:cs typeface="Calibri"/>
              </a:rPr>
              <a:t>facility.</a:t>
            </a:r>
            <a:endParaRPr sz="2400">
              <a:latin typeface="Calibri"/>
              <a:cs typeface="Calibri"/>
            </a:endParaRPr>
          </a:p>
        </p:txBody>
      </p:sp>
      <p:sp>
        <p:nvSpPr>
          <p:cNvPr id="4" name="object 4"/>
          <p:cNvSpPr txBox="1">
            <a:spLocks noGrp="1"/>
          </p:cNvSpPr>
          <p:nvPr>
            <p:ph type="title"/>
          </p:nvPr>
        </p:nvSpPr>
        <p:spPr>
          <a:xfrm>
            <a:off x="1298194" y="565861"/>
            <a:ext cx="4371975" cy="635000"/>
          </a:xfrm>
          <a:prstGeom prst="rect">
            <a:avLst/>
          </a:prstGeom>
        </p:spPr>
        <p:txBody>
          <a:bodyPr vert="horz" wrap="square" lIns="0" tIns="12065" rIns="0" bIns="0" rtlCol="0">
            <a:spAutoFit/>
          </a:bodyPr>
          <a:lstStyle/>
          <a:p>
            <a:pPr marL="12700">
              <a:lnSpc>
                <a:spcPct val="100000"/>
              </a:lnSpc>
              <a:spcBef>
                <a:spcPts val="95"/>
              </a:spcBef>
            </a:pPr>
            <a:r>
              <a:rPr spc="-5" dirty="0"/>
              <a:t>Binary</a:t>
            </a:r>
            <a:r>
              <a:rPr spc="-25" dirty="0"/>
              <a:t> </a:t>
            </a:r>
            <a:r>
              <a:rPr spc="-5" dirty="0"/>
              <a:t>Search</a:t>
            </a:r>
            <a:r>
              <a:rPr spc="-100" dirty="0"/>
              <a:t> </a:t>
            </a:r>
            <a:r>
              <a:rPr spc="-40" dirty="0"/>
              <a:t>Tree</a:t>
            </a:r>
          </a:p>
        </p:txBody>
      </p:sp>
      <p:grpSp>
        <p:nvGrpSpPr>
          <p:cNvPr id="5" name="object 5"/>
          <p:cNvGrpSpPr/>
          <p:nvPr/>
        </p:nvGrpSpPr>
        <p:grpSpPr>
          <a:xfrm>
            <a:off x="0" y="6477000"/>
            <a:ext cx="12192000" cy="381000"/>
            <a:chOff x="0" y="6477000"/>
            <a:chExt cx="12192000" cy="381000"/>
          </a:xfrm>
        </p:grpSpPr>
        <p:sp>
          <p:nvSpPr>
            <p:cNvPr id="6" name="object 6"/>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7" name="object 7"/>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2044" y="594182"/>
            <a:ext cx="2990850" cy="635000"/>
          </a:xfrm>
          <a:prstGeom prst="rect">
            <a:avLst/>
          </a:prstGeom>
        </p:spPr>
        <p:txBody>
          <a:bodyPr vert="horz" wrap="square" lIns="0" tIns="12065" rIns="0" bIns="0" rtlCol="0">
            <a:spAutoFit/>
          </a:bodyPr>
          <a:lstStyle/>
          <a:p>
            <a:pPr marL="12700">
              <a:lnSpc>
                <a:spcPct val="100000"/>
              </a:lnSpc>
              <a:spcBef>
                <a:spcPts val="95"/>
              </a:spcBef>
            </a:pPr>
            <a:r>
              <a:rPr spc="-5" dirty="0"/>
              <a:t>General</a:t>
            </a:r>
            <a:r>
              <a:rPr spc="-135" dirty="0"/>
              <a:t> </a:t>
            </a:r>
            <a:r>
              <a:rPr spc="-40" dirty="0"/>
              <a:t>Tree</a:t>
            </a:r>
          </a:p>
        </p:txBody>
      </p:sp>
      <p:sp>
        <p:nvSpPr>
          <p:cNvPr id="3" name="object 3"/>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4" name="object 4"/>
          <p:cNvSpPr txBox="1"/>
          <p:nvPr/>
        </p:nvSpPr>
        <p:spPr>
          <a:xfrm>
            <a:off x="1222044" y="1554225"/>
            <a:ext cx="5861685" cy="2777683"/>
          </a:xfrm>
          <a:prstGeom prst="rect">
            <a:avLst/>
          </a:prstGeom>
        </p:spPr>
        <p:txBody>
          <a:bodyPr vert="horz" wrap="square" lIns="0" tIns="12700" rIns="0" bIns="0" rtlCol="0">
            <a:spAutoFit/>
          </a:bodyPr>
          <a:lstStyle/>
          <a:p>
            <a:pPr marL="354965" marR="5080" indent="-342900">
              <a:lnSpc>
                <a:spcPct val="150000"/>
              </a:lnSpc>
              <a:spcBef>
                <a:spcPts val="100"/>
              </a:spcBef>
              <a:buFont typeface="Wingdings"/>
              <a:buChar char=""/>
              <a:tabLst>
                <a:tab pos="355600" algn="l"/>
              </a:tabLst>
            </a:pPr>
            <a:r>
              <a:rPr sz="2400" dirty="0">
                <a:latin typeface="Calibri"/>
                <a:cs typeface="Calibri"/>
              </a:rPr>
              <a:t>A </a:t>
            </a:r>
            <a:r>
              <a:rPr sz="2400" spc="-50" dirty="0">
                <a:latin typeface="Calibri"/>
                <a:cs typeface="Calibri"/>
              </a:rPr>
              <a:t>Tree </a:t>
            </a:r>
            <a:r>
              <a:rPr sz="2400" dirty="0">
                <a:latin typeface="Calibri"/>
                <a:cs typeface="Calibri"/>
              </a:rPr>
              <a:t>in which each </a:t>
            </a:r>
            <a:r>
              <a:rPr sz="2400" spc="-5" dirty="0">
                <a:latin typeface="Calibri"/>
                <a:cs typeface="Calibri"/>
              </a:rPr>
              <a:t>node </a:t>
            </a:r>
            <a:r>
              <a:rPr sz="2400" spc="-10" dirty="0">
                <a:latin typeface="Calibri"/>
                <a:cs typeface="Calibri"/>
              </a:rPr>
              <a:t>having </a:t>
            </a:r>
            <a:r>
              <a:rPr sz="2400" dirty="0">
                <a:latin typeface="Calibri"/>
                <a:cs typeface="Calibri"/>
              </a:rPr>
              <a:t>either 0 </a:t>
            </a:r>
            <a:r>
              <a:rPr sz="2400" spc="-5" dirty="0">
                <a:latin typeface="Calibri"/>
                <a:cs typeface="Calibri"/>
              </a:rPr>
              <a:t>or </a:t>
            </a:r>
            <a:r>
              <a:rPr sz="2400" spc="-530" dirty="0">
                <a:latin typeface="Calibri"/>
                <a:cs typeface="Calibri"/>
              </a:rPr>
              <a:t> </a:t>
            </a:r>
            <a:r>
              <a:rPr sz="2400" spc="-10" dirty="0">
                <a:latin typeface="Calibri"/>
                <a:cs typeface="Calibri"/>
              </a:rPr>
              <a:t>more</a:t>
            </a:r>
            <a:r>
              <a:rPr sz="2400" spc="-5" dirty="0">
                <a:latin typeface="Calibri"/>
                <a:cs typeface="Calibri"/>
              </a:rPr>
              <a:t> child</a:t>
            </a:r>
            <a:r>
              <a:rPr sz="2400" spc="-25" dirty="0">
                <a:latin typeface="Calibri"/>
                <a:cs typeface="Calibri"/>
              </a:rPr>
              <a:t> </a:t>
            </a:r>
            <a:r>
              <a:rPr sz="2400" spc="-5" dirty="0">
                <a:latin typeface="Calibri"/>
                <a:cs typeface="Calibri"/>
              </a:rPr>
              <a:t>nodes</a:t>
            </a:r>
            <a:r>
              <a:rPr sz="2400" spc="-10" dirty="0">
                <a:latin typeface="Calibri"/>
                <a:cs typeface="Calibri"/>
              </a:rPr>
              <a:t> </a:t>
            </a:r>
            <a:r>
              <a:rPr sz="2400" dirty="0">
                <a:latin typeface="Calibri"/>
                <a:cs typeface="Calibri"/>
              </a:rPr>
              <a:t>is</a:t>
            </a:r>
            <a:r>
              <a:rPr sz="2400" spc="-10" dirty="0">
                <a:latin typeface="Calibri"/>
                <a:cs typeface="Calibri"/>
              </a:rPr>
              <a:t> </a:t>
            </a:r>
            <a:r>
              <a:rPr sz="2400" spc="-5" dirty="0">
                <a:latin typeface="Calibri"/>
                <a:cs typeface="Calibri"/>
              </a:rPr>
              <a:t>called</a:t>
            </a:r>
            <a:r>
              <a:rPr sz="2400" spc="-25" dirty="0">
                <a:latin typeface="Calibri"/>
                <a:cs typeface="Calibri"/>
              </a:rPr>
              <a:t> </a:t>
            </a:r>
            <a:r>
              <a:rPr sz="2400" spc="-10" dirty="0">
                <a:latin typeface="Calibri"/>
                <a:cs typeface="Calibri"/>
              </a:rPr>
              <a:t>general tree.</a:t>
            </a:r>
            <a:endParaRPr sz="2400" dirty="0">
              <a:latin typeface="Calibri"/>
              <a:cs typeface="Calibri"/>
            </a:endParaRPr>
          </a:p>
          <a:p>
            <a:pPr marL="354965" marR="1072515" indent="-342900">
              <a:lnSpc>
                <a:spcPct val="150000"/>
              </a:lnSpc>
              <a:buFont typeface="Wingdings"/>
              <a:buChar char=""/>
              <a:tabLst>
                <a:tab pos="355600" algn="l"/>
              </a:tabLst>
            </a:pPr>
            <a:r>
              <a:rPr sz="2400" spc="-5" dirty="0">
                <a:latin typeface="Calibri"/>
                <a:cs typeface="Calibri"/>
              </a:rPr>
              <a:t>So</a:t>
            </a:r>
            <a:r>
              <a:rPr sz="2400" spc="-10" dirty="0">
                <a:latin typeface="Calibri"/>
                <a:cs typeface="Calibri"/>
              </a:rPr>
              <a:t> </a:t>
            </a:r>
            <a:r>
              <a:rPr sz="2400" spc="-15" dirty="0">
                <a:latin typeface="Calibri"/>
                <a:cs typeface="Calibri"/>
              </a:rPr>
              <a:t>we </a:t>
            </a:r>
            <a:r>
              <a:rPr sz="2400" spc="-10" dirty="0">
                <a:latin typeface="Calibri"/>
                <a:cs typeface="Calibri"/>
              </a:rPr>
              <a:t>can </a:t>
            </a:r>
            <a:r>
              <a:rPr sz="2400" spc="-20" dirty="0">
                <a:latin typeface="Calibri"/>
                <a:cs typeface="Calibri"/>
              </a:rPr>
              <a:t>say</a:t>
            </a:r>
            <a:r>
              <a:rPr sz="2400" spc="-5" dirty="0">
                <a:latin typeface="Calibri"/>
                <a:cs typeface="Calibri"/>
              </a:rPr>
              <a:t> that</a:t>
            </a:r>
            <a:r>
              <a:rPr sz="2400" spc="-20"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Binary</a:t>
            </a:r>
            <a:r>
              <a:rPr sz="2400" spc="-25" dirty="0">
                <a:latin typeface="Calibri"/>
                <a:cs typeface="Calibri"/>
              </a:rPr>
              <a:t> </a:t>
            </a:r>
            <a:r>
              <a:rPr sz="2400" spc="-50" dirty="0">
                <a:latin typeface="Calibri"/>
                <a:cs typeface="Calibri"/>
              </a:rPr>
              <a:t>Tree</a:t>
            </a:r>
            <a:r>
              <a:rPr sz="2400" dirty="0">
                <a:latin typeface="Calibri"/>
                <a:cs typeface="Calibri"/>
              </a:rPr>
              <a:t> is</a:t>
            </a:r>
            <a:r>
              <a:rPr sz="2400" spc="-5" dirty="0">
                <a:latin typeface="Calibri"/>
                <a:cs typeface="Calibri"/>
              </a:rPr>
              <a:t> </a:t>
            </a:r>
            <a:r>
              <a:rPr sz="2400" dirty="0">
                <a:latin typeface="Calibri"/>
                <a:cs typeface="Calibri"/>
              </a:rPr>
              <a:t>a </a:t>
            </a:r>
            <a:r>
              <a:rPr sz="2400" spc="-530" dirty="0">
                <a:latin typeface="Calibri"/>
                <a:cs typeface="Calibri"/>
              </a:rPr>
              <a:t> </a:t>
            </a:r>
            <a:r>
              <a:rPr sz="2400" spc="-10" dirty="0">
                <a:latin typeface="Calibri"/>
                <a:cs typeface="Calibri"/>
              </a:rPr>
              <a:t>specialized</a:t>
            </a:r>
            <a:r>
              <a:rPr sz="2400" spc="-15" dirty="0">
                <a:latin typeface="Calibri"/>
                <a:cs typeface="Calibri"/>
              </a:rPr>
              <a:t> </a:t>
            </a:r>
            <a:r>
              <a:rPr sz="2400" spc="-5" dirty="0">
                <a:latin typeface="Calibri"/>
                <a:cs typeface="Calibri"/>
              </a:rPr>
              <a:t>case</a:t>
            </a:r>
            <a:r>
              <a:rPr sz="2400" spc="-10" dirty="0">
                <a:latin typeface="Calibri"/>
                <a:cs typeface="Calibri"/>
              </a:rPr>
              <a:t> </a:t>
            </a:r>
            <a:r>
              <a:rPr sz="2400" spc="-5" dirty="0">
                <a:latin typeface="Calibri"/>
                <a:cs typeface="Calibri"/>
              </a:rPr>
              <a:t>of </a:t>
            </a:r>
            <a:r>
              <a:rPr sz="2400" spc="-10" dirty="0">
                <a:latin typeface="Calibri"/>
                <a:cs typeface="Calibri"/>
              </a:rPr>
              <a:t>General</a:t>
            </a:r>
            <a:r>
              <a:rPr sz="2400" spc="-20" dirty="0">
                <a:latin typeface="Calibri"/>
                <a:cs typeface="Calibri"/>
              </a:rPr>
              <a:t> </a:t>
            </a:r>
            <a:r>
              <a:rPr sz="2400" spc="-10" dirty="0">
                <a:latin typeface="Calibri"/>
                <a:cs typeface="Calibri"/>
              </a:rPr>
              <a:t>tree.</a:t>
            </a:r>
            <a:endParaRPr sz="2400" dirty="0">
              <a:latin typeface="Calibri"/>
              <a:cs typeface="Calibri"/>
            </a:endParaRPr>
          </a:p>
          <a:p>
            <a:pPr marL="354965" indent="-342900">
              <a:lnSpc>
                <a:spcPct val="100000"/>
              </a:lnSpc>
              <a:spcBef>
                <a:spcPts val="1440"/>
              </a:spcBef>
              <a:buFont typeface="Wingdings"/>
              <a:buChar char=""/>
              <a:tabLst>
                <a:tab pos="355600" algn="l"/>
              </a:tabLst>
            </a:pPr>
            <a:r>
              <a:rPr sz="2400" spc="-5" dirty="0">
                <a:latin typeface="Calibri"/>
                <a:cs typeface="Calibri"/>
              </a:rPr>
              <a:t>Consider</a:t>
            </a:r>
            <a:r>
              <a:rPr sz="2400" spc="-25" dirty="0">
                <a:latin typeface="Calibri"/>
                <a:cs typeface="Calibri"/>
              </a:rPr>
              <a:t> </a:t>
            </a:r>
            <a:r>
              <a:rPr sz="2400" spc="-10" dirty="0">
                <a:latin typeface="Calibri"/>
                <a:cs typeface="Calibri"/>
              </a:rPr>
              <a:t>Following</a:t>
            </a:r>
            <a:r>
              <a:rPr sz="2400" spc="-25" dirty="0">
                <a:latin typeface="Calibri"/>
                <a:cs typeface="Calibri"/>
              </a:rPr>
              <a:t> </a:t>
            </a:r>
            <a:r>
              <a:rPr sz="2400" spc="-10" dirty="0">
                <a:latin typeface="Calibri"/>
                <a:cs typeface="Calibri"/>
              </a:rPr>
              <a:t>Figure:</a:t>
            </a:r>
            <a:endParaRPr sz="2400" dirty="0">
              <a:latin typeface="Calibri"/>
              <a:cs typeface="Calibri"/>
            </a:endParaRPr>
          </a:p>
        </p:txBody>
      </p:sp>
      <p:pic>
        <p:nvPicPr>
          <p:cNvPr id="5" name="object 5"/>
          <p:cNvPicPr/>
          <p:nvPr/>
        </p:nvPicPr>
        <p:blipFill>
          <a:blip r:embed="rId2" cstate="print"/>
          <a:stretch>
            <a:fillRect/>
          </a:stretch>
        </p:blipFill>
        <p:spPr>
          <a:xfrm>
            <a:off x="7239000" y="1848611"/>
            <a:ext cx="4672584" cy="4009644"/>
          </a:xfrm>
          <a:prstGeom prst="rect">
            <a:avLst/>
          </a:prstGeom>
        </p:spPr>
      </p:pic>
      <p:grpSp>
        <p:nvGrpSpPr>
          <p:cNvPr id="6" name="object 6"/>
          <p:cNvGrpSpPr/>
          <p:nvPr/>
        </p:nvGrpSpPr>
        <p:grpSpPr>
          <a:xfrm>
            <a:off x="0" y="6477000"/>
            <a:ext cx="12192000" cy="381000"/>
            <a:chOff x="0" y="6477000"/>
            <a:chExt cx="12192000" cy="381000"/>
          </a:xfrm>
        </p:grpSpPr>
        <p:sp>
          <p:nvSpPr>
            <p:cNvPr id="7" name="object 7"/>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8" name="object 8"/>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2065"/>
              </a:lnSpc>
            </a:pPr>
            <a:r>
              <a:rPr dirty="0"/>
              <a:t>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8194" y="565861"/>
            <a:ext cx="2705735" cy="635000"/>
          </a:xfrm>
          <a:prstGeom prst="rect">
            <a:avLst/>
          </a:prstGeom>
        </p:spPr>
        <p:txBody>
          <a:bodyPr vert="horz" wrap="square" lIns="0" tIns="12065" rIns="0" bIns="0" rtlCol="0">
            <a:spAutoFit/>
          </a:bodyPr>
          <a:lstStyle/>
          <a:p>
            <a:pPr marL="12700">
              <a:lnSpc>
                <a:spcPct val="100000"/>
              </a:lnSpc>
              <a:spcBef>
                <a:spcPts val="95"/>
              </a:spcBef>
            </a:pPr>
            <a:r>
              <a:rPr spc="-5" dirty="0"/>
              <a:t>Advantag</a:t>
            </a:r>
            <a:r>
              <a:rPr spc="-20" dirty="0"/>
              <a:t>e</a:t>
            </a:r>
            <a:r>
              <a:rPr spc="-5" dirty="0"/>
              <a:t>s</a:t>
            </a:r>
          </a:p>
        </p:txBody>
      </p:sp>
      <p:grpSp>
        <p:nvGrpSpPr>
          <p:cNvPr id="3" name="object 3"/>
          <p:cNvGrpSpPr/>
          <p:nvPr/>
        </p:nvGrpSpPr>
        <p:grpSpPr>
          <a:xfrm>
            <a:off x="0" y="6477000"/>
            <a:ext cx="12192000" cy="381000"/>
            <a:chOff x="0" y="6477000"/>
            <a:chExt cx="12192000" cy="381000"/>
          </a:xfrm>
        </p:grpSpPr>
        <p:sp>
          <p:nvSpPr>
            <p:cNvPr id="4" name="object 4"/>
            <p:cNvSpPr/>
            <p:nvPr/>
          </p:nvSpPr>
          <p:spPr>
            <a:xfrm>
              <a:off x="0" y="6477000"/>
              <a:ext cx="12192000" cy="304800"/>
            </a:xfrm>
            <a:custGeom>
              <a:avLst/>
              <a:gdLst/>
              <a:ahLst/>
              <a:cxnLst/>
              <a:rect l="l" t="t" r="r" b="b"/>
              <a:pathLst>
                <a:path w="12192000" h="304800">
                  <a:moveTo>
                    <a:pt x="0" y="304798"/>
                  </a:moveTo>
                  <a:lnTo>
                    <a:pt x="12192000" y="304798"/>
                  </a:lnTo>
                  <a:lnTo>
                    <a:pt x="12192000" y="0"/>
                  </a:lnTo>
                  <a:lnTo>
                    <a:pt x="0" y="0"/>
                  </a:lnTo>
                  <a:lnTo>
                    <a:pt x="0" y="304798"/>
                  </a:lnTo>
                  <a:close/>
                </a:path>
              </a:pathLst>
            </a:custGeom>
            <a:solidFill>
              <a:srgbClr val="7D1B68"/>
            </a:solidFill>
          </p:spPr>
          <p:txBody>
            <a:bodyPr wrap="square" lIns="0" tIns="0" rIns="0" bIns="0" rtlCol="0"/>
            <a:lstStyle/>
            <a:p>
              <a:endParaRPr/>
            </a:p>
          </p:txBody>
        </p:sp>
        <p:sp>
          <p:nvSpPr>
            <p:cNvPr id="5" name="object 5"/>
            <p:cNvSpPr/>
            <p:nvPr/>
          </p:nvSpPr>
          <p:spPr>
            <a:xfrm>
              <a:off x="0" y="6781798"/>
              <a:ext cx="12192000" cy="76200"/>
            </a:xfrm>
            <a:custGeom>
              <a:avLst/>
              <a:gdLst/>
              <a:ahLst/>
              <a:cxnLst/>
              <a:rect l="l" t="t" r="r" b="b"/>
              <a:pathLst>
                <a:path w="12192000" h="76200">
                  <a:moveTo>
                    <a:pt x="12192000" y="0"/>
                  </a:moveTo>
                  <a:lnTo>
                    <a:pt x="0" y="0"/>
                  </a:lnTo>
                  <a:lnTo>
                    <a:pt x="0" y="76198"/>
                  </a:lnTo>
                  <a:lnTo>
                    <a:pt x="12192000" y="76198"/>
                  </a:lnTo>
                  <a:lnTo>
                    <a:pt x="12192000" y="0"/>
                  </a:lnTo>
                  <a:close/>
                </a:path>
              </a:pathLst>
            </a:custGeom>
            <a:solidFill>
              <a:srgbClr val="B873B8"/>
            </a:solidFill>
          </p:spPr>
          <p:txBody>
            <a:bodyPr wrap="square" lIns="0" tIns="0" rIns="0" bIns="0" rtlCol="0"/>
            <a:lstStyle/>
            <a:p>
              <a:endParaRPr/>
            </a:p>
          </p:txBody>
        </p:sp>
      </p:grpSp>
      <p:sp>
        <p:nvSpPr>
          <p:cNvPr id="6" name="object 6"/>
          <p:cNvSpPr txBox="1">
            <a:spLocks noGrp="1"/>
          </p:cNvSpPr>
          <p:nvPr>
            <p:ph type="body" idx="1"/>
          </p:nvPr>
        </p:nvSpPr>
        <p:spPr>
          <a:prstGeom prst="rect">
            <a:avLst/>
          </a:prstGeom>
        </p:spPr>
        <p:txBody>
          <a:bodyPr vert="horz" wrap="square" lIns="0" tIns="12065" rIns="0" bIns="0" rtlCol="0">
            <a:spAutoFit/>
          </a:bodyPr>
          <a:lstStyle/>
          <a:p>
            <a:pPr marL="21590" marR="5080">
              <a:lnSpc>
                <a:spcPct val="150000"/>
              </a:lnSpc>
              <a:spcBef>
                <a:spcPts val="95"/>
              </a:spcBef>
            </a:pPr>
            <a:r>
              <a:rPr spc="-40" dirty="0"/>
              <a:t>Trees</a:t>
            </a:r>
            <a:r>
              <a:rPr spc="5" dirty="0"/>
              <a:t> </a:t>
            </a:r>
            <a:r>
              <a:rPr spc="-15" dirty="0"/>
              <a:t>are</a:t>
            </a:r>
            <a:r>
              <a:rPr spc="-10" dirty="0"/>
              <a:t> </a:t>
            </a:r>
            <a:r>
              <a:rPr spc="-5" dirty="0"/>
              <a:t>so</a:t>
            </a:r>
            <a:r>
              <a:rPr spc="-10" dirty="0"/>
              <a:t> useful</a:t>
            </a:r>
            <a:r>
              <a:rPr spc="10" dirty="0"/>
              <a:t> </a:t>
            </a:r>
            <a:r>
              <a:rPr dirty="0"/>
              <a:t>and</a:t>
            </a:r>
            <a:r>
              <a:rPr spc="-5" dirty="0"/>
              <a:t> </a:t>
            </a:r>
            <a:r>
              <a:rPr spc="-10" dirty="0"/>
              <a:t>frequently</a:t>
            </a:r>
            <a:r>
              <a:rPr spc="10" dirty="0"/>
              <a:t> </a:t>
            </a:r>
            <a:r>
              <a:rPr spc="-5" dirty="0"/>
              <a:t>used,</a:t>
            </a:r>
            <a:r>
              <a:rPr dirty="0"/>
              <a:t> </a:t>
            </a:r>
            <a:r>
              <a:rPr spc="-5" dirty="0"/>
              <a:t>because </a:t>
            </a:r>
            <a:r>
              <a:rPr dirty="0"/>
              <a:t>they</a:t>
            </a:r>
            <a:r>
              <a:rPr spc="-15" dirty="0"/>
              <a:t> </a:t>
            </a:r>
            <a:r>
              <a:rPr spc="-20" dirty="0"/>
              <a:t>have</a:t>
            </a:r>
            <a:r>
              <a:rPr spc="5" dirty="0"/>
              <a:t> </a:t>
            </a:r>
            <a:r>
              <a:rPr spc="-5" dirty="0"/>
              <a:t>some very</a:t>
            </a:r>
            <a:r>
              <a:rPr spc="-10" dirty="0"/>
              <a:t> </a:t>
            </a:r>
            <a:r>
              <a:rPr spc="-5" dirty="0"/>
              <a:t>serious </a:t>
            </a:r>
            <a:r>
              <a:rPr spc="-525" dirty="0"/>
              <a:t> </a:t>
            </a:r>
            <a:r>
              <a:rPr spc="-15" dirty="0"/>
              <a:t>advantages:</a:t>
            </a:r>
          </a:p>
          <a:p>
            <a:pPr marL="935990" indent="-447040">
              <a:lnSpc>
                <a:spcPct val="100000"/>
              </a:lnSpc>
              <a:spcBef>
                <a:spcPts val="1440"/>
              </a:spcBef>
              <a:buFont typeface="Wingdings"/>
              <a:buChar char=""/>
              <a:tabLst>
                <a:tab pos="935990" algn="l"/>
                <a:tab pos="936625" algn="l"/>
              </a:tabLst>
            </a:pPr>
            <a:r>
              <a:rPr spc="-40" dirty="0"/>
              <a:t>Trees</a:t>
            </a:r>
            <a:r>
              <a:rPr spc="-5" dirty="0"/>
              <a:t> </a:t>
            </a:r>
            <a:r>
              <a:rPr spc="-10" dirty="0"/>
              <a:t>reflect</a:t>
            </a:r>
            <a:r>
              <a:rPr spc="-15" dirty="0"/>
              <a:t> </a:t>
            </a:r>
            <a:r>
              <a:rPr spc="-10" dirty="0"/>
              <a:t>structural</a:t>
            </a:r>
            <a:r>
              <a:rPr spc="-25" dirty="0"/>
              <a:t> </a:t>
            </a:r>
            <a:r>
              <a:rPr spc="-10" dirty="0"/>
              <a:t>relationships</a:t>
            </a:r>
            <a:r>
              <a:rPr spc="-5" dirty="0"/>
              <a:t> </a:t>
            </a:r>
            <a:r>
              <a:rPr dirty="0"/>
              <a:t>in </a:t>
            </a:r>
            <a:r>
              <a:rPr spc="-5" dirty="0"/>
              <a:t>the</a:t>
            </a:r>
            <a:r>
              <a:rPr dirty="0"/>
              <a:t> </a:t>
            </a:r>
            <a:r>
              <a:rPr spc="-15" dirty="0"/>
              <a:t>data</a:t>
            </a:r>
          </a:p>
          <a:p>
            <a:pPr marL="935990" indent="-447040">
              <a:lnSpc>
                <a:spcPct val="100000"/>
              </a:lnSpc>
              <a:spcBef>
                <a:spcPts val="1440"/>
              </a:spcBef>
              <a:buFont typeface="Wingdings"/>
              <a:buChar char=""/>
              <a:tabLst>
                <a:tab pos="935990" algn="l"/>
                <a:tab pos="936625" algn="l"/>
              </a:tabLst>
            </a:pPr>
            <a:r>
              <a:rPr spc="-35" dirty="0"/>
              <a:t>Trees</a:t>
            </a:r>
            <a:r>
              <a:rPr spc="-15" dirty="0"/>
              <a:t> </a:t>
            </a:r>
            <a:r>
              <a:rPr spc="-10" dirty="0"/>
              <a:t>are</a:t>
            </a:r>
            <a:r>
              <a:rPr spc="-20" dirty="0"/>
              <a:t> </a:t>
            </a:r>
            <a:r>
              <a:rPr spc="-5" dirty="0"/>
              <a:t>used</a:t>
            </a:r>
            <a:r>
              <a:rPr spc="-15" dirty="0"/>
              <a:t> </a:t>
            </a:r>
            <a:r>
              <a:rPr spc="-10" dirty="0"/>
              <a:t>to</a:t>
            </a:r>
            <a:r>
              <a:rPr spc="-35" dirty="0"/>
              <a:t> </a:t>
            </a:r>
            <a:r>
              <a:rPr spc="-10" dirty="0"/>
              <a:t>represent</a:t>
            </a:r>
            <a:r>
              <a:rPr spc="-5" dirty="0"/>
              <a:t> </a:t>
            </a:r>
            <a:r>
              <a:rPr spc="-10" dirty="0"/>
              <a:t>hierarchies</a:t>
            </a:r>
          </a:p>
          <a:p>
            <a:pPr marL="935990" indent="-447040">
              <a:lnSpc>
                <a:spcPct val="100000"/>
              </a:lnSpc>
              <a:spcBef>
                <a:spcPts val="1445"/>
              </a:spcBef>
              <a:buFont typeface="Wingdings"/>
              <a:buChar char=""/>
              <a:tabLst>
                <a:tab pos="935990" algn="l"/>
                <a:tab pos="936625" algn="l"/>
              </a:tabLst>
            </a:pPr>
            <a:r>
              <a:rPr spc="-40" dirty="0"/>
              <a:t>Trees</a:t>
            </a:r>
            <a:r>
              <a:rPr spc="-5" dirty="0"/>
              <a:t> </a:t>
            </a:r>
            <a:r>
              <a:rPr spc="-10" dirty="0"/>
              <a:t>provide</a:t>
            </a:r>
            <a:r>
              <a:rPr spc="-5" dirty="0"/>
              <a:t> </a:t>
            </a:r>
            <a:r>
              <a:rPr dirty="0"/>
              <a:t>an</a:t>
            </a:r>
            <a:r>
              <a:rPr spc="-10" dirty="0"/>
              <a:t> efficient</a:t>
            </a:r>
            <a:r>
              <a:rPr spc="-5" dirty="0"/>
              <a:t> </a:t>
            </a:r>
            <a:r>
              <a:rPr dirty="0"/>
              <a:t>insertion</a:t>
            </a:r>
            <a:r>
              <a:rPr spc="-5" dirty="0"/>
              <a:t> </a:t>
            </a:r>
            <a:r>
              <a:rPr dirty="0"/>
              <a:t>and</a:t>
            </a:r>
            <a:r>
              <a:rPr spc="-5" dirty="0"/>
              <a:t> </a:t>
            </a:r>
            <a:r>
              <a:rPr spc="-10" dirty="0"/>
              <a:t>searching</a:t>
            </a:r>
          </a:p>
          <a:p>
            <a:pPr marL="935990" marR="391160" indent="-447040">
              <a:lnSpc>
                <a:spcPts val="4320"/>
              </a:lnSpc>
              <a:spcBef>
                <a:spcPts val="185"/>
              </a:spcBef>
              <a:buFont typeface="Wingdings"/>
              <a:buChar char=""/>
              <a:tabLst>
                <a:tab pos="935990" algn="l"/>
                <a:tab pos="936625" algn="l"/>
              </a:tabLst>
            </a:pPr>
            <a:r>
              <a:rPr spc="-40" dirty="0"/>
              <a:t>Trees</a:t>
            </a:r>
            <a:r>
              <a:rPr dirty="0"/>
              <a:t> </a:t>
            </a:r>
            <a:r>
              <a:rPr spc="-15" dirty="0"/>
              <a:t>are</a:t>
            </a:r>
            <a:r>
              <a:rPr spc="-5" dirty="0"/>
              <a:t> very</a:t>
            </a:r>
            <a:r>
              <a:rPr spc="5" dirty="0"/>
              <a:t> </a:t>
            </a:r>
            <a:r>
              <a:rPr spc="-10" dirty="0"/>
              <a:t>flexible</a:t>
            </a:r>
            <a:r>
              <a:rPr spc="10" dirty="0"/>
              <a:t> </a:t>
            </a:r>
            <a:r>
              <a:rPr spc="-15" dirty="0"/>
              <a:t>data,</a:t>
            </a:r>
            <a:r>
              <a:rPr spc="-10" dirty="0"/>
              <a:t> </a:t>
            </a:r>
            <a:r>
              <a:rPr spc="-5" dirty="0"/>
              <a:t>allowing</a:t>
            </a:r>
            <a:r>
              <a:rPr spc="-15" dirty="0"/>
              <a:t> to</a:t>
            </a:r>
            <a:r>
              <a:rPr spc="-5" dirty="0"/>
              <a:t> </a:t>
            </a:r>
            <a:r>
              <a:rPr spc="-15" dirty="0"/>
              <a:t>move</a:t>
            </a:r>
            <a:r>
              <a:rPr spc="5" dirty="0"/>
              <a:t> </a:t>
            </a:r>
            <a:r>
              <a:rPr spc="-10" dirty="0"/>
              <a:t>subtrees</a:t>
            </a:r>
            <a:r>
              <a:rPr dirty="0"/>
              <a:t> </a:t>
            </a:r>
            <a:r>
              <a:rPr spc="-10" dirty="0"/>
              <a:t>around</a:t>
            </a:r>
            <a:r>
              <a:rPr spc="-5" dirty="0"/>
              <a:t> </a:t>
            </a:r>
            <a:r>
              <a:rPr dirty="0"/>
              <a:t>with </a:t>
            </a:r>
            <a:r>
              <a:rPr spc="-525" dirty="0"/>
              <a:t> </a:t>
            </a:r>
            <a:r>
              <a:rPr dirty="0"/>
              <a:t>minimum</a:t>
            </a:r>
            <a:r>
              <a:rPr spc="-30" dirty="0"/>
              <a:t> </a:t>
            </a:r>
            <a:r>
              <a:rPr spc="-20" dirty="0"/>
              <a:t>effort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6041" y="1929511"/>
            <a:ext cx="3944620" cy="2659061"/>
          </a:xfrm>
          <a:prstGeom prst="rect">
            <a:avLst/>
          </a:prstGeom>
        </p:spPr>
        <p:txBody>
          <a:bodyPr vert="horz" wrap="square" lIns="0" tIns="12065" rIns="0" bIns="0" rtlCol="0">
            <a:spAutoFit/>
          </a:bodyPr>
          <a:lstStyle/>
          <a:p>
            <a:pPr marL="355600" indent="-342900">
              <a:lnSpc>
                <a:spcPct val="100000"/>
              </a:lnSpc>
              <a:spcBef>
                <a:spcPts val="95"/>
              </a:spcBef>
              <a:buFont typeface="Arial MT"/>
              <a:buChar char="•"/>
              <a:tabLst>
                <a:tab pos="354965" algn="l"/>
                <a:tab pos="355600" algn="l"/>
              </a:tabLst>
            </a:pPr>
            <a:r>
              <a:rPr sz="2800" spc="-15" dirty="0">
                <a:latin typeface="Calibri"/>
                <a:cs typeface="Calibri"/>
              </a:rPr>
              <a:t>Introduction</a:t>
            </a:r>
            <a:r>
              <a:rPr sz="2800" spc="15" dirty="0">
                <a:latin typeface="Calibri"/>
                <a:cs typeface="Calibri"/>
              </a:rPr>
              <a:t> </a:t>
            </a:r>
            <a:r>
              <a:rPr sz="2800" spc="-20" dirty="0">
                <a:latin typeface="Calibri"/>
                <a:cs typeface="Calibri"/>
              </a:rPr>
              <a:t>to </a:t>
            </a:r>
            <a:r>
              <a:rPr sz="2800" spc="-55" dirty="0">
                <a:latin typeface="Calibri"/>
                <a:cs typeface="Calibri"/>
              </a:rPr>
              <a:t>Tree</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5" dirty="0">
                <a:latin typeface="Calibri"/>
                <a:cs typeface="Calibri"/>
              </a:rPr>
              <a:t>Binary</a:t>
            </a:r>
            <a:r>
              <a:rPr sz="2800" dirty="0">
                <a:latin typeface="Calibri"/>
                <a:cs typeface="Calibri"/>
              </a:rPr>
              <a:t> </a:t>
            </a:r>
            <a:r>
              <a:rPr sz="2800" spc="-55" dirty="0">
                <a:latin typeface="Calibri"/>
                <a:cs typeface="Calibri"/>
              </a:rPr>
              <a:t>Tree</a:t>
            </a:r>
            <a:r>
              <a:rPr sz="2800" spc="-20" dirty="0">
                <a:latin typeface="Calibri"/>
                <a:cs typeface="Calibri"/>
              </a:rPr>
              <a:t> </a:t>
            </a:r>
            <a:r>
              <a:rPr sz="2800" spc="-5" dirty="0">
                <a:latin typeface="Calibri"/>
                <a:cs typeface="Calibri"/>
              </a:rPr>
              <a:t>and</a:t>
            </a:r>
            <a:r>
              <a:rPr sz="2800" spc="5" dirty="0">
                <a:latin typeface="Calibri"/>
                <a:cs typeface="Calibri"/>
              </a:rPr>
              <a:t> </a:t>
            </a:r>
            <a:r>
              <a:rPr sz="2800" spc="-5" dirty="0">
                <a:latin typeface="Calibri"/>
                <a:cs typeface="Calibri"/>
              </a:rPr>
              <a:t>Its</a:t>
            </a:r>
            <a:r>
              <a:rPr sz="2800" dirty="0">
                <a:latin typeface="Calibri"/>
                <a:cs typeface="Calibri"/>
              </a:rPr>
              <a:t> </a:t>
            </a:r>
            <a:r>
              <a:rPr sz="2800" spc="-35" dirty="0">
                <a:latin typeface="Calibri"/>
                <a:cs typeface="Calibri"/>
              </a:rPr>
              <a:t>Types</a:t>
            </a:r>
            <a:endParaRPr sz="2800" dirty="0">
              <a:latin typeface="Calibri"/>
              <a:cs typeface="Calibri"/>
            </a:endParaRPr>
          </a:p>
          <a:p>
            <a:pPr marL="355600" indent="-342900">
              <a:lnSpc>
                <a:spcPct val="100000"/>
              </a:lnSpc>
              <a:spcBef>
                <a:spcPts val="2350"/>
              </a:spcBef>
              <a:buFont typeface="Arial MT"/>
              <a:buChar char="•"/>
              <a:tabLst>
                <a:tab pos="354965" algn="l"/>
                <a:tab pos="355600" algn="l"/>
              </a:tabLst>
            </a:pPr>
            <a:r>
              <a:rPr sz="2800" spc="-5" dirty="0">
                <a:latin typeface="Calibri"/>
                <a:cs typeface="Calibri"/>
              </a:rPr>
              <a:t>Binary</a:t>
            </a:r>
            <a:r>
              <a:rPr sz="2800" spc="-25" dirty="0">
                <a:latin typeface="Calibri"/>
                <a:cs typeface="Calibri"/>
              </a:rPr>
              <a:t> </a:t>
            </a:r>
            <a:r>
              <a:rPr sz="2800" spc="-10" dirty="0">
                <a:latin typeface="Calibri"/>
                <a:cs typeface="Calibri"/>
              </a:rPr>
              <a:t>Search </a:t>
            </a:r>
            <a:r>
              <a:rPr sz="2800" spc="-55" dirty="0">
                <a:latin typeface="Calibri"/>
                <a:cs typeface="Calibri"/>
              </a:rPr>
              <a:t>Tree</a:t>
            </a:r>
            <a:endParaRPr sz="2800" dirty="0">
              <a:latin typeface="Calibri"/>
              <a:cs typeface="Calibri"/>
            </a:endParaRPr>
          </a:p>
          <a:p>
            <a:pPr marL="355600" indent="-342900">
              <a:lnSpc>
                <a:spcPct val="100000"/>
              </a:lnSpc>
              <a:spcBef>
                <a:spcPts val="2355"/>
              </a:spcBef>
              <a:buFont typeface="Arial MT"/>
              <a:buChar char="•"/>
              <a:tabLst>
                <a:tab pos="354965" algn="l"/>
                <a:tab pos="355600" algn="l"/>
              </a:tabLst>
            </a:pPr>
            <a:r>
              <a:rPr sz="2800" spc="-15" dirty="0">
                <a:latin typeface="Calibri"/>
                <a:cs typeface="Calibri"/>
              </a:rPr>
              <a:t>General</a:t>
            </a:r>
            <a:r>
              <a:rPr sz="2800" spc="-35" dirty="0">
                <a:latin typeface="Calibri"/>
                <a:cs typeface="Calibri"/>
              </a:rPr>
              <a:t> </a:t>
            </a:r>
            <a:r>
              <a:rPr sz="2800" spc="-55" dirty="0">
                <a:latin typeface="Calibri"/>
                <a:cs typeface="Calibri"/>
              </a:rPr>
              <a:t>Tree</a:t>
            </a:r>
            <a:endParaRPr sz="2800" dirty="0">
              <a:latin typeface="Calibri"/>
              <a:cs typeface="Calibri"/>
            </a:endParaRPr>
          </a:p>
        </p:txBody>
      </p:sp>
      <p:sp>
        <p:nvSpPr>
          <p:cNvPr id="3" name="object 3"/>
          <p:cNvSpPr txBox="1">
            <a:spLocks noGrp="1"/>
          </p:cNvSpPr>
          <p:nvPr>
            <p:ph type="title"/>
          </p:nvPr>
        </p:nvSpPr>
        <p:spPr>
          <a:xfrm>
            <a:off x="1374394" y="1140916"/>
            <a:ext cx="6607175" cy="574675"/>
          </a:xfrm>
          <a:prstGeom prst="rect">
            <a:avLst/>
          </a:prstGeom>
        </p:spPr>
        <p:txBody>
          <a:bodyPr vert="horz" wrap="square" lIns="0" tIns="12700" rIns="0" bIns="0" rtlCol="0">
            <a:spAutoFit/>
          </a:bodyPr>
          <a:lstStyle/>
          <a:p>
            <a:pPr marL="12700">
              <a:lnSpc>
                <a:spcPct val="100000"/>
              </a:lnSpc>
              <a:spcBef>
                <a:spcPts val="100"/>
              </a:spcBef>
            </a:pPr>
            <a:r>
              <a:rPr sz="3600" dirty="0"/>
              <a:t>Summery</a:t>
            </a:r>
            <a:r>
              <a:rPr sz="3600" spc="-5" dirty="0"/>
              <a:t> </a:t>
            </a:r>
            <a:r>
              <a:rPr sz="3600" dirty="0"/>
              <a:t>&amp;</a:t>
            </a:r>
            <a:r>
              <a:rPr sz="3600" spc="-15" dirty="0"/>
              <a:t> </a:t>
            </a:r>
            <a:r>
              <a:rPr sz="3600" spc="-5" dirty="0"/>
              <a:t>Students Evaluation</a:t>
            </a:r>
            <a:endParaRPr sz="3600"/>
          </a:p>
        </p:txBody>
      </p:sp>
      <p:grpSp>
        <p:nvGrpSpPr>
          <p:cNvPr id="4" name="object 4"/>
          <p:cNvGrpSpPr/>
          <p:nvPr/>
        </p:nvGrpSpPr>
        <p:grpSpPr>
          <a:xfrm>
            <a:off x="0" y="6469379"/>
            <a:ext cx="12192000" cy="388620"/>
            <a:chOff x="0" y="6469379"/>
            <a:chExt cx="12192000" cy="388620"/>
          </a:xfrm>
        </p:grpSpPr>
        <p:sp>
          <p:nvSpPr>
            <p:cNvPr id="5" name="object 5"/>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6" name="object 6"/>
            <p:cNvSpPr/>
            <p:nvPr/>
          </p:nvSpPr>
          <p:spPr>
            <a:xfrm>
              <a:off x="0" y="6774179"/>
              <a:ext cx="12192000" cy="83820"/>
            </a:xfrm>
            <a:custGeom>
              <a:avLst/>
              <a:gdLst/>
              <a:ahLst/>
              <a:cxnLst/>
              <a:rect l="l" t="t" r="r" b="b"/>
              <a:pathLst>
                <a:path w="12192000" h="83820">
                  <a:moveTo>
                    <a:pt x="12192000" y="0"/>
                  </a:moveTo>
                  <a:lnTo>
                    <a:pt x="0" y="0"/>
                  </a:lnTo>
                  <a:lnTo>
                    <a:pt x="0" y="83819"/>
                  </a:lnTo>
                  <a:lnTo>
                    <a:pt x="12192000" y="83819"/>
                  </a:lnTo>
                  <a:lnTo>
                    <a:pt x="12192000" y="0"/>
                  </a:lnTo>
                  <a:close/>
                </a:path>
              </a:pathLst>
            </a:custGeom>
            <a:solidFill>
              <a:srgbClr val="B873B8"/>
            </a:solidFill>
          </p:spPr>
          <p:txBody>
            <a:bodyPr wrap="square" lIns="0" tIns="0" rIns="0" bIns="0" rtlCol="0"/>
            <a:lstStyle/>
            <a:p>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8173" y="3034664"/>
            <a:ext cx="4954905" cy="939800"/>
          </a:xfrm>
          <a:prstGeom prst="rect">
            <a:avLst/>
          </a:prstGeom>
        </p:spPr>
        <p:txBody>
          <a:bodyPr vert="horz" wrap="square" lIns="0" tIns="12700" rIns="0" bIns="0" rtlCol="0">
            <a:spAutoFit/>
          </a:bodyPr>
          <a:lstStyle/>
          <a:p>
            <a:pPr marL="12700">
              <a:lnSpc>
                <a:spcPct val="100000"/>
              </a:lnSpc>
              <a:spcBef>
                <a:spcPts val="100"/>
              </a:spcBef>
            </a:pPr>
            <a:r>
              <a:rPr sz="6000" b="1" spc="-40" dirty="0">
                <a:latin typeface="Calibri"/>
                <a:cs typeface="Calibri"/>
              </a:rPr>
              <a:t>Any</a:t>
            </a:r>
            <a:r>
              <a:rPr sz="6000" b="1" spc="-80" dirty="0">
                <a:latin typeface="Calibri"/>
                <a:cs typeface="Calibri"/>
              </a:rPr>
              <a:t> </a:t>
            </a:r>
            <a:r>
              <a:rPr sz="6000" b="1" spc="-10" dirty="0">
                <a:latin typeface="Calibri"/>
                <a:cs typeface="Calibri"/>
              </a:rPr>
              <a:t>Questions?</a:t>
            </a:r>
            <a:endParaRPr sz="6000">
              <a:latin typeface="Calibri"/>
              <a:cs typeface="Calibri"/>
            </a:endParaRPr>
          </a:p>
        </p:txBody>
      </p:sp>
      <p:pic>
        <p:nvPicPr>
          <p:cNvPr id="3" name="object 3"/>
          <p:cNvPicPr/>
          <p:nvPr/>
        </p:nvPicPr>
        <p:blipFill>
          <a:blip r:embed="rId2" cstate="print"/>
          <a:stretch>
            <a:fillRect/>
          </a:stretch>
        </p:blipFill>
        <p:spPr>
          <a:xfrm>
            <a:off x="1946148" y="1120139"/>
            <a:ext cx="925842" cy="1629917"/>
          </a:xfrm>
          <a:prstGeom prst="rect">
            <a:avLst/>
          </a:prstGeom>
        </p:spPr>
      </p:pic>
      <p:pic>
        <p:nvPicPr>
          <p:cNvPr id="4" name="object 4"/>
          <p:cNvPicPr/>
          <p:nvPr/>
        </p:nvPicPr>
        <p:blipFill>
          <a:blip r:embed="rId3" cstate="print"/>
          <a:stretch>
            <a:fillRect/>
          </a:stretch>
        </p:blipFill>
        <p:spPr>
          <a:xfrm>
            <a:off x="6291071" y="1412747"/>
            <a:ext cx="2170937" cy="1137665"/>
          </a:xfrm>
          <a:prstGeom prst="rect">
            <a:avLst/>
          </a:prstGeom>
        </p:spPr>
      </p:pic>
      <p:grpSp>
        <p:nvGrpSpPr>
          <p:cNvPr id="5" name="object 5"/>
          <p:cNvGrpSpPr/>
          <p:nvPr/>
        </p:nvGrpSpPr>
        <p:grpSpPr>
          <a:xfrm>
            <a:off x="8828531" y="1360932"/>
            <a:ext cx="2172970" cy="4629150"/>
            <a:chOff x="8828531" y="1360932"/>
            <a:chExt cx="2172970" cy="4629150"/>
          </a:xfrm>
        </p:grpSpPr>
        <p:pic>
          <p:nvPicPr>
            <p:cNvPr id="6" name="object 6"/>
            <p:cNvPicPr/>
            <p:nvPr/>
          </p:nvPicPr>
          <p:blipFill>
            <a:blip r:embed="rId4" cstate="print"/>
            <a:stretch>
              <a:fillRect/>
            </a:stretch>
          </p:blipFill>
          <p:spPr>
            <a:xfrm>
              <a:off x="9148571" y="3832860"/>
              <a:ext cx="1369314" cy="2157222"/>
            </a:xfrm>
            <a:prstGeom prst="rect">
              <a:avLst/>
            </a:prstGeom>
          </p:spPr>
        </p:pic>
        <p:pic>
          <p:nvPicPr>
            <p:cNvPr id="7" name="object 7"/>
            <p:cNvPicPr/>
            <p:nvPr/>
          </p:nvPicPr>
          <p:blipFill>
            <a:blip r:embed="rId5" cstate="print"/>
            <a:stretch>
              <a:fillRect/>
            </a:stretch>
          </p:blipFill>
          <p:spPr>
            <a:xfrm>
              <a:off x="8828531" y="1360932"/>
              <a:ext cx="2172462" cy="2861310"/>
            </a:xfrm>
            <a:prstGeom prst="rect">
              <a:avLst/>
            </a:prstGeom>
          </p:spPr>
        </p:pic>
      </p:grpSp>
      <p:pic>
        <p:nvPicPr>
          <p:cNvPr id="8" name="object 8"/>
          <p:cNvPicPr/>
          <p:nvPr/>
        </p:nvPicPr>
        <p:blipFill>
          <a:blip r:embed="rId6" cstate="print"/>
          <a:stretch>
            <a:fillRect/>
          </a:stretch>
        </p:blipFill>
        <p:spPr>
          <a:xfrm>
            <a:off x="3317747" y="1054595"/>
            <a:ext cx="864882" cy="997470"/>
          </a:xfrm>
          <a:prstGeom prst="rect">
            <a:avLst/>
          </a:prstGeom>
        </p:spPr>
      </p:pic>
      <p:pic>
        <p:nvPicPr>
          <p:cNvPr id="9" name="object 9"/>
          <p:cNvPicPr/>
          <p:nvPr/>
        </p:nvPicPr>
        <p:blipFill>
          <a:blip r:embed="rId7" cstate="print"/>
          <a:stretch>
            <a:fillRect/>
          </a:stretch>
        </p:blipFill>
        <p:spPr>
          <a:xfrm>
            <a:off x="5588508" y="4379976"/>
            <a:ext cx="1546097" cy="1783842"/>
          </a:xfrm>
          <a:prstGeom prst="rect">
            <a:avLst/>
          </a:prstGeom>
        </p:spPr>
      </p:pic>
      <p:pic>
        <p:nvPicPr>
          <p:cNvPr id="10" name="object 10"/>
          <p:cNvPicPr/>
          <p:nvPr/>
        </p:nvPicPr>
        <p:blipFill>
          <a:blip r:embed="rId8" cstate="print"/>
          <a:stretch>
            <a:fillRect/>
          </a:stretch>
        </p:blipFill>
        <p:spPr>
          <a:xfrm>
            <a:off x="4585715" y="4582655"/>
            <a:ext cx="489978" cy="651522"/>
          </a:xfrm>
          <a:prstGeom prst="rect">
            <a:avLst/>
          </a:prstGeom>
        </p:spPr>
      </p:pic>
      <p:pic>
        <p:nvPicPr>
          <p:cNvPr id="11" name="object 11"/>
          <p:cNvPicPr/>
          <p:nvPr/>
        </p:nvPicPr>
        <p:blipFill>
          <a:blip r:embed="rId9" cstate="print"/>
          <a:stretch>
            <a:fillRect/>
          </a:stretch>
        </p:blipFill>
        <p:spPr>
          <a:xfrm>
            <a:off x="7578852" y="4390644"/>
            <a:ext cx="735342" cy="1238250"/>
          </a:xfrm>
          <a:prstGeom prst="rect">
            <a:avLst/>
          </a:prstGeom>
        </p:spPr>
      </p:pic>
      <p:pic>
        <p:nvPicPr>
          <p:cNvPr id="12" name="object 12"/>
          <p:cNvPicPr/>
          <p:nvPr/>
        </p:nvPicPr>
        <p:blipFill>
          <a:blip r:embed="rId10" cstate="print"/>
          <a:stretch>
            <a:fillRect/>
          </a:stretch>
        </p:blipFill>
        <p:spPr>
          <a:xfrm>
            <a:off x="4642103" y="1603247"/>
            <a:ext cx="1116329" cy="1308353"/>
          </a:xfrm>
          <a:prstGeom prst="rect">
            <a:avLst/>
          </a:prstGeom>
        </p:spPr>
      </p:pic>
      <p:pic>
        <p:nvPicPr>
          <p:cNvPr id="13" name="object 13"/>
          <p:cNvPicPr/>
          <p:nvPr/>
        </p:nvPicPr>
        <p:blipFill>
          <a:blip r:embed="rId11" cstate="print"/>
          <a:stretch>
            <a:fillRect/>
          </a:stretch>
        </p:blipFill>
        <p:spPr>
          <a:xfrm>
            <a:off x="1520952" y="3691102"/>
            <a:ext cx="636295" cy="518947"/>
          </a:xfrm>
          <a:prstGeom prst="rect">
            <a:avLst/>
          </a:prstGeom>
        </p:spPr>
      </p:pic>
      <p:grpSp>
        <p:nvGrpSpPr>
          <p:cNvPr id="14" name="object 14"/>
          <p:cNvGrpSpPr/>
          <p:nvPr/>
        </p:nvGrpSpPr>
        <p:grpSpPr>
          <a:xfrm>
            <a:off x="0" y="4283964"/>
            <a:ext cx="12192000" cy="2574290"/>
            <a:chOff x="0" y="4283964"/>
            <a:chExt cx="12192000" cy="2574290"/>
          </a:xfrm>
        </p:grpSpPr>
        <p:pic>
          <p:nvPicPr>
            <p:cNvPr id="15" name="object 15"/>
            <p:cNvPicPr/>
            <p:nvPr/>
          </p:nvPicPr>
          <p:blipFill>
            <a:blip r:embed="rId12" cstate="print"/>
            <a:stretch>
              <a:fillRect/>
            </a:stretch>
          </p:blipFill>
          <p:spPr>
            <a:xfrm>
              <a:off x="1624583" y="4283964"/>
              <a:ext cx="2035302" cy="2161794"/>
            </a:xfrm>
            <a:prstGeom prst="rect">
              <a:avLst/>
            </a:prstGeom>
          </p:spPr>
        </p:pic>
        <p:sp>
          <p:nvSpPr>
            <p:cNvPr id="16" name="object 16"/>
            <p:cNvSpPr/>
            <p:nvPr/>
          </p:nvSpPr>
          <p:spPr>
            <a:xfrm>
              <a:off x="0" y="6469379"/>
              <a:ext cx="12192000" cy="304800"/>
            </a:xfrm>
            <a:custGeom>
              <a:avLst/>
              <a:gdLst/>
              <a:ahLst/>
              <a:cxnLst/>
              <a:rect l="l" t="t" r="r" b="b"/>
              <a:pathLst>
                <a:path w="12192000" h="304800">
                  <a:moveTo>
                    <a:pt x="0" y="304799"/>
                  </a:moveTo>
                  <a:lnTo>
                    <a:pt x="12192000" y="304799"/>
                  </a:lnTo>
                  <a:lnTo>
                    <a:pt x="12192000" y="0"/>
                  </a:lnTo>
                  <a:lnTo>
                    <a:pt x="0" y="0"/>
                  </a:lnTo>
                  <a:lnTo>
                    <a:pt x="0" y="304799"/>
                  </a:lnTo>
                  <a:close/>
                </a:path>
              </a:pathLst>
            </a:custGeom>
            <a:solidFill>
              <a:srgbClr val="7D1B68"/>
            </a:solidFill>
          </p:spPr>
          <p:txBody>
            <a:bodyPr wrap="square" lIns="0" tIns="0" rIns="0" bIns="0" rtlCol="0"/>
            <a:lstStyle/>
            <a:p>
              <a:endParaRPr/>
            </a:p>
          </p:txBody>
        </p:sp>
        <p:sp>
          <p:nvSpPr>
            <p:cNvPr id="17" name="object 17"/>
            <p:cNvSpPr/>
            <p:nvPr/>
          </p:nvSpPr>
          <p:spPr>
            <a:xfrm>
              <a:off x="0" y="6774179"/>
              <a:ext cx="12192000" cy="83820"/>
            </a:xfrm>
            <a:custGeom>
              <a:avLst/>
              <a:gdLst/>
              <a:ahLst/>
              <a:cxnLst/>
              <a:rect l="l" t="t" r="r" b="b"/>
              <a:pathLst>
                <a:path w="12192000" h="83820">
                  <a:moveTo>
                    <a:pt x="12192000" y="0"/>
                  </a:moveTo>
                  <a:lnTo>
                    <a:pt x="0" y="0"/>
                  </a:lnTo>
                  <a:lnTo>
                    <a:pt x="0" y="83819"/>
                  </a:lnTo>
                  <a:lnTo>
                    <a:pt x="12192000" y="83819"/>
                  </a:lnTo>
                  <a:lnTo>
                    <a:pt x="12192000" y="0"/>
                  </a:lnTo>
                  <a:close/>
                </a:path>
              </a:pathLst>
            </a:custGeom>
            <a:solidFill>
              <a:srgbClr val="B873B8"/>
            </a:solidFill>
          </p:spPr>
          <p:txBody>
            <a:bodyPr wrap="square" lIns="0" tIns="0" rIns="0" bIns="0" rtlCol="0"/>
            <a:lstStyle/>
            <a:p>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14291" y="1559178"/>
            <a:ext cx="2387600" cy="696595"/>
          </a:xfrm>
          <a:prstGeom prst="rect">
            <a:avLst/>
          </a:prstGeom>
        </p:spPr>
        <p:txBody>
          <a:bodyPr vert="horz" wrap="square" lIns="0" tIns="13335" rIns="0" bIns="0" rtlCol="0">
            <a:spAutoFit/>
          </a:bodyPr>
          <a:lstStyle/>
          <a:p>
            <a:pPr marL="12700">
              <a:lnSpc>
                <a:spcPct val="100000"/>
              </a:lnSpc>
              <a:spcBef>
                <a:spcPts val="105"/>
              </a:spcBef>
            </a:pPr>
            <a:r>
              <a:rPr sz="4400" spc="-20" dirty="0">
                <a:latin typeface="Calibri"/>
                <a:cs typeface="Calibri"/>
              </a:rPr>
              <a:t>Next</a:t>
            </a:r>
            <a:r>
              <a:rPr sz="4400" spc="-80" dirty="0">
                <a:latin typeface="Calibri"/>
                <a:cs typeface="Calibri"/>
              </a:rPr>
              <a:t> </a:t>
            </a:r>
            <a:r>
              <a:rPr sz="4400" spc="-85" dirty="0">
                <a:latin typeface="Calibri"/>
                <a:cs typeface="Calibri"/>
              </a:rPr>
              <a:t>Topic</a:t>
            </a:r>
            <a:endParaRPr sz="4400">
              <a:latin typeface="Calibri"/>
              <a:cs typeface="Calibri"/>
            </a:endParaRPr>
          </a:p>
        </p:txBody>
      </p:sp>
      <p:sp>
        <p:nvSpPr>
          <p:cNvPr id="3" name="object 3"/>
          <p:cNvSpPr txBox="1"/>
          <p:nvPr/>
        </p:nvSpPr>
        <p:spPr>
          <a:xfrm>
            <a:off x="4880609" y="2490596"/>
            <a:ext cx="3729991" cy="1120820"/>
          </a:xfrm>
          <a:prstGeom prst="rect">
            <a:avLst/>
          </a:prstGeom>
        </p:spPr>
        <p:txBody>
          <a:bodyPr vert="horz" wrap="square" lIns="0" tIns="12700" rIns="0" bIns="0" rtlCol="0">
            <a:spAutoFit/>
          </a:bodyPr>
          <a:lstStyle/>
          <a:p>
            <a:pPr marL="12700">
              <a:lnSpc>
                <a:spcPct val="100000"/>
              </a:lnSpc>
              <a:spcBef>
                <a:spcPts val="100"/>
              </a:spcBef>
            </a:pPr>
            <a:r>
              <a:rPr lang="en-US" sz="7200" dirty="0">
                <a:solidFill>
                  <a:srgbClr val="7D1B68"/>
                </a:solidFill>
                <a:latin typeface="Calibri"/>
                <a:cs typeface="Calibri"/>
              </a:rPr>
              <a:t>AVL Tree</a:t>
            </a:r>
            <a:endParaRPr sz="7200" dirty="0">
              <a:latin typeface="Calibri"/>
              <a:cs typeface="Calibri"/>
            </a:endParaRPr>
          </a:p>
        </p:txBody>
      </p:sp>
      <p:sp>
        <p:nvSpPr>
          <p:cNvPr id="4" name="object 4"/>
          <p:cNvSpPr txBox="1"/>
          <p:nvPr/>
        </p:nvSpPr>
        <p:spPr>
          <a:xfrm>
            <a:off x="11323066" y="6426809"/>
            <a:ext cx="18097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50</a:t>
            </a:r>
            <a:endParaRPr sz="12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TotalTime>
  <Words>1373</Words>
  <Application>Microsoft Office PowerPoint</Application>
  <PresentationFormat>Widescreen</PresentationFormat>
  <Paragraphs>172</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MT</vt:lpstr>
      <vt:lpstr>Calibri</vt:lpstr>
      <vt:lpstr>Times New Roman</vt:lpstr>
      <vt:lpstr>Verdana</vt:lpstr>
      <vt:lpstr>Wingdings</vt:lpstr>
      <vt:lpstr>Office Theme</vt:lpstr>
      <vt:lpstr>Course:Data Structure and Algorithms</vt:lpstr>
      <vt:lpstr>Table of Contents</vt:lpstr>
      <vt:lpstr>Objectives</vt:lpstr>
      <vt:lpstr>Tree</vt:lpstr>
      <vt:lpstr>Tree</vt:lpstr>
      <vt:lpstr>Tree Terminology</vt:lpstr>
      <vt:lpstr>Tree</vt:lpstr>
      <vt:lpstr>Root</vt:lpstr>
      <vt:lpstr>PowerPoint Presentation</vt:lpstr>
      <vt:lpstr>Parent / Internal Node In a tree data structure, the node which is predecessor of any node is called  as PARENT NODE. In simple words, the node which has branch from it to any  other node is called as parent node. Parent node can also be defined as "The  node which has child / children".</vt:lpstr>
      <vt:lpstr>Child</vt:lpstr>
      <vt:lpstr>Siblings</vt:lpstr>
      <vt:lpstr>Leaf Node / External Node / Terminal Node In a tree data structure, the node which does not have a child is called as LEAF  Node. In simple words, a leaf is a node with no child.</vt:lpstr>
      <vt:lpstr>Degree</vt:lpstr>
      <vt:lpstr>Tree</vt:lpstr>
      <vt:lpstr>Level The root node is said to be at Level 0 and the children of root node are at Level  1 and the children of the nodes which are at Level 1 will be at Level 2 and so  on...</vt:lpstr>
      <vt:lpstr>Height In a tree data structure, the total number of edges from leaf node to a particular  node in the longest path is called as HEIGHT of that Node. In a tree, height of  the root node is said to be height of the tree. In a tree, height of all leaf nodes  is '0'.</vt:lpstr>
      <vt:lpstr>Depth</vt:lpstr>
      <vt:lpstr>Path</vt:lpstr>
      <vt:lpstr>PowerPoint Presentation</vt:lpstr>
      <vt:lpstr>PowerPoint Presentation</vt:lpstr>
      <vt:lpstr>Binary Tree</vt:lpstr>
      <vt:lpstr>Types of Binary Tree</vt:lpstr>
      <vt:lpstr>Full Binary Tree</vt:lpstr>
      <vt:lpstr>Complete Binary Tree</vt:lpstr>
      <vt:lpstr>Complete Binary Tree</vt:lpstr>
      <vt:lpstr>Skewed Binary Tree</vt:lpstr>
      <vt:lpstr>Skewed Binary Tree</vt:lpstr>
      <vt:lpstr>Binary Search Tree</vt:lpstr>
      <vt:lpstr>Binary Search Tree</vt:lpstr>
      <vt:lpstr>General Tree</vt:lpstr>
      <vt:lpstr>Advantages</vt:lpstr>
      <vt:lpstr>Summery &amp; Students Evaluation</vt:lpstr>
      <vt:lpstr>Any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Slajd 1</dc:title>
  <dc:creator>zawt_ss</dc:creator>
  <cp:lastModifiedBy>HAMDARD</cp:lastModifiedBy>
  <cp:revision>16</cp:revision>
  <dcterms:created xsi:type="dcterms:W3CDTF">2024-04-22T08:30:03Z</dcterms:created>
  <dcterms:modified xsi:type="dcterms:W3CDTF">2026-05-18T13:27:34Z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2023-03-27T00:00:00Z</vt:filetime>
  </property>
  <property fmtid="{D5CDD505-2E9C-101B-9397-08002B2CF9AE}" pid="3" name="Creator">
    <vt:lpwstr>Microsoft® PowerPoint® 2019</vt:lpwstr>
  </property>
  <property fmtid="{D5CDD505-2E9C-101B-9397-08002B2CF9AE}" pid="4" name="LastSaved">
    <vt:filetime>2024-04-22T00:00:00Z</vt:filetime>
  </property>
</Properties>
</file>