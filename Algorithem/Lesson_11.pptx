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958467" y="1525651"/>
            <a:ext cx="8275065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7D1B6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7D1B6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7D1B6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98194" y="400558"/>
            <a:ext cx="389001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7D1B6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74266" y="2637616"/>
            <a:ext cx="7112000" cy="16725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64442" y="6498335"/>
            <a:ext cx="304800" cy="278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60646" y="4507229"/>
            <a:ext cx="38709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26235" algn="l"/>
              </a:tabLst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Instructor	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8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Ziaur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Rahman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48709" y="5065852"/>
            <a:ext cx="38144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Computer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Science</a:t>
            </a:r>
            <a:r>
              <a:rPr sz="28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Faculty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47996" y="5596534"/>
            <a:ext cx="30111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JAHAN</a:t>
            </a:r>
            <a:r>
              <a:rPr sz="3200" b="1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09709" y="5357876"/>
            <a:ext cx="10185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year: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1402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3727" y="2406395"/>
            <a:ext cx="2070353" cy="899922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875917" y="2471750"/>
            <a:ext cx="79057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4800" b="1" spc="-112" baseline="7812" dirty="0">
                <a:solidFill>
                  <a:srgbClr val="00AF50"/>
                </a:solidFill>
                <a:latin typeface="Arial"/>
                <a:cs typeface="Arial"/>
              </a:rPr>
              <a:t>Course:</a:t>
            </a:r>
            <a:r>
              <a:rPr sz="4000" b="1" spc="-75" dirty="0">
                <a:solidFill>
                  <a:srgbClr val="006FC0"/>
                </a:solidFill>
                <a:latin typeface="Calibri"/>
                <a:cs typeface="Calibri"/>
              </a:rPr>
              <a:t>Data</a:t>
            </a:r>
            <a:r>
              <a:rPr sz="4000" b="1" spc="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4000" b="1" spc="-15" dirty="0">
                <a:solidFill>
                  <a:srgbClr val="006FC0"/>
                </a:solidFill>
                <a:latin typeface="Calibri"/>
                <a:cs typeface="Calibri"/>
              </a:rPr>
              <a:t>Structure</a:t>
            </a:r>
            <a:r>
              <a:rPr sz="4000" b="1" spc="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4000" b="1" spc="-5" dirty="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sz="4000" b="1" spc="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006FC0"/>
                </a:solidFill>
                <a:latin typeface="Calibri"/>
                <a:cs typeface="Calibri"/>
              </a:rPr>
              <a:t>Algorithms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811267" y="2907792"/>
            <a:ext cx="5525770" cy="2570480"/>
            <a:chOff x="4811267" y="2907792"/>
            <a:chExt cx="5525770" cy="257048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1267" y="4172712"/>
              <a:ext cx="5525262" cy="130530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23459" y="2907792"/>
              <a:ext cx="5499353" cy="219836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433186" y="3146882"/>
            <a:ext cx="423989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spc="-50" dirty="0">
                <a:solidFill>
                  <a:srgbClr val="7D1B68"/>
                </a:solidFill>
                <a:latin typeface="Calibri Light"/>
                <a:cs typeface="Calibri Light"/>
              </a:rPr>
              <a:t>Linked</a:t>
            </a:r>
            <a:r>
              <a:rPr sz="8000" spc="-70" dirty="0">
                <a:solidFill>
                  <a:srgbClr val="7D1B68"/>
                </a:solidFill>
                <a:latin typeface="Calibri Light"/>
                <a:cs typeface="Calibri Light"/>
              </a:rPr>
              <a:t> </a:t>
            </a:r>
            <a:r>
              <a:rPr sz="8000" spc="-30" dirty="0">
                <a:solidFill>
                  <a:srgbClr val="7D1B68"/>
                </a:solidFill>
                <a:latin typeface="Calibri Light"/>
                <a:cs typeface="Calibri Light"/>
              </a:rPr>
              <a:t>List</a:t>
            </a:r>
            <a:endParaRPr sz="8000">
              <a:latin typeface="Calibri Light"/>
              <a:cs typeface="Calibri Ligh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872742" y="3742690"/>
            <a:ext cx="3191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7D1B68"/>
                </a:solidFill>
                <a:latin typeface="Arial"/>
                <a:cs typeface="Arial"/>
              </a:rPr>
              <a:t>Lesson </a:t>
            </a:r>
            <a:r>
              <a:rPr sz="2400" b="1" spc="-10" dirty="0">
                <a:solidFill>
                  <a:srgbClr val="7D1B68"/>
                </a:solidFill>
                <a:latin typeface="Arial"/>
                <a:cs typeface="Arial"/>
              </a:rPr>
              <a:t>1</a:t>
            </a:r>
            <a:r>
              <a:rPr lang="en-US" sz="2400" b="1" spc="-10" dirty="0">
                <a:solidFill>
                  <a:srgbClr val="7D1B68"/>
                </a:solidFill>
                <a:latin typeface="Arial"/>
                <a:cs typeface="Arial"/>
              </a:rPr>
              <a:t>1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28" name="object 6"/>
          <p:cNvSpPr txBox="1"/>
          <p:nvPr/>
        </p:nvSpPr>
        <p:spPr>
          <a:xfrm>
            <a:off x="4890516" y="738886"/>
            <a:ext cx="3262884" cy="138762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-2540" algn="ctr">
              <a:lnSpc>
                <a:spcPct val="101299"/>
              </a:lnSpc>
              <a:spcBef>
                <a:spcPts val="55"/>
              </a:spcBef>
            </a:pPr>
            <a:r>
              <a:rPr lang="en-US" sz="3200" b="1" spc="-415" dirty="0">
                <a:latin typeface="Calibri"/>
                <a:cs typeface="Calibri"/>
              </a:rPr>
              <a:t>Kabul </a:t>
            </a:r>
            <a:r>
              <a:rPr sz="3200" b="1" spc="-355" dirty="0">
                <a:latin typeface="Calibri"/>
                <a:cs typeface="Calibri"/>
              </a:rPr>
              <a:t>Univers</a:t>
            </a:r>
            <a:r>
              <a:rPr sz="3200" b="1" spc="-185" dirty="0">
                <a:latin typeface="Calibri"/>
                <a:cs typeface="Calibri"/>
              </a:rPr>
              <a:t>i</a:t>
            </a:r>
            <a:r>
              <a:rPr sz="3200" b="1" spc="-260" dirty="0">
                <a:latin typeface="Calibri"/>
                <a:cs typeface="Calibri"/>
              </a:rPr>
              <a:t>ty  </a:t>
            </a:r>
            <a:endParaRPr lang="en-US" sz="3200" b="1" spc="-260" dirty="0">
              <a:latin typeface="Calibri"/>
              <a:cs typeface="Calibri"/>
            </a:endParaRPr>
          </a:p>
          <a:p>
            <a:pPr marL="12700" marR="5080" indent="-2540" algn="ctr">
              <a:lnSpc>
                <a:spcPct val="101299"/>
              </a:lnSpc>
              <a:spcBef>
                <a:spcPts val="55"/>
              </a:spcBef>
            </a:pPr>
            <a:r>
              <a:rPr lang="en-US" sz="2800" b="1" spc="-300" dirty="0">
                <a:latin typeface="Calibri"/>
                <a:cs typeface="Calibri"/>
              </a:rPr>
              <a:t>Faculty of Computer Science </a:t>
            </a:r>
            <a:r>
              <a:rPr lang="en-US" sz="2400" b="1" spc="-300" dirty="0">
                <a:latin typeface="Calibri"/>
                <a:cs typeface="Calibri"/>
              </a:rPr>
              <a:t>SE</a:t>
            </a:r>
            <a:r>
              <a:rPr lang="en-US" sz="2800" b="1" spc="-300" dirty="0">
                <a:latin typeface="Calibri"/>
                <a:cs typeface="Calibri"/>
              </a:rPr>
              <a:t> </a:t>
            </a:r>
            <a:r>
              <a:rPr sz="2400" b="1" spc="-315" dirty="0">
                <a:latin typeface="Calibri"/>
                <a:cs typeface="Calibri"/>
              </a:rPr>
              <a:t>Depart</a:t>
            </a:r>
            <a:r>
              <a:rPr sz="2400" b="1" spc="-535" dirty="0">
                <a:latin typeface="Calibri"/>
                <a:cs typeface="Calibri"/>
              </a:rPr>
              <a:t>m</a:t>
            </a:r>
            <a:r>
              <a:rPr sz="2400" b="1" spc="-375" dirty="0">
                <a:latin typeface="Calibri"/>
                <a:cs typeface="Calibri"/>
              </a:rPr>
              <a:t>e</a:t>
            </a:r>
            <a:r>
              <a:rPr sz="2400" b="1" spc="-395" dirty="0">
                <a:latin typeface="Calibri"/>
                <a:cs typeface="Calibri"/>
              </a:rPr>
              <a:t>n</a:t>
            </a:r>
            <a:r>
              <a:rPr sz="2400" b="1" spc="-265" dirty="0">
                <a:latin typeface="Calibri"/>
                <a:cs typeface="Calibri"/>
              </a:rPr>
              <a:t>t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29" name="object 6"/>
          <p:cNvSpPr txBox="1"/>
          <p:nvPr/>
        </p:nvSpPr>
        <p:spPr>
          <a:xfrm>
            <a:off x="1005839" y="4523359"/>
            <a:ext cx="3142870" cy="846386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80"/>
              </a:spcBef>
            </a:pPr>
            <a:r>
              <a:rPr sz="1800" b="1" spc="-5" dirty="0">
                <a:latin typeface="Arial"/>
                <a:cs typeface="Arial"/>
              </a:rPr>
              <a:t>Semester: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lang="en-US" sz="1800" b="1" spc="-20" dirty="0">
                <a:latin typeface="Arial"/>
                <a:cs typeface="Arial"/>
              </a:rPr>
              <a:t>4</a:t>
            </a:r>
            <a:r>
              <a:rPr sz="1800" b="1" spc="-7" baseline="25462" dirty="0">
                <a:latin typeface="Arial"/>
                <a:cs typeface="Arial"/>
              </a:rPr>
              <a:t>th</a:t>
            </a:r>
            <a:endParaRPr sz="1800" baseline="25462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080"/>
              </a:spcBef>
            </a:pPr>
            <a:r>
              <a:rPr sz="1800" b="1" spc="-5" dirty="0">
                <a:latin typeface="Arial"/>
                <a:cs typeface="Arial"/>
              </a:rPr>
              <a:t>Lecture: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M. Salim Hamdard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1" name="object 7"/>
          <p:cNvSpPr txBox="1"/>
          <p:nvPr/>
        </p:nvSpPr>
        <p:spPr>
          <a:xfrm>
            <a:off x="1031238" y="5483453"/>
            <a:ext cx="338836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Prepare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by: </a:t>
            </a:r>
            <a:r>
              <a:rPr lang="en-US" b="1" dirty="0">
                <a:solidFill>
                  <a:srgbClr val="001F5F"/>
                </a:solidFill>
                <a:latin typeface="Arial"/>
                <a:cs typeface="Arial"/>
              </a:rPr>
              <a:t>M. Salim Hamdard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1914" y="1788130"/>
            <a:ext cx="5976620" cy="295211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libri"/>
                <a:cs typeface="Calibri"/>
              </a:rPr>
              <a:t>Doubly</a:t>
            </a:r>
            <a:r>
              <a:rPr sz="3200" spc="-25" dirty="0">
                <a:latin typeface="Calibri"/>
                <a:cs typeface="Calibri"/>
              </a:rPr>
              <a:t> Linked</a:t>
            </a:r>
            <a:r>
              <a:rPr sz="3200" spc="-15" dirty="0">
                <a:latin typeface="Calibri"/>
                <a:cs typeface="Calibri"/>
              </a:rPr>
              <a:t> List</a:t>
            </a:r>
            <a:endParaRPr sz="3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libri"/>
                <a:cs typeface="Calibri"/>
              </a:rPr>
              <a:t>Double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Linked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List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Representation</a:t>
            </a:r>
            <a:endParaRPr sz="3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libri"/>
                <a:cs typeface="Calibri"/>
              </a:rPr>
              <a:t>Basic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Operations</a:t>
            </a:r>
            <a:endParaRPr sz="3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3200" spc="-15" dirty="0">
                <a:latin typeface="Calibri"/>
                <a:cs typeface="Calibri"/>
              </a:rPr>
              <a:t>Advantage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Link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List</a:t>
            </a:r>
            <a:endParaRPr sz="3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3200" spc="-15" dirty="0">
                <a:latin typeface="Calibri"/>
                <a:cs typeface="Calibri"/>
              </a:rPr>
              <a:t>Points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spc="-10" dirty="0">
                <a:latin typeface="Calibri"/>
                <a:cs typeface="Calibri"/>
              </a:rPr>
              <a:t> Remember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19022" y="558241"/>
            <a:ext cx="307657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Contents</a:t>
            </a:r>
            <a:endParaRPr sz="6000"/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1688" y="1105865"/>
            <a:ext cx="77946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>
                <a:solidFill>
                  <a:srgbClr val="001F5F"/>
                </a:solidFill>
                <a:latin typeface="Calibri Light"/>
                <a:cs typeface="Calibri Light"/>
              </a:rPr>
              <a:t>Objective</a:t>
            </a:r>
            <a:r>
              <a:rPr lang="en-US" spc="-100" dirty="0">
                <a:solidFill>
                  <a:srgbClr val="001F5F"/>
                </a:solidFill>
                <a:latin typeface="Calibri Light"/>
                <a:cs typeface="Calibri Light"/>
              </a:rPr>
              <a:t>s</a:t>
            </a:r>
            <a:endParaRPr spc="-55" dirty="0">
              <a:solidFill>
                <a:srgbClr val="001F5F"/>
              </a:solidFill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5539" y="1912391"/>
            <a:ext cx="8197215" cy="207137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30" dirty="0">
                <a:latin typeface="Calibri"/>
                <a:cs typeface="Calibri"/>
              </a:rPr>
              <a:t>To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know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Doubly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Linked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List.</a:t>
            </a:r>
            <a:endParaRPr sz="28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30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be </a:t>
            </a:r>
            <a:r>
              <a:rPr sz="2800" spc="-10" dirty="0">
                <a:latin typeface="Calibri"/>
                <a:cs typeface="Calibri"/>
              </a:rPr>
              <a:t>able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explain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Double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Linked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List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Representation</a:t>
            </a:r>
            <a:endParaRPr sz="28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30" dirty="0">
                <a:latin typeface="Calibri"/>
                <a:cs typeface="Calibri"/>
              </a:rPr>
              <a:t>To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 able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work </a:t>
            </a:r>
            <a:r>
              <a:rPr sz="2800" spc="-5" dirty="0">
                <a:latin typeface="Calibri"/>
                <a:cs typeface="Calibri"/>
              </a:rPr>
              <a:t>with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Basic </a:t>
            </a:r>
            <a:r>
              <a:rPr sz="2800" spc="-15" dirty="0">
                <a:latin typeface="Calibri"/>
                <a:cs typeface="Calibri"/>
              </a:rPr>
              <a:t>Operations</a:t>
            </a:r>
            <a:endParaRPr sz="28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30" dirty="0">
                <a:latin typeface="Calibri"/>
                <a:cs typeface="Calibri"/>
              </a:rPr>
              <a:t>To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know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Advantage</a:t>
            </a:r>
            <a:r>
              <a:rPr sz="2800" spc="-5" dirty="0">
                <a:latin typeface="Calibri"/>
                <a:cs typeface="Calibri"/>
              </a:rPr>
              <a:t> 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Link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List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3" name="object 3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84858" y="324358"/>
            <a:ext cx="10077450" cy="17913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Doubly</a:t>
            </a:r>
            <a:r>
              <a:rPr spc="-25" dirty="0"/>
              <a:t> </a:t>
            </a:r>
            <a:r>
              <a:rPr spc="-5" dirty="0"/>
              <a:t>Linked</a:t>
            </a:r>
            <a:r>
              <a:rPr spc="-20" dirty="0"/>
              <a:t> </a:t>
            </a:r>
            <a:r>
              <a:rPr spc="-5" dirty="0"/>
              <a:t>List</a:t>
            </a:r>
          </a:p>
          <a:p>
            <a:pPr marL="25400" marR="5080">
              <a:lnSpc>
                <a:spcPct val="150100"/>
              </a:lnSpc>
              <a:spcBef>
                <a:spcPts val="459"/>
              </a:spcBef>
            </a:pPr>
            <a:r>
              <a:rPr sz="2400" spc="-5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sz="2400" spc="1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00"/>
                </a:solidFill>
                <a:latin typeface="Calibri"/>
                <a:cs typeface="Calibri"/>
              </a:rPr>
              <a:t>doubly</a:t>
            </a:r>
            <a:r>
              <a:rPr sz="2400" spc="1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000000"/>
                </a:solidFill>
                <a:latin typeface="Calibri"/>
                <a:cs typeface="Calibri"/>
              </a:rPr>
              <a:t>linked</a:t>
            </a:r>
            <a:r>
              <a:rPr sz="2400" spc="1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list,</a:t>
            </a:r>
            <a:r>
              <a:rPr sz="2400" spc="1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each</a:t>
            </a:r>
            <a:r>
              <a:rPr sz="2400" spc="1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00"/>
                </a:solidFill>
                <a:latin typeface="Calibri"/>
                <a:cs typeface="Calibri"/>
              </a:rPr>
              <a:t>node</a:t>
            </a:r>
            <a:r>
              <a:rPr sz="2400" spc="1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contains</a:t>
            </a:r>
            <a:r>
              <a:rPr sz="2400" spc="1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2400" spc="1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A21D90"/>
                </a:solidFill>
                <a:latin typeface="Calibri"/>
                <a:cs typeface="Calibri"/>
              </a:rPr>
              <a:t>data</a:t>
            </a:r>
            <a:r>
              <a:rPr sz="2400" spc="140" dirty="0">
                <a:solidFill>
                  <a:srgbClr val="A21D9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00"/>
                </a:solidFill>
                <a:latin typeface="Calibri"/>
                <a:cs typeface="Calibri"/>
              </a:rPr>
              <a:t>part</a:t>
            </a:r>
            <a:r>
              <a:rPr sz="2400" spc="1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sz="2400" spc="1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000000"/>
                </a:solidFill>
                <a:latin typeface="Calibri"/>
                <a:cs typeface="Calibri"/>
              </a:rPr>
              <a:t>two</a:t>
            </a:r>
            <a:r>
              <a:rPr sz="2400" spc="1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00"/>
                </a:solidFill>
                <a:latin typeface="Calibri"/>
                <a:cs typeface="Calibri"/>
              </a:rPr>
              <a:t>addresses,</a:t>
            </a:r>
            <a:r>
              <a:rPr sz="2400" spc="1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00"/>
                </a:solidFill>
                <a:latin typeface="Calibri"/>
                <a:cs typeface="Calibri"/>
              </a:rPr>
              <a:t>one</a:t>
            </a:r>
            <a:r>
              <a:rPr sz="2400" spc="1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000000"/>
                </a:solidFill>
                <a:latin typeface="Calibri"/>
                <a:cs typeface="Calibri"/>
              </a:rPr>
              <a:t>for </a:t>
            </a:r>
            <a:r>
              <a:rPr sz="2400" spc="-5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40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A21D90"/>
                </a:solidFill>
                <a:latin typeface="Calibri"/>
                <a:cs typeface="Calibri"/>
              </a:rPr>
              <a:t>pervious</a:t>
            </a:r>
            <a:r>
              <a:rPr sz="2400" spc="-5" dirty="0">
                <a:solidFill>
                  <a:srgbClr val="A21D90"/>
                </a:solidFill>
                <a:latin typeface="Calibri"/>
                <a:cs typeface="Calibri"/>
              </a:rPr>
              <a:t> node</a:t>
            </a:r>
            <a:r>
              <a:rPr sz="2400" spc="10" dirty="0">
                <a:solidFill>
                  <a:srgbClr val="A21D9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and </a:t>
            </a:r>
            <a:r>
              <a:rPr sz="2400" spc="-5" dirty="0">
                <a:solidFill>
                  <a:srgbClr val="000000"/>
                </a:solidFill>
                <a:latin typeface="Calibri"/>
                <a:cs typeface="Calibri"/>
              </a:rPr>
              <a:t>one </a:t>
            </a:r>
            <a:r>
              <a:rPr sz="2400" spc="-20" dirty="0">
                <a:solidFill>
                  <a:srgbClr val="000000"/>
                </a:solidFill>
                <a:latin typeface="Calibri"/>
                <a:cs typeface="Calibri"/>
              </a:rPr>
              <a:t>for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sz="2400" spc="-10" dirty="0">
                <a:solidFill>
                  <a:srgbClr val="A21D90"/>
                </a:solidFill>
                <a:latin typeface="Calibri"/>
                <a:cs typeface="Calibri"/>
              </a:rPr>
              <a:t>next</a:t>
            </a:r>
            <a:r>
              <a:rPr sz="2400" spc="-25" dirty="0">
                <a:solidFill>
                  <a:srgbClr val="A21D9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A21D90"/>
                </a:solidFill>
                <a:latin typeface="Calibri"/>
                <a:cs typeface="Calibri"/>
              </a:rPr>
              <a:t>node</a:t>
            </a:r>
            <a:r>
              <a:rPr sz="2400" spc="-5" dirty="0">
                <a:solidFill>
                  <a:srgbClr val="000000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13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350520" indent="-338455">
              <a:lnSpc>
                <a:spcPct val="100000"/>
              </a:lnSpc>
              <a:spcBef>
                <a:spcPts val="1545"/>
              </a:spcBef>
              <a:buFont typeface="Arial MT"/>
              <a:buChar char="•"/>
              <a:tabLst>
                <a:tab pos="350520" algn="l"/>
                <a:tab pos="351155" algn="l"/>
              </a:tabLst>
            </a:pPr>
            <a:r>
              <a:rPr b="1" spc="-15" dirty="0">
                <a:solidFill>
                  <a:srgbClr val="A21D90"/>
                </a:solidFill>
                <a:latin typeface="Calibri"/>
                <a:cs typeface="Calibri"/>
              </a:rPr>
              <a:t>Data</a:t>
            </a:r>
            <a:r>
              <a:rPr b="1" spc="5" dirty="0">
                <a:solidFill>
                  <a:srgbClr val="A21D90"/>
                </a:solidFill>
                <a:latin typeface="Calibri"/>
                <a:cs typeface="Calibri"/>
              </a:rPr>
              <a:t> </a:t>
            </a:r>
            <a:r>
              <a:rPr dirty="0"/>
              <a:t>−</a:t>
            </a:r>
            <a:r>
              <a:rPr spc="-20" dirty="0"/>
              <a:t> </a:t>
            </a:r>
            <a:r>
              <a:rPr spc="-10" dirty="0"/>
              <a:t>Contains</a:t>
            </a:r>
            <a:r>
              <a:rPr spc="-25" dirty="0"/>
              <a:t> </a:t>
            </a:r>
            <a:r>
              <a:rPr spc="-10" dirty="0"/>
              <a:t>data/values</a:t>
            </a:r>
            <a:r>
              <a:rPr spc="-5" dirty="0"/>
              <a:t> </a:t>
            </a:r>
            <a:r>
              <a:rPr spc="-15" dirty="0"/>
              <a:t>to </a:t>
            </a:r>
            <a:r>
              <a:rPr spc="-5" dirty="0"/>
              <a:t>be </a:t>
            </a:r>
            <a:r>
              <a:rPr spc="-15" dirty="0"/>
              <a:t>stored.</a:t>
            </a:r>
          </a:p>
          <a:p>
            <a:pPr marL="350520" indent="-338455">
              <a:lnSpc>
                <a:spcPct val="100000"/>
              </a:lnSpc>
              <a:spcBef>
                <a:spcPts val="1445"/>
              </a:spcBef>
              <a:buFont typeface="Arial MT"/>
              <a:buChar char="•"/>
              <a:tabLst>
                <a:tab pos="350520" algn="l"/>
                <a:tab pos="351155" algn="l"/>
              </a:tabLst>
            </a:pPr>
            <a:r>
              <a:rPr b="1" spc="-10" dirty="0">
                <a:solidFill>
                  <a:srgbClr val="A21D90"/>
                </a:solidFill>
                <a:latin typeface="Calibri"/>
                <a:cs typeface="Calibri"/>
              </a:rPr>
              <a:t>Next</a:t>
            </a:r>
            <a:r>
              <a:rPr b="1" spc="-25" dirty="0">
                <a:solidFill>
                  <a:srgbClr val="A21D90"/>
                </a:solidFill>
                <a:latin typeface="Calibri"/>
                <a:cs typeface="Calibri"/>
              </a:rPr>
              <a:t> </a:t>
            </a:r>
            <a:r>
              <a:rPr dirty="0"/>
              <a:t>−</a:t>
            </a:r>
            <a:r>
              <a:rPr spc="-5" dirty="0"/>
              <a:t> </a:t>
            </a:r>
            <a:r>
              <a:rPr spc="-10" dirty="0"/>
              <a:t>Contains</a:t>
            </a:r>
            <a:r>
              <a:rPr spc="-2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link</a:t>
            </a:r>
            <a:r>
              <a:rPr spc="-20" dirty="0"/>
              <a:t> </a:t>
            </a:r>
            <a:r>
              <a:rPr spc="-15" dirty="0"/>
              <a:t>to </a:t>
            </a:r>
            <a:r>
              <a:rPr dirty="0"/>
              <a:t>the</a:t>
            </a:r>
            <a:r>
              <a:rPr spc="-15" dirty="0"/>
              <a:t> </a:t>
            </a:r>
            <a:r>
              <a:rPr spc="-10" dirty="0"/>
              <a:t>next</a:t>
            </a:r>
            <a:r>
              <a:rPr spc="-20" dirty="0"/>
              <a:t> </a:t>
            </a:r>
            <a:r>
              <a:rPr spc="-5" dirty="0"/>
              <a:t>node called</a:t>
            </a:r>
            <a:r>
              <a:rPr dirty="0"/>
              <a:t> </a:t>
            </a:r>
            <a:r>
              <a:rPr spc="-5" dirty="0"/>
              <a:t>Next.</a:t>
            </a:r>
          </a:p>
          <a:p>
            <a:pPr marL="350520" indent="-33845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350520" algn="l"/>
                <a:tab pos="351155" algn="l"/>
              </a:tabLst>
            </a:pPr>
            <a:r>
              <a:rPr b="1" spc="-15" dirty="0">
                <a:solidFill>
                  <a:srgbClr val="A21D90"/>
                </a:solidFill>
                <a:latin typeface="Calibri"/>
                <a:cs typeface="Calibri"/>
              </a:rPr>
              <a:t>Prev</a:t>
            </a:r>
            <a:r>
              <a:rPr b="1" spc="-20" dirty="0">
                <a:solidFill>
                  <a:srgbClr val="A21D90"/>
                </a:solidFill>
                <a:latin typeface="Calibri"/>
                <a:cs typeface="Calibri"/>
              </a:rPr>
              <a:t> </a:t>
            </a:r>
            <a:r>
              <a:rPr dirty="0"/>
              <a:t>− </a:t>
            </a:r>
            <a:r>
              <a:rPr spc="-10" dirty="0"/>
              <a:t>Contains</a:t>
            </a:r>
            <a:r>
              <a:rPr spc="-20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link</a:t>
            </a:r>
            <a:r>
              <a:rPr spc="-20" dirty="0"/>
              <a:t> </a:t>
            </a:r>
            <a:r>
              <a:rPr spc="-15" dirty="0"/>
              <a:t>to</a:t>
            </a:r>
            <a:r>
              <a:rPr spc="-10" dirty="0"/>
              <a:t> </a:t>
            </a:r>
            <a:r>
              <a:rPr spc="-5" dirty="0"/>
              <a:t>the</a:t>
            </a:r>
            <a:r>
              <a:rPr spc="-15" dirty="0"/>
              <a:t> </a:t>
            </a:r>
            <a:r>
              <a:rPr spc="-10" dirty="0"/>
              <a:t>previous</a:t>
            </a:r>
            <a:r>
              <a:rPr spc="15" dirty="0"/>
              <a:t> </a:t>
            </a:r>
            <a:r>
              <a:rPr spc="-5" dirty="0"/>
              <a:t>node</a:t>
            </a:r>
            <a:r>
              <a:rPr dirty="0"/>
              <a:t> </a:t>
            </a:r>
            <a:r>
              <a:rPr spc="-5" dirty="0"/>
              <a:t>called</a:t>
            </a:r>
            <a:r>
              <a:rPr spc="-15" dirty="0"/>
              <a:t> </a:t>
            </a:r>
            <a:r>
              <a:rPr spc="-50" dirty="0"/>
              <a:t>Prev.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223250" y="4236973"/>
          <a:ext cx="2927982" cy="15304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5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9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59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6267">
                <a:tc gridSpan="3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75"/>
                        </a:spcBef>
                      </a:pPr>
                      <a:r>
                        <a:rPr sz="2400" b="1" dirty="0">
                          <a:solidFill>
                            <a:srgbClr val="A21D90"/>
                          </a:solidFill>
                          <a:latin typeface="Calibri"/>
                          <a:cs typeface="Calibri"/>
                        </a:rPr>
                        <a:t>NODE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25425" marB="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146">
                <a:tc>
                  <a:txBody>
                    <a:bodyPr/>
                    <a:lstStyle/>
                    <a:p>
                      <a:pPr marL="214629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Prev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212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201295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2400" spc="-15" dirty="0">
                          <a:latin typeface="Calibri"/>
                          <a:cs typeface="Calibri"/>
                        </a:rPr>
                        <a:t>Data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212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19812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Next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212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8194" y="565861"/>
            <a:ext cx="77876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Double</a:t>
            </a:r>
            <a:r>
              <a:rPr spc="10" dirty="0"/>
              <a:t> </a:t>
            </a:r>
            <a:r>
              <a:rPr spc="-5" dirty="0"/>
              <a:t>Linked List</a:t>
            </a:r>
            <a:r>
              <a:rPr dirty="0"/>
              <a:t> </a:t>
            </a:r>
            <a:r>
              <a:rPr spc="-5" dirty="0"/>
              <a:t>Representation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7611" y="2133600"/>
            <a:ext cx="9256776" cy="194462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Basic</a:t>
            </a:r>
            <a:r>
              <a:rPr spc="-65" dirty="0"/>
              <a:t> </a:t>
            </a:r>
            <a:r>
              <a:rPr spc="-5" dirty="0"/>
              <a:t>Operations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27225" y="1023492"/>
            <a:ext cx="9444355" cy="496506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spc="-10" dirty="0">
                <a:latin typeface="Calibri"/>
                <a:cs typeface="Calibri"/>
              </a:rPr>
              <a:t>Following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are</a:t>
            </a:r>
            <a:r>
              <a:rPr sz="2400" dirty="0">
                <a:latin typeface="Calibri"/>
                <a:cs typeface="Calibri"/>
              </a:rPr>
              <a:t> the </a:t>
            </a:r>
            <a:r>
              <a:rPr sz="2400" spc="-5" dirty="0">
                <a:latin typeface="Calibri"/>
                <a:cs typeface="Calibri"/>
              </a:rPr>
              <a:t>basic </a:t>
            </a:r>
            <a:r>
              <a:rPr sz="2400" spc="-10" dirty="0">
                <a:latin typeface="Calibri"/>
                <a:cs typeface="Calibri"/>
              </a:rPr>
              <a:t>operations supported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by</a:t>
            </a:r>
            <a:r>
              <a:rPr sz="2400" dirty="0">
                <a:latin typeface="Calibri"/>
                <a:cs typeface="Calibri"/>
              </a:rPr>
              <a:t> 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list.</a:t>
            </a:r>
            <a:endParaRPr sz="2400">
              <a:latin typeface="Calibri"/>
              <a:cs typeface="Calibri"/>
            </a:endParaRPr>
          </a:p>
          <a:p>
            <a:pPr marL="927100" indent="-457200">
              <a:lnSpc>
                <a:spcPct val="100000"/>
              </a:lnSpc>
              <a:spcBef>
                <a:spcPts val="1445"/>
              </a:spcBef>
              <a:buFont typeface="Arial MT"/>
              <a:buChar char="•"/>
              <a:tabLst>
                <a:tab pos="926465" algn="l"/>
                <a:tab pos="927100" algn="l"/>
              </a:tabLst>
            </a:pPr>
            <a:r>
              <a:rPr sz="2400" b="1" spc="-5" dirty="0">
                <a:latin typeface="Calibri"/>
                <a:cs typeface="Calibri"/>
              </a:rPr>
              <a:t>Insertion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−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5" dirty="0">
                <a:latin typeface="Calibri"/>
                <a:cs typeface="Calibri"/>
              </a:rPr>
              <a:t> element</a:t>
            </a:r>
            <a:r>
              <a:rPr sz="2400" spc="-15" dirty="0">
                <a:latin typeface="Calibri"/>
                <a:cs typeface="Calibri"/>
              </a:rPr>
              <a:t> at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beginning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 the</a:t>
            </a:r>
            <a:r>
              <a:rPr sz="2400" spc="-10" dirty="0">
                <a:latin typeface="Calibri"/>
                <a:cs typeface="Calibri"/>
              </a:rPr>
              <a:t> list.</a:t>
            </a:r>
            <a:endParaRPr sz="2400">
              <a:latin typeface="Calibri"/>
              <a:cs typeface="Calibri"/>
            </a:endParaRPr>
          </a:p>
          <a:p>
            <a:pPr marL="927100" indent="-457200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926465" algn="l"/>
                <a:tab pos="927100" algn="l"/>
              </a:tabLst>
            </a:pPr>
            <a:r>
              <a:rPr sz="2400" b="1" spc="-5" dirty="0">
                <a:latin typeface="Calibri"/>
                <a:cs typeface="Calibri"/>
              </a:rPr>
              <a:t>Deletion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− </a:t>
            </a:r>
            <a:r>
              <a:rPr sz="2400" spc="-10" dirty="0">
                <a:latin typeface="Calibri"/>
                <a:cs typeface="Calibri"/>
              </a:rPr>
              <a:t>Deletes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5" dirty="0">
                <a:latin typeface="Calibri"/>
                <a:cs typeface="Calibri"/>
              </a:rPr>
              <a:t> element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at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beginning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list.</a:t>
            </a:r>
            <a:endParaRPr sz="2400">
              <a:latin typeface="Calibri"/>
              <a:cs typeface="Calibri"/>
            </a:endParaRPr>
          </a:p>
          <a:p>
            <a:pPr marL="927100" indent="-457200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926465" algn="l"/>
                <a:tab pos="927100" algn="l"/>
              </a:tabLst>
            </a:pPr>
            <a:r>
              <a:rPr sz="2400" b="1" spc="-5" dirty="0">
                <a:latin typeface="Calibri"/>
                <a:cs typeface="Calibri"/>
              </a:rPr>
              <a:t>Insert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Last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−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</a:t>
            </a:r>
            <a:r>
              <a:rPr sz="2400" spc="-15" dirty="0">
                <a:latin typeface="Calibri"/>
                <a:cs typeface="Calibri"/>
              </a:rPr>
              <a:t> at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end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list.</a:t>
            </a:r>
            <a:endParaRPr sz="2400">
              <a:latin typeface="Calibri"/>
              <a:cs typeface="Calibri"/>
            </a:endParaRPr>
          </a:p>
          <a:p>
            <a:pPr marL="927100" indent="-457200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926465" algn="l"/>
                <a:tab pos="927100" algn="l"/>
              </a:tabLst>
            </a:pPr>
            <a:r>
              <a:rPr sz="2400" b="1" spc="-10" dirty="0">
                <a:latin typeface="Calibri"/>
                <a:cs typeface="Calibri"/>
              </a:rPr>
              <a:t>Delete</a:t>
            </a:r>
            <a:r>
              <a:rPr sz="2400" b="1" spc="-5" dirty="0">
                <a:latin typeface="Calibri"/>
                <a:cs typeface="Calibri"/>
              </a:rPr>
              <a:t> Last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− </a:t>
            </a:r>
            <a:r>
              <a:rPr sz="2400" spc="-10" dirty="0">
                <a:latin typeface="Calibri"/>
                <a:cs typeface="Calibri"/>
              </a:rPr>
              <a:t>Deletes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</a:t>
            </a:r>
            <a:r>
              <a:rPr sz="2400" spc="-15" dirty="0">
                <a:latin typeface="Calibri"/>
                <a:cs typeface="Calibri"/>
              </a:rPr>
              <a:t> from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end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list.</a:t>
            </a:r>
            <a:endParaRPr sz="2400">
              <a:latin typeface="Calibri"/>
              <a:cs typeface="Calibri"/>
            </a:endParaRPr>
          </a:p>
          <a:p>
            <a:pPr marL="927100" indent="-457200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926465" algn="l"/>
                <a:tab pos="927100" algn="l"/>
              </a:tabLst>
            </a:pPr>
            <a:r>
              <a:rPr sz="2400" b="1" spc="-5" dirty="0">
                <a:latin typeface="Calibri"/>
                <a:cs typeface="Calibri"/>
              </a:rPr>
              <a:t>Insert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After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− Adds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400" spc="-5" dirty="0">
                <a:latin typeface="Calibri"/>
                <a:cs typeface="Calibri"/>
              </a:rPr>
              <a:t>element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after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item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list.</a:t>
            </a:r>
            <a:endParaRPr sz="2400">
              <a:latin typeface="Calibri"/>
              <a:cs typeface="Calibri"/>
            </a:endParaRPr>
          </a:p>
          <a:p>
            <a:pPr marL="927100" indent="-457200">
              <a:lnSpc>
                <a:spcPct val="100000"/>
              </a:lnSpc>
              <a:spcBef>
                <a:spcPts val="1445"/>
              </a:spcBef>
              <a:buFont typeface="Arial MT"/>
              <a:buChar char="•"/>
              <a:tabLst>
                <a:tab pos="926465" algn="l"/>
                <a:tab pos="927100" algn="l"/>
              </a:tabLst>
            </a:pPr>
            <a:r>
              <a:rPr sz="2400" b="1" spc="-10" dirty="0">
                <a:latin typeface="Calibri"/>
                <a:cs typeface="Calibri"/>
              </a:rPr>
              <a:t>Delete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− </a:t>
            </a:r>
            <a:r>
              <a:rPr sz="2400" spc="-10" dirty="0">
                <a:latin typeface="Calibri"/>
                <a:cs typeface="Calibri"/>
              </a:rPr>
              <a:t>Deletes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5" dirty="0">
                <a:latin typeface="Calibri"/>
                <a:cs typeface="Calibri"/>
              </a:rPr>
              <a:t> element</a:t>
            </a:r>
            <a:r>
              <a:rPr sz="2400" spc="-15" dirty="0">
                <a:latin typeface="Calibri"/>
                <a:cs typeface="Calibri"/>
              </a:rPr>
              <a:t> from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list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using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60" dirty="0">
                <a:latin typeface="Calibri"/>
                <a:cs typeface="Calibri"/>
              </a:rPr>
              <a:t>key.</a:t>
            </a:r>
            <a:endParaRPr sz="2400">
              <a:latin typeface="Calibri"/>
              <a:cs typeface="Calibri"/>
            </a:endParaRPr>
          </a:p>
          <a:p>
            <a:pPr marL="927100" indent="-457200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926465" algn="l"/>
                <a:tab pos="927100" algn="l"/>
              </a:tabLst>
            </a:pPr>
            <a:r>
              <a:rPr sz="2400" b="1" spc="-15" dirty="0">
                <a:latin typeface="Calibri"/>
                <a:cs typeface="Calibri"/>
              </a:rPr>
              <a:t>Display</a:t>
            </a:r>
            <a:r>
              <a:rPr sz="2400" b="1" spc="10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forward </a:t>
            </a:r>
            <a:r>
              <a:rPr sz="2400" dirty="0">
                <a:latin typeface="Calibri"/>
                <a:cs typeface="Calibri"/>
              </a:rPr>
              <a:t>−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Displays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complete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list </a:t>
            </a:r>
            <a:r>
              <a:rPr sz="2400" dirty="0">
                <a:latin typeface="Calibri"/>
                <a:cs typeface="Calibri"/>
              </a:rPr>
              <a:t>in a </a:t>
            </a:r>
            <a:r>
              <a:rPr sz="2400" spc="-20" dirty="0">
                <a:latin typeface="Calibri"/>
                <a:cs typeface="Calibri"/>
              </a:rPr>
              <a:t>forward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manner.</a:t>
            </a:r>
            <a:endParaRPr sz="2400">
              <a:latin typeface="Calibri"/>
              <a:cs typeface="Calibri"/>
            </a:endParaRPr>
          </a:p>
          <a:p>
            <a:pPr marL="927100" indent="-457200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926465" algn="l"/>
                <a:tab pos="927100" algn="l"/>
              </a:tabLst>
            </a:pPr>
            <a:r>
              <a:rPr sz="2400" b="1" spc="-15" dirty="0">
                <a:latin typeface="Calibri"/>
                <a:cs typeface="Calibri"/>
              </a:rPr>
              <a:t>Display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backward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−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Displays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complete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list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 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backward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manner.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50594" y="1827656"/>
            <a:ext cx="9851390" cy="3013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800" spc="-5" dirty="0">
                <a:latin typeface="Calibri"/>
                <a:cs typeface="Calibri"/>
              </a:rPr>
              <a:t>Inserting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new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item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doubly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linked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list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very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similar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single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linked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list.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Wingdings"/>
              <a:buChar char=""/>
            </a:pPr>
            <a:endParaRPr sz="275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800" spc="-5" dirty="0">
                <a:latin typeface="Calibri"/>
                <a:cs typeface="Calibri"/>
              </a:rPr>
              <a:t>In 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single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spc="-25" dirty="0">
                <a:latin typeface="Calibri"/>
                <a:cs typeface="Calibri"/>
              </a:rPr>
              <a:t>linked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list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we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only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control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one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pointer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(next)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Wingdings"/>
              <a:buChar char=""/>
            </a:pPr>
            <a:endParaRPr sz="2750" dirty="0">
              <a:latin typeface="Calibri"/>
              <a:cs typeface="Calibri"/>
            </a:endParaRPr>
          </a:p>
          <a:p>
            <a:pPr marL="469900" marR="1160780" indent="-457200">
              <a:lnSpc>
                <a:spcPct val="100000"/>
              </a:lnSpc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800" spc="-5" dirty="0">
                <a:latin typeface="Calibri"/>
                <a:cs typeface="Calibri"/>
              </a:rPr>
              <a:t>In 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doubly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linked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list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we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have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control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both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next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previous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pointers.</a:t>
            </a:r>
            <a:endParaRPr sz="280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32102" y="885190"/>
            <a:ext cx="85185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5" dirty="0">
                <a:latin typeface="Calibri"/>
                <a:cs typeface="Calibri"/>
              </a:rPr>
              <a:t>Inserting</a:t>
            </a:r>
            <a:r>
              <a:rPr b="1" spc="20" dirty="0">
                <a:latin typeface="Calibri"/>
                <a:cs typeface="Calibri"/>
              </a:rPr>
              <a:t> </a:t>
            </a:r>
            <a:r>
              <a:rPr b="1" spc="-5" dirty="0">
                <a:latin typeface="Calibri"/>
                <a:cs typeface="Calibri"/>
              </a:rPr>
              <a:t>a</a:t>
            </a:r>
            <a:r>
              <a:rPr b="1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new</a:t>
            </a:r>
            <a:r>
              <a:rPr b="1" spc="-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element</a:t>
            </a:r>
            <a:r>
              <a:rPr b="1" dirty="0">
                <a:latin typeface="Calibri"/>
                <a:cs typeface="Calibri"/>
              </a:rPr>
              <a:t> </a:t>
            </a:r>
            <a:r>
              <a:rPr b="1" spc="-30" dirty="0">
                <a:latin typeface="Calibri"/>
                <a:cs typeface="Calibri"/>
              </a:rPr>
              <a:t>at</a:t>
            </a:r>
            <a:r>
              <a:rPr b="1" spc="-10" dirty="0">
                <a:latin typeface="Calibri"/>
                <a:cs typeface="Calibri"/>
              </a:rPr>
              <a:t> </a:t>
            </a:r>
            <a:r>
              <a:rPr b="1" spc="-30" dirty="0">
                <a:latin typeface="Calibri"/>
                <a:cs typeface="Calibri"/>
              </a:rPr>
              <a:t>any</a:t>
            </a:r>
            <a:r>
              <a:rPr b="1" dirty="0">
                <a:latin typeface="Calibri"/>
                <a:cs typeface="Calibri"/>
              </a:rPr>
              <a:t> </a:t>
            </a:r>
            <a:r>
              <a:rPr b="1" spc="-5" dirty="0">
                <a:latin typeface="Calibri"/>
                <a:cs typeface="Calibri"/>
              </a:rPr>
              <a:t>position: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42389" y="799287"/>
            <a:ext cx="9249411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5" dirty="0">
                <a:latin typeface="Calibri"/>
                <a:cs typeface="Calibri"/>
              </a:rPr>
              <a:t>Inserting a</a:t>
            </a:r>
            <a:r>
              <a:rPr b="1" spc="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new</a:t>
            </a:r>
            <a:r>
              <a:rPr b="1" spc="-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element</a:t>
            </a:r>
            <a:r>
              <a:rPr b="1" spc="5" dirty="0">
                <a:latin typeface="Calibri"/>
                <a:cs typeface="Calibri"/>
              </a:rPr>
              <a:t> </a:t>
            </a:r>
            <a:r>
              <a:rPr b="1" spc="-30" dirty="0">
                <a:latin typeface="Calibri"/>
                <a:cs typeface="Calibri"/>
              </a:rPr>
              <a:t>at</a:t>
            </a:r>
            <a:r>
              <a:rPr b="1" dirty="0">
                <a:latin typeface="Calibri"/>
                <a:cs typeface="Calibri"/>
              </a:rPr>
              <a:t> </a:t>
            </a:r>
            <a:r>
              <a:rPr lang="en-US" b="1" spc="-30" dirty="0">
                <a:latin typeface="Calibri"/>
                <a:cs typeface="Calibri"/>
              </a:rPr>
              <a:t>first</a:t>
            </a:r>
            <a:r>
              <a:rPr b="1" spc="5" dirty="0">
                <a:latin typeface="Calibri"/>
                <a:cs typeface="Calibri"/>
              </a:rPr>
              <a:t> </a:t>
            </a:r>
            <a:r>
              <a:rPr b="1" spc="-5" dirty="0">
                <a:latin typeface="Calibri"/>
                <a:cs typeface="Calibri"/>
              </a:rPr>
              <a:t>position: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33830" y="1700910"/>
            <a:ext cx="9580880" cy="36277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list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30" dirty="0">
                <a:latin typeface="Calibri"/>
                <a:cs typeface="Calibri"/>
              </a:rPr>
              <a:t>empty, </a:t>
            </a:r>
            <a:r>
              <a:rPr sz="2400" spc="-15" dirty="0">
                <a:latin typeface="Calibri"/>
                <a:cs typeface="Calibri"/>
              </a:rPr>
              <a:t>we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simply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need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10" dirty="0">
                <a:latin typeface="Calibri"/>
                <a:cs typeface="Calibri"/>
              </a:rPr>
              <a:t>point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head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tail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new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node.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"/>
            </a:pPr>
            <a:endParaRPr sz="23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"/>
              <a:tabLst>
                <a:tab pos="355600" algn="l"/>
                <a:tab pos="4157345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not,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current</a:t>
            </a:r>
            <a:r>
              <a:rPr sz="2400" b="1" dirty="0">
                <a:latin typeface="Calibri"/>
                <a:cs typeface="Calibri"/>
              </a:rPr>
              <a:t> node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	</a:t>
            </a:r>
            <a:r>
              <a:rPr sz="2400" spc="-20" dirty="0">
                <a:latin typeface="Calibri"/>
                <a:cs typeface="Calibri"/>
              </a:rPr>
              <a:t>reference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first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list.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"/>
            </a:pPr>
            <a:endParaRPr sz="2350" dirty="0">
              <a:latin typeface="Calibri"/>
              <a:cs typeface="Calibri"/>
            </a:endParaRPr>
          </a:p>
          <a:p>
            <a:pPr marL="355600" marR="13335" indent="-34290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Set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new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node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next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pointer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current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node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head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point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new </a:t>
            </a:r>
            <a:r>
              <a:rPr sz="2400" b="1" spc="-5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node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(it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20" dirty="0">
                <a:latin typeface="Calibri"/>
                <a:cs typeface="Calibri"/>
              </a:rPr>
              <a:t>first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list).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Wingdings"/>
              <a:buChar char=""/>
            </a:pPr>
            <a:endParaRPr sz="1950" dirty="0">
              <a:latin typeface="Calibri"/>
              <a:cs typeface="Calibri"/>
            </a:endParaRPr>
          </a:p>
          <a:p>
            <a:pPr marL="355600" marR="5080" indent="-342900">
              <a:lnSpc>
                <a:spcPct val="150100"/>
              </a:lnSpc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current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node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prev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pointer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 </a:t>
            </a:r>
            <a:r>
              <a:rPr sz="2400" spc="-10" dirty="0">
                <a:latin typeface="Calibri"/>
                <a:cs typeface="Calibri"/>
              </a:rPr>
              <a:t>pointing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new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instead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null.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new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node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prev pointer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already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null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3613" y="828497"/>
            <a:ext cx="85979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5" dirty="0">
                <a:latin typeface="Calibri"/>
                <a:cs typeface="Calibri"/>
              </a:rPr>
              <a:t>Inserting</a:t>
            </a:r>
            <a:r>
              <a:rPr b="1" spc="15" dirty="0">
                <a:latin typeface="Calibri"/>
                <a:cs typeface="Calibri"/>
              </a:rPr>
              <a:t> </a:t>
            </a:r>
            <a:r>
              <a:rPr b="1" spc="-5" dirty="0">
                <a:latin typeface="Calibri"/>
                <a:cs typeface="Calibri"/>
              </a:rPr>
              <a:t>a</a:t>
            </a:r>
            <a:r>
              <a:rPr b="1" spc="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new</a:t>
            </a:r>
            <a:r>
              <a:rPr b="1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element</a:t>
            </a:r>
            <a:r>
              <a:rPr b="1" dirty="0">
                <a:latin typeface="Calibri"/>
                <a:cs typeface="Calibri"/>
              </a:rPr>
              <a:t> </a:t>
            </a:r>
            <a:r>
              <a:rPr b="1" spc="-30" dirty="0">
                <a:latin typeface="Calibri"/>
                <a:cs typeface="Calibri"/>
              </a:rPr>
              <a:t>at</a:t>
            </a:r>
            <a:r>
              <a:rPr b="1" spc="-15" dirty="0">
                <a:latin typeface="Calibri"/>
                <a:cs typeface="Calibri"/>
              </a:rPr>
              <a:t> </a:t>
            </a:r>
            <a:r>
              <a:rPr b="1" spc="-25" dirty="0">
                <a:latin typeface="Calibri"/>
                <a:cs typeface="Calibri"/>
              </a:rPr>
              <a:t>first</a:t>
            </a:r>
            <a:r>
              <a:rPr b="1" spc="15" dirty="0">
                <a:latin typeface="Calibri"/>
                <a:cs typeface="Calibri"/>
              </a:rPr>
              <a:t> </a:t>
            </a:r>
            <a:r>
              <a:rPr b="1" spc="-5" dirty="0">
                <a:latin typeface="Calibri"/>
                <a:cs typeface="Calibri"/>
              </a:rPr>
              <a:t>position: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5127" y="1900427"/>
            <a:ext cx="10146792" cy="341985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50594" y="1721053"/>
            <a:ext cx="9484995" cy="3684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Current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variable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references</a:t>
            </a:r>
            <a:r>
              <a:rPr sz="2400" spc="-5" dirty="0">
                <a:latin typeface="Calibri"/>
                <a:cs typeface="Calibri"/>
              </a:rPr>
              <a:t> 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last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list.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Wingdings"/>
              <a:buChar char=""/>
            </a:pPr>
            <a:endParaRPr sz="23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New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Node </a:t>
            </a:r>
            <a:r>
              <a:rPr sz="2400" b="1" spc="-10" dirty="0">
                <a:latin typeface="Calibri"/>
                <a:cs typeface="Calibri"/>
              </a:rPr>
              <a:t>prev pointer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20" dirty="0">
                <a:latin typeface="Calibri"/>
                <a:cs typeface="Calibri"/>
              </a:rPr>
              <a:t> reference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Current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Node.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"/>
            </a:pPr>
            <a:endParaRPr sz="23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Current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node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next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pointer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point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New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Node.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"/>
            </a:pPr>
            <a:endParaRPr sz="23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New Node </a:t>
            </a:r>
            <a:r>
              <a:rPr sz="2400" b="1" spc="-15" dirty="0">
                <a:latin typeface="Calibri"/>
                <a:cs typeface="Calibri"/>
              </a:rPr>
              <a:t>next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pointer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 </a:t>
            </a:r>
            <a:r>
              <a:rPr sz="2400" spc="-10" dirty="0">
                <a:latin typeface="Calibri"/>
                <a:cs typeface="Calibri"/>
              </a:rPr>
              <a:t>pointing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5" dirty="0">
                <a:latin typeface="Calibri"/>
                <a:cs typeface="Calibri"/>
              </a:rPr>
              <a:t> null.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"/>
            </a:pPr>
            <a:endParaRPr sz="235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Then,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there</a:t>
            </a:r>
            <a:r>
              <a:rPr sz="2400" dirty="0">
                <a:latin typeface="Calibri"/>
                <a:cs typeface="Calibri"/>
              </a:rPr>
              <a:t> is </a:t>
            </a:r>
            <a:r>
              <a:rPr sz="2400" spc="-5" dirty="0">
                <a:latin typeface="Calibri"/>
                <a:cs typeface="Calibri"/>
              </a:rPr>
              <a:t>only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thing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left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 done,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updating</a:t>
            </a:r>
            <a:r>
              <a:rPr sz="2400" b="1" spc="1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tail</a:t>
            </a:r>
            <a:r>
              <a:rPr sz="2400" spc="-10" dirty="0">
                <a:latin typeface="Calibri"/>
                <a:cs typeface="Calibri"/>
              </a:rPr>
              <a:t>,</a:t>
            </a:r>
            <a:r>
              <a:rPr sz="2400" dirty="0">
                <a:latin typeface="Calibri"/>
                <a:cs typeface="Calibri"/>
              </a:rPr>
              <a:t> which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point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node </a:t>
            </a:r>
            <a:r>
              <a:rPr sz="2400" spc="-10" dirty="0">
                <a:latin typeface="Calibri"/>
                <a:cs typeface="Calibri"/>
              </a:rPr>
              <a:t>instead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10" dirty="0">
                <a:latin typeface="Calibri"/>
                <a:cs typeface="Calibri"/>
              </a:rPr>
              <a:t>current.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50594" y="679449"/>
            <a:ext cx="85121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5" dirty="0">
                <a:latin typeface="Calibri"/>
                <a:cs typeface="Calibri"/>
              </a:rPr>
              <a:t>Inserting</a:t>
            </a:r>
            <a:r>
              <a:rPr b="1" spc="25" dirty="0">
                <a:latin typeface="Calibri"/>
                <a:cs typeface="Calibri"/>
              </a:rPr>
              <a:t> </a:t>
            </a:r>
            <a:r>
              <a:rPr b="1" spc="-5" dirty="0">
                <a:latin typeface="Calibri"/>
                <a:cs typeface="Calibri"/>
              </a:rPr>
              <a:t>a</a:t>
            </a:r>
            <a:r>
              <a:rPr b="1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new</a:t>
            </a:r>
            <a:r>
              <a:rPr b="1" spc="-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element</a:t>
            </a:r>
            <a:r>
              <a:rPr b="1" dirty="0">
                <a:latin typeface="Calibri"/>
                <a:cs typeface="Calibri"/>
              </a:rPr>
              <a:t> </a:t>
            </a:r>
            <a:r>
              <a:rPr b="1" spc="-30" dirty="0">
                <a:latin typeface="Calibri"/>
                <a:cs typeface="Calibri"/>
              </a:rPr>
              <a:t>at</a:t>
            </a:r>
            <a:r>
              <a:rPr b="1" spc="-10" dirty="0">
                <a:latin typeface="Calibri"/>
                <a:cs typeface="Calibri"/>
              </a:rPr>
              <a:t> </a:t>
            </a:r>
            <a:r>
              <a:rPr b="1" spc="-20" dirty="0">
                <a:latin typeface="Calibri"/>
                <a:cs typeface="Calibri"/>
              </a:rPr>
              <a:t>last</a:t>
            </a:r>
            <a:r>
              <a:rPr b="1" spc="10" dirty="0">
                <a:latin typeface="Calibri"/>
                <a:cs typeface="Calibri"/>
              </a:rPr>
              <a:t> </a:t>
            </a:r>
            <a:r>
              <a:rPr b="1" spc="-5" dirty="0">
                <a:latin typeface="Calibri"/>
                <a:cs typeface="Calibri"/>
              </a:rPr>
              <a:t>position: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3102" y="495045"/>
            <a:ext cx="26790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7D1B68"/>
                </a:solidFill>
                <a:latin typeface="Calibri"/>
                <a:cs typeface="Calibri"/>
              </a:rPr>
              <a:t>Double</a:t>
            </a:r>
            <a:r>
              <a:rPr sz="3200" b="1" spc="-6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7D1B68"/>
                </a:solidFill>
                <a:latin typeface="Calibri"/>
                <a:cs typeface="Calibri"/>
              </a:rPr>
              <a:t>Link</a:t>
            </a:r>
            <a:r>
              <a:rPr sz="3200" b="1" spc="-3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7D1B68"/>
                </a:solidFill>
                <a:latin typeface="Calibri"/>
                <a:cs typeface="Calibri"/>
              </a:rPr>
              <a:t>List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55394" y="1345184"/>
            <a:ext cx="51200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Calibri"/>
                <a:cs typeface="Calibri"/>
              </a:rPr>
              <a:t>Inserting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 </a:t>
            </a:r>
            <a:r>
              <a:rPr sz="2400" b="1" spc="-5" dirty="0">
                <a:latin typeface="Calibri"/>
                <a:cs typeface="Calibri"/>
              </a:rPr>
              <a:t>new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element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at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last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position: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2286000"/>
            <a:ext cx="8610600" cy="281635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6" name="object 6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139" y="2266950"/>
            <a:ext cx="10564495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6235" algn="l"/>
              </a:tabLst>
            </a:pPr>
            <a:r>
              <a:rPr sz="2400" spc="-20" dirty="0">
                <a:latin typeface="Calibri"/>
                <a:cs typeface="Calibri"/>
              </a:rPr>
              <a:t>Iterate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list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until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we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get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desired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position.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"/>
            </a:pPr>
            <a:endParaRPr sz="235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Wingdings"/>
              <a:buChar char=""/>
              <a:tabLst>
                <a:tab pos="356235" algn="l"/>
              </a:tabLst>
            </a:pPr>
            <a:r>
              <a:rPr sz="2400" spc="-45" dirty="0">
                <a:latin typeface="Calibri"/>
                <a:cs typeface="Calibri"/>
              </a:rPr>
              <a:t>We</a:t>
            </a:r>
            <a:r>
              <a:rPr sz="2400" dirty="0">
                <a:latin typeface="Calibri"/>
                <a:cs typeface="Calibri"/>
              </a:rPr>
              <a:t> will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 </a:t>
            </a:r>
            <a:r>
              <a:rPr sz="2400" dirty="0">
                <a:latin typeface="Calibri"/>
                <a:cs typeface="Calibri"/>
              </a:rPr>
              <a:t>inserting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new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between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current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previous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elements.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"/>
            </a:pPr>
            <a:endParaRPr sz="235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356235" algn="l"/>
              </a:tabLst>
            </a:pPr>
            <a:r>
              <a:rPr sz="2400" spc="-15" dirty="0">
                <a:latin typeface="Calibri"/>
                <a:cs typeface="Calibri"/>
              </a:rPr>
              <a:t>First,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new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node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next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pointer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point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current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previous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next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point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400" b="1" spc="-5" dirty="0">
                <a:latin typeface="Calibri"/>
                <a:cs typeface="Calibri"/>
              </a:rPr>
              <a:t>new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node</a:t>
            </a:r>
            <a:r>
              <a:rPr sz="2400" spc="-5" dirty="0">
                <a:latin typeface="Calibri"/>
                <a:cs typeface="Calibri"/>
              </a:rPr>
              <a:t>, so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that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we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do</a:t>
            </a:r>
            <a:r>
              <a:rPr sz="2400" spc="-10" dirty="0">
                <a:latin typeface="Calibri"/>
                <a:cs typeface="Calibri"/>
              </a:rPr>
              <a:t> not</a:t>
            </a:r>
            <a:r>
              <a:rPr sz="2400" spc="-5" dirty="0">
                <a:latin typeface="Calibri"/>
                <a:cs typeface="Calibri"/>
              </a:rPr>
              <a:t> lose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link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between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nodes.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50">
              <a:latin typeface="Calibri"/>
              <a:cs typeface="Calibri"/>
            </a:endParaRPr>
          </a:p>
          <a:p>
            <a:pPr marL="355600" marR="61594" indent="-343535">
              <a:lnSpc>
                <a:spcPct val="100000"/>
              </a:lnSpc>
              <a:buFont typeface="Wingdings"/>
              <a:buChar char=""/>
              <a:tabLst>
                <a:tab pos="356235" algn="l"/>
              </a:tabLst>
            </a:pPr>
            <a:r>
              <a:rPr sz="2400" spc="-5" dirty="0">
                <a:latin typeface="Calibri"/>
                <a:cs typeface="Calibri"/>
              </a:rPr>
              <a:t>Then, </a:t>
            </a:r>
            <a:r>
              <a:rPr sz="2400" spc="-10" dirty="0">
                <a:latin typeface="Calibri"/>
                <a:cs typeface="Calibri"/>
              </a:rPr>
              <a:t>current </a:t>
            </a:r>
            <a:r>
              <a:rPr sz="2400" b="1" spc="-10" dirty="0">
                <a:latin typeface="Calibri"/>
                <a:cs typeface="Calibri"/>
              </a:rPr>
              <a:t>prev pointer </a:t>
            </a:r>
            <a:r>
              <a:rPr sz="2400" dirty="0">
                <a:latin typeface="Calibri"/>
                <a:cs typeface="Calibri"/>
              </a:rPr>
              <a:t>will </a:t>
            </a:r>
            <a:r>
              <a:rPr sz="2400" spc="-10" dirty="0">
                <a:latin typeface="Calibri"/>
                <a:cs typeface="Calibri"/>
              </a:rPr>
              <a:t>point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new node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" dirty="0">
                <a:latin typeface="Calibri"/>
                <a:cs typeface="Calibri"/>
              </a:rPr>
              <a:t>new node </a:t>
            </a:r>
            <a:r>
              <a:rPr sz="2400" spc="-10" dirty="0">
                <a:latin typeface="Calibri"/>
                <a:cs typeface="Calibri"/>
              </a:rPr>
              <a:t>prev </a:t>
            </a:r>
            <a:r>
              <a:rPr sz="2400" dirty="0">
                <a:latin typeface="Calibri"/>
                <a:cs typeface="Calibri"/>
              </a:rPr>
              <a:t>will </a:t>
            </a:r>
            <a:r>
              <a:rPr sz="2400" spc="-10" dirty="0">
                <a:latin typeface="Calibri"/>
                <a:cs typeface="Calibri"/>
              </a:rPr>
              <a:t>point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previous.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93139" y="1115694"/>
            <a:ext cx="92271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5" dirty="0">
                <a:latin typeface="Calibri"/>
                <a:cs typeface="Calibri"/>
              </a:rPr>
              <a:t>Inserting</a:t>
            </a:r>
            <a:r>
              <a:rPr b="1" spc="20" dirty="0">
                <a:latin typeface="Calibri"/>
                <a:cs typeface="Calibri"/>
              </a:rPr>
              <a:t> </a:t>
            </a:r>
            <a:r>
              <a:rPr b="1" spc="-5" dirty="0">
                <a:latin typeface="Calibri"/>
                <a:cs typeface="Calibri"/>
              </a:rPr>
              <a:t>a </a:t>
            </a:r>
            <a:r>
              <a:rPr b="1" spc="-10" dirty="0">
                <a:latin typeface="Calibri"/>
                <a:cs typeface="Calibri"/>
              </a:rPr>
              <a:t>new</a:t>
            </a:r>
            <a:r>
              <a:rPr b="1" spc="-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element</a:t>
            </a:r>
            <a:r>
              <a:rPr b="1" spc="-5" dirty="0">
                <a:latin typeface="Calibri"/>
                <a:cs typeface="Calibri"/>
              </a:rPr>
              <a:t> </a:t>
            </a:r>
            <a:r>
              <a:rPr b="1" spc="-30" dirty="0">
                <a:latin typeface="Calibri"/>
                <a:cs typeface="Calibri"/>
              </a:rPr>
              <a:t>at</a:t>
            </a:r>
            <a:r>
              <a:rPr b="1" spc="-1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middle</a:t>
            </a:r>
            <a:r>
              <a:rPr b="1" dirty="0">
                <a:latin typeface="Calibri"/>
                <a:cs typeface="Calibri"/>
              </a:rPr>
              <a:t> position: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3102" y="495045"/>
            <a:ext cx="26790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7D1B68"/>
                </a:solidFill>
                <a:latin typeface="Calibri"/>
                <a:cs typeface="Calibri"/>
              </a:rPr>
              <a:t>Double</a:t>
            </a:r>
            <a:r>
              <a:rPr sz="3200" b="1" spc="-6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7D1B68"/>
                </a:solidFill>
                <a:latin typeface="Calibri"/>
                <a:cs typeface="Calibri"/>
              </a:rPr>
              <a:t>Link</a:t>
            </a:r>
            <a:r>
              <a:rPr sz="3200" b="1" spc="-3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7D1B68"/>
                </a:solidFill>
                <a:latin typeface="Calibri"/>
                <a:cs typeface="Calibri"/>
              </a:rPr>
              <a:t>List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55394" y="1345184"/>
            <a:ext cx="6020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Calibri"/>
                <a:cs typeface="Calibri"/>
              </a:rPr>
              <a:t>Inserting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new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element</a:t>
            </a:r>
            <a:r>
              <a:rPr sz="2400" b="1" dirty="0">
                <a:latin typeface="Calibri"/>
                <a:cs typeface="Calibri"/>
              </a:rPr>
              <a:t> in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the</a:t>
            </a:r>
            <a:r>
              <a:rPr sz="2400" b="1" spc="1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middle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position: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2442972"/>
            <a:ext cx="8467344" cy="2891028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6" name="object 6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5877" y="495045"/>
            <a:ext cx="68116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latin typeface="Calibri"/>
                <a:cs typeface="Calibri"/>
              </a:rPr>
              <a:t>Removing</a:t>
            </a:r>
            <a:r>
              <a:rPr sz="3200" b="1" spc="-3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an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Element</a:t>
            </a:r>
            <a:r>
              <a:rPr sz="3200" b="1" spc="-10" dirty="0">
                <a:latin typeface="Calibri"/>
                <a:cs typeface="Calibri"/>
              </a:rPr>
              <a:t> from</a:t>
            </a:r>
            <a:r>
              <a:rPr sz="3200" b="1" spc="-1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the</a:t>
            </a:r>
            <a:r>
              <a:rPr sz="3200" b="1" spc="-10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Begining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6428" y="1336040"/>
            <a:ext cx="9952990" cy="4050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151765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current variable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reference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first </a:t>
            </a:r>
            <a:r>
              <a:rPr sz="2400" spc="-5" dirty="0">
                <a:latin typeface="Calibri"/>
                <a:cs typeface="Calibri"/>
              </a:rPr>
              <a:t>element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 the</a:t>
            </a:r>
            <a:r>
              <a:rPr sz="2400" spc="-10" dirty="0">
                <a:latin typeface="Calibri"/>
                <a:cs typeface="Calibri"/>
              </a:rPr>
              <a:t> list,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one </a:t>
            </a:r>
            <a:r>
              <a:rPr sz="2400" spc="-15" dirty="0">
                <a:latin typeface="Calibri"/>
                <a:cs typeface="Calibri"/>
              </a:rPr>
              <a:t>we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want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remove.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"/>
            </a:pPr>
            <a:endParaRPr sz="2350">
              <a:latin typeface="Calibri"/>
              <a:cs typeface="Calibri"/>
            </a:endParaRPr>
          </a:p>
          <a:p>
            <a:pPr marL="423545" indent="-411480">
              <a:lnSpc>
                <a:spcPct val="100000"/>
              </a:lnSpc>
              <a:buFont typeface="Wingdings"/>
              <a:buChar char=""/>
              <a:tabLst>
                <a:tab pos="423545" algn="l"/>
                <a:tab pos="424180" algn="l"/>
              </a:tabLst>
            </a:pPr>
            <a:r>
              <a:rPr sz="2400" spc="-10" dirty="0">
                <a:latin typeface="Calibri"/>
                <a:cs typeface="Calibri"/>
              </a:rPr>
              <a:t>Change </a:t>
            </a:r>
            <a:r>
              <a:rPr sz="2400" spc="-20" dirty="0">
                <a:latin typeface="Calibri"/>
                <a:cs typeface="Calibri"/>
              </a:rPr>
              <a:t>reference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head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current.next.previous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"/>
            </a:pPr>
            <a:endParaRPr sz="2350">
              <a:latin typeface="Calibri"/>
              <a:cs typeface="Calibri"/>
            </a:endParaRPr>
          </a:p>
          <a:p>
            <a:pPr marL="354965" marR="534035" indent="-34290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Update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current.next previous pointer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null(as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first </a:t>
            </a:r>
            <a:r>
              <a:rPr sz="2400" spc="-5" dirty="0">
                <a:latin typeface="Calibri"/>
                <a:cs typeface="Calibri"/>
              </a:rPr>
              <a:t>element </a:t>
            </a:r>
            <a:r>
              <a:rPr sz="2400" spc="-10" dirty="0">
                <a:latin typeface="Calibri"/>
                <a:cs typeface="Calibri"/>
              </a:rPr>
              <a:t>prev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pointer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20" dirty="0">
                <a:latin typeface="Calibri"/>
                <a:cs typeface="Calibri"/>
              </a:rPr>
              <a:t>reference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null).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"/>
            </a:pPr>
            <a:endParaRPr sz="2350">
              <a:latin typeface="Calibri"/>
              <a:cs typeface="Calibri"/>
            </a:endParaRPr>
          </a:p>
          <a:p>
            <a:pPr marL="354965" marR="5080" indent="-34290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As </a:t>
            </a:r>
            <a:r>
              <a:rPr sz="2400" spc="-15" dirty="0">
                <a:latin typeface="Calibri"/>
                <a:cs typeface="Calibri"/>
              </a:rPr>
              <a:t>we </a:t>
            </a:r>
            <a:r>
              <a:rPr sz="2400" dirty="0">
                <a:latin typeface="Calibri"/>
                <a:cs typeface="Calibri"/>
              </a:rPr>
              <a:t>also </a:t>
            </a:r>
            <a:r>
              <a:rPr sz="2400" spc="-5" dirty="0">
                <a:latin typeface="Calibri"/>
                <a:cs typeface="Calibri"/>
              </a:rPr>
              <a:t>need </a:t>
            </a:r>
            <a:r>
              <a:rPr sz="2400" spc="-15" dirty="0">
                <a:latin typeface="Calibri"/>
                <a:cs typeface="Calibri"/>
              </a:rPr>
              <a:t>to control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tail </a:t>
            </a:r>
            <a:r>
              <a:rPr sz="2400" spc="-15" dirty="0">
                <a:latin typeface="Calibri"/>
                <a:cs typeface="Calibri"/>
              </a:rPr>
              <a:t>reference, we </a:t>
            </a:r>
            <a:r>
              <a:rPr sz="2400" spc="-10" dirty="0">
                <a:latin typeface="Calibri"/>
                <a:cs typeface="Calibri"/>
              </a:rPr>
              <a:t>can </a:t>
            </a:r>
            <a:r>
              <a:rPr sz="2400" dirty="0">
                <a:latin typeface="Calibri"/>
                <a:cs typeface="Calibri"/>
              </a:rPr>
              <a:t>check </a:t>
            </a:r>
            <a:r>
              <a:rPr sz="2400" spc="-5" dirty="0">
                <a:latin typeface="Calibri"/>
                <a:cs typeface="Calibri"/>
              </a:rPr>
              <a:t>whether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</a:t>
            </a:r>
            <a:r>
              <a:rPr sz="2400" spc="-15" dirty="0">
                <a:latin typeface="Calibri"/>
                <a:cs typeface="Calibri"/>
              </a:rPr>
              <a:t> we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are</a:t>
            </a:r>
            <a:r>
              <a:rPr sz="2400" dirty="0">
                <a:latin typeface="Calibri"/>
                <a:cs typeface="Calibri"/>
              </a:rPr>
              <a:t> trying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remove</a:t>
            </a:r>
            <a:r>
              <a:rPr sz="2400" dirty="0">
                <a:latin typeface="Calibri"/>
                <a:cs typeface="Calibri"/>
              </a:rPr>
              <a:t> is the </a:t>
            </a:r>
            <a:r>
              <a:rPr sz="2400" spc="-15" dirty="0">
                <a:latin typeface="Calibri"/>
                <a:cs typeface="Calibri"/>
              </a:rPr>
              <a:t>first </a:t>
            </a:r>
            <a:r>
              <a:rPr sz="2400" spc="-5" dirty="0">
                <a:latin typeface="Calibri"/>
                <a:cs typeface="Calibri"/>
              </a:rPr>
              <a:t>one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 </a:t>
            </a:r>
            <a:r>
              <a:rPr sz="2400" spc="-10" dirty="0">
                <a:latin typeface="Calibri"/>
                <a:cs typeface="Calibri"/>
              </a:rPr>
              <a:t>positive,</a:t>
            </a:r>
            <a:r>
              <a:rPr sz="2400" dirty="0">
                <a:latin typeface="Calibri"/>
                <a:cs typeface="Calibri"/>
              </a:rPr>
              <a:t> all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we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need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set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tail</a:t>
            </a:r>
            <a:r>
              <a:rPr sz="2400" spc="-15" dirty="0">
                <a:latin typeface="Calibri"/>
                <a:cs typeface="Calibri"/>
              </a:rPr>
              <a:t> 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null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well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9011" y="2095500"/>
            <a:ext cx="10314432" cy="2667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946775" y="3142869"/>
            <a:ext cx="96011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Calibri"/>
                <a:cs typeface="Calibri"/>
              </a:rPr>
              <a:t>Current.next</a:t>
            </a:r>
            <a:endParaRPr sz="1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226007" y="1008126"/>
            <a:ext cx="68116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latin typeface="Calibri"/>
                <a:cs typeface="Calibri"/>
              </a:rPr>
              <a:t>Removing</a:t>
            </a:r>
            <a:r>
              <a:rPr sz="3200" b="1" spc="-3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an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Element</a:t>
            </a:r>
            <a:r>
              <a:rPr sz="3200" b="1" spc="-10" dirty="0">
                <a:latin typeface="Calibri"/>
                <a:cs typeface="Calibri"/>
              </a:rPr>
              <a:t> from </a:t>
            </a:r>
            <a:r>
              <a:rPr sz="3200" b="1" dirty="0">
                <a:latin typeface="Calibri"/>
                <a:cs typeface="Calibri"/>
              </a:rPr>
              <a:t>the</a:t>
            </a:r>
            <a:r>
              <a:rPr sz="3200" b="1" spc="-10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Begining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4158" y="1829815"/>
            <a:ext cx="9799955" cy="3684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200660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As </a:t>
            </a:r>
            <a:r>
              <a:rPr sz="2400" spc="-15" dirty="0">
                <a:latin typeface="Calibri"/>
                <a:cs typeface="Calibri"/>
              </a:rPr>
              <a:t>we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have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20" dirty="0">
                <a:latin typeface="Calibri"/>
                <a:cs typeface="Calibri"/>
              </a:rPr>
              <a:t>reference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last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already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(tail),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we</a:t>
            </a:r>
            <a:r>
              <a:rPr sz="2400" spc="-5" dirty="0">
                <a:latin typeface="Calibri"/>
                <a:cs typeface="Calibri"/>
              </a:rPr>
              <a:t> do not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need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20" dirty="0">
                <a:latin typeface="Calibri"/>
                <a:cs typeface="Calibri"/>
              </a:rPr>
              <a:t>iterate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list</a:t>
            </a:r>
            <a:r>
              <a:rPr sz="2400" spc="-15" dirty="0">
                <a:latin typeface="Calibri"/>
                <a:cs typeface="Calibri"/>
              </a:rPr>
              <a:t> to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get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"/>
            </a:pPr>
            <a:endParaRPr sz="2350">
              <a:latin typeface="Calibri"/>
              <a:cs typeface="Calibri"/>
            </a:endParaRPr>
          </a:p>
          <a:p>
            <a:pPr marL="354965" indent="-342900">
              <a:lnSpc>
                <a:spcPct val="100000"/>
              </a:lnSpc>
              <a:buFont typeface="Wingdings"/>
              <a:buChar char=""/>
              <a:tabLst>
                <a:tab pos="355600" algn="l"/>
              </a:tabLst>
            </a:pPr>
            <a:r>
              <a:rPr sz="2400" spc="-20" dirty="0">
                <a:latin typeface="Calibri"/>
                <a:cs typeface="Calibri"/>
              </a:rPr>
              <a:t>So,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we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assign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tail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reference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current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variable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5" dirty="0">
                <a:latin typeface="Calibri"/>
                <a:cs typeface="Calibri"/>
              </a:rPr>
              <a:t> well.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"/>
            </a:pPr>
            <a:endParaRPr sz="2350">
              <a:latin typeface="Calibri"/>
              <a:cs typeface="Calibri"/>
            </a:endParaRPr>
          </a:p>
          <a:p>
            <a:pPr marL="354965" indent="-34290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Next,</a:t>
            </a:r>
            <a:r>
              <a:rPr sz="2400" spc="-15" dirty="0">
                <a:latin typeface="Calibri"/>
                <a:cs typeface="Calibri"/>
              </a:rPr>
              <a:t> we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need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 update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tail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reference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second-last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 the</a:t>
            </a:r>
            <a:endParaRPr sz="2400">
              <a:latin typeface="Calibri"/>
              <a:cs typeface="Calibri"/>
            </a:endParaRPr>
          </a:p>
          <a:p>
            <a:pPr marL="354965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list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50">
              <a:latin typeface="Calibri"/>
              <a:cs typeface="Calibri"/>
            </a:endParaRPr>
          </a:p>
          <a:p>
            <a:pPr marL="354965" indent="-34290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And </a:t>
            </a:r>
            <a:r>
              <a:rPr sz="2400" spc="-10" dirty="0">
                <a:latin typeface="Calibri"/>
                <a:cs typeface="Calibri"/>
              </a:rPr>
              <a:t>now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that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tail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pointing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second-last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we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need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do </a:t>
            </a:r>
            <a:r>
              <a:rPr sz="2400" dirty="0">
                <a:latin typeface="Calibri"/>
                <a:cs typeface="Calibri"/>
              </a:rPr>
              <a:t>is</a:t>
            </a:r>
            <a:endParaRPr sz="2400">
              <a:latin typeface="Calibri"/>
              <a:cs typeface="Calibri"/>
            </a:endParaRPr>
          </a:p>
          <a:p>
            <a:pPr marL="354965">
              <a:lnSpc>
                <a:spcPct val="100000"/>
              </a:lnSpc>
            </a:pPr>
            <a:r>
              <a:rPr sz="2400" spc="-15" dirty="0">
                <a:latin typeface="Calibri"/>
                <a:cs typeface="Calibri"/>
              </a:rPr>
              <a:t>update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next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pointer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null.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72718" y="758393"/>
            <a:ext cx="742823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latin typeface="Calibri"/>
                <a:cs typeface="Calibri"/>
              </a:rPr>
              <a:t>Removing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an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Element</a:t>
            </a:r>
            <a:r>
              <a:rPr sz="3200" b="1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from</a:t>
            </a:r>
            <a:r>
              <a:rPr sz="3200" b="1" spc="-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the</a:t>
            </a:r>
            <a:r>
              <a:rPr sz="3200" b="1" spc="-1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last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position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400" y="2380488"/>
            <a:ext cx="9144000" cy="279654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74521" y="1078179"/>
            <a:ext cx="742823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latin typeface="Calibri"/>
                <a:cs typeface="Calibri"/>
              </a:rPr>
              <a:t>Removing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an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Element</a:t>
            </a:r>
            <a:r>
              <a:rPr sz="3200" b="1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from</a:t>
            </a:r>
            <a:r>
              <a:rPr sz="3200" b="1" spc="-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the</a:t>
            </a:r>
            <a:r>
              <a:rPr sz="3200" b="1" spc="-1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last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position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0228" y="1701800"/>
            <a:ext cx="10064115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15" dirty="0">
                <a:latin typeface="Calibri"/>
                <a:cs typeface="Calibri"/>
              </a:rPr>
              <a:t>First,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we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need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iterate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until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we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get</a:t>
            </a:r>
            <a:r>
              <a:rPr sz="2400" spc="-15" dirty="0">
                <a:latin typeface="Calibri"/>
                <a:cs typeface="Calibri"/>
              </a:rPr>
              <a:t> 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desired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position.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"/>
            </a:pPr>
            <a:endParaRPr sz="2350">
              <a:latin typeface="Calibri"/>
              <a:cs typeface="Calibri"/>
            </a:endParaRPr>
          </a:p>
          <a:p>
            <a:pPr marL="354965" indent="-342900">
              <a:lnSpc>
                <a:spcPct val="100000"/>
              </a:lnSpc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</a:t>
            </a:r>
            <a:r>
              <a:rPr sz="2400" spc="-15" dirty="0">
                <a:latin typeface="Calibri"/>
                <a:cs typeface="Calibri"/>
              </a:rPr>
              <a:t> we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want to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remove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would </a:t>
            </a:r>
            <a:r>
              <a:rPr sz="2400" spc="-5" dirty="0">
                <a:latin typeface="Calibri"/>
                <a:cs typeface="Calibri"/>
              </a:rPr>
              <a:t>be </a:t>
            </a:r>
            <a:r>
              <a:rPr sz="2400" spc="-15" dirty="0">
                <a:latin typeface="Calibri"/>
                <a:cs typeface="Calibri"/>
              </a:rPr>
              <a:t>referenced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by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current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variable.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"/>
            </a:pPr>
            <a:endParaRPr sz="2350">
              <a:latin typeface="Calibri"/>
              <a:cs typeface="Calibri"/>
            </a:endParaRPr>
          </a:p>
          <a:p>
            <a:pPr marL="354965" indent="-34290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20" dirty="0">
                <a:latin typeface="Calibri"/>
                <a:cs typeface="Calibri"/>
              </a:rPr>
              <a:t>So,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remove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we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can</a:t>
            </a:r>
            <a:r>
              <a:rPr sz="2400" spc="-5" dirty="0">
                <a:latin typeface="Calibri"/>
                <a:cs typeface="Calibri"/>
              </a:rPr>
              <a:t> skip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 in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list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by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updating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5" dirty="0">
                <a:latin typeface="Calibri"/>
                <a:cs typeface="Calibri"/>
              </a:rPr>
              <a:t> references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endParaRPr sz="2400">
              <a:latin typeface="Calibri"/>
              <a:cs typeface="Calibri"/>
            </a:endParaRPr>
          </a:p>
          <a:p>
            <a:pPr marL="354965">
              <a:lnSpc>
                <a:spcPct val="100000"/>
              </a:lnSpc>
            </a:pPr>
            <a:r>
              <a:rPr sz="2400" b="1" spc="-10" dirty="0">
                <a:latin typeface="Calibri"/>
                <a:cs typeface="Calibri"/>
              </a:rPr>
              <a:t>previous.next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current.next.prev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50">
              <a:latin typeface="Calibri"/>
              <a:cs typeface="Calibri"/>
            </a:endParaRPr>
          </a:p>
          <a:p>
            <a:pPr marL="354965" indent="-34290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20" dirty="0">
                <a:latin typeface="Calibri"/>
                <a:cs typeface="Calibri"/>
              </a:rPr>
              <a:t>So,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previous.next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10" dirty="0">
                <a:latin typeface="Calibri"/>
                <a:cs typeface="Calibri"/>
              </a:rPr>
              <a:t> point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current.next</a:t>
            </a:r>
            <a:r>
              <a:rPr sz="2400" b="1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current.next.prev</a:t>
            </a:r>
            <a:r>
              <a:rPr sz="2400" b="1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10" dirty="0">
                <a:latin typeface="Calibri"/>
                <a:cs typeface="Calibri"/>
              </a:rPr>
              <a:t> point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endParaRPr sz="2400">
              <a:latin typeface="Calibri"/>
              <a:cs typeface="Calibri"/>
            </a:endParaRPr>
          </a:p>
          <a:p>
            <a:pPr marL="354965">
              <a:lnSpc>
                <a:spcPct val="100000"/>
              </a:lnSpc>
            </a:pPr>
            <a:r>
              <a:rPr sz="2400" b="1" spc="-10" dirty="0">
                <a:latin typeface="Calibri"/>
                <a:cs typeface="Calibri"/>
              </a:rPr>
              <a:t>previous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70254" y="663651"/>
            <a:ext cx="79990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latin typeface="Calibri"/>
                <a:cs typeface="Calibri"/>
              </a:rPr>
              <a:t>Removing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an</a:t>
            </a:r>
            <a:r>
              <a:rPr sz="3200" b="1" spc="-20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Element</a:t>
            </a:r>
            <a:r>
              <a:rPr sz="3200" b="1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from</a:t>
            </a:r>
            <a:r>
              <a:rPr sz="3200" b="1" spc="-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the</a:t>
            </a:r>
            <a:r>
              <a:rPr sz="3200" b="1" spc="-15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middle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position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8027" y="2362200"/>
            <a:ext cx="8615172" cy="27813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70254" y="663651"/>
            <a:ext cx="79990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latin typeface="Calibri"/>
                <a:cs typeface="Calibri"/>
              </a:rPr>
              <a:t>Removing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an</a:t>
            </a:r>
            <a:r>
              <a:rPr sz="3200" b="1" spc="-20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Element</a:t>
            </a:r>
            <a:r>
              <a:rPr sz="3200" b="1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from</a:t>
            </a:r>
            <a:r>
              <a:rPr sz="3200" b="1" spc="-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the</a:t>
            </a:r>
            <a:r>
              <a:rPr sz="3200" b="1" spc="-15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middle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position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8194" y="565861"/>
            <a:ext cx="50228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Advantage</a:t>
            </a:r>
            <a:r>
              <a:rPr spc="-10" dirty="0"/>
              <a:t> </a:t>
            </a:r>
            <a:r>
              <a:rPr spc="-5" dirty="0"/>
              <a:t>of Link</a:t>
            </a:r>
            <a:r>
              <a:rPr spc="-10" dirty="0"/>
              <a:t> </a:t>
            </a:r>
            <a:r>
              <a:rPr spc="-5" dirty="0"/>
              <a:t>List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98194" y="1593037"/>
            <a:ext cx="9469120" cy="2586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They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are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dynamic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nature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10" dirty="0">
                <a:latin typeface="Calibri"/>
                <a:cs typeface="Calibri"/>
              </a:rPr>
              <a:t> allocates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10" dirty="0">
                <a:latin typeface="Calibri"/>
                <a:cs typeface="Calibri"/>
              </a:rPr>
              <a:t> required.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Wingdings"/>
              <a:buChar char=""/>
            </a:pPr>
            <a:endParaRPr sz="23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Insertion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deletion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</a:t>
            </a:r>
            <a:r>
              <a:rPr sz="2400" spc="-5" dirty="0">
                <a:latin typeface="Calibri"/>
                <a:cs typeface="Calibri"/>
              </a:rPr>
              <a:t> be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easily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implemented.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"/>
            </a:pPr>
            <a:endParaRPr sz="23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Stacks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queues</a:t>
            </a:r>
            <a:r>
              <a:rPr sz="2400" spc="-10" dirty="0">
                <a:latin typeface="Calibri"/>
                <a:cs typeface="Calibri"/>
              </a:rPr>
              <a:t> can </a:t>
            </a:r>
            <a:r>
              <a:rPr sz="2400" spc="-5" dirty="0">
                <a:latin typeface="Calibri"/>
                <a:cs typeface="Calibri"/>
              </a:rPr>
              <a:t>be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easily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executed.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"/>
            </a:pPr>
            <a:endParaRPr sz="23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"/>
              <a:tabLst>
                <a:tab pos="355600" algn="l"/>
              </a:tabLst>
            </a:pPr>
            <a:r>
              <a:rPr sz="2400" spc="-15" dirty="0">
                <a:latin typeface="Calibri"/>
                <a:cs typeface="Calibri"/>
              </a:rPr>
              <a:t>Linked </a:t>
            </a:r>
            <a:r>
              <a:rPr sz="2400" spc="-10" dirty="0">
                <a:latin typeface="Calibri"/>
                <a:cs typeface="Calibri"/>
              </a:rPr>
              <a:t>List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reduces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access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8194" y="881837"/>
            <a:ext cx="56997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Disadvantage</a:t>
            </a:r>
            <a:r>
              <a:rPr dirty="0"/>
              <a:t> </a:t>
            </a:r>
            <a:r>
              <a:rPr spc="-5" dirty="0"/>
              <a:t>of Link List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98194" y="2124583"/>
            <a:ext cx="1010856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  <a:tab pos="953769" algn="l"/>
              </a:tabLst>
            </a:pPr>
            <a:r>
              <a:rPr sz="2400" spc="-5" dirty="0">
                <a:latin typeface="Calibri"/>
                <a:cs typeface="Calibri"/>
              </a:rPr>
              <a:t>The	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wasted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pointers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require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extra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storage.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"/>
            </a:pPr>
            <a:endParaRPr sz="23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No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 accessed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randomly;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has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access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node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sequentially.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"/>
            </a:pPr>
            <a:endParaRPr sz="23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15" dirty="0">
                <a:latin typeface="Calibri"/>
                <a:cs typeface="Calibri"/>
              </a:rPr>
              <a:t>Reverse </a:t>
            </a:r>
            <a:r>
              <a:rPr sz="2400" spc="-20" dirty="0">
                <a:latin typeface="Calibri"/>
                <a:cs typeface="Calibri"/>
              </a:rPr>
              <a:t>traversing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10" dirty="0">
                <a:latin typeface="Calibri"/>
                <a:cs typeface="Calibri"/>
              </a:rPr>
              <a:t>difficult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15" dirty="0">
                <a:latin typeface="Calibri"/>
                <a:cs typeface="Calibri"/>
              </a:rPr>
              <a:t>linked</a:t>
            </a:r>
            <a:r>
              <a:rPr sz="2400" spc="-10" dirty="0">
                <a:latin typeface="Calibri"/>
                <a:cs typeface="Calibri"/>
              </a:rPr>
              <a:t> list.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8194" y="565861"/>
            <a:ext cx="50793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Application</a:t>
            </a:r>
            <a:r>
              <a:rPr spc="-10" dirty="0"/>
              <a:t> </a:t>
            </a:r>
            <a:r>
              <a:rPr spc="-5" dirty="0"/>
              <a:t>of</a:t>
            </a:r>
            <a:r>
              <a:rPr spc="5" dirty="0"/>
              <a:t> </a:t>
            </a:r>
            <a:r>
              <a:rPr spc="-5" dirty="0"/>
              <a:t>Link List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98194" y="1808479"/>
            <a:ext cx="848677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15" dirty="0">
                <a:latin typeface="Calibri"/>
                <a:cs typeface="Calibri"/>
              </a:rPr>
              <a:t>Linked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lists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are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used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implement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stacks,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queues, </a:t>
            </a:r>
            <a:r>
              <a:rPr sz="2400" spc="-10" dirty="0">
                <a:latin typeface="Calibri"/>
                <a:cs typeface="Calibri"/>
              </a:rPr>
              <a:t>graphs,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etc.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"/>
            </a:pPr>
            <a:endParaRPr sz="23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"/>
              <a:tabLst>
                <a:tab pos="355600" algn="l"/>
              </a:tabLst>
            </a:pPr>
            <a:r>
              <a:rPr sz="2400" spc="-15" dirty="0">
                <a:latin typeface="Calibri"/>
                <a:cs typeface="Calibri"/>
              </a:rPr>
              <a:t>Linked</a:t>
            </a:r>
            <a:r>
              <a:rPr sz="2400" spc="-5" dirty="0">
                <a:latin typeface="Calibri"/>
                <a:cs typeface="Calibri"/>
              </a:rPr>
              <a:t> lists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you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insert </a:t>
            </a:r>
            <a:r>
              <a:rPr sz="2400" spc="-5" dirty="0">
                <a:latin typeface="Calibri"/>
                <a:cs typeface="Calibri"/>
              </a:rPr>
              <a:t>element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at </a:t>
            </a:r>
            <a:r>
              <a:rPr sz="2400" spc="-5" dirty="0">
                <a:latin typeface="Calibri"/>
                <a:cs typeface="Calibri"/>
              </a:rPr>
              <a:t>beginning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end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list.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"/>
            </a:pPr>
            <a:endParaRPr sz="23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Linked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List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we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don’t need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know</a:t>
            </a:r>
            <a:r>
              <a:rPr sz="2400" dirty="0">
                <a:latin typeface="Calibri"/>
                <a:cs typeface="Calibri"/>
              </a:rPr>
              <a:t> the</a:t>
            </a:r>
            <a:r>
              <a:rPr sz="2400" spc="-20" dirty="0">
                <a:latin typeface="Calibri"/>
                <a:cs typeface="Calibri"/>
              </a:rPr>
              <a:t> size</a:t>
            </a:r>
            <a:r>
              <a:rPr sz="2400" dirty="0">
                <a:latin typeface="Calibri"/>
                <a:cs typeface="Calibri"/>
              </a:rPr>
              <a:t> in</a:t>
            </a:r>
            <a:r>
              <a:rPr sz="2400" spc="-5" dirty="0">
                <a:latin typeface="Calibri"/>
                <a:cs typeface="Calibri"/>
              </a:rPr>
              <a:t> advance.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31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6041" y="2004284"/>
            <a:ext cx="6584315" cy="295211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What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5" dirty="0">
                <a:latin typeface="Calibri"/>
                <a:cs typeface="Calibri"/>
              </a:rPr>
              <a:t> Doubly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Linked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List?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How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Double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Linked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List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Represented?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What </a:t>
            </a:r>
            <a:r>
              <a:rPr sz="3200" spc="-15" dirty="0">
                <a:latin typeface="Calibri"/>
                <a:cs typeface="Calibri"/>
              </a:rPr>
              <a:t>are </a:t>
            </a:r>
            <a:r>
              <a:rPr sz="3200" spc="-5" dirty="0">
                <a:latin typeface="Calibri"/>
                <a:cs typeface="Calibri"/>
              </a:rPr>
              <a:t>Basic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Operations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 </a:t>
            </a:r>
            <a:r>
              <a:rPr sz="3200" spc="-10" dirty="0">
                <a:latin typeface="Calibri"/>
                <a:cs typeface="Calibri"/>
              </a:rPr>
              <a:t>list?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What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are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Advantage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Link </a:t>
            </a:r>
            <a:r>
              <a:rPr sz="3200" spc="-15" dirty="0">
                <a:latin typeface="Calibri"/>
                <a:cs typeface="Calibri"/>
              </a:rPr>
              <a:t>List?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What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main </a:t>
            </a:r>
            <a:r>
              <a:rPr sz="3200" spc="-15" dirty="0">
                <a:latin typeface="Calibri"/>
                <a:cs typeface="Calibri"/>
              </a:rPr>
              <a:t>Points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related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</a:t>
            </a:r>
            <a:r>
              <a:rPr sz="3200" spc="-10" dirty="0">
                <a:latin typeface="Calibri"/>
                <a:cs typeface="Calibri"/>
              </a:rPr>
              <a:t> list?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19022" y="1303782"/>
            <a:ext cx="807783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Summery</a:t>
            </a:r>
            <a:r>
              <a:rPr sz="4400" spc="-20" dirty="0"/>
              <a:t> </a:t>
            </a:r>
            <a:r>
              <a:rPr sz="4400" dirty="0"/>
              <a:t>&amp;</a:t>
            </a:r>
            <a:r>
              <a:rPr sz="4400" spc="-15" dirty="0"/>
              <a:t> </a:t>
            </a:r>
            <a:r>
              <a:rPr sz="4400" dirty="0"/>
              <a:t>Students</a:t>
            </a:r>
            <a:r>
              <a:rPr sz="4400" spc="-15" dirty="0"/>
              <a:t> </a:t>
            </a:r>
            <a:r>
              <a:rPr sz="4400" dirty="0"/>
              <a:t>Evaluation</a:t>
            </a:r>
            <a:endParaRPr sz="4400"/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8173" y="3034664"/>
            <a:ext cx="495490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-40" dirty="0">
                <a:latin typeface="Calibri"/>
                <a:cs typeface="Calibri"/>
              </a:rPr>
              <a:t>Any</a:t>
            </a:r>
            <a:r>
              <a:rPr sz="6000" b="1" spc="-80" dirty="0">
                <a:latin typeface="Calibri"/>
                <a:cs typeface="Calibri"/>
              </a:rPr>
              <a:t> </a:t>
            </a:r>
            <a:r>
              <a:rPr sz="6000" b="1" spc="-10" dirty="0">
                <a:latin typeface="Calibri"/>
                <a:cs typeface="Calibri"/>
              </a:rPr>
              <a:t>Questions?</a:t>
            </a:r>
            <a:endParaRPr sz="6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1972" y="1191767"/>
            <a:ext cx="788669" cy="149732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07835" y="1619999"/>
            <a:ext cx="2001773" cy="94108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846819" y="1517903"/>
            <a:ext cx="1847850" cy="4455795"/>
            <a:chOff x="8846819" y="1517903"/>
            <a:chExt cx="1847850" cy="445579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48215" y="4005071"/>
              <a:ext cx="1186446" cy="196824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46819" y="1517903"/>
              <a:ext cx="1847850" cy="2654046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36035" y="1072883"/>
            <a:ext cx="793254" cy="89841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13476" y="4402835"/>
            <a:ext cx="1386077" cy="167411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625340" y="4632947"/>
            <a:ext cx="445795" cy="58751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584947" y="4413503"/>
            <a:ext cx="653046" cy="11254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642103" y="1603247"/>
            <a:ext cx="1134618" cy="130073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34667" y="3729202"/>
            <a:ext cx="572287" cy="476275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0" y="4283964"/>
            <a:ext cx="12192000" cy="2574290"/>
            <a:chOff x="0" y="4283964"/>
            <a:chExt cx="12192000" cy="2574290"/>
          </a:xfrm>
        </p:grpSpPr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24583" y="4283964"/>
              <a:ext cx="2035302" cy="216179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58467" y="1525651"/>
            <a:ext cx="23609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latin typeface="Calibri Light"/>
                <a:cs typeface="Calibri Light"/>
              </a:rPr>
              <a:t>Next</a:t>
            </a:r>
            <a:r>
              <a:rPr sz="4400" spc="-90" dirty="0">
                <a:latin typeface="Calibri Light"/>
                <a:cs typeface="Calibri Light"/>
              </a:rPr>
              <a:t> </a:t>
            </a:r>
            <a:r>
              <a:rPr sz="4400" spc="-85" dirty="0">
                <a:latin typeface="Calibri Light"/>
                <a:cs typeface="Calibri Light"/>
              </a:rPr>
              <a:t>Topic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15890" y="2380869"/>
            <a:ext cx="408051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200" spc="-450" dirty="0">
                <a:solidFill>
                  <a:srgbClr val="7D1B68"/>
                </a:solidFill>
                <a:latin typeface="Calibri"/>
                <a:cs typeface="Calibri"/>
              </a:rPr>
              <a:t>Hash Table</a:t>
            </a:r>
            <a:endParaRPr sz="7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93957" y="6426809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33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1106</Words>
  <Application>Microsoft Office PowerPoint</Application>
  <PresentationFormat>Widescreen</PresentationFormat>
  <Paragraphs>162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Arial MT</vt:lpstr>
      <vt:lpstr>Calibri</vt:lpstr>
      <vt:lpstr>Calibri Light</vt:lpstr>
      <vt:lpstr>Times New Roman</vt:lpstr>
      <vt:lpstr>Wingdings</vt:lpstr>
      <vt:lpstr>Office Theme</vt:lpstr>
      <vt:lpstr>Course:Data Structure and Algorithms</vt:lpstr>
      <vt:lpstr>Contents</vt:lpstr>
      <vt:lpstr>Objectives</vt:lpstr>
      <vt:lpstr>Doubly Linked List In doubly linked list, each node contains a data part and two addresses, one for  the pervious node and one for the next node.</vt:lpstr>
      <vt:lpstr>Double Linked List Representation</vt:lpstr>
      <vt:lpstr>Basic Operations</vt:lpstr>
      <vt:lpstr>Inserting a new element at any position:</vt:lpstr>
      <vt:lpstr>Inserting a new element at first position:</vt:lpstr>
      <vt:lpstr>Inserting a new element at first position:</vt:lpstr>
      <vt:lpstr>Inserting a new element at last position:</vt:lpstr>
      <vt:lpstr>PowerPoint Presentation</vt:lpstr>
      <vt:lpstr>Inserting a new element at middle position:</vt:lpstr>
      <vt:lpstr>PowerPoint Presentation</vt:lpstr>
      <vt:lpstr>Removing an Element from the Begining</vt:lpstr>
      <vt:lpstr>Removing an Element from the Begining</vt:lpstr>
      <vt:lpstr>Removing an Element from the last position</vt:lpstr>
      <vt:lpstr>Removing an Element from the last position</vt:lpstr>
      <vt:lpstr>Removing an Element from the middle position</vt:lpstr>
      <vt:lpstr>Removing an Element from the middle position</vt:lpstr>
      <vt:lpstr>Advantage of Link List</vt:lpstr>
      <vt:lpstr>Disadvantage of Link List</vt:lpstr>
      <vt:lpstr>Application of Link List</vt:lpstr>
      <vt:lpstr>Summery &amp; Students Evaluation</vt:lpstr>
      <vt:lpstr>Any Questions?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ziaur rahman</dc:creator>
  <cp:lastModifiedBy>HAMDARD</cp:lastModifiedBy>
  <cp:revision>6</cp:revision>
  <dcterms:created xsi:type="dcterms:W3CDTF">2024-04-22T08:25:53Z</dcterms:created>
  <dcterms:modified xsi:type="dcterms:W3CDTF">2026-03-05T18:24:27Z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2023-03-27T00:00:00Z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2024-04-22T00:00:00Z</vt:filetime>
  </property>
</Properties>
</file>